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7" roundtripDataSignature="AMtx7mi+XGkCeZi5elWnkciy5z70D7BR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31" Type="http://schemas.openxmlformats.org/officeDocument/2006/relationships/slide" Target="slides/slide27.xml"/><Relationship Id="rId75" Type="http://schemas.openxmlformats.org/officeDocument/2006/relationships/slide" Target="slides/slide71.xml"/><Relationship Id="rId30" Type="http://schemas.openxmlformats.org/officeDocument/2006/relationships/slide" Target="slides/slide26.xml"/><Relationship Id="rId74" Type="http://schemas.openxmlformats.org/officeDocument/2006/relationships/slide" Target="slides/slide70.xml"/><Relationship Id="rId33" Type="http://schemas.openxmlformats.org/officeDocument/2006/relationships/slide" Target="slides/slide29.xml"/><Relationship Id="rId77" Type="http://customschemas.google.com/relationships/presentationmetadata" Target="metadata"/><Relationship Id="rId32" Type="http://schemas.openxmlformats.org/officeDocument/2006/relationships/slide" Target="slides/slide28.xml"/><Relationship Id="rId76" Type="http://schemas.openxmlformats.org/officeDocument/2006/relationships/slide" Target="slides/slide7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99" name="Google Shape;9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119" name="Google Shape;11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b="0" lang="ko-KR">
                <a:highlight>
                  <a:srgbClr val="FFFFFF"/>
                </a:highlight>
              </a:rPr>
              <a:t>Attention mechanism 만으로 순수하게 학습과 추론이 가능함을 보였음</a:t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132" name="Google Shape;13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160" name="Google Shape;16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177" name="Google Shape;17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190" name="Google Shape;19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203" name="Google Shape;20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220" name="Google Shape;22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231" name="Google Shape;23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247" name="Google Shape;24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261" name="Google Shape;26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286" name="Google Shape;28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Malgun Gothic"/>
              <a:buNone/>
            </a:pPr>
            <a:r>
              <a:rPr b="0" i="0" lang="ko-KR" sz="1200">
                <a:solidFill>
                  <a:srgbClr val="212529"/>
                </a:solidFill>
                <a:highlight>
                  <a:srgbClr val="FFFFFF"/>
                </a:highlight>
              </a:rPr>
              <a:t>짜잔 사실 지금까지 다룬 내용은 Encoder였답니다</a:t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305" name="Google Shape;30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Malgun Gothic"/>
              <a:buNone/>
            </a:pPr>
            <a:r>
              <a:rPr b="0" i="0" lang="ko-KR" sz="1200">
                <a:solidFill>
                  <a:srgbClr val="212529"/>
                </a:solidFill>
                <a:highlight>
                  <a:srgbClr val="FFFFFF"/>
                </a:highlight>
              </a:rPr>
              <a:t>짜잔 사실 지금까지 다룬 내용은 Encoder였답니다</a:t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319" name="Google Shape;31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Malgun Gothic"/>
              <a:buNone/>
            </a:pPr>
            <a:r>
              <a:rPr b="0" i="0" lang="ko-KR" sz="1200">
                <a:solidFill>
                  <a:srgbClr val="212529"/>
                </a:solidFill>
                <a:highlight>
                  <a:srgbClr val="FFFFFF"/>
                </a:highlight>
              </a:rPr>
              <a:t>짜잔 사실 지금까지 다룬 내용은 Encoder였답니다</a:t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332" name="Google Shape;33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347" name="Google Shape;34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Malgun Gothic"/>
              <a:buNone/>
            </a:pPr>
            <a:r>
              <a:rPr b="0" i="0" lang="ko-KR" sz="1200">
                <a:solidFill>
                  <a:srgbClr val="212529"/>
                </a:solidFill>
                <a:highlight>
                  <a:srgbClr val="FFFFFF"/>
                </a:highlight>
              </a:rPr>
              <a:t>Huggingface transformers는 손쉽게 transformer model을 테스트해볼 수 있는 것</a:t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359" name="Google Shape;35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Malgun Gothic"/>
              <a:buNone/>
            </a:pPr>
            <a:r>
              <a:rPr b="0" i="0" lang="ko-KR" sz="1200">
                <a:solidFill>
                  <a:srgbClr val="212529"/>
                </a:solidFill>
                <a:highlight>
                  <a:srgbClr val="FFFFFF"/>
                </a:highlight>
              </a:rPr>
              <a:t>Huggingface transformers는 손쉽게 transformer model을 테스트해볼 수 있는 것</a:t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371" name="Google Shape;37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Malgun Gothic"/>
              <a:buNone/>
            </a:pPr>
            <a:r>
              <a:rPr b="0" i="0" lang="ko-KR" sz="1200">
                <a:solidFill>
                  <a:srgbClr val="212529"/>
                </a:solidFill>
                <a:highlight>
                  <a:srgbClr val="FFFFFF"/>
                </a:highlight>
              </a:rPr>
              <a:t>Huggingface transformers는 손쉽게 transformer model을 테스트해볼 수 있는 것</a:t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383" name="Google Shape;38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Malgun Gothic"/>
              <a:buNone/>
            </a:pPr>
            <a:r>
              <a:rPr b="0" i="0" lang="ko-KR" sz="1200">
                <a:solidFill>
                  <a:srgbClr val="212529"/>
                </a:solidFill>
                <a:highlight>
                  <a:srgbClr val="FFFFFF"/>
                </a:highlight>
              </a:rPr>
              <a:t>Huggingface transformers는 손쉽게 transformer model을 테스트해볼 수 있는 것</a:t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396" name="Google Shape;39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418" name="Google Shape;41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Malgun Gothic"/>
              <a:buNone/>
            </a:pPr>
            <a:r>
              <a:rPr b="0" i="0" lang="ko-KR" sz="1200">
                <a:solidFill>
                  <a:srgbClr val="212529"/>
                </a:solidFill>
                <a:highlight>
                  <a:srgbClr val="FFFFFF"/>
                </a:highlight>
              </a:rPr>
              <a:t>짜잔 사실 지금까지 다룬 내용은 Encoder였답니다</a:t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430" name="Google Shape;430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444" name="Google Shape;44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462" name="Google Shape;462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476" name="Google Shape;47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488" name="Google Shape;488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500" name="Google Shape;500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533" name="Google Shape;533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545" name="Google Shape;54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561" name="Google Shape;561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573" name="Google Shape;573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585" name="Google Shape;585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597" name="Google Shape;597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8" name="Google Shape;60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609" name="Google Shape;609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621" name="Google Shape;621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640" name="Google Shape;640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652" name="Google Shape;652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671" name="Google Shape;671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6" name="Google Shape;686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687" name="Google Shape;687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8" name="Google Shape;718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719" name="Google Shape;719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4" name="Google Shape;734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735" name="Google Shape;735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8" name="Google Shape;748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749" name="Google Shape;749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6" name="Google Shape;766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767" name="Google Shape;767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8" name="Google Shape;778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779" name="Google Shape;779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3" name="Google Shape;803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804" name="Google Shape;804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5" name="Google Shape;815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816" name="Google Shape;816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" name="Google Shape;827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828" name="Google Shape;828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8" name="Google Shape;838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839" name="Google Shape;839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0" name="Google Shape;850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851" name="Google Shape;851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4" name="Google Shape;864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865" name="Google Shape;865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6" name="Google Shape;876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877" name="Google Shape;877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8" name="Google Shape;888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889" name="Google Shape;889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8" name="Google Shape;908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909" name="Google Shape;909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9" name="Google Shape;919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920" name="Google Shape;920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6" name="Google Shape;936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937" name="Google Shape;937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9" name="Google Shape;949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950" name="Google Shape;950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2" name="Google Shape;962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963" name="Google Shape;963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3" name="Google Shape;973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974" name="Google Shape;974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4" name="Google Shape;984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985" name="Google Shape;985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6" name="Google Shape;996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997" name="Google Shape;997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8" name="Google Shape;1008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1009" name="Google Shape;1009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3" name="Google Shape;1033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1034" name="Google Shape;1034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4" name="Google Shape;1044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1045" name="Google Shape;1045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2" name="Google Shape;1062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sp>
        <p:nvSpPr>
          <p:cNvPr id="1063" name="Google Shape;1063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0" name="Google Shape;1090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1091" name="Google Shape;1091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74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4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1" name="Google Shape;21;p74"/>
          <p:cNvSpPr txBox="1"/>
          <p:nvPr/>
        </p:nvSpPr>
        <p:spPr>
          <a:xfrm>
            <a:off x="10960443" y="6512011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75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5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1" name="Google Shape;31;p76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6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77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7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78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8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9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9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0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0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8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81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1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8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82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2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8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83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8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83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8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84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84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3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1" name="Google Shape;11;p7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7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7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73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32.png"/><Relationship Id="rId6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huggingface.co/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25.png"/><Relationship Id="rId6" Type="http://schemas.openxmlformats.org/officeDocument/2006/relationships/image" Target="../media/image3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25.png"/><Relationship Id="rId6" Type="http://schemas.openxmlformats.org/officeDocument/2006/relationships/image" Target="../media/image3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3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8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2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3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8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2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4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4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4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3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4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4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7.png"/><Relationship Id="rId4" Type="http://schemas.openxmlformats.org/officeDocument/2006/relationships/image" Target="../media/image45.jp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4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1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7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45.jpg"/><Relationship Id="rId6" Type="http://schemas.openxmlformats.org/officeDocument/2006/relationships/image" Target="../media/image10.png"/><Relationship Id="rId7" Type="http://schemas.openxmlformats.org/officeDocument/2006/relationships/image" Target="../media/image1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7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58.png"/><Relationship Id="rId6" Type="http://schemas.openxmlformats.org/officeDocument/2006/relationships/image" Target="../media/image52.png"/><Relationship Id="rId7" Type="http://schemas.openxmlformats.org/officeDocument/2006/relationships/image" Target="../media/image6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5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6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5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50.png"/><Relationship Id="rId6" Type="http://schemas.openxmlformats.org/officeDocument/2006/relationships/image" Target="../media/image5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5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5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56.png"/><Relationship Id="rId6" Type="http://schemas.openxmlformats.org/officeDocument/2006/relationships/hyperlink" Target="https://platform.openai.com/playground/prompts?models=gpt-4.1" TargetMode="External"/><Relationship Id="rId7" Type="http://schemas.openxmlformats.org/officeDocument/2006/relationships/image" Target="../media/image70.png"/><Relationship Id="rId8" Type="http://schemas.openxmlformats.org/officeDocument/2006/relationships/image" Target="../media/image6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59.png"/><Relationship Id="rId6" Type="http://schemas.openxmlformats.org/officeDocument/2006/relationships/image" Target="../media/image6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66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72.png"/><Relationship Id="rId6" Type="http://schemas.openxmlformats.org/officeDocument/2006/relationships/hyperlink" Target="https://community.openai.com/t/cheat-sheet-mastering-temperature-and-top-p-in-chatgpt-api/172683" TargetMode="External"/><Relationship Id="rId7" Type="http://schemas.openxmlformats.org/officeDocument/2006/relationships/hyperlink" Target="https://community.openai.com/t/cheat-sheet-mastering-temperature-and-top-p-in-chatgpt-api/172683" TargetMode="Externa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5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68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19.png"/><Relationship Id="rId7" Type="http://schemas.openxmlformats.org/officeDocument/2006/relationships/image" Target="../media/image45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69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77.png"/><Relationship Id="rId5" Type="http://schemas.openxmlformats.org/officeDocument/2006/relationships/image" Target="../media/image61.png"/><Relationship Id="rId6" Type="http://schemas.openxmlformats.org/officeDocument/2006/relationships/image" Target="../media/image67.jpg"/><Relationship Id="rId7" Type="http://schemas.openxmlformats.org/officeDocument/2006/relationships/image" Target="../media/image80.png"/><Relationship Id="rId8" Type="http://schemas.openxmlformats.org/officeDocument/2006/relationships/image" Target="../media/image74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77.png"/><Relationship Id="rId5" Type="http://schemas.openxmlformats.org/officeDocument/2006/relationships/image" Target="../media/image61.png"/><Relationship Id="rId6" Type="http://schemas.openxmlformats.org/officeDocument/2006/relationships/image" Target="../media/image67.jpg"/><Relationship Id="rId7" Type="http://schemas.openxmlformats.org/officeDocument/2006/relationships/image" Target="../media/image80.png"/><Relationship Id="rId8" Type="http://schemas.openxmlformats.org/officeDocument/2006/relationships/image" Target="../media/image74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700207" y="2097503"/>
            <a:ext cx="1079157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4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Language Models: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4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After the Transformer</a:t>
            </a:r>
            <a:endParaRPr b="1" sz="4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305985" y="3342522"/>
            <a:ext cx="358002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Dongwook Choi</a:t>
            </a:r>
            <a:endParaRPr sz="2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971060" y="4257203"/>
            <a:ext cx="42498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2025. 06. 17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915543" y="3795538"/>
            <a:ext cx="609420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Language &amp; AGI Lab, Yonsei University</a:t>
            </a:r>
            <a:b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94" name="Google Shape;9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95" name="Google Shape;9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Google Shape;101;p2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" name="Google Shape;102;p2"/>
          <p:cNvSpPr txBox="1"/>
          <p:nvPr/>
        </p:nvSpPr>
        <p:spPr>
          <a:xfrm>
            <a:off x="491613" y="176980"/>
            <a:ext cx="350028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993109" y="1337637"/>
            <a:ext cx="10467371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b="1"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Transformer</a:t>
            </a:r>
            <a:endParaRPr/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b="1"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Natural Language Understanding &amp; BERT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b="1"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Natural Language Generation &amp; GPT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AutoNum type="arabicPeriod"/>
            </a:pPr>
            <a:r>
              <a:rPr b="1"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최근의 Language Models</a:t>
            </a:r>
            <a:endParaRPr/>
          </a:p>
        </p:txBody>
      </p:sp>
      <p:pic>
        <p:nvPicPr>
          <p:cNvPr descr="폰트, 그래픽, 텍스트, 스크린샷이(가) 표시된 사진&#10;&#10;자동 생성된 설명" id="104" name="Google Shape;10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105" name="Google Shape;10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 txBox="1"/>
          <p:nvPr/>
        </p:nvSpPr>
        <p:spPr>
          <a:xfrm>
            <a:off x="941234" y="5493057"/>
            <a:ext cx="107072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093E4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https://drive.google.com/file/d/1ktzWde-tsCOr22gW9A53YDX7KWMs_2tp/view?usp=sharing</a:t>
            </a:r>
            <a:endParaRPr sz="1800">
              <a:solidFill>
                <a:srgbClr val="3093E4"/>
              </a:solidFill>
              <a:highlight>
                <a:srgbClr val="FFFF00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993109" y="5132723"/>
            <a:ext cx="21056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실습 코드</a:t>
            </a:r>
            <a:endParaRPr/>
          </a:p>
        </p:txBody>
      </p:sp>
      <p:sp>
        <p:nvSpPr>
          <p:cNvPr id="108" name="Google Shape;108;p2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/>
        </p:nvSpPr>
        <p:spPr>
          <a:xfrm>
            <a:off x="700211" y="3044279"/>
            <a:ext cx="1079157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4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Transformer</a:t>
            </a:r>
            <a:endParaRPr b="1" sz="4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114" name="Google Shape;1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115" name="Google Shape;11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p4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" name="Google Shape;122;p4"/>
          <p:cNvSpPr txBox="1"/>
          <p:nvPr/>
        </p:nvSpPr>
        <p:spPr>
          <a:xfrm>
            <a:off x="2965089" y="5847425"/>
            <a:ext cx="64386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Transformer</a:t>
            </a:r>
            <a:r>
              <a:rPr b="1" lang="ko-KR" sz="1800">
                <a:solidFill>
                  <a:srgbClr val="3093E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이후, 언어 모델의 성능과 기술은 빠르게 발전.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123" name="Google Shape;1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124" name="Google Shape;12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 txBox="1"/>
          <p:nvPr/>
        </p:nvSpPr>
        <p:spPr>
          <a:xfrm>
            <a:off x="491613" y="176980"/>
            <a:ext cx="350028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Transformer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26" name="Google Shape;126;p4"/>
          <p:cNvPicPr preferRelativeResize="0"/>
          <p:nvPr/>
        </p:nvPicPr>
        <p:blipFill rotWithShape="1">
          <a:blip r:embed="rId5">
            <a:alphaModFix/>
          </a:blip>
          <a:srcRect b="0" l="0" r="1364" t="0"/>
          <a:stretch/>
        </p:blipFill>
        <p:spPr>
          <a:xfrm>
            <a:off x="2052980" y="1419788"/>
            <a:ext cx="8086040" cy="429603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/>
          <p:nvPr/>
        </p:nvSpPr>
        <p:spPr>
          <a:xfrm>
            <a:off x="7519386" y="2440757"/>
            <a:ext cx="1013254" cy="110593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" name="Google Shape;128;p4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Google Shape;134;p5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" name="Google Shape;135;p5"/>
          <p:cNvSpPr txBox="1"/>
          <p:nvPr/>
        </p:nvSpPr>
        <p:spPr>
          <a:xfrm>
            <a:off x="491613" y="176980"/>
            <a:ext cx="350028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Transformer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36" name="Google Shape;136;p5"/>
          <p:cNvPicPr preferRelativeResize="0"/>
          <p:nvPr/>
        </p:nvPicPr>
        <p:blipFill rotWithShape="1">
          <a:blip r:embed="rId3">
            <a:alphaModFix/>
          </a:blip>
          <a:srcRect b="0" l="0" r="0" t="6195"/>
          <a:stretch/>
        </p:blipFill>
        <p:spPr>
          <a:xfrm>
            <a:off x="742950" y="1912707"/>
            <a:ext cx="6820595" cy="384283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/>
          <p:nvPr/>
        </p:nvSpPr>
        <p:spPr>
          <a:xfrm>
            <a:off x="2594123" y="2234365"/>
            <a:ext cx="1194059" cy="426720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38" name="Google Shape;13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62507" y="977019"/>
            <a:ext cx="4253573" cy="55983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폰트, 그래픽, 텍스트, 스크린샷이(가) 표시된 사진&#10;&#10;자동 생성된 설명" id="139" name="Google Shape;13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140" name="Google Shape;14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42" name="Google Shape;142;p5"/>
          <p:cNvSpPr txBox="1"/>
          <p:nvPr/>
        </p:nvSpPr>
        <p:spPr>
          <a:xfrm>
            <a:off x="491613" y="6415800"/>
            <a:ext cx="1032256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ko-KR" sz="10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- Attention Is All You Need </a:t>
            </a:r>
            <a:r>
              <a:rPr lang="ko-KR" sz="10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(2017)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" name="Google Shape;148;p6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9" name="Google Shape;149;p6"/>
          <p:cNvSpPr txBox="1"/>
          <p:nvPr/>
        </p:nvSpPr>
        <p:spPr>
          <a:xfrm>
            <a:off x="491613" y="176980"/>
            <a:ext cx="350028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Recap: RNN, LSTM</a:t>
            </a:r>
            <a:endParaRPr/>
          </a:p>
        </p:txBody>
      </p:sp>
      <p:pic>
        <p:nvPicPr>
          <p:cNvPr descr="폰트, 그래픽, 텍스트, 스크린샷이(가) 표시된 사진&#10;&#10;자동 생성된 설명" id="150" name="Google Shape;15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151" name="Google Shape;15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7440" y="1920261"/>
            <a:ext cx="4773973" cy="4347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21244" y="2877713"/>
            <a:ext cx="6012756" cy="243234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 txBox="1"/>
          <p:nvPr/>
        </p:nvSpPr>
        <p:spPr>
          <a:xfrm>
            <a:off x="690880" y="981471"/>
            <a:ext cx="10810240" cy="869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cell로 구성된 언어 모델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순차적인 연산을 통해 sequential data 처리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" name="Google Shape;155;p6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56" name="Google Shape;156;p6"/>
          <p:cNvSpPr txBox="1"/>
          <p:nvPr/>
        </p:nvSpPr>
        <p:spPr>
          <a:xfrm>
            <a:off x="491613" y="6363853"/>
            <a:ext cx="1032256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ko-KR" sz="10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- Learning representations by back-propagating errors </a:t>
            </a:r>
            <a:r>
              <a:rPr lang="ko-KR" sz="10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(1986)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ko-KR" sz="10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- Long Short-Term Memory </a:t>
            </a:r>
            <a:r>
              <a:rPr lang="ko-KR" sz="10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(1997)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Google Shape;162;p7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3" name="Google Shape;16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5871" y="1791492"/>
            <a:ext cx="8160258" cy="4165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폰트, 그래픽, 텍스트, 스크린샷이(가) 표시된 사진&#10;&#10;자동 생성된 설명" id="164" name="Google Shape;16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165" name="Google Shape;16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" name="Google Shape;166;p7"/>
          <p:cNvGrpSpPr/>
          <p:nvPr/>
        </p:nvGrpSpPr>
        <p:grpSpPr>
          <a:xfrm>
            <a:off x="2158314" y="1742303"/>
            <a:ext cx="7900086" cy="4671477"/>
            <a:chOff x="2158314" y="1742303"/>
            <a:chExt cx="7900086" cy="4671477"/>
          </a:xfrm>
        </p:grpSpPr>
        <p:sp>
          <p:nvSpPr>
            <p:cNvPr id="167" name="Google Shape;167;p7"/>
            <p:cNvSpPr/>
            <p:nvPr/>
          </p:nvSpPr>
          <p:spPr>
            <a:xfrm>
              <a:off x="2158314" y="1742303"/>
              <a:ext cx="3105666" cy="4263954"/>
            </a:xfrm>
            <a:prstGeom prst="rect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5455169" y="1742303"/>
              <a:ext cx="4603231" cy="4263954"/>
            </a:xfrm>
            <a:prstGeom prst="rect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9" name="Google Shape;169;p7"/>
            <p:cNvSpPr txBox="1"/>
            <p:nvPr/>
          </p:nvSpPr>
          <p:spPr>
            <a:xfrm>
              <a:off x="3173956" y="6032091"/>
              <a:ext cx="107438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C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Encoder</a:t>
              </a:r>
              <a:endParaRPr/>
            </a:p>
          </p:txBody>
        </p:sp>
        <p:sp>
          <p:nvSpPr>
            <p:cNvPr id="170" name="Google Shape;170;p7"/>
            <p:cNvSpPr txBox="1"/>
            <p:nvPr/>
          </p:nvSpPr>
          <p:spPr>
            <a:xfrm>
              <a:off x="7219593" y="6044448"/>
              <a:ext cx="119535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C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Decoder</a:t>
              </a:r>
              <a:endParaRPr/>
            </a:p>
          </p:txBody>
        </p:sp>
      </p:grpSp>
      <p:sp>
        <p:nvSpPr>
          <p:cNvPr id="171" name="Google Shape;171;p7"/>
          <p:cNvSpPr txBox="1"/>
          <p:nvPr/>
        </p:nvSpPr>
        <p:spPr>
          <a:xfrm>
            <a:off x="491613" y="176980"/>
            <a:ext cx="350028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Recap: Seq2Seq</a:t>
            </a:r>
            <a:endParaRPr/>
          </a:p>
        </p:txBody>
      </p:sp>
      <p:sp>
        <p:nvSpPr>
          <p:cNvPr id="172" name="Google Shape;172;p7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73" name="Google Shape;173;p7"/>
          <p:cNvSpPr txBox="1"/>
          <p:nvPr/>
        </p:nvSpPr>
        <p:spPr>
          <a:xfrm>
            <a:off x="491613" y="6413780"/>
            <a:ext cx="1032256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ko-KR" sz="10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- Sequence to Sequence Learning with Neural Networks </a:t>
            </a:r>
            <a:r>
              <a:rPr lang="ko-KR" sz="10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(2014)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9" name="Google Shape;179;p8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0" name="Google Shape;180;p8"/>
          <p:cNvSpPr txBox="1"/>
          <p:nvPr/>
        </p:nvSpPr>
        <p:spPr>
          <a:xfrm>
            <a:off x="491613" y="1048589"/>
            <a:ext cx="10810240" cy="869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Encoder – Decoder 구조의 언어 모델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RNN과는 달리 </a:t>
            </a:r>
            <a:r>
              <a:rPr lang="ko-KR" sz="1800" u="sng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input sequence 전체의 정보(맥락)를 통해 output sequence를 생성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 수 있음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81" name="Google Shape;18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5871" y="2144128"/>
            <a:ext cx="8160258" cy="4165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폰트, 그래픽, 텍스트, 스크린샷이(가) 표시된 사진&#10;&#10;자동 생성된 설명" id="182" name="Google Shape;18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183" name="Google Shape;18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"/>
          <p:cNvSpPr txBox="1"/>
          <p:nvPr/>
        </p:nvSpPr>
        <p:spPr>
          <a:xfrm>
            <a:off x="491613" y="176980"/>
            <a:ext cx="350028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Recap: Seq2Seq</a:t>
            </a:r>
            <a:endParaRPr/>
          </a:p>
        </p:txBody>
      </p:sp>
      <p:sp>
        <p:nvSpPr>
          <p:cNvPr id="185" name="Google Shape;185;p8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86" name="Google Shape;186;p8"/>
          <p:cNvSpPr txBox="1"/>
          <p:nvPr/>
        </p:nvSpPr>
        <p:spPr>
          <a:xfrm>
            <a:off x="491613" y="6412342"/>
            <a:ext cx="1032256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ko-KR" sz="10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- Sequence to Sequence Learning with Neural Networks </a:t>
            </a:r>
            <a:r>
              <a:rPr lang="ko-KR" sz="10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(2014)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2" name="Google Shape;192;p9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3" name="Google Shape;193;p9"/>
          <p:cNvSpPr txBox="1"/>
          <p:nvPr/>
        </p:nvSpPr>
        <p:spPr>
          <a:xfrm>
            <a:off x="491613" y="176980"/>
            <a:ext cx="73929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Recap: the bottleneck problem</a:t>
            </a:r>
            <a:endParaRPr/>
          </a:p>
        </p:txBody>
      </p:sp>
      <p:sp>
        <p:nvSpPr>
          <p:cNvPr id="194" name="Google Shape;194;p9"/>
          <p:cNvSpPr txBox="1"/>
          <p:nvPr/>
        </p:nvSpPr>
        <p:spPr>
          <a:xfrm>
            <a:off x="491613" y="1059837"/>
            <a:ext cx="10810240" cy="869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마지막 hidden state vector(=context vector)는 input sequence의 모든 정보를 포함하고 있음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하지만, hidden state vector의 크기는 고정이므로, input sequence가 길어질수록 병목 현상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195" name="Google Shape;19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196" name="Google Shape;19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15871" y="2144128"/>
            <a:ext cx="8160258" cy="416557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99" name="Google Shape;199;p9"/>
          <p:cNvSpPr txBox="1"/>
          <p:nvPr/>
        </p:nvSpPr>
        <p:spPr>
          <a:xfrm>
            <a:off x="491613" y="6415800"/>
            <a:ext cx="1032256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ko-KR" sz="10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- Sequence to Sequence Learning with Neural Networks </a:t>
            </a:r>
            <a:r>
              <a:rPr lang="ko-KR" sz="10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(2014)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5" name="Google Shape;205;p10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6" name="Google Shape;206;p10"/>
          <p:cNvSpPr txBox="1"/>
          <p:nvPr/>
        </p:nvSpPr>
        <p:spPr>
          <a:xfrm>
            <a:off x="491613" y="176980"/>
            <a:ext cx="350028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Recap: Attention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7" name="Google Shape;207;p10"/>
          <p:cNvSpPr txBox="1"/>
          <p:nvPr/>
        </p:nvSpPr>
        <p:spPr>
          <a:xfrm>
            <a:off x="491613" y="6415800"/>
            <a:ext cx="1032256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ko-KR" sz="10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- Neural Machine Translation by Jointly Learning to Align and Translate</a:t>
            </a:r>
            <a:r>
              <a:rPr b="0" i="0" lang="ko-KR" sz="10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(2014)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08" name="Google Shape;20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2705" y="4140886"/>
            <a:ext cx="6906589" cy="170521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0"/>
          <p:cNvSpPr txBox="1"/>
          <p:nvPr/>
        </p:nvSpPr>
        <p:spPr>
          <a:xfrm>
            <a:off x="1127760" y="3050844"/>
            <a:ext cx="6177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“어제 카페 갔었어 거기 사람 많더라”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0" name="Google Shape;210;p10"/>
          <p:cNvSpPr txBox="1"/>
          <p:nvPr/>
        </p:nvSpPr>
        <p:spPr>
          <a:xfrm>
            <a:off x="1377827" y="1718392"/>
            <a:ext cx="74078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번역(출력) 시에 문장의 특정 부분에 집중(Attention)하는 방법 사용</a:t>
            </a:r>
            <a:endParaRPr/>
          </a:p>
        </p:txBody>
      </p:sp>
      <p:sp>
        <p:nvSpPr>
          <p:cNvPr id="211" name="Google Shape;211;p10"/>
          <p:cNvSpPr txBox="1"/>
          <p:nvPr/>
        </p:nvSpPr>
        <p:spPr>
          <a:xfrm>
            <a:off x="1377828" y="3435104"/>
            <a:ext cx="1032255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cafe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’라는 단어를 생성하기 위해 유사도가 높은 ‘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카페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’, ‘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거기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’ 등의 단어에 Attention 하여 단어를 생성한다.</a:t>
            </a:r>
            <a:endParaRPr/>
          </a:p>
        </p:txBody>
      </p:sp>
      <p:cxnSp>
        <p:nvCxnSpPr>
          <p:cNvPr id="212" name="Google Shape;212;p10"/>
          <p:cNvCxnSpPr/>
          <p:nvPr/>
        </p:nvCxnSpPr>
        <p:spPr>
          <a:xfrm>
            <a:off x="4954148" y="2128364"/>
            <a:ext cx="0" cy="80492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3" name="Google Shape;213;p10"/>
          <p:cNvSpPr txBox="1"/>
          <p:nvPr/>
        </p:nvSpPr>
        <p:spPr>
          <a:xfrm>
            <a:off x="5244856" y="2357553"/>
            <a:ext cx="38811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번역(Machine translation) 예시</a:t>
            </a:r>
            <a:endParaRPr/>
          </a:p>
        </p:txBody>
      </p:sp>
      <p:pic>
        <p:nvPicPr>
          <p:cNvPr descr="폰트, 그래픽, 텍스트, 스크린샷이(가) 표시된 사진&#10;&#10;자동 생성된 설명" id="214" name="Google Shape;21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215" name="Google Shape;21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0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2" name="Google Shape;222;p11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3" name="Google Shape;223;p11"/>
          <p:cNvSpPr txBox="1"/>
          <p:nvPr/>
        </p:nvSpPr>
        <p:spPr>
          <a:xfrm>
            <a:off x="491613" y="176980"/>
            <a:ext cx="350028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Recap: Attention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24" name="Google Shape;22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8321" y="1399300"/>
            <a:ext cx="7815357" cy="47893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폰트, 그래픽, 텍스트, 스크린샷이(가) 표시된 사진&#10;&#10;자동 생성된 설명" id="225" name="Google Shape;22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226" name="Google Shape;22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1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998" y="1630294"/>
            <a:ext cx="3713907" cy="48880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" name="Google Shape;234;p12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5" name="Google Shape;235;p12"/>
          <p:cNvSpPr txBox="1"/>
          <p:nvPr/>
        </p:nvSpPr>
        <p:spPr>
          <a:xfrm>
            <a:off x="491613" y="176980"/>
            <a:ext cx="350028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Transformer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236" name="Google Shape;23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237" name="Google Shape;23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8" name="Google Shape;238;p12"/>
          <p:cNvCxnSpPr/>
          <p:nvPr/>
        </p:nvCxnSpPr>
        <p:spPr>
          <a:xfrm>
            <a:off x="2829697" y="1630294"/>
            <a:ext cx="0" cy="467941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239" name="Google Shape;239;p12"/>
          <p:cNvSpPr txBox="1"/>
          <p:nvPr/>
        </p:nvSpPr>
        <p:spPr>
          <a:xfrm>
            <a:off x="742950" y="5755537"/>
            <a:ext cx="10915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Encoder</a:t>
            </a:r>
            <a:endParaRPr/>
          </a:p>
        </p:txBody>
      </p:sp>
      <p:sp>
        <p:nvSpPr>
          <p:cNvPr id="240" name="Google Shape;240;p12"/>
          <p:cNvSpPr txBox="1"/>
          <p:nvPr/>
        </p:nvSpPr>
        <p:spPr>
          <a:xfrm>
            <a:off x="3923050" y="5755537"/>
            <a:ext cx="10915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rgbClr val="00B05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Decoder</a:t>
            </a:r>
            <a:endParaRPr/>
          </a:p>
        </p:txBody>
      </p:sp>
      <p:sp>
        <p:nvSpPr>
          <p:cNvPr id="241" name="Google Shape;241;p12"/>
          <p:cNvSpPr txBox="1"/>
          <p:nvPr/>
        </p:nvSpPr>
        <p:spPr>
          <a:xfrm>
            <a:off x="4906004" y="1702181"/>
            <a:ext cx="6794383" cy="128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Encoder-Decoder 구조의 architecture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Input sentence 내에 존재하는 단어들 간의 상호작용만으로 표현을 학습하는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Self-Attention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Mechanism을 사용하는 모델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2" name="Google Shape;242;p12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43" name="Google Shape;243;p12"/>
          <p:cNvSpPr txBox="1"/>
          <p:nvPr/>
        </p:nvSpPr>
        <p:spPr>
          <a:xfrm>
            <a:off x="491613" y="6415800"/>
            <a:ext cx="1032256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ko-KR" sz="10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- Attention Is All You Need </a:t>
            </a:r>
            <a:r>
              <a:rPr lang="ko-KR" sz="10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(2017)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13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0" name="Google Shape;250;p13"/>
          <p:cNvSpPr txBox="1"/>
          <p:nvPr/>
        </p:nvSpPr>
        <p:spPr>
          <a:xfrm>
            <a:off x="491612" y="176980"/>
            <a:ext cx="50810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Transformer – Self-Attention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51" name="Google Shape;25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1308" y="1812689"/>
            <a:ext cx="6929382" cy="1753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8769" y="4738053"/>
            <a:ext cx="6034461" cy="1473971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3"/>
          <p:cNvSpPr txBox="1"/>
          <p:nvPr/>
        </p:nvSpPr>
        <p:spPr>
          <a:xfrm>
            <a:off x="491612" y="1214797"/>
            <a:ext cx="10963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Attention은 input sequence에서 유사성이 높은 단어를 참조하는 과정</a:t>
            </a:r>
            <a:endParaRPr/>
          </a:p>
        </p:txBody>
      </p:sp>
      <p:sp>
        <p:nvSpPr>
          <p:cNvPr id="254" name="Google Shape;254;p13"/>
          <p:cNvSpPr txBox="1"/>
          <p:nvPr/>
        </p:nvSpPr>
        <p:spPr>
          <a:xfrm>
            <a:off x="491612" y="3691463"/>
            <a:ext cx="10963332" cy="869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Self-Attention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은 </a:t>
            </a:r>
            <a:r>
              <a:rPr lang="ko-KR" sz="1800" u="sng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input sequence 문장 내에서 각 단어 간 유사성(관계)을 파악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하는 과정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사람은 문맥 상 ‘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거기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’는 ‘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카페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’를 의미한다는 것을 쉽게 파악할 수 있음 </a:t>
            </a:r>
            <a:endParaRPr/>
          </a:p>
        </p:txBody>
      </p:sp>
      <p:pic>
        <p:nvPicPr>
          <p:cNvPr descr="폰트, 그래픽, 텍스트, 스크린샷이(가) 표시된 사진&#10;&#10;자동 생성된 설명" id="255" name="Google Shape;25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256" name="Google Shape;25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3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3" name="Google Shape;263;p14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4" name="Google Shape;264;p14"/>
          <p:cNvSpPr txBox="1"/>
          <p:nvPr/>
        </p:nvSpPr>
        <p:spPr>
          <a:xfrm>
            <a:off x="491613" y="176980"/>
            <a:ext cx="631558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Transformer – Multi-head Attention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65" name="Google Shape;2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4389" y="1245718"/>
            <a:ext cx="4995259" cy="1220137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4"/>
          <p:cNvSpPr txBox="1"/>
          <p:nvPr/>
        </p:nvSpPr>
        <p:spPr>
          <a:xfrm>
            <a:off x="491613" y="1846211"/>
            <a:ext cx="10963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Attention Head 1 – 단어의 문맥적 관계에 Attention</a:t>
            </a:r>
            <a:endParaRPr/>
          </a:p>
        </p:txBody>
      </p:sp>
      <p:sp>
        <p:nvSpPr>
          <p:cNvPr id="267" name="Google Shape;267;p14"/>
          <p:cNvSpPr txBox="1"/>
          <p:nvPr/>
        </p:nvSpPr>
        <p:spPr>
          <a:xfrm>
            <a:off x="491613" y="3085125"/>
            <a:ext cx="10963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Attention Head 2 – 단어의 시제에 Attention</a:t>
            </a:r>
            <a:endParaRPr/>
          </a:p>
        </p:txBody>
      </p:sp>
      <p:grpSp>
        <p:nvGrpSpPr>
          <p:cNvPr id="268" name="Google Shape;268;p14"/>
          <p:cNvGrpSpPr/>
          <p:nvPr/>
        </p:nvGrpSpPr>
        <p:grpSpPr>
          <a:xfrm>
            <a:off x="6444389" y="2595060"/>
            <a:ext cx="4995259" cy="1237887"/>
            <a:chOff x="1494266" y="3885857"/>
            <a:chExt cx="4995259" cy="1237887"/>
          </a:xfrm>
        </p:grpSpPr>
        <p:pic>
          <p:nvPicPr>
            <p:cNvPr id="269" name="Google Shape;269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94266" y="3885857"/>
              <a:ext cx="4995259" cy="12201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14"/>
            <p:cNvSpPr/>
            <p:nvPr/>
          </p:nvSpPr>
          <p:spPr>
            <a:xfrm>
              <a:off x="2428240" y="3963097"/>
              <a:ext cx="4061285" cy="73152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3444240" y="4013734"/>
              <a:ext cx="2651760" cy="1110010"/>
            </a:xfrm>
            <a:prstGeom prst="arc">
              <a:avLst>
                <a:gd fmla="val 10754327" name="adj1"/>
                <a:gd fmla="val 0" name="adj2"/>
              </a:avLst>
            </a:prstGeom>
            <a:noFill/>
            <a:ln cap="flat" cmpd="sng" w="38100">
              <a:solidFill>
                <a:srgbClr val="D86CC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1807720" y="4024492"/>
              <a:ext cx="1637118" cy="1069392"/>
            </a:xfrm>
            <a:prstGeom prst="arc">
              <a:avLst>
                <a:gd fmla="val 10754327" name="adj1"/>
                <a:gd fmla="val 0" name="adj2"/>
              </a:avLst>
            </a:prstGeom>
            <a:noFill/>
            <a:ln cap="flat" cmpd="sng" w="38100">
              <a:solidFill>
                <a:srgbClr val="D86CC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73" name="Google Shape;273;p14"/>
          <p:cNvSpPr txBox="1"/>
          <p:nvPr/>
        </p:nvSpPr>
        <p:spPr>
          <a:xfrm>
            <a:off x="491613" y="4356821"/>
            <a:ext cx="10963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Attention Head 3 – 명사에 Attention</a:t>
            </a:r>
            <a:endParaRPr/>
          </a:p>
        </p:txBody>
      </p:sp>
      <p:grpSp>
        <p:nvGrpSpPr>
          <p:cNvPr id="274" name="Google Shape;274;p14"/>
          <p:cNvGrpSpPr/>
          <p:nvPr/>
        </p:nvGrpSpPr>
        <p:grpSpPr>
          <a:xfrm>
            <a:off x="6444388" y="3920206"/>
            <a:ext cx="4995259" cy="1220137"/>
            <a:chOff x="6705128" y="4922177"/>
            <a:chExt cx="4995259" cy="1220137"/>
          </a:xfrm>
        </p:grpSpPr>
        <p:grpSp>
          <p:nvGrpSpPr>
            <p:cNvPr id="275" name="Google Shape;275;p14"/>
            <p:cNvGrpSpPr/>
            <p:nvPr/>
          </p:nvGrpSpPr>
          <p:grpSpPr>
            <a:xfrm>
              <a:off x="6705128" y="4922177"/>
              <a:ext cx="4995259" cy="1220137"/>
              <a:chOff x="6705128" y="4922177"/>
              <a:chExt cx="4995259" cy="1220137"/>
            </a:xfrm>
          </p:grpSpPr>
          <p:pic>
            <p:nvPicPr>
              <p:cNvPr id="276" name="Google Shape;276;p1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6705128" y="4922177"/>
                <a:ext cx="4995259" cy="122013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7" name="Google Shape;277;p14"/>
              <p:cNvSpPr/>
              <p:nvPr/>
            </p:nvSpPr>
            <p:spPr>
              <a:xfrm>
                <a:off x="7639102" y="5013181"/>
                <a:ext cx="4061285" cy="731520"/>
              </a:xfrm>
              <a:prstGeom prst="rect">
                <a:avLst/>
              </a:prstGeom>
              <a:solidFill>
                <a:schemeClr val="lt1"/>
              </a:solidFill>
              <a:ln cap="flat" cmpd="sng" w="190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278" name="Google Shape;278;p14"/>
            <p:cNvSpPr/>
            <p:nvPr/>
          </p:nvSpPr>
          <p:spPr>
            <a:xfrm>
              <a:off x="7876877" y="5040472"/>
              <a:ext cx="2518161" cy="1101842"/>
            </a:xfrm>
            <a:prstGeom prst="arc">
              <a:avLst>
                <a:gd fmla="val 10754327" name="adj1"/>
                <a:gd fmla="val 0" name="adj2"/>
              </a:avLst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79" name="Google Shape;279;p14"/>
          <p:cNvSpPr txBox="1"/>
          <p:nvPr/>
        </p:nvSpPr>
        <p:spPr>
          <a:xfrm>
            <a:off x="491613" y="5814662"/>
            <a:ext cx="10963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즉, 문장 내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다양한 측면의 정보를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파악하기 위해 Self-Attention 을 여러 번 수행하는 것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280" name="Google Shape;28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281" name="Google Shape;28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4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8" name="Google Shape;288;p15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9" name="Google Shape;289;p15"/>
          <p:cNvSpPr txBox="1"/>
          <p:nvPr/>
        </p:nvSpPr>
        <p:spPr>
          <a:xfrm>
            <a:off x="491612" y="176980"/>
            <a:ext cx="678908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Transformer – Positional Encoding</a:t>
            </a:r>
            <a:endParaRPr/>
          </a:p>
        </p:txBody>
      </p:sp>
      <p:sp>
        <p:nvSpPr>
          <p:cNvPr id="290" name="Google Shape;290;p15"/>
          <p:cNvSpPr txBox="1"/>
          <p:nvPr/>
        </p:nvSpPr>
        <p:spPr>
          <a:xfrm>
            <a:off x="491612" y="962022"/>
            <a:ext cx="10963332" cy="869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하지만, Self-Attention mechanism 자체는 input sequence의 순서를 고려하지 않음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→ 이를 해결하기 위해,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단어의 위치 정보를 담은 벡터(positional encoding)를 입력에 더함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91" name="Google Shape;291;p15"/>
          <p:cNvGrpSpPr/>
          <p:nvPr/>
        </p:nvGrpSpPr>
        <p:grpSpPr>
          <a:xfrm>
            <a:off x="1432561" y="2757445"/>
            <a:ext cx="4253573" cy="3386389"/>
            <a:chOff x="1865110" y="2797858"/>
            <a:chExt cx="4253573" cy="3386389"/>
          </a:xfrm>
        </p:grpSpPr>
        <p:pic>
          <p:nvPicPr>
            <p:cNvPr id="292" name="Google Shape;292;p15"/>
            <p:cNvPicPr preferRelativeResize="0"/>
            <p:nvPr/>
          </p:nvPicPr>
          <p:blipFill rotWithShape="1">
            <a:blip r:embed="rId3">
              <a:alphaModFix/>
            </a:blip>
            <a:srcRect b="27803" l="0" r="0" t="38150"/>
            <a:stretch/>
          </p:blipFill>
          <p:spPr>
            <a:xfrm>
              <a:off x="1865110" y="2797858"/>
              <a:ext cx="4253573" cy="19061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15"/>
            <p:cNvPicPr preferRelativeResize="0"/>
            <p:nvPr/>
          </p:nvPicPr>
          <p:blipFill rotWithShape="1">
            <a:blip r:embed="rId3">
              <a:alphaModFix/>
            </a:blip>
            <a:srcRect b="0" l="0" r="0" t="79731"/>
            <a:stretch/>
          </p:blipFill>
          <p:spPr>
            <a:xfrm>
              <a:off x="1865110" y="5049520"/>
              <a:ext cx="4253573" cy="113472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4" name="Google Shape;294;p15"/>
            <p:cNvCxnSpPr/>
            <p:nvPr/>
          </p:nvCxnSpPr>
          <p:spPr>
            <a:xfrm rot="10800000">
              <a:off x="3373120" y="4703971"/>
              <a:ext cx="0" cy="34554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95" name="Google Shape;295;p15"/>
            <p:cNvCxnSpPr/>
            <p:nvPr/>
          </p:nvCxnSpPr>
          <p:spPr>
            <a:xfrm rot="10800000">
              <a:off x="4704080" y="4693810"/>
              <a:ext cx="0" cy="34554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pic>
        <p:nvPicPr>
          <p:cNvPr id="296" name="Google Shape;296;p15"/>
          <p:cNvPicPr preferRelativeResize="0"/>
          <p:nvPr/>
        </p:nvPicPr>
        <p:blipFill rotWithShape="1">
          <a:blip r:embed="rId3">
            <a:alphaModFix/>
          </a:blip>
          <a:srcRect b="0" l="0" r="0" t="38150"/>
          <a:stretch/>
        </p:blipFill>
        <p:spPr>
          <a:xfrm>
            <a:off x="6567292" y="2701683"/>
            <a:ext cx="4253573" cy="346258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5"/>
          <p:cNvSpPr/>
          <p:nvPr/>
        </p:nvSpPr>
        <p:spPr>
          <a:xfrm>
            <a:off x="6736080" y="4602728"/>
            <a:ext cx="4023359" cy="473394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0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5635698" y="3846014"/>
            <a:ext cx="755771" cy="67045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299" name="Google Shape;2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300" name="Google Shape;30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5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6150" y="1256479"/>
            <a:ext cx="4121493" cy="5424541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6"/>
          <p:cNvSpPr txBox="1"/>
          <p:nvPr/>
        </p:nvSpPr>
        <p:spPr>
          <a:xfrm>
            <a:off x="4840222" y="1174299"/>
            <a:ext cx="6996177" cy="2116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Transformer의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Encoder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통해 Natural Language Understanding 능력을 학습함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Encoder-Decoder 구조에선, Decoder를 통해 생성을 담당 🡪 </a:t>
            </a:r>
            <a:r>
              <a:rPr lang="ko-KR" sz="1800" u="sng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Transformer의 Decoder는 Encoder의 natural language 이해 능력을 어떻게 활용할까?</a:t>
            </a:r>
            <a:endParaRPr sz="1800" u="sng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09" name="Google Shape;309;p16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0" name="Google Shape;310;p16"/>
          <p:cNvSpPr txBox="1"/>
          <p:nvPr/>
        </p:nvSpPr>
        <p:spPr>
          <a:xfrm>
            <a:off x="491613" y="176980"/>
            <a:ext cx="42360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Transformer – Decoder</a:t>
            </a:r>
            <a:endParaRPr/>
          </a:p>
        </p:txBody>
      </p:sp>
      <p:pic>
        <p:nvPicPr>
          <p:cNvPr descr="폰트, 그래픽, 텍스트, 스크린샷이(가) 표시된 사진&#10;&#10;자동 생성된 설명" id="311" name="Google Shape;31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312" name="Google Shape;31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6"/>
          <p:cNvSpPr/>
          <p:nvPr/>
        </p:nvSpPr>
        <p:spPr>
          <a:xfrm>
            <a:off x="2734721" y="1216810"/>
            <a:ext cx="1412240" cy="4026492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CD87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4" name="Google Shape;314;p16"/>
          <p:cNvSpPr txBox="1"/>
          <p:nvPr/>
        </p:nvSpPr>
        <p:spPr>
          <a:xfrm>
            <a:off x="1355340" y="1256479"/>
            <a:ext cx="13115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rgbClr val="3A7D22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Decoder..?</a:t>
            </a:r>
            <a:endParaRPr b="1" sz="1800">
              <a:solidFill>
                <a:srgbClr val="3A7D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5" name="Google Shape;315;p16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1" name="Google Shape;321;p17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2" name="Google Shape;322;p17"/>
          <p:cNvSpPr txBox="1"/>
          <p:nvPr/>
        </p:nvSpPr>
        <p:spPr>
          <a:xfrm>
            <a:off x="491613" y="176980"/>
            <a:ext cx="582269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Transformer – Masked Attention</a:t>
            </a:r>
            <a:endParaRPr/>
          </a:p>
        </p:txBody>
      </p:sp>
      <p:pic>
        <p:nvPicPr>
          <p:cNvPr descr="폰트, 그래픽, 텍스트, 스크린샷이(가) 표시된 사진&#10;&#10;자동 생성된 설명" id="323" name="Google Shape;3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324" name="Google Shape;32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4398" y="1260102"/>
            <a:ext cx="3867385" cy="3423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ansformers: Attention is all you need" id="326" name="Google Shape;326;p17"/>
          <p:cNvPicPr preferRelativeResize="0"/>
          <p:nvPr/>
        </p:nvPicPr>
        <p:blipFill rotWithShape="1">
          <a:blip r:embed="rId6">
            <a:alphaModFix/>
          </a:blip>
          <a:srcRect b="12309" l="0" r="0" t="0"/>
          <a:stretch/>
        </p:blipFill>
        <p:spPr>
          <a:xfrm>
            <a:off x="350108" y="1260102"/>
            <a:ext cx="6940377" cy="3423378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7"/>
          <p:cNvSpPr txBox="1"/>
          <p:nvPr/>
        </p:nvSpPr>
        <p:spPr>
          <a:xfrm>
            <a:off x="491613" y="4830792"/>
            <a:ext cx="11208773" cy="128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“The cake was sour” 이라는 문장을 학습한다고 할 때, 각 단어 생성 시 미래의 단어는 볼 수 없도록 했음(ex. ”was” 생성 시 “the“, “cake” 만 input으로 받고, “sour”는 받지 않음)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🡪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 Token Prediction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8" name="Google Shape;328;p17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7138" y="2208736"/>
            <a:ext cx="5872214" cy="3823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6150" y="1256479"/>
            <a:ext cx="4121493" cy="54245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6" name="Google Shape;336;p18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7" name="Google Shape;337;p18"/>
          <p:cNvSpPr txBox="1"/>
          <p:nvPr/>
        </p:nvSpPr>
        <p:spPr>
          <a:xfrm>
            <a:off x="491613" y="176980"/>
            <a:ext cx="42360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Transformer – Decoder</a:t>
            </a:r>
            <a:endParaRPr/>
          </a:p>
        </p:txBody>
      </p:sp>
      <p:pic>
        <p:nvPicPr>
          <p:cNvPr descr="폰트, 그래픽, 텍스트, 스크린샷이(가) 표시된 사진&#10;&#10;자동 생성된 설명" id="338" name="Google Shape;33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339" name="Google Shape;33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8"/>
          <p:cNvSpPr/>
          <p:nvPr/>
        </p:nvSpPr>
        <p:spPr>
          <a:xfrm>
            <a:off x="1186249" y="3101545"/>
            <a:ext cx="2960712" cy="1025611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3093E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4559643" y="3583460"/>
            <a:ext cx="767495" cy="8649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093E4"/>
          </a:solidFill>
          <a:ln cap="flat" cmpd="sng" w="19050">
            <a:solidFill>
              <a:srgbClr val="3093E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093E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2" name="Google Shape;342;p18"/>
          <p:cNvSpPr txBox="1"/>
          <p:nvPr/>
        </p:nvSpPr>
        <p:spPr>
          <a:xfrm>
            <a:off x="4840223" y="1174299"/>
            <a:ext cx="6860164" cy="869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 Token Prediction 과정 중에, encoder에서 학습한 단어의 representation을 전달받음</a:t>
            </a:r>
            <a:endParaRPr/>
          </a:p>
        </p:txBody>
      </p:sp>
      <p:sp>
        <p:nvSpPr>
          <p:cNvPr id="343" name="Google Shape;343;p18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9" name="Google Shape;349;p19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0" name="Google Shape;350;p19"/>
          <p:cNvSpPr txBox="1"/>
          <p:nvPr/>
        </p:nvSpPr>
        <p:spPr>
          <a:xfrm>
            <a:off x="491613" y="176980"/>
            <a:ext cx="350028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Transformer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51" name="Google Shape;3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6986" y="1433459"/>
            <a:ext cx="4121493" cy="5424541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9"/>
          <p:cNvSpPr txBox="1"/>
          <p:nvPr/>
        </p:nvSpPr>
        <p:spPr>
          <a:xfrm>
            <a:off x="491613" y="989804"/>
            <a:ext cx="8788573" cy="5026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Attention mechanism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으로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Long-range dependency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(멀리 있는 단어에도 attention하여 참조할 수 있다.)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Self-Attention mechanism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통해 RNN처럼 순차적으로 입력을 처리하지 않고,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positional encoding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통해 순서를 표현해 input sequence의 모든 단어(토큰)를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병렬적으로 연산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Multi-head Attention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통해 문장 내에서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더 많은 정보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얻을 수 있음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 Token Prediction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통해 natural language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generation을 학습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Decoder에서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Encoder의 representation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참고해 natural language </a:t>
            </a:r>
            <a:b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generation에도 적용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🡪 </a:t>
            </a:r>
            <a:r>
              <a:rPr lang="ko-KR" sz="1800" u="sng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자연어에 대한 강력한 이해를 바탕으로 다양한 Tasks에 적용이 가능</a:t>
            </a:r>
            <a:endParaRPr sz="1800" u="sng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353" name="Google Shape;35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354" name="Google Shape;35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9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1" name="Google Shape;361;p20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2" name="Google Shape;362;p20"/>
          <p:cNvSpPr txBox="1"/>
          <p:nvPr/>
        </p:nvSpPr>
        <p:spPr>
          <a:xfrm>
            <a:off x="491612" y="176980"/>
            <a:ext cx="77481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Hugging Face 이용 Transformer 실습</a:t>
            </a:r>
            <a:endParaRPr/>
          </a:p>
        </p:txBody>
      </p:sp>
      <p:sp>
        <p:nvSpPr>
          <p:cNvPr id="363" name="Google Shape;363;p20"/>
          <p:cNvSpPr txBox="1"/>
          <p:nvPr/>
        </p:nvSpPr>
        <p:spPr>
          <a:xfrm>
            <a:off x="491613" y="1048589"/>
            <a:ext cx="9807432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Hugging Face Transformers 란?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Transformer 계열의 여러 모델을 쉽게 사용할 수 있도록 여러 기능을 제공하는 라이브러리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실습 내용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HuggingFace Transformers 라이브러리 설치 및 사용법 익히기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여러 NLP Task를 직접 수행해보기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364" name="Google Shape;36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365" name="Google Shape;36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nd assets - Hugging Face" id="366" name="Google Shape;36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52240" y="4566229"/>
            <a:ext cx="4287520" cy="1140717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0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3" name="Google Shape;373;p21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4" name="Google Shape;374;p21"/>
          <p:cNvSpPr txBox="1"/>
          <p:nvPr/>
        </p:nvSpPr>
        <p:spPr>
          <a:xfrm>
            <a:off x="491612" y="176980"/>
            <a:ext cx="77481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Hugging Face란?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5" name="Google Shape;375;p21"/>
          <p:cNvSpPr txBox="1"/>
          <p:nvPr/>
        </p:nvSpPr>
        <p:spPr>
          <a:xfrm>
            <a:off x="491613" y="1048589"/>
            <a:ext cx="9807432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Hugging Face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는 대규모 사전학습 모델(Pretrained Models)을 누구나 쉽게 사용할 수 있도록 API, Library, dataset, model hub, spaces, community 등을 제공하는 플랫폼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주소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 homepage: </a:t>
            </a:r>
            <a:r>
              <a:rPr b="0" i="0" lang="ko-KR" sz="1800" u="sng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https://huggingface.co/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376" name="Google Shape;37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377" name="Google Shape;37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nd assets - Hugging Face" id="378" name="Google Shape;37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52240" y="4566229"/>
            <a:ext cx="4287520" cy="1140717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1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5" name="Google Shape;385;p22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6" name="Google Shape;386;p22"/>
          <p:cNvSpPr txBox="1"/>
          <p:nvPr/>
        </p:nvSpPr>
        <p:spPr>
          <a:xfrm>
            <a:off x="491612" y="176980"/>
            <a:ext cx="77481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Hugging Face - Pipeline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387" name="Google Shape;38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388" name="Google Shape;38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2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390" name="Google Shape;39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3990" y="1762105"/>
            <a:ext cx="9304020" cy="3406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22"/>
          <p:cNvPicPr preferRelativeResize="0"/>
          <p:nvPr/>
        </p:nvPicPr>
        <p:blipFill rotWithShape="1">
          <a:blip r:embed="rId6">
            <a:alphaModFix/>
          </a:blip>
          <a:srcRect b="41229" l="34565" r="0" t="0"/>
          <a:stretch/>
        </p:blipFill>
        <p:spPr>
          <a:xfrm>
            <a:off x="4914899" y="5326341"/>
            <a:ext cx="3440431" cy="1030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2"/>
          <p:cNvPicPr preferRelativeResize="0"/>
          <p:nvPr/>
        </p:nvPicPr>
        <p:blipFill rotWithShape="1">
          <a:blip r:embed="rId6">
            <a:alphaModFix/>
          </a:blip>
          <a:srcRect b="6955" l="-290" r="68333" t="0"/>
          <a:stretch/>
        </p:blipFill>
        <p:spPr>
          <a:xfrm>
            <a:off x="3669031" y="5279695"/>
            <a:ext cx="1061293" cy="1030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8" name="Google Shape;398;p23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9" name="Google Shape;399;p23"/>
          <p:cNvSpPr txBox="1"/>
          <p:nvPr/>
        </p:nvSpPr>
        <p:spPr>
          <a:xfrm>
            <a:off x="491612" y="176980"/>
            <a:ext cx="77481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Hugging Face - Pipeline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400" name="Google Shape;40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401" name="Google Shape;40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3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403" name="Google Shape;40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3990" y="1762105"/>
            <a:ext cx="9304020" cy="3406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23"/>
          <p:cNvPicPr preferRelativeResize="0"/>
          <p:nvPr/>
        </p:nvPicPr>
        <p:blipFill rotWithShape="1">
          <a:blip r:embed="rId6">
            <a:alphaModFix/>
          </a:blip>
          <a:srcRect b="41229" l="34565" r="0" t="0"/>
          <a:stretch/>
        </p:blipFill>
        <p:spPr>
          <a:xfrm>
            <a:off x="4914899" y="5326341"/>
            <a:ext cx="3440431" cy="1030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3"/>
          <p:cNvPicPr preferRelativeResize="0"/>
          <p:nvPr/>
        </p:nvPicPr>
        <p:blipFill rotWithShape="1">
          <a:blip r:embed="rId6">
            <a:alphaModFix/>
          </a:blip>
          <a:srcRect b="6955" l="-290" r="68333" t="0"/>
          <a:stretch/>
        </p:blipFill>
        <p:spPr>
          <a:xfrm>
            <a:off x="3669031" y="5279695"/>
            <a:ext cx="1061293" cy="1030009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3"/>
          <p:cNvSpPr/>
          <p:nvPr/>
        </p:nvSpPr>
        <p:spPr>
          <a:xfrm>
            <a:off x="1554480" y="1988820"/>
            <a:ext cx="9193530" cy="2926080"/>
          </a:xfrm>
          <a:prstGeom prst="rect">
            <a:avLst/>
          </a:prstGeom>
          <a:solidFill>
            <a:srgbClr val="FFD3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5000">
                <a:solidFill>
                  <a:srgbClr val="3093E4"/>
                </a:solidFill>
                <a:latin typeface="Malgun Gothic"/>
                <a:ea typeface="Malgun Gothic"/>
                <a:cs typeface="Malgun Gothic"/>
                <a:sym typeface="Malgun Gothic"/>
              </a:rPr>
              <a:t>Pipeline</a:t>
            </a:r>
            <a:endParaRPr/>
          </a:p>
        </p:txBody>
      </p:sp>
      <p:sp>
        <p:nvSpPr>
          <p:cNvPr id="407" name="Google Shape;407;p23"/>
          <p:cNvSpPr txBox="1"/>
          <p:nvPr/>
        </p:nvSpPr>
        <p:spPr>
          <a:xfrm>
            <a:off x="8536162" y="2852465"/>
            <a:ext cx="188799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rgbClr val="3093E4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&lt;Parameters&gt;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093E4"/>
              </a:buClr>
              <a:buSzPts val="1800"/>
              <a:buFont typeface="Malgun Gothic"/>
              <a:buChar char="-"/>
            </a:pPr>
            <a:r>
              <a:rPr b="1" lang="ko-KR" sz="1800">
                <a:solidFill>
                  <a:srgbClr val="3093E4"/>
                </a:solidFill>
                <a:latin typeface="Malgun Gothic"/>
                <a:ea typeface="Malgun Gothic"/>
                <a:cs typeface="Malgun Gothic"/>
                <a:sym typeface="Malgun Gothic"/>
              </a:rPr>
              <a:t>Task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093E4"/>
              </a:buClr>
              <a:buSzPts val="1800"/>
              <a:buFont typeface="Malgun Gothic"/>
              <a:buChar char="-"/>
            </a:pPr>
            <a:r>
              <a:rPr b="1" lang="ko-KR" sz="1800">
                <a:solidFill>
                  <a:srgbClr val="3093E4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Model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093E4"/>
              </a:buClr>
              <a:buSzPts val="1800"/>
              <a:buFont typeface="Malgun Gothic"/>
              <a:buChar char="-"/>
            </a:pPr>
            <a:r>
              <a:rPr b="1" lang="ko-KR" sz="1800">
                <a:solidFill>
                  <a:srgbClr val="3093E4"/>
                </a:solidFill>
                <a:latin typeface="Malgun Gothic"/>
                <a:ea typeface="Malgun Gothic"/>
                <a:cs typeface="Malgun Gothic"/>
                <a:sym typeface="Malgun Gothic"/>
              </a:rPr>
              <a:t>Device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rgbClr val="3093E4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…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4"/>
          <p:cNvSpPr txBox="1"/>
          <p:nvPr/>
        </p:nvSpPr>
        <p:spPr>
          <a:xfrm>
            <a:off x="700211" y="2788909"/>
            <a:ext cx="10791578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4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Natural Language Understanding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4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&amp; BERT</a:t>
            </a:r>
            <a:endParaRPr b="1" sz="4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413" name="Google Shape;41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414" name="Google Shape;41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0" name="Google Shape;420;p25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1" name="Google Shape;421;p25"/>
          <p:cNvSpPr txBox="1"/>
          <p:nvPr/>
        </p:nvSpPr>
        <p:spPr>
          <a:xfrm>
            <a:off x="491613" y="176980"/>
            <a:ext cx="74046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Natural Language Understanding (NLU)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2" name="Google Shape;422;p25"/>
          <p:cNvSpPr txBox="1"/>
          <p:nvPr/>
        </p:nvSpPr>
        <p:spPr>
          <a:xfrm>
            <a:off x="491613" y="983519"/>
            <a:ext cx="10963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자연어 처리 (NLP) =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자연어를 이해하는 과정 (NLU)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+ 자연어를 생성하는 과정 (NLG)</a:t>
            </a:r>
            <a:endParaRPr/>
          </a:p>
        </p:txBody>
      </p:sp>
      <p:pic>
        <p:nvPicPr>
          <p:cNvPr descr="NLU란?" id="423" name="Google Shape;42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8090" y="1510460"/>
            <a:ext cx="7575819" cy="50203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폰트, 그래픽, 텍스트, 스크린샷이(가) 표시된 사진&#10;&#10;자동 생성된 설명" id="424" name="Google Shape;42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425" name="Google Shape;42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5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6"/>
          <p:cNvSpPr txBox="1"/>
          <p:nvPr/>
        </p:nvSpPr>
        <p:spPr>
          <a:xfrm>
            <a:off x="491613" y="951619"/>
            <a:ext cx="6860164" cy="25942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Transformer의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Encoder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Natural Language Understanding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 적합한 architecture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즉, Natural Language를 이해해서 의미를 추출하고 context를 반영한 표현을 만드는 데에 최적화 되어있다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이러한 Encoding 능력을 극대화해보자!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🡪 </a:t>
            </a:r>
            <a:r>
              <a:rPr b="1" lang="ko-KR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</a:t>
            </a:r>
            <a:r>
              <a:rPr lang="ko-KR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2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33" name="Google Shape;433;p26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4" name="Google Shape;434;p26"/>
          <p:cNvSpPr txBox="1"/>
          <p:nvPr/>
        </p:nvSpPr>
        <p:spPr>
          <a:xfrm>
            <a:off x="491613" y="176980"/>
            <a:ext cx="42360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Transformer – Encoder</a:t>
            </a:r>
            <a:endParaRPr/>
          </a:p>
        </p:txBody>
      </p:sp>
      <p:pic>
        <p:nvPicPr>
          <p:cNvPr id="435" name="Google Shape;43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8894" y="1256479"/>
            <a:ext cx="4121493" cy="54245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폰트, 그래픽, 텍스트, 스크린샷이(가) 표시된 사진&#10;&#10;자동 생성된 설명" id="436" name="Google Shape;43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437" name="Google Shape;43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26"/>
          <p:cNvSpPr txBox="1"/>
          <p:nvPr/>
        </p:nvSpPr>
        <p:spPr>
          <a:xfrm>
            <a:off x="8392915" y="2730781"/>
            <a:ext cx="10743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Encoder</a:t>
            </a:r>
            <a:endParaRPr/>
          </a:p>
        </p:txBody>
      </p:sp>
      <p:sp>
        <p:nvSpPr>
          <p:cNvPr id="439" name="Google Shape;439;p26"/>
          <p:cNvSpPr/>
          <p:nvPr/>
        </p:nvSpPr>
        <p:spPr>
          <a:xfrm>
            <a:off x="8211629" y="3155173"/>
            <a:ext cx="1412240" cy="2141916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0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0" name="Google Shape;440;p26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6" name="Google Shape;446;p27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7" name="Google Shape;447;p27"/>
          <p:cNvSpPr txBox="1"/>
          <p:nvPr/>
        </p:nvSpPr>
        <p:spPr>
          <a:xfrm>
            <a:off x="491613" y="176980"/>
            <a:ext cx="74046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8" name="Google Shape;448;p27"/>
          <p:cNvSpPr txBox="1"/>
          <p:nvPr/>
        </p:nvSpPr>
        <p:spPr>
          <a:xfrm>
            <a:off x="491613" y="950774"/>
            <a:ext cx="10963332" cy="128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2018년 구글이 공개한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Pre-trained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언어 모델 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Transformer 구조에서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Encoder만 사용한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형태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NLU 태스크에 적합한 형태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49" name="Google Shape;449;p27"/>
          <p:cNvGrpSpPr/>
          <p:nvPr/>
        </p:nvGrpSpPr>
        <p:grpSpPr>
          <a:xfrm>
            <a:off x="6984881" y="1032852"/>
            <a:ext cx="4121493" cy="5424541"/>
            <a:chOff x="7648242" y="1102463"/>
            <a:chExt cx="4121493" cy="5424541"/>
          </a:xfrm>
        </p:grpSpPr>
        <p:pic>
          <p:nvPicPr>
            <p:cNvPr id="450" name="Google Shape;45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48242" y="1102463"/>
              <a:ext cx="4121493" cy="54245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27"/>
            <p:cNvSpPr/>
            <p:nvPr/>
          </p:nvSpPr>
          <p:spPr>
            <a:xfrm>
              <a:off x="8283361" y="2987040"/>
              <a:ext cx="1412240" cy="2141916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rgbClr val="C0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52" name="Google Shape;452;p27"/>
          <p:cNvSpPr txBox="1"/>
          <p:nvPr/>
        </p:nvSpPr>
        <p:spPr>
          <a:xfrm>
            <a:off x="6492240" y="2956375"/>
            <a:ext cx="11277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Encoder</a:t>
            </a:r>
            <a:endParaRPr b="1" sz="1800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Google BERT Update and Why It Matters - SEO Update" id="453" name="Google Shape;453;p27"/>
          <p:cNvPicPr preferRelativeResize="0"/>
          <p:nvPr/>
        </p:nvPicPr>
        <p:blipFill rotWithShape="1">
          <a:blip r:embed="rId4">
            <a:alphaModFix/>
          </a:blip>
          <a:srcRect b="17878" l="10251" r="10644" t="25862"/>
          <a:stretch/>
        </p:blipFill>
        <p:spPr>
          <a:xfrm>
            <a:off x="6349881" y="2216192"/>
            <a:ext cx="1270119" cy="6066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폰트, 그래픽, 텍스트, 스크린샷이(가) 표시된 사진&#10;&#10;자동 생성된 설명" id="454" name="Google Shape;45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455" name="Google Shape;455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7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457" name="Google Shape;457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5420" y="3224676"/>
            <a:ext cx="5270499" cy="2096413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27"/>
          <p:cNvSpPr txBox="1"/>
          <p:nvPr/>
        </p:nvSpPr>
        <p:spPr>
          <a:xfrm>
            <a:off x="491613" y="6415800"/>
            <a:ext cx="1032256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ko-KR" sz="10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- BERT: Pre-training of Deep Bidirectional Transformers for Language Understanding </a:t>
            </a:r>
            <a:r>
              <a:rPr lang="ko-KR" sz="10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(2018)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28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65" name="Google Shape;46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8222" y="2322065"/>
            <a:ext cx="7521795" cy="3595273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28"/>
          <p:cNvSpPr/>
          <p:nvPr/>
        </p:nvSpPr>
        <p:spPr>
          <a:xfrm>
            <a:off x="8069539" y="2613554"/>
            <a:ext cx="2773680" cy="282046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7" name="Google Shape;467;p28"/>
          <p:cNvSpPr txBox="1"/>
          <p:nvPr/>
        </p:nvSpPr>
        <p:spPr>
          <a:xfrm>
            <a:off x="491613" y="1032507"/>
            <a:ext cx="10963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Input sequence를 양방향(Bidirectional)으로 학습하여 문맥 이해에 특화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68" name="Google Shape;468;p28"/>
          <p:cNvPicPr preferRelativeResize="0"/>
          <p:nvPr/>
        </p:nvPicPr>
        <p:blipFill rotWithShape="1">
          <a:blip r:embed="rId4">
            <a:alphaModFix/>
          </a:blip>
          <a:srcRect b="0" l="0" r="0" t="45963"/>
          <a:stretch/>
        </p:blipFill>
        <p:spPr>
          <a:xfrm>
            <a:off x="742950" y="2906512"/>
            <a:ext cx="3553321" cy="104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폰트, 그래픽, 텍스트, 스크린샷이(가) 표시된 사진&#10;&#10;자동 생성된 설명" id="469" name="Google Shape;46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470" name="Google Shape;470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8"/>
          <p:cNvSpPr txBox="1"/>
          <p:nvPr/>
        </p:nvSpPr>
        <p:spPr>
          <a:xfrm>
            <a:off x="491613" y="176980"/>
            <a:ext cx="74046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2" name="Google Shape;472;p28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8" name="Google Shape;478;p29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9" name="Google Shape;479;p29"/>
          <p:cNvSpPr txBox="1"/>
          <p:nvPr/>
        </p:nvSpPr>
        <p:spPr>
          <a:xfrm>
            <a:off x="491613" y="1037526"/>
            <a:ext cx="10963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Input sequence를 Token embedding + Segment embedding + Position Embedding으로 표현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80" name="Google Shape;48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950" y="2186218"/>
            <a:ext cx="10764752" cy="32484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폰트, 그래픽, 텍스트, 스크린샷이(가) 표시된 사진&#10;&#10;자동 생성된 설명" id="481" name="Google Shape;48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482" name="Google Shape;48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29"/>
          <p:cNvSpPr txBox="1"/>
          <p:nvPr/>
        </p:nvSpPr>
        <p:spPr>
          <a:xfrm>
            <a:off x="491613" y="176980"/>
            <a:ext cx="74046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 (Data Preprocessing)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4" name="Google Shape;484;p29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0" name="Google Shape;490;p30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폰트, 그래픽, 텍스트, 스크린샷이(가) 표시된 사진&#10;&#10;자동 생성된 설명" id="491" name="Google Shape;49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492" name="Google Shape;49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71231" y="1972898"/>
            <a:ext cx="7249537" cy="450595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30"/>
          <p:cNvSpPr txBox="1"/>
          <p:nvPr/>
        </p:nvSpPr>
        <p:spPr>
          <a:xfrm>
            <a:off x="491613" y="1043324"/>
            <a:ext cx="10963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Wikipedia + Book (약 33억 개 데이터 학습) 🡪 어떻게 가공했을까? (e.g. labeling)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5" name="Google Shape;495;p30"/>
          <p:cNvSpPr txBox="1"/>
          <p:nvPr/>
        </p:nvSpPr>
        <p:spPr>
          <a:xfrm>
            <a:off x="491613" y="176980"/>
            <a:ext cx="74046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6" name="Google Shape;496;p30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2" name="Google Shape;502;p31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3" name="Google Shape;503;p31"/>
          <p:cNvSpPr/>
          <p:nvPr/>
        </p:nvSpPr>
        <p:spPr>
          <a:xfrm>
            <a:off x="1656407" y="3682542"/>
            <a:ext cx="2997200" cy="1198880"/>
          </a:xfrm>
          <a:prstGeom prst="roundRect">
            <a:avLst>
              <a:gd fmla="val 16667" name="adj"/>
            </a:avLst>
          </a:prstGeom>
          <a:solidFill>
            <a:srgbClr val="8DE9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Transformer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Encoder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4" name="Google Shape;504;p31"/>
          <p:cNvSpPr txBox="1"/>
          <p:nvPr/>
        </p:nvSpPr>
        <p:spPr>
          <a:xfrm>
            <a:off x="491613" y="969563"/>
            <a:ext cx="10963332" cy="869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Input sequence의 일부 단어를 random하게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Masking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하고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해당 단어를 예측하도록 모델을 학습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해당 과정에서 </a:t>
            </a:r>
            <a:r>
              <a:rPr lang="ko-KR" sz="1800" u="sng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문맥을 파악하는 능력이 학습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됨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5" name="Google Shape;505;p31"/>
          <p:cNvSpPr txBox="1"/>
          <p:nvPr/>
        </p:nvSpPr>
        <p:spPr>
          <a:xfrm>
            <a:off x="7071360" y="5239056"/>
            <a:ext cx="11221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어제</a:t>
            </a:r>
            <a:endParaRPr/>
          </a:p>
        </p:txBody>
      </p:sp>
      <p:sp>
        <p:nvSpPr>
          <p:cNvPr id="506" name="Google Shape;506;p31"/>
          <p:cNvSpPr txBox="1"/>
          <p:nvPr/>
        </p:nvSpPr>
        <p:spPr>
          <a:xfrm>
            <a:off x="7767648" y="5263306"/>
            <a:ext cx="11221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카페</a:t>
            </a:r>
            <a:endParaRPr/>
          </a:p>
        </p:txBody>
      </p:sp>
      <p:sp>
        <p:nvSpPr>
          <p:cNvPr id="507" name="Google Shape;507;p31"/>
          <p:cNvSpPr txBox="1"/>
          <p:nvPr/>
        </p:nvSpPr>
        <p:spPr>
          <a:xfrm>
            <a:off x="8438699" y="5274579"/>
            <a:ext cx="11221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갔었어</a:t>
            </a:r>
            <a:endParaRPr/>
          </a:p>
        </p:txBody>
      </p:sp>
      <p:sp>
        <p:nvSpPr>
          <p:cNvPr id="508" name="Google Shape;508;p31"/>
          <p:cNvSpPr txBox="1"/>
          <p:nvPr/>
        </p:nvSpPr>
        <p:spPr>
          <a:xfrm>
            <a:off x="9300989" y="5284747"/>
            <a:ext cx="11221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거기</a:t>
            </a:r>
            <a:endParaRPr/>
          </a:p>
        </p:txBody>
      </p:sp>
      <p:sp>
        <p:nvSpPr>
          <p:cNvPr id="509" name="Google Shape;509;p31"/>
          <p:cNvSpPr txBox="1"/>
          <p:nvPr/>
        </p:nvSpPr>
        <p:spPr>
          <a:xfrm>
            <a:off x="9876013" y="5263993"/>
            <a:ext cx="11221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[Mask]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0" name="Google Shape;510;p31"/>
          <p:cNvSpPr txBox="1"/>
          <p:nvPr/>
        </p:nvSpPr>
        <p:spPr>
          <a:xfrm>
            <a:off x="10724045" y="5274153"/>
            <a:ext cx="11221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많더라</a:t>
            </a:r>
            <a:endParaRPr/>
          </a:p>
        </p:txBody>
      </p:sp>
      <p:sp>
        <p:nvSpPr>
          <p:cNvPr id="511" name="Google Shape;511;p31"/>
          <p:cNvSpPr txBox="1"/>
          <p:nvPr/>
        </p:nvSpPr>
        <p:spPr>
          <a:xfrm>
            <a:off x="1226573" y="5386205"/>
            <a:ext cx="38568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어제 카페 갔었어 거기 사람 많더라</a:t>
            </a:r>
            <a:endParaRPr/>
          </a:p>
        </p:txBody>
      </p:sp>
      <p:cxnSp>
        <p:nvCxnSpPr>
          <p:cNvPr id="512" name="Google Shape;512;p31"/>
          <p:cNvCxnSpPr>
            <a:stCxn id="511" idx="0"/>
            <a:endCxn id="503" idx="2"/>
          </p:cNvCxnSpPr>
          <p:nvPr/>
        </p:nvCxnSpPr>
        <p:spPr>
          <a:xfrm rot="10800000">
            <a:off x="3155007" y="4881305"/>
            <a:ext cx="0" cy="504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13" name="Google Shape;513;p31"/>
          <p:cNvCxnSpPr/>
          <p:nvPr/>
        </p:nvCxnSpPr>
        <p:spPr>
          <a:xfrm rot="10800000">
            <a:off x="3155007" y="3342182"/>
            <a:ext cx="0" cy="32237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14" name="Google Shape;514;p31"/>
          <p:cNvSpPr txBox="1"/>
          <p:nvPr/>
        </p:nvSpPr>
        <p:spPr>
          <a:xfrm>
            <a:off x="3007359" y="2796231"/>
            <a:ext cx="39624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?</a:t>
            </a:r>
            <a:endParaRPr b="1"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5" name="Google Shape;515;p31"/>
          <p:cNvSpPr/>
          <p:nvPr/>
        </p:nvSpPr>
        <p:spPr>
          <a:xfrm>
            <a:off x="5745480" y="3962400"/>
            <a:ext cx="523240" cy="51034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6" name="Google Shape;516;p31"/>
          <p:cNvSpPr/>
          <p:nvPr/>
        </p:nvSpPr>
        <p:spPr>
          <a:xfrm>
            <a:off x="7096125" y="3682542"/>
            <a:ext cx="4323715" cy="1198880"/>
          </a:xfrm>
          <a:prstGeom prst="roundRect">
            <a:avLst>
              <a:gd fmla="val 16667" name="adj"/>
            </a:avLst>
          </a:prstGeom>
          <a:solidFill>
            <a:srgbClr val="8DE9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Transformer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Encoder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17" name="Google Shape;517;p31"/>
          <p:cNvCxnSpPr/>
          <p:nvPr/>
        </p:nvCxnSpPr>
        <p:spPr>
          <a:xfrm rot="10800000">
            <a:off x="7442527" y="4943189"/>
            <a:ext cx="0" cy="29586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18" name="Google Shape;518;p31"/>
          <p:cNvCxnSpPr/>
          <p:nvPr/>
        </p:nvCxnSpPr>
        <p:spPr>
          <a:xfrm rot="10800000">
            <a:off x="8158315" y="4943189"/>
            <a:ext cx="0" cy="29586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19" name="Google Shape;519;p31"/>
          <p:cNvCxnSpPr/>
          <p:nvPr/>
        </p:nvCxnSpPr>
        <p:spPr>
          <a:xfrm rot="10800000">
            <a:off x="8889836" y="4943189"/>
            <a:ext cx="0" cy="29586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20" name="Google Shape;520;p31"/>
          <p:cNvCxnSpPr/>
          <p:nvPr/>
        </p:nvCxnSpPr>
        <p:spPr>
          <a:xfrm rot="10800000">
            <a:off x="9661996" y="4943189"/>
            <a:ext cx="0" cy="29586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21" name="Google Shape;521;p31"/>
          <p:cNvCxnSpPr/>
          <p:nvPr/>
        </p:nvCxnSpPr>
        <p:spPr>
          <a:xfrm rot="10800000">
            <a:off x="10322396" y="4943189"/>
            <a:ext cx="0" cy="29586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22" name="Google Shape;522;p31"/>
          <p:cNvCxnSpPr/>
          <p:nvPr/>
        </p:nvCxnSpPr>
        <p:spPr>
          <a:xfrm rot="10800000">
            <a:off x="11018521" y="4956362"/>
            <a:ext cx="0" cy="29586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23" name="Google Shape;523;p31"/>
          <p:cNvSpPr txBox="1"/>
          <p:nvPr/>
        </p:nvSpPr>
        <p:spPr>
          <a:xfrm>
            <a:off x="10004323" y="2865456"/>
            <a:ext cx="11221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</a:t>
            </a:r>
            <a:endParaRPr/>
          </a:p>
        </p:txBody>
      </p:sp>
      <p:cxnSp>
        <p:nvCxnSpPr>
          <p:cNvPr id="524" name="Google Shape;524;p31"/>
          <p:cNvCxnSpPr/>
          <p:nvPr/>
        </p:nvCxnSpPr>
        <p:spPr>
          <a:xfrm rot="10800000">
            <a:off x="10322396" y="3337102"/>
            <a:ext cx="0" cy="32237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25" name="Google Shape;525;p31"/>
          <p:cNvSpPr/>
          <p:nvPr/>
        </p:nvSpPr>
        <p:spPr>
          <a:xfrm>
            <a:off x="9896333" y="5282675"/>
            <a:ext cx="862780" cy="369332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526" name="Google Shape;52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527" name="Google Shape;52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31"/>
          <p:cNvSpPr txBox="1"/>
          <p:nvPr/>
        </p:nvSpPr>
        <p:spPr>
          <a:xfrm>
            <a:off x="491613" y="176980"/>
            <a:ext cx="74046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 (Masked Language Model)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9" name="Google Shape;529;p31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5" name="Google Shape;535;p32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36" name="Google Shape;53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6595" y="2831524"/>
            <a:ext cx="4829849" cy="3391373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32"/>
          <p:cNvSpPr txBox="1"/>
          <p:nvPr/>
        </p:nvSpPr>
        <p:spPr>
          <a:xfrm>
            <a:off x="491613" y="977163"/>
            <a:ext cx="10963332" cy="869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또는 특정 단어를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random하게 다른 단어로 replace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뒤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해당 단어를 예측하도록 학습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이러한 학습 과정을 통해 BERT는 </a:t>
            </a:r>
            <a:r>
              <a:rPr lang="ko-KR" sz="1800" u="sng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문장의 문맥을 파악하는 능력을 학습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하게 됨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538" name="Google Shape;53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539" name="Google Shape;539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32"/>
          <p:cNvSpPr txBox="1"/>
          <p:nvPr/>
        </p:nvSpPr>
        <p:spPr>
          <a:xfrm>
            <a:off x="491613" y="176980"/>
            <a:ext cx="74046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 (Masked Language Model)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1" name="Google Shape;541;p32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7" name="Google Shape;547;p33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8" name="Google Shape;548;p33"/>
          <p:cNvSpPr txBox="1"/>
          <p:nvPr/>
        </p:nvSpPr>
        <p:spPr>
          <a:xfrm>
            <a:off x="491613" y="979082"/>
            <a:ext cx="10963332" cy="128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주어진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두 문장이 이어지는 문장인지 판단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하는 것을 통해 학습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이어진다 (IsNext: 0), 이어지지 않는다 (IsNotNext: 1)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즉, BERT는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두 문장 간의 관계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파악하는 능력을 학습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49" name="Google Shape;54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5750" y="3146770"/>
            <a:ext cx="8644890" cy="2608767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33"/>
          <p:cNvSpPr/>
          <p:nvPr/>
        </p:nvSpPr>
        <p:spPr>
          <a:xfrm>
            <a:off x="3649939" y="3146770"/>
            <a:ext cx="2446061" cy="561630"/>
          </a:xfrm>
          <a:prstGeom prst="rect">
            <a:avLst/>
          </a:prstGeom>
          <a:noFill/>
          <a:ln cap="flat" cmpd="sng" w="28575">
            <a:solidFill>
              <a:srgbClr val="3093E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1" name="Google Shape;551;p33"/>
          <p:cNvSpPr/>
          <p:nvPr/>
        </p:nvSpPr>
        <p:spPr>
          <a:xfrm>
            <a:off x="6769059" y="3123620"/>
            <a:ext cx="2700061" cy="561630"/>
          </a:xfrm>
          <a:prstGeom prst="rect">
            <a:avLst/>
          </a:prstGeom>
          <a:noFill/>
          <a:ln cap="flat" cmpd="sng" w="28575">
            <a:solidFill>
              <a:srgbClr val="3093E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52" name="Google Shape;552;p33"/>
          <p:cNvCxnSpPr>
            <a:stCxn id="550" idx="0"/>
            <a:endCxn id="551" idx="0"/>
          </p:cNvCxnSpPr>
          <p:nvPr/>
        </p:nvCxnSpPr>
        <p:spPr>
          <a:xfrm rot="-5400000">
            <a:off x="6484420" y="1512220"/>
            <a:ext cx="23100" cy="3246000"/>
          </a:xfrm>
          <a:prstGeom prst="bentConnector3">
            <a:avLst>
              <a:gd fmla="val 1089827" name="adj1"/>
            </a:avLst>
          </a:prstGeom>
          <a:noFill/>
          <a:ln cap="flat" cmpd="sng" w="19050">
            <a:solidFill>
              <a:srgbClr val="3093E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53" name="Google Shape;553;p33"/>
          <p:cNvSpPr txBox="1"/>
          <p:nvPr/>
        </p:nvSpPr>
        <p:spPr>
          <a:xfrm>
            <a:off x="5040610" y="2476188"/>
            <a:ext cx="30784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 sentence? Yes or No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554" name="Google Shape;55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555" name="Google Shape;555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33"/>
          <p:cNvSpPr txBox="1"/>
          <p:nvPr/>
        </p:nvSpPr>
        <p:spPr>
          <a:xfrm>
            <a:off x="491613" y="176980"/>
            <a:ext cx="74046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 (Next Sentence Prediction)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7" name="Google Shape;557;p33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3" name="Google Shape;563;p34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폰트, 그래픽, 텍스트, 스크린샷이(가) 표시된 사진&#10;&#10;자동 생성된 설명" id="564" name="Google Shape;56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565" name="Google Shape;56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34"/>
          <p:cNvSpPr txBox="1"/>
          <p:nvPr/>
        </p:nvSpPr>
        <p:spPr>
          <a:xfrm>
            <a:off x="491612" y="1062313"/>
            <a:ext cx="10900735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BERT의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Tokenizing 방식을 실습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Tokenizing - 입력된 텍스트를 모델에서 처리할 수 있는 데이터(숫자)로 변환하는 과정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Transformers 패키지를 사용하여 사용하고자 하는 모델의 Tokenizer를 load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사용하는 </a:t>
            </a:r>
            <a:r>
              <a:rPr lang="ko-KR" sz="1800" u="sng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Tokenizer는 항상 맵핑 관계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여야 함.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pre-train 시 사용했던 tokenizer는 ‘사과’를 10번으로 인코딩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만약 모델 사용 시 사용하는 tokenize가 ‘사과를 25번으로 인코딩 한다면?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    🡪 ‘사과’라는 단어의 텍스트를 모델이 이해할 수 없다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Sub word Tokenization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방식 (</a:t>
            </a:r>
            <a:r>
              <a:rPr lang="ko-KR" sz="1800" u="sng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WordPiece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🡪"/>
            </a:pPr>
            <a:r>
              <a:rPr lang="ko-KR" sz="1800" u="sng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어떤 sub word로 나눴을 때, 언어모델의 예측 성능이 늘어나는가?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(unaffordable -&gt; [“un”, “##afford”, “##able”] or [“un”, “##affordable”])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(## 🡪 중간 / 끝의 subword라는 것 알리기)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67" name="Google Shape;567;p34"/>
          <p:cNvPicPr preferRelativeResize="0"/>
          <p:nvPr/>
        </p:nvPicPr>
        <p:blipFill rotWithShape="1">
          <a:blip r:embed="rId5">
            <a:alphaModFix/>
          </a:blip>
          <a:srcRect b="0" l="1651" r="0" t="0"/>
          <a:stretch/>
        </p:blipFill>
        <p:spPr>
          <a:xfrm>
            <a:off x="5783130" y="4792192"/>
            <a:ext cx="4907281" cy="1804597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34"/>
          <p:cNvSpPr txBox="1"/>
          <p:nvPr/>
        </p:nvSpPr>
        <p:spPr>
          <a:xfrm>
            <a:off x="491613" y="176980"/>
            <a:ext cx="74046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 실습 (Tokenizer)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9" name="Google Shape;569;p34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5" name="Google Shape;575;p35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폰트, 그래픽, 텍스트, 스크린샷이(가) 표시된 사진&#10;&#10;자동 생성된 설명" id="576" name="Google Shape;57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577" name="Google Shape;57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35"/>
          <p:cNvSpPr txBox="1"/>
          <p:nvPr/>
        </p:nvSpPr>
        <p:spPr>
          <a:xfrm>
            <a:off x="491613" y="1068283"/>
            <a:ext cx="912368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BERT가 Masking된 토큰을 예측하는 방식을 실습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79" name="Google Shape;579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84039" y="2989001"/>
            <a:ext cx="6414321" cy="2280648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35"/>
          <p:cNvSpPr txBox="1"/>
          <p:nvPr/>
        </p:nvSpPr>
        <p:spPr>
          <a:xfrm>
            <a:off x="491613" y="176980"/>
            <a:ext cx="74046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 실습 (Masked LM)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1" name="Google Shape;581;p35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7" name="Google Shape;587;p36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폰트, 그래픽, 텍스트, 스크린샷이(가) 표시된 사진&#10;&#10;자동 생성된 설명" id="588" name="Google Shape;58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589" name="Google Shape;58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36"/>
          <p:cNvSpPr txBox="1"/>
          <p:nvPr/>
        </p:nvSpPr>
        <p:spPr>
          <a:xfrm>
            <a:off x="491613" y="1068873"/>
            <a:ext cx="91236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BERT가 두 개의 문장이 이어지는 문장인지 판단하는 방식을 실습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91" name="Google Shape;59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90860" y="2354928"/>
            <a:ext cx="7525800" cy="3677163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36"/>
          <p:cNvSpPr txBox="1"/>
          <p:nvPr/>
        </p:nvSpPr>
        <p:spPr>
          <a:xfrm>
            <a:off x="491613" y="176980"/>
            <a:ext cx="74046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 실습 (Next Sentence Prediction)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3" name="Google Shape;593;p36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9" name="Google Shape;599;p37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600" name="Google Shape;60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8887" y="2414977"/>
            <a:ext cx="7134225" cy="3945548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37"/>
          <p:cNvSpPr txBox="1"/>
          <p:nvPr/>
        </p:nvSpPr>
        <p:spPr>
          <a:xfrm>
            <a:off x="491613" y="993578"/>
            <a:ext cx="9834880" cy="869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앞서 설명한 방법을 통해 Pre-train 된 모델이 존재함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이를 각 task에 맞게 fine-tuning하여 사용 </a:t>
            </a:r>
            <a:endParaRPr/>
          </a:p>
        </p:txBody>
      </p:sp>
      <p:pic>
        <p:nvPicPr>
          <p:cNvPr descr="폰트, 그래픽, 텍스트, 스크린샷이(가) 표시된 사진&#10;&#10;자동 생성된 설명" id="602" name="Google Shape;60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603" name="Google Shape;603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37"/>
          <p:cNvSpPr txBox="1"/>
          <p:nvPr/>
        </p:nvSpPr>
        <p:spPr>
          <a:xfrm>
            <a:off x="491613" y="176980"/>
            <a:ext cx="74046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 실습 (Fine-tuning)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5" name="Google Shape;605;p37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1" name="Google Shape;611;p38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2" name="Google Shape;612;p38"/>
          <p:cNvSpPr txBox="1"/>
          <p:nvPr/>
        </p:nvSpPr>
        <p:spPr>
          <a:xfrm>
            <a:off x="491613" y="992320"/>
            <a:ext cx="9408160" cy="869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문장 분류를 위한 Fine-tuning 예시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[CLS] 토큰의 출력층에 Dense Layer를 추가해서 분류에 대한 예측을 할 수 있게 됨</a:t>
            </a:r>
            <a:endParaRPr/>
          </a:p>
        </p:txBody>
      </p:sp>
      <p:pic>
        <p:nvPicPr>
          <p:cNvPr descr="폰트, 그래픽, 텍스트, 스크린샷이(가) 표시된 사진&#10;&#10;자동 생성된 설명" id="613" name="Google Shape;61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614" name="Google Shape;61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66469" y="2134536"/>
            <a:ext cx="5029448" cy="3897555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38"/>
          <p:cNvSpPr txBox="1"/>
          <p:nvPr/>
        </p:nvSpPr>
        <p:spPr>
          <a:xfrm>
            <a:off x="491613" y="176980"/>
            <a:ext cx="74046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 실습 (Fine-tuning)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7" name="Google Shape;617;p38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3" name="Google Shape;623;p39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4" name="Google Shape;624;p39"/>
          <p:cNvSpPr txBox="1"/>
          <p:nvPr/>
        </p:nvSpPr>
        <p:spPr>
          <a:xfrm>
            <a:off x="491613" y="1072746"/>
            <a:ext cx="94081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QA(Question Answering)를 위한 Fine-tuning 예시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625" name="Google Shape;6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626" name="Google Shape;626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44929" y="2108650"/>
            <a:ext cx="6716062" cy="3381847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39"/>
          <p:cNvSpPr txBox="1"/>
          <p:nvPr/>
        </p:nvSpPr>
        <p:spPr>
          <a:xfrm>
            <a:off x="767950" y="5639713"/>
            <a:ext cx="5568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 1 – 질문) 강우가 떨어지도록 영향을 주는 것은?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9" name="Google Shape;629;p39"/>
          <p:cNvSpPr txBox="1"/>
          <p:nvPr/>
        </p:nvSpPr>
        <p:spPr>
          <a:xfrm>
            <a:off x="767951" y="6023722"/>
            <a:ext cx="112016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 2 - 문서) 기상학에서 강우는 대기 수증기가 응결되어 중력의 영향을 받고 떨어지는 것을 의미합니다.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0" name="Google Shape;630;p39"/>
          <p:cNvSpPr txBox="1"/>
          <p:nvPr/>
        </p:nvSpPr>
        <p:spPr>
          <a:xfrm>
            <a:off x="6771005" y="1872719"/>
            <a:ext cx="1509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출력) 중력</a:t>
            </a:r>
            <a:endParaRPr/>
          </a:p>
        </p:txBody>
      </p:sp>
      <p:cxnSp>
        <p:nvCxnSpPr>
          <p:cNvPr id="631" name="Google Shape;631;p39"/>
          <p:cNvCxnSpPr/>
          <p:nvPr/>
        </p:nvCxnSpPr>
        <p:spPr>
          <a:xfrm>
            <a:off x="3149600" y="5390544"/>
            <a:ext cx="247904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2" name="Google Shape;632;p39"/>
          <p:cNvCxnSpPr/>
          <p:nvPr/>
        </p:nvCxnSpPr>
        <p:spPr>
          <a:xfrm flipH="1">
            <a:off x="4043680" y="5383920"/>
            <a:ext cx="223520" cy="25579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33" name="Google Shape;633;p39"/>
          <p:cNvCxnSpPr/>
          <p:nvPr/>
        </p:nvCxnSpPr>
        <p:spPr>
          <a:xfrm>
            <a:off x="6187440" y="5390544"/>
            <a:ext cx="247904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4" name="Google Shape;634;p39"/>
          <p:cNvCxnSpPr/>
          <p:nvPr/>
        </p:nvCxnSpPr>
        <p:spPr>
          <a:xfrm flipH="1">
            <a:off x="6652335" y="5405222"/>
            <a:ext cx="545390" cy="52550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35" name="Google Shape;635;p39"/>
          <p:cNvSpPr txBox="1"/>
          <p:nvPr/>
        </p:nvSpPr>
        <p:spPr>
          <a:xfrm>
            <a:off x="491613" y="176980"/>
            <a:ext cx="74046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 실습 (Fine-tuning)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6" name="Google Shape;636;p39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2" name="Google Shape;642;p40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폰트, 그래픽, 텍스트, 스크린샷이(가) 표시된 사진&#10;&#10;자동 생성된 설명" id="643" name="Google Shape;64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644" name="Google Shape;64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14835" y="2100889"/>
            <a:ext cx="8196569" cy="3705059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0"/>
          <p:cNvSpPr txBox="1"/>
          <p:nvPr/>
        </p:nvSpPr>
        <p:spPr>
          <a:xfrm>
            <a:off x="491613" y="1078325"/>
            <a:ext cx="94081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 기반 네이버 영화 리뷰 감성 분석 모델 Fine-tuning</a:t>
            </a:r>
            <a:endParaRPr/>
          </a:p>
        </p:txBody>
      </p:sp>
      <p:sp>
        <p:nvSpPr>
          <p:cNvPr id="647" name="Google Shape;647;p40"/>
          <p:cNvSpPr txBox="1"/>
          <p:nvPr/>
        </p:nvSpPr>
        <p:spPr>
          <a:xfrm>
            <a:off x="491613" y="176980"/>
            <a:ext cx="74046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 실습 (Fine-tuning)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8" name="Google Shape;648;p40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4" name="Google Shape;654;p41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폰트, 그래픽, 텍스트, 스크린샷이(가) 표시된 사진&#10;&#10;자동 생성된 설명" id="655" name="Google Shape;65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656" name="Google Shape;656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41"/>
          <p:cNvSpPr txBox="1"/>
          <p:nvPr/>
        </p:nvSpPr>
        <p:spPr>
          <a:xfrm>
            <a:off x="491613" y="996713"/>
            <a:ext cx="9408160" cy="869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 기반 한국어 감정 분류 모델 Fine-tuning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klue-bert (한국어를 학습한 bert 모델)</a:t>
            </a:r>
            <a:endParaRPr/>
          </a:p>
        </p:txBody>
      </p:sp>
      <p:pic>
        <p:nvPicPr>
          <p:cNvPr id="658" name="Google Shape;658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35577" y="3020219"/>
            <a:ext cx="5937887" cy="2207393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1"/>
          <p:cNvSpPr txBox="1"/>
          <p:nvPr/>
        </p:nvSpPr>
        <p:spPr>
          <a:xfrm>
            <a:off x="491613" y="176980"/>
            <a:ext cx="74046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 실습 (Fine-tuning)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0" name="Google Shape;660;p41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42"/>
          <p:cNvSpPr txBox="1"/>
          <p:nvPr/>
        </p:nvSpPr>
        <p:spPr>
          <a:xfrm>
            <a:off x="700211" y="2788909"/>
            <a:ext cx="10791578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4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Natural Language Generation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4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&amp; GPT</a:t>
            </a:r>
            <a:endParaRPr b="1" sz="4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666" name="Google Shape;66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667" name="Google Shape;667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2056" y="980425"/>
            <a:ext cx="3998827" cy="55707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4" name="Google Shape;674;p43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5" name="Google Shape;675;p43"/>
          <p:cNvSpPr txBox="1"/>
          <p:nvPr/>
        </p:nvSpPr>
        <p:spPr>
          <a:xfrm>
            <a:off x="491613" y="176980"/>
            <a:ext cx="74046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6" name="Google Shape;676;p43"/>
          <p:cNvSpPr/>
          <p:nvPr/>
        </p:nvSpPr>
        <p:spPr>
          <a:xfrm>
            <a:off x="9103360" y="1032853"/>
            <a:ext cx="1412240" cy="4026492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CD87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7" name="Google Shape;677;p43"/>
          <p:cNvSpPr txBox="1"/>
          <p:nvPr/>
        </p:nvSpPr>
        <p:spPr>
          <a:xfrm>
            <a:off x="10613614" y="1449985"/>
            <a:ext cx="11277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rgbClr val="3A7D22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Decoder</a:t>
            </a:r>
            <a:endParaRPr b="1" sz="1800">
              <a:solidFill>
                <a:srgbClr val="3A7D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Chat Gpt Logo Vector Art, Icons, and Graphics for Free Download" id="678" name="Google Shape;678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21572" y="1911722"/>
            <a:ext cx="851915" cy="801802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43"/>
          <p:cNvSpPr txBox="1"/>
          <p:nvPr/>
        </p:nvSpPr>
        <p:spPr>
          <a:xfrm>
            <a:off x="497616" y="1016942"/>
            <a:ext cx="6096000" cy="128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2018년 OpenAI가 공개한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Pre-trained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언어 모델 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Transformer 구조에서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Decoder만 사용한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형태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Natural Language Generation에 적합한 architecture</a:t>
            </a:r>
            <a:endParaRPr/>
          </a:p>
        </p:txBody>
      </p:sp>
      <p:pic>
        <p:nvPicPr>
          <p:cNvPr descr="폰트, 그래픽, 텍스트, 스크린샷이(가) 표시된 사진&#10;&#10;자동 생성된 설명" id="680" name="Google Shape;680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681" name="Google Shape;681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43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683" name="Google Shape;683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95346" y="2705338"/>
            <a:ext cx="3314762" cy="3525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9" name="Google Shape;689;p44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0" name="Google Shape;690;p44"/>
          <p:cNvSpPr txBox="1"/>
          <p:nvPr/>
        </p:nvSpPr>
        <p:spPr>
          <a:xfrm>
            <a:off x="491613" y="176980"/>
            <a:ext cx="58968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 (Causal Language Modeling)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691" name="Google Shape;69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692" name="Google Shape;692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44"/>
          <p:cNvSpPr txBox="1"/>
          <p:nvPr/>
        </p:nvSpPr>
        <p:spPr>
          <a:xfrm>
            <a:off x="491612" y="1002377"/>
            <a:ext cx="10481187" cy="128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Decoder only architecture이기 때문에, 미래 시점의 정보를 반영할 수 없음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따라서, 이전 단어들을 바탕으로 다음 단어를 예측하는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 Token Prediction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방식으로 </a:t>
            </a:r>
            <a:b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pre-training을 수행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4" name="Google Shape;694;p44"/>
          <p:cNvSpPr txBox="1"/>
          <p:nvPr/>
        </p:nvSpPr>
        <p:spPr>
          <a:xfrm>
            <a:off x="216210" y="4633989"/>
            <a:ext cx="37938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어제 카페 갔었어 거기 사람 많더라</a:t>
            </a:r>
            <a:endParaRPr/>
          </a:p>
        </p:txBody>
      </p:sp>
      <p:sp>
        <p:nvSpPr>
          <p:cNvPr id="695" name="Google Shape;695;p44"/>
          <p:cNvSpPr/>
          <p:nvPr/>
        </p:nvSpPr>
        <p:spPr>
          <a:xfrm>
            <a:off x="1118771" y="3433660"/>
            <a:ext cx="1988743" cy="816187"/>
          </a:xfrm>
          <a:prstGeom prst="roundRect">
            <a:avLst>
              <a:gd fmla="val 16667" name="adj"/>
            </a:avLst>
          </a:prstGeom>
          <a:solidFill>
            <a:srgbClr val="8DE9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Transformer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Decoder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6" name="Google Shape;696;p44"/>
          <p:cNvSpPr txBox="1"/>
          <p:nvPr/>
        </p:nvSpPr>
        <p:spPr>
          <a:xfrm>
            <a:off x="1951202" y="2680577"/>
            <a:ext cx="26291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?</a:t>
            </a:r>
            <a:endParaRPr b="1"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697" name="Google Shape;697;p44"/>
          <p:cNvCxnSpPr/>
          <p:nvPr/>
        </p:nvCxnSpPr>
        <p:spPr>
          <a:xfrm rot="10800000">
            <a:off x="2113142" y="4298539"/>
            <a:ext cx="0" cy="28675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98" name="Google Shape;698;p44"/>
          <p:cNvSpPr txBox="1"/>
          <p:nvPr/>
        </p:nvSpPr>
        <p:spPr>
          <a:xfrm>
            <a:off x="4661535" y="4633989"/>
            <a:ext cx="7446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&lt;s&gt;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9" name="Google Shape;699;p44"/>
          <p:cNvSpPr txBox="1"/>
          <p:nvPr/>
        </p:nvSpPr>
        <p:spPr>
          <a:xfrm>
            <a:off x="9345042" y="2772910"/>
            <a:ext cx="7446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카페</a:t>
            </a:r>
            <a:endParaRPr/>
          </a:p>
        </p:txBody>
      </p:sp>
      <p:sp>
        <p:nvSpPr>
          <p:cNvPr id="700" name="Google Shape;700;p44"/>
          <p:cNvSpPr/>
          <p:nvPr/>
        </p:nvSpPr>
        <p:spPr>
          <a:xfrm>
            <a:off x="3807191" y="3880725"/>
            <a:ext cx="347187" cy="22042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1" name="Google Shape;701;p44"/>
          <p:cNvSpPr/>
          <p:nvPr/>
        </p:nvSpPr>
        <p:spPr>
          <a:xfrm>
            <a:off x="4661535" y="3429000"/>
            <a:ext cx="2868930" cy="816187"/>
          </a:xfrm>
          <a:prstGeom prst="roundRect">
            <a:avLst>
              <a:gd fmla="val 16667" name="adj"/>
            </a:avLst>
          </a:prstGeom>
          <a:solidFill>
            <a:srgbClr val="8DE9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Transformer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Decoder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02" name="Google Shape;702;p44"/>
          <p:cNvCxnSpPr/>
          <p:nvPr/>
        </p:nvCxnSpPr>
        <p:spPr>
          <a:xfrm rot="10800000">
            <a:off x="4974452" y="4298539"/>
            <a:ext cx="0" cy="28675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3" name="Google Shape;703;p44"/>
          <p:cNvCxnSpPr/>
          <p:nvPr/>
        </p:nvCxnSpPr>
        <p:spPr>
          <a:xfrm rot="10800000">
            <a:off x="2104113" y="3142242"/>
            <a:ext cx="0" cy="28675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4" name="Google Shape;704;p44"/>
          <p:cNvCxnSpPr/>
          <p:nvPr/>
        </p:nvCxnSpPr>
        <p:spPr>
          <a:xfrm rot="10800000">
            <a:off x="9607932" y="3122886"/>
            <a:ext cx="0" cy="28675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05" name="Google Shape;705;p44"/>
          <p:cNvSpPr txBox="1"/>
          <p:nvPr/>
        </p:nvSpPr>
        <p:spPr>
          <a:xfrm>
            <a:off x="8786516" y="4653641"/>
            <a:ext cx="7446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&lt;s&gt;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6" name="Google Shape;706;p44"/>
          <p:cNvSpPr/>
          <p:nvPr/>
        </p:nvSpPr>
        <p:spPr>
          <a:xfrm>
            <a:off x="8786516" y="3437459"/>
            <a:ext cx="2868930" cy="807728"/>
          </a:xfrm>
          <a:prstGeom prst="roundRect">
            <a:avLst>
              <a:gd fmla="val 16667" name="adj"/>
            </a:avLst>
          </a:prstGeom>
          <a:solidFill>
            <a:srgbClr val="8DE9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Transformer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Decoder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07" name="Google Shape;707;p44"/>
          <p:cNvCxnSpPr/>
          <p:nvPr/>
        </p:nvCxnSpPr>
        <p:spPr>
          <a:xfrm rot="10800000">
            <a:off x="9099433" y="4318191"/>
            <a:ext cx="0" cy="28675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08" name="Google Shape;708;p44"/>
          <p:cNvSpPr/>
          <p:nvPr/>
        </p:nvSpPr>
        <p:spPr>
          <a:xfrm>
            <a:off x="7977553" y="3956684"/>
            <a:ext cx="347187" cy="22042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9" name="Google Shape;709;p44"/>
          <p:cNvSpPr txBox="1"/>
          <p:nvPr/>
        </p:nvSpPr>
        <p:spPr>
          <a:xfrm>
            <a:off x="4681855" y="2722930"/>
            <a:ext cx="7446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어제</a:t>
            </a:r>
            <a:endParaRPr/>
          </a:p>
        </p:txBody>
      </p:sp>
      <p:cxnSp>
        <p:nvCxnSpPr>
          <p:cNvPr id="710" name="Google Shape;710;p44"/>
          <p:cNvCxnSpPr/>
          <p:nvPr/>
        </p:nvCxnSpPr>
        <p:spPr>
          <a:xfrm rot="10800000">
            <a:off x="4944745" y="3072906"/>
            <a:ext cx="0" cy="28675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11" name="Google Shape;711;p44"/>
          <p:cNvSpPr txBox="1"/>
          <p:nvPr/>
        </p:nvSpPr>
        <p:spPr>
          <a:xfrm>
            <a:off x="8863324" y="2773253"/>
            <a:ext cx="7446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어제</a:t>
            </a:r>
            <a:endParaRPr/>
          </a:p>
        </p:txBody>
      </p:sp>
      <p:cxnSp>
        <p:nvCxnSpPr>
          <p:cNvPr id="712" name="Google Shape;712;p44"/>
          <p:cNvCxnSpPr/>
          <p:nvPr/>
        </p:nvCxnSpPr>
        <p:spPr>
          <a:xfrm rot="10800000">
            <a:off x="9126214" y="3123229"/>
            <a:ext cx="0" cy="28675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13" name="Google Shape;713;p44"/>
          <p:cNvSpPr txBox="1"/>
          <p:nvPr/>
        </p:nvSpPr>
        <p:spPr>
          <a:xfrm>
            <a:off x="9314561" y="4643481"/>
            <a:ext cx="7446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어제</a:t>
            </a:r>
            <a:endParaRPr/>
          </a:p>
        </p:txBody>
      </p:sp>
      <p:cxnSp>
        <p:nvCxnSpPr>
          <p:cNvPr id="714" name="Google Shape;714;p44"/>
          <p:cNvCxnSpPr/>
          <p:nvPr/>
        </p:nvCxnSpPr>
        <p:spPr>
          <a:xfrm rot="10800000">
            <a:off x="9607932" y="4310594"/>
            <a:ext cx="0" cy="28675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15" name="Google Shape;715;p44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1" name="Google Shape;721;p45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22" name="Google Shape;722;p45"/>
          <p:cNvGrpSpPr/>
          <p:nvPr/>
        </p:nvGrpSpPr>
        <p:grpSpPr>
          <a:xfrm>
            <a:off x="4550287" y="2817159"/>
            <a:ext cx="7150100" cy="2641600"/>
            <a:chOff x="4922859" y="2998630"/>
            <a:chExt cx="7150100" cy="2641600"/>
          </a:xfrm>
        </p:grpSpPr>
        <p:pic>
          <p:nvPicPr>
            <p:cNvPr id="723" name="Google Shape;723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22859" y="2998630"/>
              <a:ext cx="7150100" cy="264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4" name="Google Shape;724;p45"/>
            <p:cNvSpPr/>
            <p:nvPr/>
          </p:nvSpPr>
          <p:spPr>
            <a:xfrm>
              <a:off x="7123426" y="3811229"/>
              <a:ext cx="3107968" cy="340641"/>
            </a:xfrm>
            <a:prstGeom prst="rect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725" name="Google Shape;725;p45"/>
          <p:cNvSpPr txBox="1"/>
          <p:nvPr/>
        </p:nvSpPr>
        <p:spPr>
          <a:xfrm>
            <a:off x="491613" y="1019255"/>
            <a:ext cx="10963332" cy="1700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GPT-1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은 Transformer Decoder 기반 Language Model을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Pre-training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후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Fine-tuning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또한, 현재 frontier model인 GPT-4o, o3 / o4 등의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 series의 출발점 역할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하는 모델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모델의 크기(parameter 수)는 117M로 상대적으로 작은 모델의 크기로 인해 복잡한 언어 이해 및 생성 작업에는 한계를 보임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726" name="Google Shape;726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727" name="Google Shape;727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45"/>
          <p:cNvSpPr txBox="1"/>
          <p:nvPr/>
        </p:nvSpPr>
        <p:spPr>
          <a:xfrm>
            <a:off x="491613" y="176980"/>
            <a:ext cx="74046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GPT-1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729" name="Google Shape;729;p45"/>
          <p:cNvPicPr preferRelativeResize="0"/>
          <p:nvPr/>
        </p:nvPicPr>
        <p:blipFill rotWithShape="1">
          <a:blip r:embed="rId6">
            <a:alphaModFix/>
          </a:blip>
          <a:srcRect b="54726" l="0" r="0" t="0"/>
          <a:stretch/>
        </p:blipFill>
        <p:spPr>
          <a:xfrm>
            <a:off x="812202" y="3642954"/>
            <a:ext cx="3553321" cy="875525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45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731" name="Google Shape;731;p45"/>
          <p:cNvSpPr txBox="1"/>
          <p:nvPr/>
        </p:nvSpPr>
        <p:spPr>
          <a:xfrm>
            <a:off x="491613" y="6415800"/>
            <a:ext cx="1032256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ko-KR" sz="10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- Improving Language Understanding by Generative Pre-Training </a:t>
            </a:r>
            <a:r>
              <a:rPr lang="ko-KR" sz="10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(2018)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" name="Google Shape;73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4466" y="2402171"/>
            <a:ext cx="7874253" cy="33570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8" name="Google Shape;738;p46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9" name="Google Shape;739;p46"/>
          <p:cNvSpPr txBox="1"/>
          <p:nvPr/>
        </p:nvSpPr>
        <p:spPr>
          <a:xfrm>
            <a:off x="491613" y="1019255"/>
            <a:ext cx="10963332" cy="1700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GPT-2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는 GPT-1에 비해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parameter 수를 엄청나게 키워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GPT-1보다 더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긴 문맥을 이해하고, 좀더 일관된 문장을 생성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 수 있게 되었음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또한, 더욱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향상된 성능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바탕으로, </a:t>
            </a:r>
            <a:r>
              <a:rPr lang="ko-KR" sz="1800" u="sng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fine-tuning 없이 zero-shot setting에서 multitask를 수행할 수 </a:t>
            </a:r>
            <a:br>
              <a:rPr lang="ko-KR" sz="1800" u="sng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800" u="sng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있음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제안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740" name="Google Shape;740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741" name="Google Shape;741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46"/>
          <p:cNvSpPr txBox="1"/>
          <p:nvPr/>
        </p:nvSpPr>
        <p:spPr>
          <a:xfrm>
            <a:off x="491613" y="176980"/>
            <a:ext cx="74046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GPT-2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3" name="Google Shape;743;p46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744" name="Google Shape;744;p46"/>
          <p:cNvSpPr/>
          <p:nvPr/>
        </p:nvSpPr>
        <p:spPr>
          <a:xfrm>
            <a:off x="7589156" y="2947116"/>
            <a:ext cx="3244749" cy="340641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5" name="Google Shape;745;p46"/>
          <p:cNvSpPr txBox="1"/>
          <p:nvPr/>
        </p:nvSpPr>
        <p:spPr>
          <a:xfrm>
            <a:off x="491613" y="6415800"/>
            <a:ext cx="1032256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ko-KR" sz="10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- Language Models are Unsupervised Multitask Learners </a:t>
            </a:r>
            <a:r>
              <a:rPr lang="ko-KR" sz="100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(2019)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7"/>
          <p:cNvSpPr txBox="1"/>
          <p:nvPr/>
        </p:nvSpPr>
        <p:spPr>
          <a:xfrm>
            <a:off x="491612" y="1002377"/>
            <a:ext cx="10481187" cy="1700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Encoder-only vs </a:t>
            </a:r>
            <a:r>
              <a:rPr lang="ko-KR" sz="1800" u="sng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Decoder-only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Bidirectional vs </a:t>
            </a:r>
            <a:r>
              <a:rPr lang="ko-KR" sz="1800" u="sng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Unidirectional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Masked Token 복원 vs </a:t>
            </a:r>
            <a:r>
              <a:rPr lang="ko-KR" sz="1800" u="sng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 Token 생성</a:t>
            </a:r>
            <a:endParaRPr sz="1800" u="sng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Fine-tuning 필요 vs </a:t>
            </a:r>
            <a:r>
              <a:rPr lang="ko-KR" sz="1800" u="sng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Fine-tuning 없이 Multi-task 가능</a:t>
            </a:r>
            <a:endParaRPr sz="1800" u="sng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752" name="Google Shape;752;p47"/>
          <p:cNvGrpSpPr/>
          <p:nvPr/>
        </p:nvGrpSpPr>
        <p:grpSpPr>
          <a:xfrm>
            <a:off x="7184149" y="1002377"/>
            <a:ext cx="4516238" cy="5424541"/>
            <a:chOff x="7327557" y="951619"/>
            <a:chExt cx="4516238" cy="5424541"/>
          </a:xfrm>
        </p:grpSpPr>
        <p:grpSp>
          <p:nvGrpSpPr>
            <p:cNvPr id="753" name="Google Shape;753;p47"/>
            <p:cNvGrpSpPr/>
            <p:nvPr/>
          </p:nvGrpSpPr>
          <p:grpSpPr>
            <a:xfrm>
              <a:off x="7327557" y="951619"/>
              <a:ext cx="4121493" cy="5424541"/>
              <a:chOff x="7648242" y="1102463"/>
              <a:chExt cx="4121493" cy="5424541"/>
            </a:xfrm>
          </p:grpSpPr>
          <p:pic>
            <p:nvPicPr>
              <p:cNvPr id="754" name="Google Shape;754;p4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648242" y="1102463"/>
                <a:ext cx="4121493" cy="5424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5" name="Google Shape;755;p47"/>
              <p:cNvSpPr/>
              <p:nvPr/>
            </p:nvSpPr>
            <p:spPr>
              <a:xfrm>
                <a:off x="9766721" y="1102464"/>
                <a:ext cx="1412240" cy="4026492"/>
              </a:xfrm>
              <a:prstGeom prst="roundRect">
                <a:avLst>
                  <a:gd fmla="val 16667" name="adj"/>
                </a:avLst>
              </a:prstGeom>
              <a:noFill/>
              <a:ln cap="flat" cmpd="sng" w="38100">
                <a:solidFill>
                  <a:srgbClr val="8CD872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56" name="Google Shape;756;p47"/>
              <p:cNvSpPr/>
              <p:nvPr/>
            </p:nvSpPr>
            <p:spPr>
              <a:xfrm>
                <a:off x="8283361" y="2987040"/>
                <a:ext cx="1412240" cy="2141916"/>
              </a:xfrm>
              <a:prstGeom prst="roundRect">
                <a:avLst>
                  <a:gd fmla="val 16667" name="adj"/>
                </a:avLst>
              </a:prstGeom>
              <a:noFill/>
              <a:ln cap="flat" cmpd="sng" w="38100">
                <a:solidFill>
                  <a:srgbClr val="C0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descr="Google BERT Update and Why It Matters - SEO Update" id="757" name="Google Shape;757;p47"/>
            <p:cNvPicPr preferRelativeResize="0"/>
            <p:nvPr/>
          </p:nvPicPr>
          <p:blipFill rotWithShape="1">
            <a:blip r:embed="rId4">
              <a:alphaModFix/>
            </a:blip>
            <a:srcRect b="17878" l="10251" r="10644" t="25862"/>
            <a:stretch/>
          </p:blipFill>
          <p:spPr>
            <a:xfrm>
              <a:off x="7682621" y="2081527"/>
              <a:ext cx="1270119" cy="6066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hat Gpt Logo Vector Art, Icons, and Graphics for Free Download" id="758" name="Google Shape;758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064249" y="1830489"/>
              <a:ext cx="779546" cy="73369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759" name="Google Shape;759;p47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60" name="Google Shape;760;p47"/>
          <p:cNvSpPr txBox="1"/>
          <p:nvPr/>
        </p:nvSpPr>
        <p:spPr>
          <a:xfrm>
            <a:off x="491613" y="176980"/>
            <a:ext cx="58968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 vs GPT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761" name="Google Shape;761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762" name="Google Shape;762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47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9" name="Google Shape;769;p48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70" name="Google Shape;770;p48"/>
          <p:cNvSpPr txBox="1"/>
          <p:nvPr/>
        </p:nvSpPr>
        <p:spPr>
          <a:xfrm>
            <a:off x="491613" y="176980"/>
            <a:ext cx="58968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 vs GPT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771" name="Google Shape;77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772" name="Google Shape;772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48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774" name="Google Shape;774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7519" y="951619"/>
            <a:ext cx="11136961" cy="3928389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48"/>
          <p:cNvSpPr txBox="1"/>
          <p:nvPr/>
        </p:nvSpPr>
        <p:spPr>
          <a:xfrm>
            <a:off x="527518" y="5005717"/>
            <a:ext cx="9162581" cy="869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즉, GPT는 task 별로 각기 다른 fine-tuning이 필요하지 않은 General한 모델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🡪 GPT의 Next Token Prediction이라는 학습 방식 때문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1" name="Google Shape;781;p49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82" name="Google Shape;782;p49"/>
          <p:cNvSpPr txBox="1"/>
          <p:nvPr/>
        </p:nvSpPr>
        <p:spPr>
          <a:xfrm>
            <a:off x="491613" y="176980"/>
            <a:ext cx="58968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 vs GPT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783" name="Google Shape;78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784" name="Google Shape;784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49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786" name="Google Shape;786;p49"/>
          <p:cNvSpPr txBox="1"/>
          <p:nvPr/>
        </p:nvSpPr>
        <p:spPr>
          <a:xfrm>
            <a:off x="491613" y="983586"/>
            <a:ext cx="11072853" cy="869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GPT는 BERT와 달리 여러 문장이 연결된 </a:t>
            </a:r>
            <a:r>
              <a:rPr lang="ko-KR" sz="1800" u="sng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하나의 긴 sequence에 대해 next token prediction 학습</a:t>
            </a:r>
            <a:endParaRPr sz="1800" u="sng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즉,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Input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이자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Task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 주어졌을 때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Output의 확률을 예측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하는 방식이라 할 수 있음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787" name="Google Shape;787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40285" y="2079901"/>
            <a:ext cx="2189247" cy="424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56399" y="2107526"/>
            <a:ext cx="3064087" cy="3693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9" name="Google Shape;789;p49"/>
          <p:cNvCxnSpPr/>
          <p:nvPr/>
        </p:nvCxnSpPr>
        <p:spPr>
          <a:xfrm>
            <a:off x="4074229" y="2292192"/>
            <a:ext cx="74153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790" name="Google Shape;790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16759" y="3802353"/>
            <a:ext cx="5837874" cy="5773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1" name="Google Shape;791;p49"/>
          <p:cNvCxnSpPr/>
          <p:nvPr/>
        </p:nvCxnSpPr>
        <p:spPr>
          <a:xfrm>
            <a:off x="4555375" y="2706178"/>
            <a:ext cx="0" cy="104648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92" name="Google Shape;792;p49"/>
          <p:cNvSpPr txBox="1"/>
          <p:nvPr/>
        </p:nvSpPr>
        <p:spPr>
          <a:xfrm>
            <a:off x="4643012" y="3045101"/>
            <a:ext cx="21222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번역 task 예시</a:t>
            </a:r>
            <a:endParaRPr/>
          </a:p>
        </p:txBody>
      </p:sp>
      <p:sp>
        <p:nvSpPr>
          <p:cNvPr id="793" name="Google Shape;793;p49"/>
          <p:cNvSpPr txBox="1"/>
          <p:nvPr/>
        </p:nvSpPr>
        <p:spPr>
          <a:xfrm>
            <a:off x="7654633" y="4008718"/>
            <a:ext cx="33929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문장 내 task가 포함되어 있음</a:t>
            </a:r>
            <a:endParaRPr/>
          </a:p>
        </p:txBody>
      </p:sp>
      <p:pic>
        <p:nvPicPr>
          <p:cNvPr id="794" name="Google Shape;794;p49"/>
          <p:cNvPicPr preferRelativeResize="0"/>
          <p:nvPr/>
        </p:nvPicPr>
        <p:blipFill rotWithShape="1">
          <a:blip r:embed="rId7">
            <a:alphaModFix/>
          </a:blip>
          <a:srcRect b="-3836" l="16636" r="11141" t="56640"/>
          <a:stretch/>
        </p:blipFill>
        <p:spPr>
          <a:xfrm>
            <a:off x="7975750" y="5396878"/>
            <a:ext cx="4216250" cy="2724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5" name="Google Shape;795;p49"/>
          <p:cNvGrpSpPr/>
          <p:nvPr/>
        </p:nvGrpSpPr>
        <p:grpSpPr>
          <a:xfrm>
            <a:off x="137424" y="5239087"/>
            <a:ext cx="5837873" cy="677685"/>
            <a:chOff x="137424" y="4624012"/>
            <a:chExt cx="5837873" cy="677685"/>
          </a:xfrm>
        </p:grpSpPr>
        <p:pic>
          <p:nvPicPr>
            <p:cNvPr id="796" name="Google Shape;796;p4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37424" y="4624012"/>
              <a:ext cx="5837873" cy="5773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7" name="Google Shape;797;p49"/>
            <p:cNvSpPr/>
            <p:nvPr/>
          </p:nvSpPr>
          <p:spPr>
            <a:xfrm>
              <a:off x="1137920" y="4932365"/>
              <a:ext cx="4064000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798" name="Google Shape;798;p49"/>
          <p:cNvSpPr/>
          <p:nvPr/>
        </p:nvSpPr>
        <p:spPr>
          <a:xfrm>
            <a:off x="6491605" y="5149988"/>
            <a:ext cx="904240" cy="765572"/>
          </a:xfrm>
          <a:prstGeom prst="ellipse">
            <a:avLst/>
          </a:prstGeom>
          <a:solidFill>
            <a:srgbClr val="F086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</a:t>
            </a:r>
            <a:endParaRPr b="1"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99" name="Google Shape;799;p49"/>
          <p:cNvCxnSpPr>
            <a:stCxn id="796" idx="3"/>
            <a:endCxn id="798" idx="2"/>
          </p:cNvCxnSpPr>
          <p:nvPr/>
        </p:nvCxnSpPr>
        <p:spPr>
          <a:xfrm>
            <a:off x="5975297" y="5527766"/>
            <a:ext cx="516300" cy="5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00" name="Google Shape;800;p49"/>
          <p:cNvCxnSpPr/>
          <p:nvPr/>
        </p:nvCxnSpPr>
        <p:spPr>
          <a:xfrm>
            <a:off x="7407830" y="5547440"/>
            <a:ext cx="516308" cy="500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6" name="Google Shape;806;p50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폰트, 그래픽, 텍스트, 스크린샷이(가) 표시된 사진&#10;&#10;자동 생성된 설명" id="807" name="Google Shape;80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808" name="Google Shape;808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50"/>
          <p:cNvSpPr txBox="1"/>
          <p:nvPr/>
        </p:nvSpPr>
        <p:spPr>
          <a:xfrm>
            <a:off x="491613" y="176980"/>
            <a:ext cx="74046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 실습 – 텍스트 생성해보기</a:t>
            </a:r>
            <a:endParaRPr/>
          </a:p>
        </p:txBody>
      </p:sp>
      <p:sp>
        <p:nvSpPr>
          <p:cNvPr id="810" name="Google Shape;810;p50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811" name="Google Shape;811;p50"/>
          <p:cNvSpPr txBox="1"/>
          <p:nvPr/>
        </p:nvSpPr>
        <p:spPr>
          <a:xfrm>
            <a:off x="491613" y="1068283"/>
            <a:ext cx="912368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GPT-2로 이어진 context에 대해 텍스트 생성해보는 실습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812" name="Google Shape;812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9800" y="2173840"/>
            <a:ext cx="7772400" cy="3941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8" name="Google Shape;818;p51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폰트, 그래픽, 텍스트, 스크린샷이(가) 표시된 사진&#10;&#10;자동 생성된 설명" id="819" name="Google Shape;81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820" name="Google Shape;820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51"/>
          <p:cNvSpPr txBox="1"/>
          <p:nvPr/>
        </p:nvSpPr>
        <p:spPr>
          <a:xfrm>
            <a:off x="491613" y="1060164"/>
            <a:ext cx="102209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GPT-2를 이용해, 대화를 주고 받는 간단한 Chat bot을 구현해보기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2" name="Google Shape;822;p51"/>
          <p:cNvSpPr txBox="1"/>
          <p:nvPr/>
        </p:nvSpPr>
        <p:spPr>
          <a:xfrm>
            <a:off x="491613" y="176980"/>
            <a:ext cx="74046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 실습 – Chat bot 만들어보기</a:t>
            </a:r>
            <a:endParaRPr/>
          </a:p>
        </p:txBody>
      </p:sp>
      <p:sp>
        <p:nvSpPr>
          <p:cNvPr id="823" name="Google Shape;823;p51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824" name="Google Shape;824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9800" y="1924763"/>
            <a:ext cx="7772400" cy="35849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0" name="Google Shape;830;p52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31" name="Google Shape;831;p52"/>
          <p:cNvSpPr txBox="1"/>
          <p:nvPr/>
        </p:nvSpPr>
        <p:spPr>
          <a:xfrm>
            <a:off x="491613" y="176980"/>
            <a:ext cx="58968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Decoding Strategies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832" name="Google Shape;83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833" name="Google Shape;833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52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835" name="Google Shape;835;p52"/>
          <p:cNvSpPr txBox="1"/>
          <p:nvPr/>
        </p:nvSpPr>
        <p:spPr>
          <a:xfrm>
            <a:off x="491613" y="983586"/>
            <a:ext cx="11072853" cy="2531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NLG Model의 결과물은 주어진 context에 대해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token의 조건부 확률 분포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 중 어떤 token을 활용할 것인가? 🡪 </a:t>
            </a:r>
            <a:r>
              <a:rPr lang="ko-KR" sz="1800" u="sng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Decoding Strategies 필요</a:t>
            </a:r>
            <a:endParaRPr sz="1800" u="sng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대표적인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3가지 Strategies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존재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확정적 + Search 기반 전략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확률적 + Sampling 기반 전략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반복 제어 전략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1" name="Google Shape;841;p53"/>
          <p:cNvPicPr preferRelativeResize="0"/>
          <p:nvPr/>
        </p:nvPicPr>
        <p:blipFill rotWithShape="1">
          <a:blip r:embed="rId3">
            <a:alphaModFix/>
          </a:blip>
          <a:srcRect b="0" l="0" r="0" t="8258"/>
          <a:stretch/>
        </p:blipFill>
        <p:spPr>
          <a:xfrm>
            <a:off x="5119141" y="1857528"/>
            <a:ext cx="6017820" cy="43577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2" name="Google Shape;842;p53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3" name="Google Shape;843;p53"/>
          <p:cNvSpPr txBox="1"/>
          <p:nvPr/>
        </p:nvSpPr>
        <p:spPr>
          <a:xfrm>
            <a:off x="491612" y="176980"/>
            <a:ext cx="979538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Decoding Strategies (1) – 결정적 / Search Based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844" name="Google Shape;844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845" name="Google Shape;845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53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847" name="Google Shape;847;p53"/>
          <p:cNvSpPr txBox="1"/>
          <p:nvPr/>
        </p:nvSpPr>
        <p:spPr>
          <a:xfrm>
            <a:off x="491613" y="983586"/>
            <a:ext cx="11072853" cy="2531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Token을 결정할 때,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확률이 높은 token을 선택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하기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확률이 높은 후보 token을 확정적으로 선택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하기 때문에, 결정적이라고 함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🡺 Input에 대해 항상 같은 output이 나옴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대표적으로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두 가지 전략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존재함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Greedy Search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Beam Search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3" name="Google Shape;853;p54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4" name="Google Shape;854;p54"/>
          <p:cNvSpPr txBox="1"/>
          <p:nvPr/>
        </p:nvSpPr>
        <p:spPr>
          <a:xfrm>
            <a:off x="491613" y="176980"/>
            <a:ext cx="83653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Decoding Strategies (1) – Greedy Search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855" name="Google Shape;855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856" name="Google Shape;856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54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858" name="Google Shape;858;p54"/>
          <p:cNvSpPr txBox="1"/>
          <p:nvPr/>
        </p:nvSpPr>
        <p:spPr>
          <a:xfrm>
            <a:off x="491613" y="983586"/>
            <a:ext cx="11072853" cy="2116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Greedy Search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시점에서 </a:t>
            </a: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높은 확률을 가진 단어를 선택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하여 다음 단어를 선택하는 것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전체적인 문장의 일관성이나 자연스러움을 고려하지 않음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문장 생성시 반복이 빠르게 생김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2" marL="12001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greedy s" id="859" name="Google Shape;859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4480" y="3317225"/>
            <a:ext cx="3368005" cy="2557189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60" name="Google Shape;860;p54"/>
          <p:cNvSpPr txBox="1"/>
          <p:nvPr/>
        </p:nvSpPr>
        <p:spPr>
          <a:xfrm>
            <a:off x="6476813" y="5987017"/>
            <a:ext cx="4114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Greedy 알고리즘의 대표적 문제 상황</a:t>
            </a:r>
            <a:endParaRPr/>
          </a:p>
        </p:txBody>
      </p:sp>
      <p:pic>
        <p:nvPicPr>
          <p:cNvPr id="861" name="Google Shape;861;p54"/>
          <p:cNvPicPr preferRelativeResize="0"/>
          <p:nvPr/>
        </p:nvPicPr>
        <p:blipFill rotWithShape="1">
          <a:blip r:embed="rId6">
            <a:alphaModFix/>
          </a:blip>
          <a:srcRect b="0" l="0" r="0" t="8258"/>
          <a:stretch/>
        </p:blipFill>
        <p:spPr>
          <a:xfrm>
            <a:off x="1811937" y="3256645"/>
            <a:ext cx="4216102" cy="3053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7" name="Google Shape;867;p55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8" name="Google Shape;868;p55"/>
          <p:cNvSpPr txBox="1"/>
          <p:nvPr/>
        </p:nvSpPr>
        <p:spPr>
          <a:xfrm>
            <a:off x="491613" y="176980"/>
            <a:ext cx="83653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Decoding Strategies (1) – Beam Search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869" name="Google Shape;86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870" name="Google Shape;870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55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872" name="Google Shape;872;p55"/>
          <p:cNvSpPr txBox="1"/>
          <p:nvPr/>
        </p:nvSpPr>
        <p:spPr>
          <a:xfrm>
            <a:off x="491613" y="983586"/>
            <a:ext cx="11072853" cy="2116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 Beam Search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시점에서 </a:t>
            </a: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여러 후보 단어를 유지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하며, 각 후보 단어의 확률을 고려하여 다음 단어를 선택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 시점마다 최선의 후보를 추적하여 전체 문장의 일관성을 높이려고 함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더 많은 후보를 유지한다면, 다양성이 늘어나지만 계산 비용이 더 많이 들 수 있음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2" marL="12001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873" name="Google Shape;873;p55"/>
          <p:cNvPicPr preferRelativeResize="0"/>
          <p:nvPr/>
        </p:nvPicPr>
        <p:blipFill rotWithShape="1">
          <a:blip r:embed="rId5">
            <a:alphaModFix/>
          </a:blip>
          <a:srcRect b="0" l="0" r="0" t="8258"/>
          <a:stretch/>
        </p:blipFill>
        <p:spPr>
          <a:xfrm>
            <a:off x="1811937" y="3256645"/>
            <a:ext cx="4216102" cy="3053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9" name="Google Shape;879;p56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0" name="Google Shape;880;p56"/>
          <p:cNvSpPr txBox="1"/>
          <p:nvPr/>
        </p:nvSpPr>
        <p:spPr>
          <a:xfrm>
            <a:off x="491613" y="176980"/>
            <a:ext cx="83653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Decoding Strategies (1) – Beam Search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881" name="Google Shape;88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882" name="Google Shape;882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56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884" name="Google Shape;884;p56"/>
          <p:cNvPicPr preferRelativeResize="0"/>
          <p:nvPr/>
        </p:nvPicPr>
        <p:blipFill rotWithShape="1">
          <a:blip r:embed="rId5">
            <a:alphaModFix/>
          </a:blip>
          <a:srcRect b="0" l="0" r="11005" t="8258"/>
          <a:stretch/>
        </p:blipFill>
        <p:spPr>
          <a:xfrm>
            <a:off x="6850682" y="1541993"/>
            <a:ext cx="4783318" cy="3892163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56"/>
          <p:cNvSpPr txBox="1"/>
          <p:nvPr/>
        </p:nvSpPr>
        <p:spPr>
          <a:xfrm>
            <a:off x="491613" y="983586"/>
            <a:ext cx="6522373" cy="460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Example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유지할 후보의 수: 2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1) The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2) nice (0.5), dog (0.4)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3) </a:t>
            </a:r>
            <a:endParaRPr/>
          </a:p>
          <a:p>
            <a:pPr indent="-285750" lvl="2" marL="12001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nice (0.5) 🡪 woman (0.4), house (0.3), guy (0.3)</a:t>
            </a:r>
            <a:endParaRPr/>
          </a:p>
          <a:p>
            <a:pPr indent="-285750" lvl="2" marL="12001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dog (0.4) 🡪 has (0.9), runs (0.05), and (0.05)</a:t>
            </a:r>
            <a:endParaRPr/>
          </a:p>
          <a:p>
            <a:pPr indent="-285750" lvl="2" marL="12001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🡺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The dog has (0.36), The nice woman (0.20)</a:t>
            </a:r>
            <a:endParaRPr/>
          </a:p>
          <a:p>
            <a:pPr indent="0" lvl="2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…</a:t>
            </a:r>
            <a:endParaRPr/>
          </a:p>
          <a:p>
            <a:pPr indent="-1714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1" name="Google Shape;891;p57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92" name="Google Shape;892;p57"/>
          <p:cNvSpPr txBox="1"/>
          <p:nvPr/>
        </p:nvSpPr>
        <p:spPr>
          <a:xfrm>
            <a:off x="491612" y="176980"/>
            <a:ext cx="1004476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Decoding Strategies (2) – 확률적 / Sampling Based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893" name="Google Shape;89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894" name="Google Shape;894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57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896" name="Google Shape;896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612" y="1278137"/>
            <a:ext cx="7772400" cy="2034133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57"/>
          <p:cNvSpPr txBox="1"/>
          <p:nvPr/>
        </p:nvSpPr>
        <p:spPr>
          <a:xfrm>
            <a:off x="3234550" y="3362999"/>
            <a:ext cx="22865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u="sng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OpenAI Playground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898" name="Google Shape;898;p57"/>
          <p:cNvGrpSpPr/>
          <p:nvPr/>
        </p:nvGrpSpPr>
        <p:grpSpPr>
          <a:xfrm>
            <a:off x="8424656" y="951619"/>
            <a:ext cx="3534107" cy="3018026"/>
            <a:chOff x="7575233" y="1698980"/>
            <a:chExt cx="4368568" cy="3473136"/>
          </a:xfrm>
        </p:grpSpPr>
        <p:pic>
          <p:nvPicPr>
            <p:cNvPr id="899" name="Google Shape;899;p5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585624" y="1698980"/>
              <a:ext cx="4358177" cy="34600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0" name="Google Shape;900;p57"/>
            <p:cNvSpPr/>
            <p:nvPr/>
          </p:nvSpPr>
          <p:spPr>
            <a:xfrm>
              <a:off x="7655357" y="2373961"/>
              <a:ext cx="1374343" cy="353557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01" name="Google Shape;901;p57"/>
            <p:cNvSpPr/>
            <p:nvPr/>
          </p:nvSpPr>
          <p:spPr>
            <a:xfrm>
              <a:off x="7655357" y="3897023"/>
              <a:ext cx="688543" cy="353557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902" name="Google Shape;902;p5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575233" y="1712077"/>
              <a:ext cx="4358177" cy="34600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3" name="Google Shape;903;p57"/>
            <p:cNvSpPr/>
            <p:nvPr/>
          </p:nvSpPr>
          <p:spPr>
            <a:xfrm>
              <a:off x="7644966" y="2387058"/>
              <a:ext cx="1374343" cy="353557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04" name="Google Shape;904;p57"/>
            <p:cNvSpPr/>
            <p:nvPr/>
          </p:nvSpPr>
          <p:spPr>
            <a:xfrm>
              <a:off x="7644966" y="3910120"/>
              <a:ext cx="688543" cy="353557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descr="OpenAI ChatGPT API 사용하는 방법" id="905" name="Google Shape;905;p5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1544" y="4117336"/>
            <a:ext cx="6732534" cy="2192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1" name="Google Shape;911;p58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2" name="Google Shape;912;p58"/>
          <p:cNvSpPr txBox="1"/>
          <p:nvPr/>
        </p:nvSpPr>
        <p:spPr>
          <a:xfrm>
            <a:off x="491612" y="176980"/>
            <a:ext cx="1004476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Decoding Strategies (2) – 확률적 / Sampling Based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913" name="Google Shape;91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914" name="Google Shape;914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58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916" name="Google Shape;916;p58"/>
          <p:cNvSpPr txBox="1"/>
          <p:nvPr/>
        </p:nvSpPr>
        <p:spPr>
          <a:xfrm>
            <a:off x="491613" y="983586"/>
            <a:ext cx="11072853" cy="2531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Search 기반 방법과는 다르게,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확률적으로 token을 선택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하는 방식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(높은 확률이라고 해서 무조건 뽑는 것이 아니라, 확률에 따라 sampling을 하는 것!)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대표적으로 두 가지 전략이 존재함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확률 분포 후보군을 필터링하자 🡪 </a:t>
            </a: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Top-k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/ </a:t>
            </a: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Top-p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확률 분포의 모양을 조절하자 🡪 </a:t>
            </a: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Temperature</a:t>
            </a:r>
            <a:endParaRPr/>
          </a:p>
          <a:p>
            <a:pPr indent="-2286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2" name="Google Shape;922;p59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3" name="Google Shape;923;p59"/>
          <p:cNvSpPr txBox="1"/>
          <p:nvPr/>
        </p:nvSpPr>
        <p:spPr>
          <a:xfrm>
            <a:off x="491612" y="176980"/>
            <a:ext cx="1004476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Decoding Strategies (2) – Top-k / Top-p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924" name="Google Shape;924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925" name="Google Shape;925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59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927" name="Google Shape;927;p59"/>
          <p:cNvSpPr txBox="1"/>
          <p:nvPr/>
        </p:nvSpPr>
        <p:spPr>
          <a:xfrm>
            <a:off x="491613" y="983586"/>
            <a:ext cx="11072853" cy="2947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Top-k / Top-p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Sampling 후보군을 필터링을 통해 제한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하는 방법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Top-k</a:t>
            </a:r>
            <a:endParaRPr/>
          </a:p>
          <a:p>
            <a:pPr indent="-342900" lvl="2" marL="12573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확률이 높은 상위 </a:t>
            </a: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k개 토큰만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남기기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Top-p</a:t>
            </a:r>
            <a:endParaRPr/>
          </a:p>
          <a:p>
            <a:pPr indent="-342900" lvl="2" marL="12573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누적 확률이 p 이상이 될 때까지 </a:t>
            </a: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token을 선택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하기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🡺 확률분포 기반 방법의 단점인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무작위성을 통제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하는 방법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28" name="Google Shape;928;p59"/>
          <p:cNvPicPr preferRelativeResize="0"/>
          <p:nvPr/>
        </p:nvPicPr>
        <p:blipFill rotWithShape="1">
          <a:blip r:embed="rId5">
            <a:alphaModFix/>
          </a:blip>
          <a:srcRect b="0" l="0" r="60130" t="0"/>
          <a:stretch/>
        </p:blipFill>
        <p:spPr>
          <a:xfrm>
            <a:off x="5862722" y="3968231"/>
            <a:ext cx="2717611" cy="223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59"/>
          <p:cNvPicPr preferRelativeResize="0"/>
          <p:nvPr/>
        </p:nvPicPr>
        <p:blipFill rotWithShape="1">
          <a:blip r:embed="rId6">
            <a:alphaModFix/>
          </a:blip>
          <a:srcRect b="0" l="0" r="59571" t="18736"/>
          <a:stretch/>
        </p:blipFill>
        <p:spPr>
          <a:xfrm>
            <a:off x="2375875" y="4025772"/>
            <a:ext cx="2805234" cy="2235673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59"/>
          <p:cNvSpPr txBox="1"/>
          <p:nvPr/>
        </p:nvSpPr>
        <p:spPr>
          <a:xfrm>
            <a:off x="2814245" y="6142089"/>
            <a:ext cx="1928493" cy="3336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Top-k sampling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1" name="Google Shape;931;p59"/>
          <p:cNvSpPr txBox="1"/>
          <p:nvPr/>
        </p:nvSpPr>
        <p:spPr>
          <a:xfrm>
            <a:off x="6257280" y="6142089"/>
            <a:ext cx="1928493" cy="3336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Top-p sampling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2" name="Google Shape;932;p59"/>
          <p:cNvSpPr/>
          <p:nvPr/>
        </p:nvSpPr>
        <p:spPr>
          <a:xfrm>
            <a:off x="4411260" y="4852961"/>
            <a:ext cx="528543" cy="270214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3" name="Google Shape;933;p59"/>
          <p:cNvSpPr/>
          <p:nvPr/>
        </p:nvSpPr>
        <p:spPr>
          <a:xfrm>
            <a:off x="7884107" y="5205848"/>
            <a:ext cx="626454" cy="270214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9" name="Google Shape;939;p60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40" name="Google Shape;940;p60"/>
          <p:cNvSpPr txBox="1"/>
          <p:nvPr/>
        </p:nvSpPr>
        <p:spPr>
          <a:xfrm>
            <a:off x="491612" y="176980"/>
            <a:ext cx="1004476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Decoding Strategies (2) – 확률적 / Sampling Based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941" name="Google Shape;941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942" name="Google Shape;942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60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944" name="Google Shape;944;p60"/>
          <p:cNvSpPr txBox="1"/>
          <p:nvPr/>
        </p:nvSpPr>
        <p:spPr>
          <a:xfrm>
            <a:off x="491613" y="983586"/>
            <a:ext cx="11072853" cy="128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 Temperature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확률 분포의 모양을 조절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하여 다양성을 제어하는 방법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샘플링 전 확률 분포 자체를 날카롭게(T &lt; 1.0) 또는 평평하게(T &gt; 1.0) 조절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r/LocalLLaMA - How to Properly Scale Language Model Creativity" id="945" name="Google Shape;945;p60"/>
          <p:cNvPicPr preferRelativeResize="0"/>
          <p:nvPr/>
        </p:nvPicPr>
        <p:blipFill rotWithShape="1">
          <a:blip r:embed="rId5">
            <a:alphaModFix/>
          </a:blip>
          <a:srcRect b="23361" l="17985" r="6209" t="27665"/>
          <a:stretch/>
        </p:blipFill>
        <p:spPr>
          <a:xfrm>
            <a:off x="5245383" y="2669717"/>
            <a:ext cx="6095166" cy="2673823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60"/>
          <p:cNvSpPr txBox="1"/>
          <p:nvPr/>
        </p:nvSpPr>
        <p:spPr>
          <a:xfrm>
            <a:off x="491613" y="2305842"/>
            <a:ext cx="11072853" cy="1700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Temperature T</a:t>
            </a:r>
            <a:endParaRPr/>
          </a:p>
          <a:p>
            <a:pPr indent="-285750" lvl="2" marL="12001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 == 1.0</a:t>
            </a:r>
            <a:endParaRPr/>
          </a:p>
          <a:p>
            <a:pPr indent="-285750" lvl="2" marL="12001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 &lt; 1.0 : 다양성 감소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2" marL="12001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 &gt; 1.0 : 다양성 증가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2" name="Google Shape;952;p61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3" name="Google Shape;953;p61"/>
          <p:cNvSpPr txBox="1"/>
          <p:nvPr/>
        </p:nvSpPr>
        <p:spPr>
          <a:xfrm>
            <a:off x="491612" y="176980"/>
            <a:ext cx="1004476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Decoding Strategies (2) – Temperature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954" name="Google Shape;954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955" name="Google Shape;955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61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957" name="Google Shape;957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72408" y="1174299"/>
            <a:ext cx="6447183" cy="4887526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61"/>
          <p:cNvSpPr txBox="1"/>
          <p:nvPr/>
        </p:nvSpPr>
        <p:spPr>
          <a:xfrm>
            <a:off x="3088851" y="6128273"/>
            <a:ext cx="6014296" cy="456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Example 🡪 각자의 Use Case에 맞는 다양한 조합이 가능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9" name="Google Shape;959;p61">
            <a:hlinkClick r:id="rId6"/>
          </p:cNvPr>
          <p:cNvSpPr txBox="1"/>
          <p:nvPr/>
        </p:nvSpPr>
        <p:spPr>
          <a:xfrm>
            <a:off x="9475756" y="5692493"/>
            <a:ext cx="6621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u="sng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출처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5" name="Google Shape;965;p62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6" name="Google Shape;966;p62"/>
          <p:cNvSpPr txBox="1"/>
          <p:nvPr/>
        </p:nvSpPr>
        <p:spPr>
          <a:xfrm>
            <a:off x="491612" y="176980"/>
            <a:ext cx="979538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Decoding Strategies (3) – 반복 제어 전략</a:t>
            </a:r>
            <a:endParaRPr/>
          </a:p>
        </p:txBody>
      </p:sp>
      <p:pic>
        <p:nvPicPr>
          <p:cNvPr descr="폰트, 그래픽, 텍스트, 스크린샷이(가) 표시된 사진&#10;&#10;자동 생성된 설명" id="967" name="Google Shape;967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968" name="Google Shape;968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62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970" name="Google Shape;970;p62"/>
          <p:cNvSpPr txBox="1"/>
          <p:nvPr/>
        </p:nvSpPr>
        <p:spPr>
          <a:xfrm>
            <a:off x="491613" y="983586"/>
            <a:ext cx="11072853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자연어를 생성할 때, 가장 높은 확률의 토큰만 선택한다면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동일한 단어나 구문이 반복 생성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될 수 있음.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따라서, 이런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반복을 방지하기 위한 전략들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존재: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N-gram penalty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Token-based penalty</a:t>
            </a:r>
            <a:endParaRPr/>
          </a:p>
          <a:p>
            <a:pPr indent="-2286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6" name="Google Shape;976;p63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7" name="Google Shape;977;p63"/>
          <p:cNvSpPr txBox="1"/>
          <p:nvPr/>
        </p:nvSpPr>
        <p:spPr>
          <a:xfrm>
            <a:off x="491612" y="176980"/>
            <a:ext cx="979538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Decoding Strategies (3) – N-gram penalty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978" name="Google Shape;97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979" name="Google Shape;979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63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981" name="Google Shape;981;p63"/>
          <p:cNvSpPr txBox="1"/>
          <p:nvPr/>
        </p:nvSpPr>
        <p:spPr>
          <a:xfrm>
            <a:off x="491613" y="983586"/>
            <a:ext cx="11072853" cy="3362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N-gram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자연어 처리에서 </a:t>
            </a: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연속된 N개의 단어(token) 묶음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의미함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2" marL="12001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ex) “I love natural language processing”을 2-grams으로 나누면 “I love”, ”love natural”, ”natural language”, “language processing”과 같은 단어 쌍들이 생성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2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N-gram penalty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특정 n-gram 패턴이 반복되어 나타나는 것을 제한하는 것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다양성을 유지할 수 있고, 지루함을 줄임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반복되는 패턴을 줄이면서 자연스러움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7" name="Google Shape;987;p64"/>
          <p:cNvPicPr preferRelativeResize="0"/>
          <p:nvPr/>
        </p:nvPicPr>
        <p:blipFill rotWithShape="1">
          <a:blip r:embed="rId3">
            <a:alphaModFix/>
          </a:blip>
          <a:srcRect b="0" l="0" r="0" t="8258"/>
          <a:stretch/>
        </p:blipFill>
        <p:spPr>
          <a:xfrm>
            <a:off x="5934654" y="2069479"/>
            <a:ext cx="6163019" cy="44629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8" name="Google Shape;988;p64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9" name="Google Shape;989;p64"/>
          <p:cNvSpPr txBox="1"/>
          <p:nvPr/>
        </p:nvSpPr>
        <p:spPr>
          <a:xfrm>
            <a:off x="491612" y="176980"/>
            <a:ext cx="979538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Decoding Strategies (3) – Token-based penalty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990" name="Google Shape;990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991" name="Google Shape;991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64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993" name="Google Shape;993;p64"/>
          <p:cNvSpPr txBox="1"/>
          <p:nvPr/>
        </p:nvSpPr>
        <p:spPr>
          <a:xfrm>
            <a:off x="491613" y="983586"/>
            <a:ext cx="11072853" cy="2947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 생성된 토큰이 다시 등장하려 할 때, 해당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토큰의 확률(logit 값)에 penalty를 적용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하여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생성 가능성을 낮추는 전략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ex) 문장 중 “love”가 이미 등장한 상황이고, 다음 토큰으로 ”love”가 후보.</a:t>
            </a:r>
            <a:endParaRPr/>
          </a:p>
          <a:p>
            <a:pPr indent="0" lvl="2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원래의 logit 값: logit(“love”) = 3.0, repetition_penalty = 1.2이면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2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조정된 logit(“love”) = 3.0 / 1.2 ≈ 2.5</a:t>
            </a:r>
            <a:endParaRPr/>
          </a:p>
          <a:p>
            <a:pPr indent="0" lvl="2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🡺 “love”의 생성 확률 낮아짐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9" name="Google Shape;999;p65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폰트, 그래픽, 텍스트, 스크린샷이(가) 표시된 사진&#10;&#10;자동 생성된 설명" id="1000" name="Google Shape;100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1001" name="Google Shape;1001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65"/>
          <p:cNvSpPr txBox="1"/>
          <p:nvPr/>
        </p:nvSpPr>
        <p:spPr>
          <a:xfrm>
            <a:off x="491613" y="1048589"/>
            <a:ext cx="10220960" cy="869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GPT-2를 이용해, 다양한 조합의 Decoding Strategy를 적용해보고, setting 별로 어떤 생성 결과가 나오는지 확인해보기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3" name="Google Shape;1003;p65"/>
          <p:cNvSpPr txBox="1"/>
          <p:nvPr/>
        </p:nvSpPr>
        <p:spPr>
          <a:xfrm>
            <a:off x="491613" y="176980"/>
            <a:ext cx="74046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 실습 – Decoding Strategy 점검</a:t>
            </a:r>
            <a:endParaRPr/>
          </a:p>
        </p:txBody>
      </p:sp>
      <p:sp>
        <p:nvSpPr>
          <p:cNvPr id="1004" name="Google Shape;1004;p65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005" name="Google Shape;1005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67150" y="2141058"/>
            <a:ext cx="4457700" cy="351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1" name="Google Shape;1011;p66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폰트, 그래픽, 텍스트, 스크린샷이(가) 표시된 사진&#10;&#10;자동 생성된 설명" id="1012" name="Google Shape;101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1013" name="Google Shape;1013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66"/>
          <p:cNvSpPr txBox="1"/>
          <p:nvPr/>
        </p:nvSpPr>
        <p:spPr>
          <a:xfrm>
            <a:off x="491613" y="1048589"/>
            <a:ext cx="102209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 u="sng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Sentiment Analysis Task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와 </a:t>
            </a:r>
            <a:r>
              <a:rPr lang="ko-KR" sz="1800" u="sng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Question Answering Task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에서 각각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BERT와 GPT의 성능 차이를 확인 해보기 </a:t>
            </a:r>
            <a:endParaRPr/>
          </a:p>
        </p:txBody>
      </p:sp>
      <p:sp>
        <p:nvSpPr>
          <p:cNvPr id="1015" name="Google Shape;1015;p66"/>
          <p:cNvSpPr txBox="1"/>
          <p:nvPr/>
        </p:nvSpPr>
        <p:spPr>
          <a:xfrm>
            <a:off x="491613" y="176980"/>
            <a:ext cx="74046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 vs GPT – 성능 비교해보기</a:t>
            </a:r>
            <a:endParaRPr/>
          </a:p>
        </p:txBody>
      </p:sp>
      <p:sp>
        <p:nvSpPr>
          <p:cNvPr id="1016" name="Google Shape;1016;p66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1017" name="Google Shape;1017;p66"/>
          <p:cNvGrpSpPr/>
          <p:nvPr/>
        </p:nvGrpSpPr>
        <p:grpSpPr>
          <a:xfrm>
            <a:off x="3259025" y="1760059"/>
            <a:ext cx="4686136" cy="4778852"/>
            <a:chOff x="3409519" y="1577497"/>
            <a:chExt cx="4686136" cy="4778852"/>
          </a:xfrm>
        </p:grpSpPr>
        <p:grpSp>
          <p:nvGrpSpPr>
            <p:cNvPr id="1018" name="Google Shape;1018;p66"/>
            <p:cNvGrpSpPr/>
            <p:nvPr/>
          </p:nvGrpSpPr>
          <p:grpSpPr>
            <a:xfrm>
              <a:off x="4121370" y="1577497"/>
              <a:ext cx="3630907" cy="4778852"/>
              <a:chOff x="7648242" y="1102463"/>
              <a:chExt cx="4121493" cy="5424541"/>
            </a:xfrm>
          </p:grpSpPr>
          <p:pic>
            <p:nvPicPr>
              <p:cNvPr id="1019" name="Google Shape;1019;p6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648242" y="1102463"/>
                <a:ext cx="4121493" cy="5424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20" name="Google Shape;1020;p66"/>
              <p:cNvSpPr/>
              <p:nvPr/>
            </p:nvSpPr>
            <p:spPr>
              <a:xfrm>
                <a:off x="9766721" y="1102464"/>
                <a:ext cx="1412240" cy="4026492"/>
              </a:xfrm>
              <a:prstGeom prst="roundRect">
                <a:avLst>
                  <a:gd fmla="val 16667" name="adj"/>
                </a:avLst>
              </a:prstGeom>
              <a:noFill/>
              <a:ln cap="flat" cmpd="sng" w="38100">
                <a:solidFill>
                  <a:srgbClr val="8CD872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021" name="Google Shape;1021;p66"/>
              <p:cNvSpPr/>
              <p:nvPr/>
            </p:nvSpPr>
            <p:spPr>
              <a:xfrm>
                <a:off x="8283361" y="2987040"/>
                <a:ext cx="1412240" cy="2141916"/>
              </a:xfrm>
              <a:prstGeom prst="roundRect">
                <a:avLst>
                  <a:gd fmla="val 16667" name="adj"/>
                </a:avLst>
              </a:prstGeom>
              <a:noFill/>
              <a:ln cap="flat" cmpd="sng" w="38100">
                <a:solidFill>
                  <a:srgbClr val="C0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descr="Google BERT Update and Why It Matters - SEO Update" id="1022" name="Google Shape;1022;p66"/>
            <p:cNvPicPr preferRelativeResize="0"/>
            <p:nvPr/>
          </p:nvPicPr>
          <p:blipFill rotWithShape="1">
            <a:blip r:embed="rId6">
              <a:alphaModFix/>
            </a:blip>
            <a:srcRect b="17878" l="10251" r="10644" t="25862"/>
            <a:stretch/>
          </p:blipFill>
          <p:spPr>
            <a:xfrm>
              <a:off x="3409519" y="3249507"/>
              <a:ext cx="1118936" cy="5344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hat Gpt Logo Vector Art, Icons, and Graphics for Free Download" id="1023" name="Google Shape;1023;p6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08899" y="1917599"/>
              <a:ext cx="686756" cy="64635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67"/>
          <p:cNvSpPr txBox="1"/>
          <p:nvPr/>
        </p:nvSpPr>
        <p:spPr>
          <a:xfrm>
            <a:off x="700211" y="2788909"/>
            <a:ext cx="1079157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4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최근의 Language Models</a:t>
            </a:r>
            <a:endParaRPr b="1" sz="4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1029" name="Google Shape;1029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1030" name="Google Shape;1030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6" name="Google Shape;1036;p68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폰트, 그래픽, 텍스트, 스크린샷이(가) 표시된 사진&#10;&#10;자동 생성된 설명" id="1037" name="Google Shape;1037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1038" name="Google Shape;1038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68"/>
          <p:cNvSpPr txBox="1"/>
          <p:nvPr/>
        </p:nvSpPr>
        <p:spPr>
          <a:xfrm>
            <a:off x="491613" y="176980"/>
            <a:ext cx="74046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최근의 Language Models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0" name="Google Shape;1040;p68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041" name="Google Shape;1041;p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78745" y="1174299"/>
            <a:ext cx="8634510" cy="489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7" name="Google Shape;1047;p69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폰트, 그래픽, 텍스트, 스크린샷이(가) 표시된 사진&#10;&#10;자동 생성된 설명" id="1048" name="Google Shape;1048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1049" name="Google Shape;1049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69"/>
          <p:cNvSpPr txBox="1"/>
          <p:nvPr/>
        </p:nvSpPr>
        <p:spPr>
          <a:xfrm>
            <a:off x="491613" y="176980"/>
            <a:ext cx="74046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최근의 Language Models</a:t>
            </a:r>
            <a:endParaRPr/>
          </a:p>
        </p:txBody>
      </p:sp>
      <p:sp>
        <p:nvSpPr>
          <p:cNvPr id="1051" name="Google Shape;1051;p69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Retrieval Augmented Generation (RAG) for LLMs | Prompt Engineering Guide" id="1052" name="Google Shape;1052;p69"/>
          <p:cNvPicPr preferRelativeResize="0"/>
          <p:nvPr/>
        </p:nvPicPr>
        <p:blipFill rotWithShape="1">
          <a:blip r:embed="rId5">
            <a:alphaModFix/>
          </a:blip>
          <a:srcRect b="44224" l="0" r="0" t="37584"/>
          <a:stretch/>
        </p:blipFill>
        <p:spPr>
          <a:xfrm>
            <a:off x="1669256" y="3009421"/>
            <a:ext cx="8853488" cy="9491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3" name="Google Shape;1053;p69"/>
          <p:cNvGrpSpPr/>
          <p:nvPr/>
        </p:nvGrpSpPr>
        <p:grpSpPr>
          <a:xfrm>
            <a:off x="7153179" y="3888948"/>
            <a:ext cx="5011818" cy="2420129"/>
            <a:chOff x="6967979" y="3854223"/>
            <a:chExt cx="5011818" cy="2420129"/>
          </a:xfrm>
        </p:grpSpPr>
        <p:pic>
          <p:nvPicPr>
            <p:cNvPr descr="ChatGPT, AI 기반 검색 엔진 프로토타입 출시 - TokenPost" id="1054" name="Google Shape;1054;p69"/>
            <p:cNvPicPr preferRelativeResize="0"/>
            <p:nvPr/>
          </p:nvPicPr>
          <p:blipFill rotWithShape="1">
            <a:blip r:embed="rId6">
              <a:alphaModFix/>
            </a:blip>
            <a:srcRect b="16982" l="6503" r="3658" t="15086"/>
            <a:stretch/>
          </p:blipFill>
          <p:spPr>
            <a:xfrm>
              <a:off x="9670959" y="4582814"/>
              <a:ext cx="2029428" cy="8631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제미나이 (언어 모델) - 위키백과, 우리 모두의 백과사전" id="1055" name="Google Shape;1055;p6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203024" y="5089793"/>
              <a:ext cx="1302274" cy="481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6" name="Google Shape;1056;p6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670959" y="5283959"/>
              <a:ext cx="1448885" cy="395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7" name="Google Shape;1057;p6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359999" y="4569611"/>
              <a:ext cx="2029428" cy="5099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8" name="Google Shape;1058;p69"/>
            <p:cNvSpPr/>
            <p:nvPr/>
          </p:nvSpPr>
          <p:spPr>
            <a:xfrm>
              <a:off x="7094669" y="4064614"/>
              <a:ext cx="4885128" cy="2209738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059" name="Google Shape;1059;p69"/>
            <p:cNvCxnSpPr>
              <a:stCxn id="1058" idx="1"/>
            </p:cNvCxnSpPr>
            <p:nvPr/>
          </p:nvCxnSpPr>
          <p:spPr>
            <a:xfrm rot="10800000">
              <a:off x="6967979" y="3854223"/>
              <a:ext cx="842100" cy="5340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5" name="Google Shape;1065;p70"/>
          <p:cNvCxnSpPr/>
          <p:nvPr/>
        </p:nvCxnSpPr>
        <p:spPr>
          <a:xfrm>
            <a:off x="491613" y="825909"/>
            <a:ext cx="1120877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폰트, 그래픽, 텍스트, 스크린샷이(가) 표시된 사진&#10;&#10;자동 생성된 설명" id="1066" name="Google Shape;1066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1067" name="Google Shape;1067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p70"/>
          <p:cNvSpPr txBox="1"/>
          <p:nvPr/>
        </p:nvSpPr>
        <p:spPr>
          <a:xfrm>
            <a:off x="491613" y="176980"/>
            <a:ext cx="74046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최근의 Language Models</a:t>
            </a:r>
            <a:endParaRPr/>
          </a:p>
        </p:txBody>
      </p:sp>
      <p:sp>
        <p:nvSpPr>
          <p:cNvPr id="1069" name="Google Shape;1069;p70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Retrieval Augmented Generation (RAG) for LLMs | Prompt Engineering Guide" id="1070" name="Google Shape;1070;p70"/>
          <p:cNvPicPr preferRelativeResize="0"/>
          <p:nvPr/>
        </p:nvPicPr>
        <p:blipFill rotWithShape="1">
          <a:blip r:embed="rId5">
            <a:alphaModFix/>
          </a:blip>
          <a:srcRect b="674" l="0" r="0" t="0"/>
          <a:stretch/>
        </p:blipFill>
        <p:spPr>
          <a:xfrm>
            <a:off x="1669256" y="1048589"/>
            <a:ext cx="8853488" cy="51820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1" name="Google Shape;1071;p70"/>
          <p:cNvGrpSpPr/>
          <p:nvPr/>
        </p:nvGrpSpPr>
        <p:grpSpPr>
          <a:xfrm>
            <a:off x="7153179" y="3888948"/>
            <a:ext cx="5011818" cy="2420129"/>
            <a:chOff x="6967979" y="3854223"/>
            <a:chExt cx="5011818" cy="2420129"/>
          </a:xfrm>
        </p:grpSpPr>
        <p:pic>
          <p:nvPicPr>
            <p:cNvPr descr="ChatGPT, AI 기반 검색 엔진 프로토타입 출시 - TokenPost" id="1072" name="Google Shape;1072;p70"/>
            <p:cNvPicPr preferRelativeResize="0"/>
            <p:nvPr/>
          </p:nvPicPr>
          <p:blipFill rotWithShape="1">
            <a:blip r:embed="rId6">
              <a:alphaModFix/>
            </a:blip>
            <a:srcRect b="16982" l="6503" r="3658" t="15086"/>
            <a:stretch/>
          </p:blipFill>
          <p:spPr>
            <a:xfrm>
              <a:off x="9670959" y="4582814"/>
              <a:ext cx="2029428" cy="8631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제미나이 (언어 모델) - 위키백과, 우리 모두의 백과사전" id="1073" name="Google Shape;1073;p7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203024" y="5089793"/>
              <a:ext cx="1302274" cy="481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4" name="Google Shape;1074;p7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670959" y="5283959"/>
              <a:ext cx="1448885" cy="395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5" name="Google Shape;1075;p7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359999" y="4569611"/>
              <a:ext cx="2029428" cy="5099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6" name="Google Shape;1076;p70"/>
            <p:cNvSpPr/>
            <p:nvPr/>
          </p:nvSpPr>
          <p:spPr>
            <a:xfrm>
              <a:off x="7094669" y="4064614"/>
              <a:ext cx="4885128" cy="2209738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077" name="Google Shape;1077;p70"/>
            <p:cNvCxnSpPr>
              <a:stCxn id="1076" idx="1"/>
            </p:cNvCxnSpPr>
            <p:nvPr/>
          </p:nvCxnSpPr>
          <p:spPr>
            <a:xfrm rot="10800000">
              <a:off x="6967979" y="3854223"/>
              <a:ext cx="842100" cy="5340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78" name="Google Shape;1078;p70"/>
          <p:cNvGrpSpPr/>
          <p:nvPr/>
        </p:nvGrpSpPr>
        <p:grpSpPr>
          <a:xfrm>
            <a:off x="1794076" y="4213185"/>
            <a:ext cx="5266481" cy="2355427"/>
            <a:chOff x="1794076" y="4213185"/>
            <a:chExt cx="5266481" cy="2355427"/>
          </a:xfrm>
        </p:grpSpPr>
        <p:sp>
          <p:nvSpPr>
            <p:cNvPr id="1079" name="Google Shape;1079;p70"/>
            <p:cNvSpPr/>
            <p:nvPr/>
          </p:nvSpPr>
          <p:spPr>
            <a:xfrm>
              <a:off x="1794076" y="4213185"/>
              <a:ext cx="5266481" cy="1921397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80" name="Google Shape;1080;p70"/>
            <p:cNvSpPr txBox="1"/>
            <p:nvPr/>
          </p:nvSpPr>
          <p:spPr>
            <a:xfrm>
              <a:off x="2945179" y="6199280"/>
              <a:ext cx="296427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Encoder 계열 Models 사용</a:t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71"/>
          <p:cNvSpPr txBox="1"/>
          <p:nvPr/>
        </p:nvSpPr>
        <p:spPr>
          <a:xfrm>
            <a:off x="700211" y="2751891"/>
            <a:ext cx="10791578" cy="1354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4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 Lecture: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Large Language Models (LLMs) &amp; Prompting</a:t>
            </a:r>
            <a:endParaRPr b="1" sz="3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1086" name="Google Shape;1086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1087" name="Google Shape;1087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72"/>
          <p:cNvSpPr txBox="1"/>
          <p:nvPr/>
        </p:nvSpPr>
        <p:spPr>
          <a:xfrm>
            <a:off x="1803892" y="2832874"/>
            <a:ext cx="841282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4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Thank you!</a:t>
            </a:r>
            <a:endParaRPr b="1" sz="4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폰트, 그래픽, 텍스트, 스크린샷이(가) 표시된 사진&#10;&#10;자동 생성된 설명" id="1094" name="Google Shape;1094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352" y="28359"/>
            <a:ext cx="898321" cy="449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nsei University - Short Term Programs" id="1095" name="Google Shape;1095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6961" y="6309704"/>
            <a:ext cx="994079" cy="517816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72"/>
          <p:cNvSpPr txBox="1"/>
          <p:nvPr>
            <p:ph idx="12" type="sldNum"/>
          </p:nvPr>
        </p:nvSpPr>
        <p:spPr>
          <a:xfrm>
            <a:off x="222425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2024-04-10T11:32:27Z</dcterms:created>
  <dc:creator>김남영</dc:creator>
</cp:coreProperties>
</file>
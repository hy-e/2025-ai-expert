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80"/>
  </p:notesMasterIdLst>
  <p:sldIdLst>
    <p:sldId id="256" r:id="rId2"/>
    <p:sldId id="276" r:id="rId3"/>
    <p:sldId id="279" r:id="rId4"/>
    <p:sldId id="277" r:id="rId5"/>
    <p:sldId id="286" r:id="rId6"/>
    <p:sldId id="284" r:id="rId7"/>
    <p:sldId id="282" r:id="rId8"/>
    <p:sldId id="285" r:id="rId9"/>
    <p:sldId id="287" r:id="rId10"/>
    <p:sldId id="288" r:id="rId11"/>
    <p:sldId id="289" r:id="rId12"/>
    <p:sldId id="280" r:id="rId13"/>
    <p:sldId id="290" r:id="rId14"/>
    <p:sldId id="283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324" r:id="rId23"/>
    <p:sldId id="325" r:id="rId24"/>
    <p:sldId id="341" r:id="rId25"/>
    <p:sldId id="298" r:id="rId26"/>
    <p:sldId id="301" r:id="rId27"/>
    <p:sldId id="302" r:id="rId28"/>
    <p:sldId id="303" r:id="rId29"/>
    <p:sldId id="304" r:id="rId30"/>
    <p:sldId id="306" r:id="rId31"/>
    <p:sldId id="305" r:id="rId32"/>
    <p:sldId id="320" r:id="rId33"/>
    <p:sldId id="307" r:id="rId34"/>
    <p:sldId id="308" r:id="rId35"/>
    <p:sldId id="309" r:id="rId36"/>
    <p:sldId id="314" r:id="rId37"/>
    <p:sldId id="316" r:id="rId38"/>
    <p:sldId id="312" r:id="rId39"/>
    <p:sldId id="313" r:id="rId40"/>
    <p:sldId id="310" r:id="rId41"/>
    <p:sldId id="317" r:id="rId42"/>
    <p:sldId id="340" r:id="rId43"/>
    <p:sldId id="311" r:id="rId44"/>
    <p:sldId id="318" r:id="rId45"/>
    <p:sldId id="330" r:id="rId46"/>
    <p:sldId id="332" r:id="rId47"/>
    <p:sldId id="333" r:id="rId48"/>
    <p:sldId id="334" r:id="rId49"/>
    <p:sldId id="331" r:id="rId50"/>
    <p:sldId id="335" r:id="rId51"/>
    <p:sldId id="336" r:id="rId52"/>
    <p:sldId id="337" r:id="rId53"/>
    <p:sldId id="319" r:id="rId54"/>
    <p:sldId id="326" r:id="rId55"/>
    <p:sldId id="339" r:id="rId56"/>
    <p:sldId id="299" r:id="rId57"/>
    <p:sldId id="300" r:id="rId58"/>
    <p:sldId id="321" r:id="rId59"/>
    <p:sldId id="322" r:id="rId60"/>
    <p:sldId id="323" r:id="rId61"/>
    <p:sldId id="338" r:id="rId62"/>
    <p:sldId id="344" r:id="rId63"/>
    <p:sldId id="355" r:id="rId64"/>
    <p:sldId id="346" r:id="rId65"/>
    <p:sldId id="352" r:id="rId66"/>
    <p:sldId id="353" r:id="rId67"/>
    <p:sldId id="354" r:id="rId68"/>
    <p:sldId id="356" r:id="rId69"/>
    <p:sldId id="342" r:id="rId70"/>
    <p:sldId id="327" r:id="rId71"/>
    <p:sldId id="343" r:id="rId72"/>
    <p:sldId id="281" r:id="rId73"/>
    <p:sldId id="278" r:id="rId74"/>
    <p:sldId id="347" r:id="rId75"/>
    <p:sldId id="349" r:id="rId76"/>
    <p:sldId id="350" r:id="rId77"/>
    <p:sldId id="348" r:id="rId78"/>
    <p:sldId id="351" r:id="rId7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3FB"/>
    <a:srgbClr val="83AF2D"/>
    <a:srgbClr val="B0D033"/>
    <a:srgbClr val="BE4151"/>
    <a:srgbClr val="CBD9F4"/>
    <a:srgbClr val="D9EAD5"/>
    <a:srgbClr val="EECCCD"/>
    <a:srgbClr val="CDD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33"/>
    <p:restoredTop sz="69595"/>
  </p:normalViewPr>
  <p:slideViewPr>
    <p:cSldViewPr snapToGrid="0">
      <p:cViewPr>
        <p:scale>
          <a:sx n="106" d="100"/>
          <a:sy n="106" d="100"/>
        </p:scale>
        <p:origin x="1560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145e190e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145e190e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45e190ed6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145e190ed6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다양한 태스크에 대해서 </a:t>
            </a:r>
            <a:endParaRPr kumimoji="1" lang="en-US" altLang="ko-KR" dirty="0"/>
          </a:p>
          <a:p>
            <a:r>
              <a:rPr kumimoji="1" lang="ko-KR" altLang="en-US" dirty="0"/>
              <a:t>번역 뿐만이 아닌 수학</a:t>
            </a:r>
            <a:r>
              <a:rPr kumimoji="1" lang="en-US" altLang="ko-KR" dirty="0"/>
              <a:t>,</a:t>
            </a:r>
            <a:r>
              <a:rPr kumimoji="1" lang="ko-KR" altLang="en-US" dirty="0"/>
              <a:t>요약 등 다양한 태스크 </a:t>
            </a:r>
          </a:p>
        </p:txBody>
      </p:sp>
    </p:spTree>
    <p:extLst>
      <p:ext uri="{BB962C8B-B14F-4D97-AF65-F5344CB8AC3E}">
        <p14:creationId xmlns:p14="http://schemas.microsoft.com/office/powerpoint/2010/main" val="1440659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사람이 만든 </a:t>
            </a:r>
            <a:r>
              <a:rPr kumimoji="1" lang="en-US" altLang="ko-KR" dirty="0"/>
              <a:t>175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seed task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</a:t>
            </a:r>
            <a:r>
              <a:rPr kumimoji="1" lang="en-US" altLang="ko-KR" dirty="0" err="1"/>
              <a:t>chatgpt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가지고 이를 </a:t>
            </a:r>
            <a:r>
              <a:rPr kumimoji="1" lang="en-US" altLang="ko-KR" dirty="0"/>
              <a:t>52000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instruction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불립니다</a:t>
            </a:r>
            <a:endParaRPr kumimoji="1" lang="en-US" altLang="ko-KR" dirty="0"/>
          </a:p>
          <a:p>
            <a:r>
              <a:rPr kumimoji="1" lang="ko-KR" altLang="en-US" dirty="0"/>
              <a:t>그리고 </a:t>
            </a:r>
            <a:r>
              <a:rPr kumimoji="1" lang="en-US" altLang="ko-KR" dirty="0"/>
              <a:t>llama 7b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가지고 </a:t>
            </a:r>
            <a:r>
              <a:rPr kumimoji="1" lang="en-US" altLang="ko-KR" dirty="0"/>
              <a:t>instruction tuning</a:t>
            </a:r>
            <a:r>
              <a:rPr kumimoji="1" lang="ko-KR" altLang="en-US" dirty="0"/>
              <a:t>을 해서 </a:t>
            </a:r>
            <a:r>
              <a:rPr kumimoji="1" lang="en-US" altLang="ko-KR" dirty="0"/>
              <a:t>alpaca</a:t>
            </a:r>
            <a:r>
              <a:rPr kumimoji="1" lang="ko-KR" altLang="en-US" dirty="0"/>
              <a:t>가 나오고</a:t>
            </a:r>
            <a:endParaRPr kumimoji="1" lang="en-US" altLang="ko-KR" dirty="0"/>
          </a:p>
          <a:p>
            <a:r>
              <a:rPr kumimoji="1" lang="ko-KR" altLang="en-US" dirty="0"/>
              <a:t>이는 </a:t>
            </a:r>
            <a:r>
              <a:rPr kumimoji="1" lang="en-US" altLang="ko-KR" dirty="0"/>
              <a:t>gpt3.5</a:t>
            </a:r>
            <a:r>
              <a:rPr kumimoji="1" lang="ko-KR" altLang="en-US" dirty="0"/>
              <a:t>와 비견한 성능을 보입니다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이렇듯 </a:t>
            </a:r>
            <a:r>
              <a:rPr kumimoji="1" lang="en-US" altLang="ko-KR" dirty="0"/>
              <a:t>instruction tuning</a:t>
            </a:r>
            <a:r>
              <a:rPr kumimoji="1" lang="ko-KR" altLang="en-US" dirty="0"/>
              <a:t>은 강한 일반화 능력을 갖고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9924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ECC6-878F-4C5F-7D7A-0FE565AA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11FEA-5170-80CA-554B-C05B9955F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AC044-2B82-736E-D93E-801B11468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678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크로스 엔트로피란</a:t>
            </a:r>
            <a:r>
              <a:rPr kumimoji="1" lang="en-US" altLang="ko-KR" dirty="0"/>
              <a:t>? True distribution 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있어 예측된 </a:t>
            </a:r>
            <a:r>
              <a:rPr kumimoji="1" lang="en-US" altLang="ko-KR" dirty="0"/>
              <a:t>q</a:t>
            </a:r>
            <a:r>
              <a:rPr kumimoji="1" lang="ko-KR" altLang="en-US" dirty="0"/>
              <a:t>의 분포가 얼마나 </a:t>
            </a:r>
            <a:r>
              <a:rPr kumimoji="1" lang="ko-KR" altLang="en-US" dirty="0" err="1"/>
              <a:t>다른지</a:t>
            </a:r>
            <a:r>
              <a:rPr kumimoji="1" lang="ko-KR" altLang="en-US" dirty="0"/>
              <a:t> 정도를 나타냅니다 </a:t>
            </a:r>
            <a:endParaRPr kumimoji="1" lang="en-US" altLang="ko-KR" dirty="0"/>
          </a:p>
          <a:p>
            <a:r>
              <a:rPr kumimoji="1" lang="en-US" altLang="ko-KR" dirty="0"/>
              <a:t>True distribution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p</a:t>
            </a:r>
            <a:r>
              <a:rPr kumimoji="1" lang="ko-KR" altLang="en-US" dirty="0"/>
              <a:t>와 예측된 분포인 </a:t>
            </a:r>
            <a:r>
              <a:rPr kumimoji="1" lang="en-US" altLang="ko-KR" dirty="0"/>
              <a:t>q</a:t>
            </a:r>
            <a:r>
              <a:rPr kumimoji="1" lang="ko-KR" altLang="en-US" dirty="0"/>
              <a:t>가 다르면 다를수록 더 높은 값을 가지게 됩니다</a:t>
            </a:r>
            <a:endParaRPr kumimoji="1" lang="en-US" altLang="ko-KR" dirty="0"/>
          </a:p>
          <a:p>
            <a:r>
              <a:rPr kumimoji="1" lang="ko-KR" altLang="en-US" dirty="0"/>
              <a:t>그렇다면 </a:t>
            </a:r>
            <a:r>
              <a:rPr kumimoji="1" lang="en-US" altLang="ko-KR" dirty="0"/>
              <a:t>p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q</a:t>
            </a:r>
            <a:r>
              <a:rPr kumimoji="1" lang="ko-KR" altLang="en-US" dirty="0"/>
              <a:t>가 동일하다면 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서로 같은 분포이기 때문에 값이 가장 낮겠죠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이를 엔트로피라고 합니다 </a:t>
            </a:r>
          </a:p>
        </p:txBody>
      </p:sp>
    </p:spTree>
    <p:extLst>
      <p:ext uri="{BB962C8B-B14F-4D97-AF65-F5344CB8AC3E}">
        <p14:creationId xmlns:p14="http://schemas.microsoft.com/office/powerpoint/2010/main" val="4039692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Kl divergence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간단하게 짚고 넘어가겠습니다</a:t>
            </a:r>
            <a:endParaRPr kumimoji="1" lang="en-US" altLang="ko-KR" dirty="0"/>
          </a:p>
          <a:p>
            <a:r>
              <a:rPr kumimoji="1" lang="en-US" altLang="ko-KR" dirty="0"/>
              <a:t>Kl divergence</a:t>
            </a:r>
            <a:r>
              <a:rPr kumimoji="1" lang="ko-KR" altLang="en-US" dirty="0"/>
              <a:t>의 식은 이렇게 되고</a:t>
            </a:r>
            <a:r>
              <a:rPr kumimoji="1" lang="en-US" altLang="ko-KR" dirty="0"/>
              <a:t>(</a:t>
            </a:r>
            <a:r>
              <a:rPr kumimoji="1" lang="ko-KR" altLang="en-US" dirty="0"/>
              <a:t>왼쪽</a:t>
            </a:r>
            <a:r>
              <a:rPr kumimoji="1" lang="en-US" altLang="ko-KR" dirty="0"/>
              <a:t>) </a:t>
            </a:r>
            <a:r>
              <a:rPr kumimoji="1" lang="ko-KR" altLang="en-US" dirty="0"/>
              <a:t>이를 분해하면 이렇게 되는 데요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이는 </a:t>
            </a:r>
            <a:r>
              <a:rPr kumimoji="1" lang="en-US" altLang="ko-KR" dirty="0"/>
              <a:t>p</a:t>
            </a:r>
            <a:r>
              <a:rPr kumimoji="1" lang="ko-KR" altLang="en-US" dirty="0"/>
              <a:t>분포에 대한 크로스 엔트로피 마이너스 </a:t>
            </a:r>
            <a:r>
              <a:rPr kumimoji="1" lang="en-US" altLang="ko-KR" dirty="0"/>
              <a:t>, 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엔트로피로 식이 전개가 됩니다</a:t>
            </a:r>
            <a:endParaRPr kumimoji="1" lang="en-US" altLang="ko-KR" dirty="0"/>
          </a:p>
          <a:p>
            <a:r>
              <a:rPr kumimoji="1" lang="ko-KR" altLang="en-US" dirty="0"/>
              <a:t>엔트로피란 어떤 확률 분포 정보의 손실 정도를 나타내는데 식이 이렇게 고정이 됩니다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크로스 엔트로피란 실제 분포는 </a:t>
            </a:r>
            <a:r>
              <a:rPr kumimoji="1" lang="en-US" altLang="ko-KR" dirty="0"/>
              <a:t>p</a:t>
            </a:r>
            <a:r>
              <a:rPr kumimoji="1" lang="ko-KR" altLang="en-US" dirty="0"/>
              <a:t>인데 모델로 </a:t>
            </a:r>
            <a:r>
              <a:rPr kumimoji="1" lang="en-US" altLang="ko-KR" dirty="0"/>
              <a:t>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사용했을 때 얼마나 놀라운 지를 나타냅니다</a:t>
            </a:r>
            <a:endParaRPr kumimoji="1" lang="en-US" altLang="ko-KR" dirty="0"/>
          </a:p>
          <a:p>
            <a:r>
              <a:rPr kumimoji="1" lang="en-US" altLang="ko-KR" dirty="0"/>
              <a:t>P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q</a:t>
            </a:r>
            <a:r>
              <a:rPr kumimoji="1" lang="ko-KR" altLang="en-US" dirty="0"/>
              <a:t>와 같을 때만 두 값은 같아지며 </a:t>
            </a:r>
            <a:r>
              <a:rPr kumimoji="1" lang="en-US" altLang="ko-KR" dirty="0"/>
              <a:t>q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p</a:t>
            </a:r>
            <a:r>
              <a:rPr kumimoji="1" lang="ko-KR" altLang="en-US" dirty="0"/>
              <a:t>가 다를 때는 분포가 다르니까 당연히 크로스 엔트로피가 엔트로피보다 큽니다</a:t>
            </a:r>
            <a:endParaRPr kumimoji="1" lang="en-US" altLang="ko-KR" dirty="0"/>
          </a:p>
          <a:p>
            <a:r>
              <a:rPr kumimoji="1" lang="ko-KR" altLang="en-US" dirty="0"/>
              <a:t>따라서 </a:t>
            </a:r>
            <a:r>
              <a:rPr kumimoji="1" lang="en-US" altLang="ko-KR" dirty="0"/>
              <a:t>kl divergence </a:t>
            </a:r>
            <a:r>
              <a:rPr kumimoji="1" lang="ko-KR" altLang="en-US" dirty="0"/>
              <a:t>식은 </a:t>
            </a:r>
            <a:r>
              <a:rPr kumimoji="1" lang="en-US" altLang="ko-KR" dirty="0"/>
              <a:t>q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p</a:t>
            </a:r>
            <a:r>
              <a:rPr kumimoji="1" lang="ko-KR" altLang="en-US" dirty="0"/>
              <a:t>의 분포가 다르면 값이 커지므로 </a:t>
            </a:r>
            <a:r>
              <a:rPr kumimoji="1" lang="en-US" altLang="ko-KR" dirty="0"/>
              <a:t>, </a:t>
            </a:r>
            <a:r>
              <a:rPr kumimoji="1" lang="ko-KR" altLang="en-US" dirty="0"/>
              <a:t>두 분포가 얼마나 </a:t>
            </a:r>
            <a:r>
              <a:rPr kumimoji="1" lang="ko-KR" altLang="en-US" dirty="0" err="1"/>
              <a:t>다른가</a:t>
            </a:r>
            <a:r>
              <a:rPr kumimoji="1" lang="ko-KR" altLang="en-US" dirty="0"/>
              <a:t> 정도를 나타냅니다 </a:t>
            </a:r>
            <a:endParaRPr kumimoji="1" lang="en-US" altLang="ko-KR" dirty="0"/>
          </a:p>
          <a:p>
            <a:r>
              <a:rPr kumimoji="1" lang="ko-KR" altLang="en-US" dirty="0"/>
              <a:t>그래서 아까 언어모델에서 </a:t>
            </a:r>
            <a:r>
              <a:rPr kumimoji="1" lang="en-US" altLang="ko-KR" dirty="0"/>
              <a:t>kl divergence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다시 가져오면 </a:t>
            </a:r>
            <a:r>
              <a:rPr kumimoji="1" lang="en-US" altLang="ko-KR" dirty="0" err="1"/>
              <a:t>rl</a:t>
            </a:r>
            <a:r>
              <a:rPr kumimoji="1" lang="ko-KR" altLang="en-US" dirty="0"/>
              <a:t>분포에 대한 </a:t>
            </a:r>
            <a:r>
              <a:rPr kumimoji="1" lang="en-US" altLang="ko-KR" dirty="0"/>
              <a:t>pt </a:t>
            </a:r>
            <a:r>
              <a:rPr kumimoji="1" lang="ko-KR" altLang="en-US" dirty="0"/>
              <a:t>모델을 사용하였을 때 엔트로피인데 </a:t>
            </a:r>
            <a:endParaRPr kumimoji="1" lang="en-US" altLang="ko-KR" dirty="0"/>
          </a:p>
          <a:p>
            <a:r>
              <a:rPr kumimoji="1" lang="ko-KR" altLang="en-US" dirty="0"/>
              <a:t>이는 그림에서 보시는 것처럼 </a:t>
            </a:r>
            <a:r>
              <a:rPr kumimoji="1" lang="en-US" altLang="ko-KR" dirty="0"/>
              <a:t>p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q</a:t>
            </a:r>
            <a:r>
              <a:rPr kumimoji="1" lang="ko-KR" altLang="en-US" dirty="0"/>
              <a:t>보다 클수록 </a:t>
            </a:r>
            <a:r>
              <a:rPr kumimoji="1" lang="en-US" altLang="ko-KR" dirty="0"/>
              <a:t>kl</a:t>
            </a:r>
            <a:r>
              <a:rPr kumimoji="1" lang="ko-KR" altLang="en-US" dirty="0"/>
              <a:t>이 더 크므로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학습 대상이 </a:t>
            </a:r>
            <a:r>
              <a:rPr kumimoji="1" lang="en-US" altLang="ko-KR" dirty="0"/>
              <a:t>pt</a:t>
            </a:r>
            <a:r>
              <a:rPr kumimoji="1" lang="ko-KR" altLang="en-US" dirty="0"/>
              <a:t>보다 확률 값이 클수록 처벌이 크게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이는 </a:t>
            </a:r>
            <a:r>
              <a:rPr kumimoji="1" lang="en-US" altLang="ko-KR" dirty="0"/>
              <a:t>reward hacking</a:t>
            </a:r>
            <a:r>
              <a:rPr kumimoji="1" lang="ko-KR" altLang="en-US" dirty="0"/>
              <a:t>을 방지하고 기존 모델의 분포에서 벗어나지 않게 해줍니다</a:t>
            </a:r>
          </a:p>
        </p:txBody>
      </p:sp>
    </p:spTree>
    <p:extLst>
      <p:ext uri="{BB962C8B-B14F-4D97-AF65-F5344CB8AC3E}">
        <p14:creationId xmlns:p14="http://schemas.microsoft.com/office/powerpoint/2010/main" val="249445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050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722B-6943-E726-D31E-EA8F60AB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758DC0-8BC9-80F1-A96B-9ACCDDF47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2CDD8A-DF25-681E-56D8-1F76C428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895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2483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하지만 이러한 방식에는 </a:t>
            </a:r>
            <a:r>
              <a:rPr kumimoji="1" lang="en-US" altLang="ko-KR" dirty="0"/>
              <a:t>reward model</a:t>
            </a:r>
            <a:r>
              <a:rPr kumimoji="1" lang="ko-KR" altLang="en-US" dirty="0"/>
              <a:t>을 따로 학습시키고 그를 기반으로 </a:t>
            </a:r>
            <a:r>
              <a:rPr kumimoji="1" lang="en-US" altLang="ko-KR" dirty="0" err="1"/>
              <a:t>rlhf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진행하는 특징이 있습니다</a:t>
            </a:r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158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하지만 여기서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식을 학습 대상 모델에 대한 식으로 나타낸다면</a:t>
            </a:r>
            <a:r>
              <a:rPr kumimoji="1" lang="en-US" altLang="ko-KR" dirty="0"/>
              <a:t>? </a:t>
            </a:r>
            <a:r>
              <a:rPr kumimoji="1" lang="ko-KR" altLang="en-US" dirty="0"/>
              <a:t>우리는 파이를 학습할 필요가 없고 학습 대상인 </a:t>
            </a:r>
            <a:r>
              <a:rPr kumimoji="1" lang="ko-KR" altLang="en-US" dirty="0" err="1"/>
              <a:t>쎄타만</a:t>
            </a:r>
            <a:r>
              <a:rPr kumimoji="1" lang="ko-KR" altLang="en-US" dirty="0"/>
              <a:t> 학습하면 되게 됩니다</a:t>
            </a:r>
            <a:endParaRPr kumimoji="1" lang="en-US" altLang="ko-KR" dirty="0"/>
          </a:p>
          <a:p>
            <a:r>
              <a:rPr kumimoji="1" lang="ko-KR" altLang="en-US" dirty="0"/>
              <a:t>이것이 어떻게 가능할까요</a:t>
            </a:r>
            <a:r>
              <a:rPr kumimoji="1" lang="en-US" altLang="ko-KR" dirty="0"/>
              <a:t>?</a:t>
            </a:r>
          </a:p>
          <a:p>
            <a:r>
              <a:rPr kumimoji="1" lang="ko-KR" altLang="en-US" dirty="0"/>
              <a:t>이렇게 되면 파이가 되는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을 식에서 </a:t>
            </a:r>
            <a:r>
              <a:rPr kumimoji="1" lang="ko-KR" altLang="en-US" dirty="0" err="1"/>
              <a:t>없애버림으로써</a:t>
            </a:r>
            <a:r>
              <a:rPr kumimoji="1" lang="ko-KR" altLang="en-US" dirty="0"/>
              <a:t>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이 사라지기를 기대할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endParaRPr kumimoji="1" lang="en-US" altLang="ko-KR" dirty="0"/>
          </a:p>
          <a:p>
            <a:r>
              <a:rPr kumimoji="1" lang="en-US" altLang="ko-KR" dirty="0"/>
              <a:t>Rm</a:t>
            </a:r>
            <a:r>
              <a:rPr kumimoji="1" lang="ko-KR" altLang="en-US" dirty="0"/>
              <a:t>을 우리가 알고 있는 </a:t>
            </a:r>
            <a:r>
              <a:rPr kumimoji="1" lang="en-US" altLang="ko-KR" dirty="0"/>
              <a:t>Language model</a:t>
            </a:r>
            <a:r>
              <a:rPr kumimoji="1" lang="ko-KR" altLang="en-US" dirty="0"/>
              <a:t>로 표현하는 것이죠 </a:t>
            </a:r>
            <a:endParaRPr kumimoji="1" lang="en-US" altLang="ko-KR" dirty="0"/>
          </a:p>
          <a:p>
            <a:r>
              <a:rPr kumimoji="1" lang="ko-KR" altLang="en-US" dirty="0"/>
              <a:t>우리의 언어 모델이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이라면 언어모델을 바로 학습한다면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없이고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rl</a:t>
            </a:r>
            <a:r>
              <a:rPr kumimoji="1" lang="ko-KR" altLang="en-US" dirty="0"/>
              <a:t>을 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있을 것입니다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우리의 언어 모델은 가장 적절한 답을 생성하지 않습니다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이를 컨트롤하여서 사람이 선호하는 답과 비교할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있게 기대를 </a:t>
            </a:r>
            <a:r>
              <a:rPr kumimoji="1" lang="ko-KR" altLang="en-US" dirty="0" err="1"/>
              <a:t>해야하죠</a:t>
            </a:r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677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51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8160-7610-774A-3D8F-4C8A4559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49B076-CCB7-8148-8FEF-21275E4AE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2CBB4-EA1E-4B76-CEC5-E3082BCB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이렇게 식을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있으므로 식이 최적이 되기 위해서는 파이는 </a:t>
            </a:r>
            <a:r>
              <a:rPr kumimoji="1" lang="ko-KR" altLang="en-US" dirty="0" err="1"/>
              <a:t>파이스타랑</a:t>
            </a:r>
            <a:r>
              <a:rPr kumimoji="1" lang="ko-KR" altLang="en-US" dirty="0"/>
              <a:t> 같아야 합니다</a:t>
            </a:r>
          </a:p>
        </p:txBody>
      </p:sp>
    </p:spTree>
    <p:extLst>
      <p:ext uri="{BB962C8B-B14F-4D97-AF65-F5344CB8AC3E}">
        <p14:creationId xmlns:p14="http://schemas.microsoft.com/office/powerpoint/2010/main" val="2656906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이는 </a:t>
            </a:r>
            <a:r>
              <a:rPr kumimoji="1" lang="en-US" altLang="ko-KR" dirty="0"/>
              <a:t>y1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y2</a:t>
            </a:r>
            <a:r>
              <a:rPr kumimoji="1" lang="ko-KR" altLang="en-US" dirty="0"/>
              <a:t>보다 </a:t>
            </a:r>
            <a:r>
              <a:rPr kumimoji="1" lang="ko-KR" altLang="en-US" dirty="0" err="1"/>
              <a:t>크게하기</a:t>
            </a:r>
            <a:r>
              <a:rPr kumimoji="1" lang="ko-KR" altLang="en-US" dirty="0"/>
              <a:t> 위해서는 이</a:t>
            </a:r>
            <a:r>
              <a:rPr kumimoji="1" lang="en-US" altLang="ko-KR" dirty="0"/>
              <a:t> </a:t>
            </a:r>
            <a:r>
              <a:rPr kumimoji="1" lang="ko-KR" altLang="en-US" dirty="0"/>
              <a:t>값을 크게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해야한다는게</a:t>
            </a:r>
            <a:r>
              <a:rPr kumimoji="1" lang="ko-KR" altLang="en-US" dirty="0"/>
              <a:t> 되는 것이고 그것이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loss</a:t>
            </a:r>
            <a:r>
              <a:rPr kumimoji="1" lang="ko-KR" altLang="en-US" dirty="0"/>
              <a:t>가 되는 것입니다</a:t>
            </a:r>
            <a:endParaRPr kumimoji="1" lang="en-US" altLang="ko-KR" dirty="0"/>
          </a:p>
          <a:p>
            <a:r>
              <a:rPr kumimoji="1" lang="ko-KR" altLang="en-US" dirty="0"/>
              <a:t>여기서 스타를 없애고 일반적인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로 대체하게 되면 </a:t>
            </a:r>
            <a:r>
              <a:rPr kumimoji="1" lang="en-US" altLang="ko-KR" dirty="0" err="1"/>
              <a:t>dpo</a:t>
            </a:r>
            <a:r>
              <a:rPr kumimoji="1" lang="en-US" altLang="ko-KR" dirty="0"/>
              <a:t> loss</a:t>
            </a:r>
            <a:r>
              <a:rPr kumimoji="1" lang="ko-KR" altLang="en-US" dirty="0"/>
              <a:t>가 되는 것이죠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어떤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대하여 </a:t>
            </a:r>
            <a:r>
              <a:rPr kumimoji="1" lang="en-US" altLang="ko-KR" dirty="0"/>
              <a:t>y1</a:t>
            </a:r>
            <a:r>
              <a:rPr kumimoji="1" lang="ko-KR" altLang="en-US" dirty="0"/>
              <a:t>보다 </a:t>
            </a:r>
            <a:r>
              <a:rPr kumimoji="1" lang="en-US" altLang="ko-KR" dirty="0"/>
              <a:t>y2</a:t>
            </a:r>
            <a:r>
              <a:rPr kumimoji="1" lang="ko-KR" altLang="en-US" dirty="0"/>
              <a:t>의 확률을 </a:t>
            </a:r>
            <a:r>
              <a:rPr kumimoji="1" lang="ko-KR" altLang="en-US" dirty="0" err="1"/>
              <a:t>높히고</a:t>
            </a:r>
            <a:r>
              <a:rPr kumimoji="1" lang="ko-KR" altLang="en-US" dirty="0"/>
              <a:t> 싶으면 이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값을 </a:t>
            </a:r>
            <a:r>
              <a:rPr kumimoji="1" lang="ko-KR" altLang="en-US" dirty="0" err="1"/>
              <a:t>높히면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되는거죠</a:t>
            </a:r>
            <a:r>
              <a:rPr kumimoji="1" lang="en-US" altLang="ko-KR" dirty="0"/>
              <a:t>.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의 식이 되는 것입니다</a:t>
            </a:r>
            <a:r>
              <a:rPr kumimoji="1" lang="en-US" altLang="ko-KR" dirty="0"/>
              <a:t>.  </a:t>
            </a:r>
          </a:p>
          <a:p>
            <a:r>
              <a:rPr kumimoji="1" lang="en-US" altLang="ko-KR" dirty="0"/>
              <a:t>Reward model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식을 제거하고 최적화 식을 얻기 위한 전개였습니다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결국 어떤 </a:t>
            </a:r>
            <a:r>
              <a:rPr kumimoji="1" lang="en-US" altLang="ko-KR" dirty="0" err="1"/>
              <a:t>Lm</a:t>
            </a:r>
            <a:r>
              <a:rPr kumimoji="1" lang="ko-KR" altLang="en-US" dirty="0" err="1"/>
              <a:t>이든간에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식으로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있고 </a:t>
            </a:r>
            <a:r>
              <a:rPr kumimoji="1" lang="en-US" altLang="ko-KR" dirty="0"/>
              <a:t>implicit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이기 때문에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을 제거하고 </a:t>
            </a:r>
            <a:r>
              <a:rPr kumimoji="1" lang="en-US" altLang="ko-KR" dirty="0" err="1"/>
              <a:t>lm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식으로만 나타내어 최적화 할</a:t>
            </a:r>
            <a:r>
              <a:rPr kumimoji="1" lang="en-US" altLang="ko-KR" dirty="0"/>
              <a:t> </a:t>
            </a:r>
            <a:r>
              <a:rPr kumimoji="1" lang="ko-KR" altLang="en-US" dirty="0"/>
              <a:t>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403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첫번째 식에 대한 설명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우리는 </a:t>
            </a:r>
            <a:r>
              <a:rPr kumimoji="1" lang="en-US" altLang="ko-KR" dirty="0"/>
              <a:t>reward </a:t>
            </a:r>
            <a:r>
              <a:rPr kumimoji="1" lang="ko-KR" altLang="en-US" dirty="0"/>
              <a:t>최대화 거리 </a:t>
            </a:r>
            <a:r>
              <a:rPr kumimoji="1" lang="ko-KR" altLang="en-US" dirty="0" err="1"/>
              <a:t>최소화하는게</a:t>
            </a:r>
            <a:r>
              <a:rPr kumimoji="1" lang="ko-KR" altLang="en-US" dirty="0"/>
              <a:t> 목표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이때 </a:t>
            </a:r>
            <a:r>
              <a:rPr kumimoji="1" lang="en-US" altLang="ko-KR" dirty="0"/>
              <a:t>reward </a:t>
            </a:r>
            <a:r>
              <a:rPr kumimoji="1" lang="ko-KR" altLang="en-US" dirty="0"/>
              <a:t>모델을 우리 </a:t>
            </a:r>
            <a:r>
              <a:rPr kumimoji="1" lang="en-US" altLang="ko-KR" dirty="0" err="1"/>
              <a:t>lm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만들어서 식을 변형할 것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Appendix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있어서 시간이 허락하면 다룰 것인데 첫번째 식을 </a:t>
            </a:r>
            <a:r>
              <a:rPr kumimoji="1" lang="ko-KR" altLang="en-US" dirty="0" err="1"/>
              <a:t>전개하다보면</a:t>
            </a:r>
            <a:r>
              <a:rPr kumimoji="1" lang="ko-KR" altLang="en-US" dirty="0"/>
              <a:t> </a:t>
            </a:r>
            <a:r>
              <a:rPr kumimoji="1" lang="en-US" altLang="ko-KR" dirty="0"/>
              <a:t>p*</a:t>
            </a:r>
            <a:r>
              <a:rPr kumimoji="1" lang="ko-KR" altLang="en-US" dirty="0"/>
              <a:t>는 다음과 같은 식으로 정의할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이는 </a:t>
            </a:r>
            <a:r>
              <a:rPr kumimoji="1" lang="en-US" altLang="ko-KR" dirty="0"/>
              <a:t>pretrained</a:t>
            </a:r>
            <a:r>
              <a:rPr kumimoji="1" lang="ko-KR" altLang="en-US" dirty="0"/>
              <a:t>된 확률을 </a:t>
            </a:r>
            <a:r>
              <a:rPr kumimoji="1" lang="en-US" altLang="ko-KR" dirty="0"/>
              <a:t>reweight</a:t>
            </a:r>
            <a:r>
              <a:rPr kumimoji="1" lang="ko-KR" altLang="en-US" dirty="0"/>
              <a:t>하는 것인데 </a:t>
            </a:r>
            <a:r>
              <a:rPr kumimoji="1" lang="en-US" altLang="ko-KR" dirty="0"/>
              <a:t>expected rm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reweight</a:t>
            </a:r>
            <a:r>
              <a:rPr kumimoji="1" lang="ko-KR" altLang="en-US" dirty="0"/>
              <a:t>하는 것이죠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p*</a:t>
            </a:r>
            <a:r>
              <a:rPr kumimoji="1" lang="ko-KR" altLang="en-US" dirty="0"/>
              <a:t>는 일종의 확률 분포라고 해석할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있는데</a:t>
            </a:r>
            <a:endParaRPr kumimoji="1" lang="en-US" altLang="ko-KR" dirty="0"/>
          </a:p>
          <a:p>
            <a:r>
              <a:rPr kumimoji="1" lang="ko-KR" altLang="en-US" dirty="0"/>
              <a:t>기존 모델의 </a:t>
            </a:r>
            <a:r>
              <a:rPr kumimoji="1" lang="en-US" altLang="ko-KR" dirty="0"/>
              <a:t>reward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expected value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할</a:t>
            </a:r>
            <a:r>
              <a:rPr kumimoji="1" lang="en-US" altLang="ko-KR" dirty="0"/>
              <a:t> </a:t>
            </a:r>
            <a:r>
              <a:rPr kumimoji="1" lang="ko-KR" altLang="en-US" dirty="0"/>
              <a:t>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결국 한 언어모델을 일종의 기대 </a:t>
            </a:r>
            <a:r>
              <a:rPr kumimoji="1" lang="en-US" altLang="ko-KR" dirty="0"/>
              <a:t>reward</a:t>
            </a:r>
            <a:r>
              <a:rPr kumimoji="1" lang="ko-KR" altLang="en-US" dirty="0"/>
              <a:t>로 볼</a:t>
            </a:r>
            <a:r>
              <a:rPr kumimoji="1" lang="en-US" altLang="ko-KR" dirty="0"/>
              <a:t> </a:t>
            </a:r>
            <a:r>
              <a:rPr kumimoji="1" lang="ko-KR" altLang="en-US" dirty="0"/>
              <a:t>수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있는거죠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두번째 식을 세번째로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넘기면 다음과 같은 식이 되는데요 </a:t>
            </a:r>
            <a:endParaRPr kumimoji="1" lang="en-US" altLang="ko-KR" dirty="0"/>
          </a:p>
          <a:p>
            <a:r>
              <a:rPr kumimoji="1" lang="ko-KR" altLang="en-US" dirty="0"/>
              <a:t>세번째 식은</a:t>
            </a:r>
            <a:r>
              <a:rPr kumimoji="1" lang="en-US" altLang="ko-KR" dirty="0"/>
              <a:t>. Rm</a:t>
            </a:r>
            <a:r>
              <a:rPr kumimoji="1" lang="ko-KR" altLang="en-US" dirty="0"/>
              <a:t>을 임의의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식으로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있다는 것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이는 이해하기 어려울 수</a:t>
            </a:r>
            <a:r>
              <a:rPr kumimoji="1" lang="en-US" altLang="ko-KR" dirty="0"/>
              <a:t>. </a:t>
            </a:r>
            <a:r>
              <a:rPr kumimoji="1" lang="ko-KR" altLang="en-US" dirty="0"/>
              <a:t>있는데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식을 </a:t>
            </a:r>
            <a:r>
              <a:rPr kumimoji="1" lang="en-US" altLang="ko-KR" dirty="0" err="1"/>
              <a:t>lm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식으로 나타냄으로써 자기 자신의 언어모델이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이 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있음을 시사</a:t>
            </a:r>
            <a:r>
              <a:rPr kumimoji="1" lang="en-US" altLang="ko-KR" dirty="0"/>
              <a:t>. (</a:t>
            </a:r>
            <a:r>
              <a:rPr kumimoji="1" lang="ko-KR" altLang="en-US" dirty="0"/>
              <a:t>모든 </a:t>
            </a:r>
            <a:r>
              <a:rPr kumimoji="1" lang="en-US" altLang="ko-KR" dirty="0"/>
              <a:t>p*, 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성립하기에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Optimal</a:t>
            </a:r>
            <a:r>
              <a:rPr kumimoji="1" lang="ko-KR" altLang="en-US" dirty="0"/>
              <a:t>한 것을 이야기하는 것이 아닌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모든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이 </a:t>
            </a:r>
            <a:r>
              <a:rPr kumimoji="1" lang="en-US" altLang="ko-KR" dirty="0" err="1"/>
              <a:t>lm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있음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 </a:t>
            </a:r>
            <a:r>
              <a:rPr kumimoji="1" lang="en-US" altLang="ko-KR" dirty="0"/>
              <a:t>p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은 동일한 파라미터를 가지게 설정할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2</a:t>
            </a:r>
            <a:r>
              <a:rPr kumimoji="1" lang="ko-KR" altLang="en-US" dirty="0"/>
              <a:t>줄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여기서 시사하는 바는</a:t>
            </a:r>
            <a:r>
              <a:rPr kumimoji="1" lang="en-US" altLang="ko-KR" dirty="0"/>
              <a:t>. </a:t>
            </a:r>
            <a:r>
              <a:rPr kumimoji="1" lang="ko-KR" altLang="en-US" dirty="0"/>
              <a:t>언어모델을 </a:t>
            </a:r>
            <a:r>
              <a:rPr kumimoji="1" lang="en-US" altLang="ko-KR" dirty="0"/>
              <a:t>rm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식으로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있다</a:t>
            </a:r>
            <a:r>
              <a:rPr kumimoji="1" lang="en-US" altLang="ko-KR" dirty="0"/>
              <a:t>.- </a:t>
            </a:r>
            <a:r>
              <a:rPr kumimoji="1" lang="ko-KR" altLang="en-US" dirty="0"/>
              <a:t>언어 모델은 </a:t>
            </a:r>
            <a:r>
              <a:rPr kumimoji="1" lang="en-US" altLang="ko-KR" dirty="0"/>
              <a:t>implicit reward model</a:t>
            </a:r>
            <a:r>
              <a:rPr kumimoji="1" lang="ko-KR" altLang="en-US" dirty="0"/>
              <a:t>이다는 것입니다</a:t>
            </a:r>
            <a:endParaRPr kumimoji="1" lang="en-US" altLang="ko-KR" dirty="0"/>
          </a:p>
          <a:p>
            <a:r>
              <a:rPr kumimoji="1" lang="en-US" altLang="ko-KR" dirty="0"/>
              <a:t>3</a:t>
            </a:r>
            <a:r>
              <a:rPr kumimoji="1" lang="ko-KR" altLang="en-US" dirty="0"/>
              <a:t>줄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그리고 이 </a:t>
            </a:r>
            <a:r>
              <a:rPr kumimoji="1" lang="en-US" altLang="ko-KR" dirty="0"/>
              <a:t>reward</a:t>
            </a:r>
            <a:r>
              <a:rPr kumimoji="1" lang="ko-KR" altLang="en-US" dirty="0"/>
              <a:t>는 언어모델에 대한 식으로 나타낼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있죠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이는 독자적인 어떤 </a:t>
            </a:r>
            <a:r>
              <a:rPr kumimoji="1" lang="en-US" altLang="ko-KR" dirty="0"/>
              <a:t>rm</a:t>
            </a:r>
            <a:r>
              <a:rPr kumimoji="1" lang="ko-KR" altLang="en-US" dirty="0"/>
              <a:t>을 표현할 때</a:t>
            </a:r>
            <a:r>
              <a:rPr kumimoji="1" lang="en-US" altLang="ko-KR" dirty="0"/>
              <a:t>. </a:t>
            </a:r>
            <a:r>
              <a:rPr kumimoji="1" lang="ko-KR" altLang="en-US" dirty="0"/>
              <a:t>어떤 언어모델로 표현할 수 있기 때문에 결국 학습대상인 </a:t>
            </a:r>
            <a:r>
              <a:rPr kumimoji="1" lang="ko-KR" altLang="en-US" dirty="0" err="1"/>
              <a:t>쎄타에</a:t>
            </a:r>
            <a:r>
              <a:rPr kumimoji="1" lang="ko-KR" altLang="en-US" dirty="0"/>
              <a:t> 대해서도 표현할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있고 그러면 리워드는 </a:t>
            </a:r>
            <a:r>
              <a:rPr kumimoji="1" lang="en-US" altLang="ko-KR" dirty="0"/>
              <a:t>reward theta</a:t>
            </a:r>
            <a:r>
              <a:rPr kumimoji="1" lang="ko-KR" altLang="en-US" dirty="0"/>
              <a:t>가 되겠죠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363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325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en-US" altLang="ko-KR" dirty="0"/>
              <a:t>L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w</a:t>
            </a:r>
            <a:r>
              <a:rPr kumimoji="1" lang="ko-KR" altLang="en-US" dirty="0"/>
              <a:t>보다 크다면 학습을 촉진시키고</a:t>
            </a:r>
            <a:endParaRPr kumimoji="1" lang="en-US" altLang="ko-KR" dirty="0"/>
          </a:p>
          <a:p>
            <a:r>
              <a:rPr kumimoji="1" lang="ko-KR" altLang="en-US" dirty="0"/>
              <a:t>이는 너무 선호하는 쪽으로 </a:t>
            </a:r>
            <a:r>
              <a:rPr kumimoji="1" lang="en-US" altLang="ko-KR" dirty="0"/>
              <a:t>likelihood</a:t>
            </a:r>
            <a:r>
              <a:rPr kumimoji="1" lang="ko-KR" altLang="en-US" dirty="0"/>
              <a:t>가 치우치지 않게 </a:t>
            </a:r>
            <a:r>
              <a:rPr kumimoji="1" lang="en-US" altLang="ko-KR" dirty="0"/>
              <a:t>overfitting</a:t>
            </a:r>
            <a:r>
              <a:rPr kumimoji="1" lang="ko-KR" altLang="en-US" dirty="0"/>
              <a:t>을 방지한다고 해석할 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4883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전반적으로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가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보다 우수한 성능을 보이지만 어떤 </a:t>
            </a:r>
            <a:r>
              <a:rPr kumimoji="1" lang="en-US" altLang="ko-KR" dirty="0"/>
              <a:t>domain</a:t>
            </a:r>
            <a:r>
              <a:rPr kumimoji="1" lang="ko-KR" altLang="en-US" dirty="0"/>
              <a:t>에서는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가 더</a:t>
            </a:r>
            <a:r>
              <a:rPr kumimoji="1" lang="en-US" altLang="ko-KR" dirty="0"/>
              <a:t> </a:t>
            </a:r>
            <a:r>
              <a:rPr kumimoji="1" lang="ko-KR" altLang="en-US" dirty="0"/>
              <a:t>괜찮기도 하다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439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이거는 조금 어려운 실험인데 간단하게 설명하면</a:t>
            </a:r>
            <a:r>
              <a:rPr kumimoji="1" lang="en-US" altLang="ko-KR" dirty="0"/>
              <a:t> prompt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response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8</a:t>
            </a:r>
            <a:r>
              <a:rPr kumimoji="1" lang="ko-KR" altLang="en-US" dirty="0"/>
              <a:t>개로 나누고 </a:t>
            </a:r>
            <a:r>
              <a:rPr kumimoji="1" lang="en-US" altLang="ko-KR" dirty="0"/>
              <a:t>prompt, response</a:t>
            </a:r>
            <a:r>
              <a:rPr kumimoji="1" lang="ko-KR" altLang="en-US" dirty="0"/>
              <a:t>가 각 </a:t>
            </a:r>
            <a:r>
              <a:rPr kumimoji="1" lang="en-US" altLang="ko-KR" dirty="0"/>
              <a:t>index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대응되게 합니다</a:t>
            </a:r>
            <a:endParaRPr kumimoji="1" lang="en-US" altLang="ko-KR" dirty="0"/>
          </a:p>
          <a:p>
            <a:r>
              <a:rPr kumimoji="1" lang="ko-KR" altLang="en-US" dirty="0"/>
              <a:t>그러니까 왼쪽의 각 </a:t>
            </a:r>
            <a:r>
              <a:rPr kumimoji="1" lang="en-US" altLang="ko-KR" dirty="0"/>
              <a:t>prompt</a:t>
            </a:r>
            <a:r>
              <a:rPr kumimoji="1" lang="ko-KR" altLang="en-US" dirty="0"/>
              <a:t>는 대각선 </a:t>
            </a:r>
            <a:r>
              <a:rPr kumimoji="1" lang="en-US" altLang="ko-KR" dirty="0"/>
              <a:t>index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response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생성하기를 기대하는 것입니다</a:t>
            </a:r>
            <a:endParaRPr kumimoji="1" lang="en-US" altLang="ko-KR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1" lang="ko-KR" altLang="en-US" dirty="0"/>
              <a:t>모델은 간단한 </a:t>
            </a:r>
            <a:r>
              <a:rPr kumimoji="1" lang="en-US" altLang="ko-KR" dirty="0" err="1"/>
              <a:t>mlp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모델을 학습시켰습니다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여기 보시면 </a:t>
            </a:r>
            <a:r>
              <a:rPr kumimoji="1" lang="en-US" altLang="ko-KR" dirty="0" err="1"/>
              <a:t>sft</a:t>
            </a:r>
            <a:r>
              <a:rPr kumimoji="1" lang="ko-KR" altLang="en-US" dirty="0"/>
              <a:t>모델은 </a:t>
            </a:r>
            <a:r>
              <a:rPr kumimoji="1" lang="en-US" altLang="ko-KR" dirty="0" err="1"/>
              <a:t>ood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생성 경향이 있는데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에서 더 강해지며 </a:t>
            </a:r>
            <a:r>
              <a:rPr kumimoji="1" lang="en-US" altLang="ko-KR" dirty="0"/>
              <a:t>rm</a:t>
            </a:r>
            <a:r>
              <a:rPr kumimoji="1" lang="ko-KR" altLang="en-US" dirty="0"/>
              <a:t>도 그 선호도가 있습니다</a:t>
            </a:r>
            <a:endParaRPr kumimoji="1" lang="en-US" altLang="ko-KR" dirty="0"/>
          </a:p>
          <a:p>
            <a:r>
              <a:rPr kumimoji="1" lang="ko-KR" altLang="en-US" dirty="0"/>
              <a:t>그런데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에서 그 </a:t>
            </a:r>
            <a:r>
              <a:rPr kumimoji="1" lang="en-US" altLang="ko-KR" dirty="0" err="1"/>
              <a:t>ood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선호가 아예 </a:t>
            </a:r>
            <a:r>
              <a:rPr kumimoji="1" lang="en-US" altLang="ko-KR" dirty="0"/>
              <a:t>0</a:t>
            </a:r>
            <a:r>
              <a:rPr kumimoji="1" lang="ko-KR" altLang="en-US" dirty="0"/>
              <a:t>로 되었죠</a:t>
            </a:r>
            <a:endParaRPr kumimoji="1" lang="en-US" altLang="ko-KR" dirty="0"/>
          </a:p>
          <a:p>
            <a:r>
              <a:rPr kumimoji="1" lang="ko-KR" altLang="en-US" dirty="0"/>
              <a:t>이는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ood</a:t>
            </a:r>
            <a:r>
              <a:rPr kumimoji="1" lang="en-US" altLang="ko-KR" dirty="0"/>
              <a:t> response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en-US" altLang="ko-KR" dirty="0"/>
              <a:t>bias</a:t>
            </a:r>
            <a:r>
              <a:rPr kumimoji="1" lang="ko-KR" altLang="en-US" dirty="0"/>
              <a:t>가 있음을 나타냅니다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또 제 생각에는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의 가장 큰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차이중</a:t>
            </a:r>
            <a:r>
              <a:rPr kumimoji="1" lang="ko-KR" altLang="en-US" dirty="0"/>
              <a:t> 하나는 </a:t>
            </a:r>
            <a:r>
              <a:rPr kumimoji="1" lang="en-US" altLang="ko-KR" dirty="0"/>
              <a:t>learning </a:t>
            </a:r>
            <a:r>
              <a:rPr kumimoji="1" lang="ko-KR" altLang="en-US" dirty="0"/>
              <a:t>방법인데요</a:t>
            </a:r>
            <a:endParaRPr kumimoji="1" lang="en-US" altLang="ko-KR" dirty="0"/>
          </a:p>
          <a:p>
            <a:r>
              <a:rPr kumimoji="1" lang="ko-KR" altLang="en-US" dirty="0"/>
              <a:t>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online learning</a:t>
            </a:r>
            <a:r>
              <a:rPr kumimoji="1" lang="ko-KR" altLang="en-US" dirty="0"/>
              <a:t>이죠</a:t>
            </a:r>
            <a:r>
              <a:rPr kumimoji="1" lang="en-US" altLang="ko-KR" dirty="0"/>
              <a:t>. </a:t>
            </a:r>
            <a:r>
              <a:rPr kumimoji="1" lang="ko-KR" altLang="en-US" dirty="0"/>
              <a:t>각 토큰마다 </a:t>
            </a:r>
            <a:r>
              <a:rPr kumimoji="1" lang="en-US" altLang="ko-KR" dirty="0"/>
              <a:t>reward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탐색이 이루어지는 학습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그래서 그만큼 느린 것인데</a:t>
            </a:r>
            <a:endParaRPr kumimoji="1" lang="en-US" altLang="ko-KR" dirty="0"/>
          </a:p>
          <a:p>
            <a:r>
              <a:rPr kumimoji="1" lang="en-US" altLang="ko-KR" dirty="0" err="1"/>
              <a:t>Dpo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offline learning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이미 정해진 </a:t>
            </a:r>
            <a:r>
              <a:rPr kumimoji="1" lang="ko-KR" altLang="en-US" dirty="0" err="1"/>
              <a:t>셋트로</a:t>
            </a:r>
            <a:r>
              <a:rPr kumimoji="1" lang="ko-KR" altLang="en-US" dirty="0"/>
              <a:t> 학습을 </a:t>
            </a:r>
            <a:r>
              <a:rPr kumimoji="1" lang="ko-KR" altLang="en-US" dirty="0" err="1"/>
              <a:t>하는것이죠</a:t>
            </a:r>
            <a:r>
              <a:rPr kumimoji="1" lang="en-US" altLang="ko-KR" dirty="0"/>
              <a:t>. </a:t>
            </a:r>
            <a:r>
              <a:rPr kumimoji="1" lang="ko-KR" altLang="en-US" dirty="0"/>
              <a:t>따라서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exploration</a:t>
            </a:r>
            <a:r>
              <a:rPr kumimoji="1" lang="ko-KR" altLang="en-US" dirty="0"/>
              <a:t> 능력이 높으며</a:t>
            </a:r>
            <a:endParaRPr kumimoji="1" lang="en-US" altLang="ko-KR" dirty="0"/>
          </a:p>
          <a:p>
            <a:r>
              <a:rPr kumimoji="1" lang="ko-KR" altLang="en-US" dirty="0"/>
              <a:t>그에 따라 </a:t>
            </a:r>
            <a:r>
              <a:rPr kumimoji="1" lang="en-US" altLang="ko-KR" dirty="0"/>
              <a:t>generalization </a:t>
            </a:r>
            <a:r>
              <a:rPr kumimoji="1" lang="ko-KR" altLang="en-US" dirty="0"/>
              <a:t>능력도 높다고 생각합니다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하지만 자원이 한정된 상황에서는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가 훨씬 시간 비용이 </a:t>
            </a:r>
            <a:r>
              <a:rPr kumimoji="1" lang="en-US" altLang="ko-KR" dirty="0"/>
              <a:t>efficient</a:t>
            </a:r>
            <a:r>
              <a:rPr kumimoji="1" lang="ko-KR" altLang="en-US" dirty="0"/>
              <a:t>합니다</a:t>
            </a:r>
            <a:endParaRPr kumimoji="1" lang="en-US" altLang="ko-KR" dirty="0"/>
          </a:p>
          <a:p>
            <a:r>
              <a:rPr kumimoji="1" lang="ko-KR" altLang="en-US" dirty="0"/>
              <a:t>그리고 데이터 품질에 따라 결과에서 볼</a:t>
            </a:r>
            <a:r>
              <a:rPr kumimoji="1" lang="en-US" altLang="ko-KR" dirty="0"/>
              <a:t> </a:t>
            </a:r>
            <a:r>
              <a:rPr kumimoji="1" lang="ko-KR" altLang="en-US" dirty="0"/>
              <a:t>수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있듯이 </a:t>
            </a:r>
            <a:r>
              <a:rPr kumimoji="1" lang="en-US" altLang="ko-KR" dirty="0" err="1"/>
              <a:t>dpo</a:t>
            </a:r>
            <a:r>
              <a:rPr kumimoji="1" lang="ko-KR" altLang="en-US" dirty="0"/>
              <a:t>가 더 좋은 경우도 있기 때문에 상황에 맞게 잘</a:t>
            </a:r>
            <a:r>
              <a:rPr kumimoji="1" lang="en-US" altLang="ko-KR" dirty="0"/>
              <a:t> </a:t>
            </a:r>
            <a:r>
              <a:rPr kumimoji="1" lang="ko-KR" altLang="en-US" dirty="0"/>
              <a:t>선택하면 </a:t>
            </a:r>
            <a:r>
              <a:rPr kumimoji="1" lang="ko-KR" altLang="en-US" dirty="0" err="1"/>
              <a:t>될거</a:t>
            </a:r>
            <a:r>
              <a:rPr kumimoji="1" lang="ko-KR" altLang="en-US" dirty="0"/>
              <a:t> 같습니다</a:t>
            </a:r>
          </a:p>
        </p:txBody>
      </p:sp>
    </p:spTree>
    <p:extLst>
      <p:ext uri="{BB962C8B-B14F-4D97-AF65-F5344CB8AC3E}">
        <p14:creationId xmlns:p14="http://schemas.microsoft.com/office/powerpoint/2010/main" val="1196436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18682-8AE2-2DA9-0E1E-265CCACB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2C7EA2-8508-152E-FB7C-E8F3B1BA1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D23F1A-5A31-7BC3-3D61-811410F22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259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76151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72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로스에서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시그모이드</a:t>
            </a:r>
            <a:r>
              <a:rPr kumimoji="1" lang="ko-KR" altLang="en-US" dirty="0"/>
              <a:t> 왜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해주지</a:t>
            </a:r>
            <a:r>
              <a:rPr kumimoji="1" lang="en-US" altLang="ko-KR" dirty="0"/>
              <a:t>? -&gt;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422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7863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Deepseek</a:t>
            </a:r>
            <a:r>
              <a:rPr kumimoji="1" lang="en-US" altLang="ko-KR" dirty="0"/>
              <a:t> r1</a:t>
            </a:r>
            <a:r>
              <a:rPr kumimoji="1" lang="ko-KR" altLang="en-US" dirty="0"/>
              <a:t>이전의 버전인 </a:t>
            </a:r>
            <a:r>
              <a:rPr kumimoji="1" lang="en-US" altLang="ko-KR" dirty="0"/>
              <a:t>zero</a:t>
            </a:r>
            <a:r>
              <a:rPr kumimoji="1" lang="ko-KR" altLang="en-US" dirty="0"/>
              <a:t>는 다들 </a:t>
            </a:r>
            <a:r>
              <a:rPr kumimoji="1" lang="ko-KR" altLang="en-US" dirty="0" err="1"/>
              <a:t>아시다시피</a:t>
            </a:r>
            <a:r>
              <a:rPr kumimoji="1" lang="ko-KR" altLang="en-US" dirty="0"/>
              <a:t> </a:t>
            </a:r>
            <a:r>
              <a:rPr kumimoji="1" lang="en-US" altLang="ko-KR" dirty="0"/>
              <a:t>reward model</a:t>
            </a:r>
            <a:r>
              <a:rPr kumimoji="1" lang="ko-KR" altLang="en-US" dirty="0"/>
              <a:t>을 사용하지 않고 </a:t>
            </a:r>
            <a:r>
              <a:rPr kumimoji="1" lang="en-US" altLang="ko-KR" dirty="0"/>
              <a:t>rule based reward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사용하였습니다</a:t>
            </a:r>
            <a:endParaRPr kumimoji="1" lang="en-US" altLang="ko-KR" dirty="0"/>
          </a:p>
          <a:p>
            <a:r>
              <a:rPr kumimoji="1" lang="ko-KR" altLang="en-US" dirty="0"/>
              <a:t>바로 </a:t>
            </a:r>
            <a:r>
              <a:rPr kumimoji="1" lang="en-US" altLang="ko-KR" dirty="0"/>
              <a:t>accuracy reward. </a:t>
            </a:r>
            <a:r>
              <a:rPr kumimoji="1" lang="ko-KR" altLang="en-US" dirty="0"/>
              <a:t>답이 맞았느냐 틀렸느냐</a:t>
            </a:r>
            <a:r>
              <a:rPr kumimoji="1" lang="en-US" altLang="ko-KR" dirty="0"/>
              <a:t>, format reward. </a:t>
            </a:r>
            <a:r>
              <a:rPr kumimoji="1" lang="ko-KR" altLang="en-US" dirty="0"/>
              <a:t>원하는 </a:t>
            </a:r>
            <a:r>
              <a:rPr kumimoji="1" lang="en-US" altLang="ko-KR" dirty="0"/>
              <a:t>format </a:t>
            </a:r>
            <a:r>
              <a:rPr kumimoji="1" lang="ko-KR" altLang="en-US" dirty="0"/>
              <a:t>예를 들어 </a:t>
            </a:r>
            <a:r>
              <a:rPr kumimoji="1" lang="en-US" altLang="ko-KR" dirty="0"/>
              <a:t>&lt;think&gt; tag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잘</a:t>
            </a:r>
            <a:r>
              <a:rPr kumimoji="1" lang="en-US" altLang="ko-KR" dirty="0"/>
              <a:t> </a:t>
            </a:r>
            <a:r>
              <a:rPr kumimoji="1" lang="ko-KR" altLang="en-US" dirty="0"/>
              <a:t>지켰느냐 입니다</a:t>
            </a:r>
            <a:endParaRPr kumimoji="1" lang="en-US" altLang="ko-KR" dirty="0"/>
          </a:p>
          <a:p>
            <a:r>
              <a:rPr kumimoji="1" lang="ko-KR" altLang="en-US" dirty="0"/>
              <a:t>어떤 </a:t>
            </a:r>
            <a:r>
              <a:rPr kumimoji="1" lang="en-US" altLang="ko-KR" dirty="0"/>
              <a:t>SFT</a:t>
            </a:r>
            <a:r>
              <a:rPr kumimoji="1" lang="ko-KR" altLang="en-US" dirty="0"/>
              <a:t>도 적용하지 않고 이런 학습을 했는데 </a:t>
            </a:r>
            <a:r>
              <a:rPr kumimoji="1" lang="en-US" altLang="ko-KR" dirty="0"/>
              <a:t>step</a:t>
            </a:r>
            <a:r>
              <a:rPr kumimoji="1" lang="ko-KR" altLang="en-US" dirty="0"/>
              <a:t>이 늘어날수록 점점 성능이 높아지며 </a:t>
            </a:r>
            <a:r>
              <a:rPr kumimoji="1" lang="en-US" altLang="ko-KR" dirty="0"/>
              <a:t>o1</a:t>
            </a:r>
            <a:r>
              <a:rPr kumimoji="1" lang="ko-KR" altLang="en-US" dirty="0"/>
              <a:t>도 이기는 현상이 나타납니다</a:t>
            </a:r>
            <a:endParaRPr kumimoji="1" lang="en-US" altLang="ko-KR" dirty="0"/>
          </a:p>
          <a:p>
            <a:r>
              <a:rPr kumimoji="1" lang="ko-KR" altLang="en-US" dirty="0"/>
              <a:t>그리고 또 다른</a:t>
            </a:r>
            <a:r>
              <a:rPr kumimoji="1" lang="en-US" altLang="ko-KR" dirty="0"/>
              <a:t> </a:t>
            </a:r>
            <a:r>
              <a:rPr kumimoji="1" lang="ko-KR" altLang="en-US" dirty="0"/>
              <a:t>현상으로는 다른 대안을 찾는 </a:t>
            </a:r>
            <a:r>
              <a:rPr kumimoji="1" lang="en-US" altLang="ko-KR" dirty="0"/>
              <a:t>Exploration , </a:t>
            </a:r>
            <a:r>
              <a:rPr kumimoji="1" lang="ko-KR" altLang="en-US" dirty="0"/>
              <a:t>풀이 과정을 되돌아보는 </a:t>
            </a:r>
            <a:r>
              <a:rPr kumimoji="1" lang="en-US" altLang="ko-KR" dirty="0"/>
              <a:t>reflection </a:t>
            </a:r>
            <a:r>
              <a:rPr kumimoji="1" lang="ko-KR" altLang="en-US" dirty="0"/>
              <a:t>등 </a:t>
            </a:r>
            <a:r>
              <a:rPr kumimoji="1" lang="en-US" altLang="ko-KR" dirty="0"/>
              <a:t>complex task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풀기위해</a:t>
            </a:r>
            <a:endParaRPr kumimoji="1" lang="en-US" altLang="ko-KR" dirty="0"/>
          </a:p>
          <a:p>
            <a:r>
              <a:rPr kumimoji="1" lang="ko-KR" altLang="en-US" dirty="0"/>
              <a:t>다양한 경로를 생성해내는 것이 발견된 것이죠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하지만 한계로는 </a:t>
            </a:r>
            <a:r>
              <a:rPr kumimoji="1" lang="en-US" altLang="ko-KR" dirty="0"/>
              <a:t>language mixing</a:t>
            </a:r>
            <a:r>
              <a:rPr kumimoji="1" lang="ko-KR" altLang="en-US" dirty="0"/>
              <a:t>과 가독성 문제가 있습니다 </a:t>
            </a:r>
          </a:p>
        </p:txBody>
      </p:sp>
    </p:spTree>
    <p:extLst>
      <p:ext uri="{BB962C8B-B14F-4D97-AF65-F5344CB8AC3E}">
        <p14:creationId xmlns:p14="http://schemas.microsoft.com/office/powerpoint/2010/main" val="17433221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18B0-67C6-ADCD-ED9C-7115E0B3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224012-1E89-C399-9A58-DAA7CD17E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0F0216-34B2-5CD1-4397-C1F27B425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26155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868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Rejection sampling</a:t>
            </a:r>
            <a:r>
              <a:rPr kumimoji="1" lang="ko-KR" altLang="en-US" dirty="0"/>
              <a:t>을 시행합니다 </a:t>
            </a:r>
            <a:r>
              <a:rPr kumimoji="1" lang="en-US" altLang="ko-KR" dirty="0" err="1"/>
              <a:t>sft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있어서 </a:t>
            </a:r>
            <a:r>
              <a:rPr kumimoji="1" lang="en-US" altLang="ko-KR" dirty="0"/>
              <a:t>rejection sampling</a:t>
            </a:r>
            <a:r>
              <a:rPr kumimoji="1" lang="ko-KR" altLang="en-US" dirty="0"/>
              <a:t>이란</a:t>
            </a:r>
            <a:r>
              <a:rPr kumimoji="1" lang="en-US" altLang="ko-KR" dirty="0"/>
              <a:t>, </a:t>
            </a:r>
          </a:p>
          <a:p>
            <a:r>
              <a:rPr kumimoji="1" lang="ko-KR" altLang="en-US" dirty="0"/>
              <a:t>학습된 모델이 내뱉은 좋은 답변만 골라서 다시 학습하는 것을 의미하는데요 </a:t>
            </a:r>
            <a:endParaRPr kumimoji="1" lang="en-US" altLang="ko-KR" dirty="0"/>
          </a:p>
          <a:p>
            <a:r>
              <a:rPr kumimoji="1" lang="en-US" altLang="ko-KR" dirty="0"/>
              <a:t>Reasoning task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관해서는 </a:t>
            </a:r>
            <a:r>
              <a:rPr kumimoji="1" lang="en-US" altLang="ko-KR" dirty="0"/>
              <a:t>rule based</a:t>
            </a:r>
            <a:r>
              <a:rPr kumimoji="1" lang="ko-KR" altLang="en-US" dirty="0"/>
              <a:t>답변에 대해서는 정답을 맞힌 것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그리고 추가적인 </a:t>
            </a:r>
            <a:r>
              <a:rPr kumimoji="1" lang="en-US" altLang="ko-KR" dirty="0"/>
              <a:t>reasoning data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대해서는 </a:t>
            </a:r>
            <a:r>
              <a:rPr kumimoji="1" lang="en-US" altLang="ko-KR" dirty="0" err="1"/>
              <a:t>deepseek</a:t>
            </a:r>
            <a:r>
              <a:rPr kumimoji="1" lang="en-US" altLang="ko-KR" dirty="0"/>
              <a:t> v3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judge</a:t>
            </a:r>
            <a:r>
              <a:rPr kumimoji="1" lang="ko-KR" altLang="en-US" dirty="0"/>
              <a:t>로 활용하여 정답 여부를 판단합니다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그리고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Additional dataset</a:t>
            </a:r>
            <a:r>
              <a:rPr kumimoji="1" lang="ko-KR" altLang="en-US" dirty="0"/>
              <a:t>을 어디서 가져왔는지 등은 </a:t>
            </a:r>
            <a:r>
              <a:rPr kumimoji="1" lang="ko-KR" altLang="en-US" dirty="0" err="1"/>
              <a:t>안나와있음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57980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369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DC105-38D5-610E-1EEA-41A29729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CF1A4C-EA29-62A6-9869-85E4530B6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F6ED04-5904-8346-E39E-89E8E373F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719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en-US" altLang="ko-KR" dirty="0"/>
              <a:t>Old policy. </a:t>
            </a:r>
            <a:r>
              <a:rPr kumimoji="1" lang="ko-KR" altLang="en-US" dirty="0"/>
              <a:t>그니까 </a:t>
            </a:r>
            <a:r>
              <a:rPr kumimoji="1" lang="en-US" altLang="ko-KR" dirty="0"/>
              <a:t>reference </a:t>
            </a:r>
            <a:r>
              <a:rPr kumimoji="1" lang="ko-KR" altLang="en-US" dirty="0"/>
              <a:t>대상이 되는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trajectory, </a:t>
            </a:r>
            <a:r>
              <a:rPr kumimoji="1" lang="ko-KR" altLang="en-US" dirty="0"/>
              <a:t>그니까 문장을 생성하고 학습대상과 </a:t>
            </a:r>
            <a:r>
              <a:rPr kumimoji="1" lang="en-US" altLang="ko-KR" dirty="0"/>
              <a:t>ref </a:t>
            </a:r>
            <a:r>
              <a:rPr kumimoji="1" lang="ko-KR" altLang="en-US" dirty="0"/>
              <a:t>함수의 확률을 </a:t>
            </a:r>
            <a:r>
              <a:rPr kumimoji="1" lang="ko-KR" altLang="en-US" dirty="0" err="1"/>
              <a:t>곱한걸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가중치로하고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 </a:t>
            </a:r>
            <a:r>
              <a:rPr kumimoji="1" lang="en-US" altLang="ko-KR" dirty="0"/>
              <a:t>trajectory</a:t>
            </a:r>
            <a:r>
              <a:rPr kumimoji="1" lang="ko-KR" altLang="en-US" dirty="0"/>
              <a:t>의 가치평가를 한 것을 곱하고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왼쪽에 있는 것이 </a:t>
            </a:r>
            <a:r>
              <a:rPr kumimoji="1" lang="en-US" altLang="ko-KR" dirty="0"/>
              <a:t>reward term</a:t>
            </a:r>
            <a:r>
              <a:rPr kumimoji="1" lang="ko-KR" altLang="en-US" dirty="0"/>
              <a:t>이 </a:t>
            </a:r>
            <a:r>
              <a:rPr kumimoji="1" lang="ko-KR" altLang="en-US" dirty="0" err="1"/>
              <a:t>될것이고</a:t>
            </a:r>
            <a:r>
              <a:rPr kumimoji="1" lang="ko-KR" altLang="en-US" dirty="0"/>
              <a:t> 오른쪽이 최적화 대상인 </a:t>
            </a:r>
            <a:r>
              <a:rPr kumimoji="1" lang="en-US" altLang="ko-KR" dirty="0"/>
              <a:t>gradient</a:t>
            </a:r>
            <a:r>
              <a:rPr kumimoji="1" lang="ko-KR" altLang="en-US" dirty="0"/>
              <a:t>가 되는 것이죠 </a:t>
            </a:r>
            <a:r>
              <a:rPr kumimoji="1" lang="en-US" altLang="ko-KR" dirty="0"/>
              <a:t>. </a:t>
            </a:r>
            <a:r>
              <a:rPr kumimoji="1" lang="ko-KR" altLang="en-US" dirty="0"/>
              <a:t>왼쪽이 플러스이면 오른쪽도 플러스로 강화를 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마이너스면 마이너스로 확률을 줄입니다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이후의 </a:t>
            </a:r>
            <a:r>
              <a:rPr kumimoji="1" lang="en-US" altLang="ko-KR" dirty="0"/>
              <a:t>trajectory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R</a:t>
            </a:r>
            <a:r>
              <a:rPr kumimoji="1" lang="ko-KR" altLang="en-US" dirty="0"/>
              <a:t>에서 현재 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value </a:t>
            </a:r>
            <a:r>
              <a:rPr kumimoji="1" lang="ko-KR" altLang="en-US" dirty="0"/>
              <a:t>값을 빼서 </a:t>
            </a:r>
            <a:r>
              <a:rPr kumimoji="1" lang="en-US" altLang="ko-KR" dirty="0"/>
              <a:t>advantage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추정하는데 </a:t>
            </a:r>
            <a:endParaRPr kumimoji="1" lang="en-US" altLang="ko-KR" dirty="0"/>
          </a:p>
          <a:p>
            <a:r>
              <a:rPr kumimoji="1" lang="en-US" altLang="ko-KR" dirty="0"/>
              <a:t>R</a:t>
            </a:r>
            <a:r>
              <a:rPr kumimoji="1" lang="ko-KR" altLang="en-US" dirty="0"/>
              <a:t>은 이후의 </a:t>
            </a:r>
            <a:r>
              <a:rPr kumimoji="1" lang="en-US" altLang="ko-KR" dirty="0"/>
              <a:t>step</a:t>
            </a:r>
            <a:r>
              <a:rPr kumimoji="1" lang="ko-KR" altLang="en-US" dirty="0"/>
              <a:t>들에 대한 가치 평가이고 </a:t>
            </a:r>
            <a:r>
              <a:rPr kumimoji="1" lang="en-US" altLang="ko-KR" dirty="0"/>
              <a:t>, V</a:t>
            </a:r>
            <a:r>
              <a:rPr kumimoji="1" lang="ko-KR" altLang="en-US" dirty="0"/>
              <a:t>는 현재 </a:t>
            </a:r>
            <a:r>
              <a:rPr kumimoji="1" lang="en-US" altLang="ko-KR" dirty="0"/>
              <a:t>state</a:t>
            </a:r>
            <a:r>
              <a:rPr kumimoji="1" lang="ko-KR" altLang="en-US" dirty="0" err="1"/>
              <a:t>에대한</a:t>
            </a:r>
            <a:r>
              <a:rPr kumimoji="1" lang="ko-KR" altLang="en-US" dirty="0"/>
              <a:t> 가치 평가입니다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이렇게 </a:t>
            </a:r>
            <a:r>
              <a:rPr kumimoji="1" lang="en-US" altLang="ko-KR" dirty="0"/>
              <a:t>R-V</a:t>
            </a:r>
            <a:r>
              <a:rPr kumimoji="1" lang="ko-KR" altLang="en-US" dirty="0"/>
              <a:t>로 나타내는 이유는</a:t>
            </a:r>
            <a:endParaRPr kumimoji="1" lang="en-US" altLang="ko-KR" dirty="0"/>
          </a:p>
          <a:p>
            <a:r>
              <a:rPr kumimoji="1" lang="ko-KR" altLang="en-US" dirty="0"/>
              <a:t>강화학습 시간에 따로 배우겠지만 진동하는 </a:t>
            </a:r>
            <a:r>
              <a:rPr kumimoji="1" lang="en-US" altLang="ko-KR" dirty="0"/>
              <a:t>unstable</a:t>
            </a:r>
            <a:r>
              <a:rPr kumimoji="1" lang="ko-KR" altLang="en-US" dirty="0"/>
              <a:t>한 학습을 방지하기 </a:t>
            </a:r>
            <a:r>
              <a:rPr kumimoji="1" lang="ko-KR" altLang="en-US" dirty="0" err="1"/>
              <a:t>위함입니다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그런데 </a:t>
            </a:r>
            <a:r>
              <a:rPr kumimoji="1" lang="en-US" altLang="ko-KR" dirty="0" err="1"/>
              <a:t>ppo</a:t>
            </a:r>
            <a:r>
              <a:rPr kumimoji="1" lang="ko-KR" altLang="en-US" dirty="0"/>
              <a:t>는 이를 매스텝마다 합니다</a:t>
            </a:r>
            <a:endParaRPr kumimoji="1" lang="en-US" altLang="ko-KR" dirty="0"/>
          </a:p>
          <a:p>
            <a:r>
              <a:rPr kumimoji="1" lang="ko-KR" altLang="en-US" dirty="0"/>
              <a:t>매스텝마다 상대적 가치 평가를 위해 </a:t>
            </a:r>
            <a:r>
              <a:rPr kumimoji="1" lang="en-US" altLang="ko-KR" dirty="0"/>
              <a:t>value function</a:t>
            </a:r>
            <a:r>
              <a:rPr kumimoji="1" lang="ko-KR" altLang="en-US" dirty="0"/>
              <a:t>을 호출하는 것은 </a:t>
            </a:r>
            <a:r>
              <a:rPr kumimoji="1" lang="en-US" altLang="ko-KR" dirty="0"/>
              <a:t>computational and non reliable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(</a:t>
            </a:r>
            <a:r>
              <a:rPr kumimoji="1" lang="ko-KR" altLang="en-US" dirty="0"/>
              <a:t>비교를 위하여 </a:t>
            </a:r>
            <a:r>
              <a:rPr kumimoji="1" lang="en-US" altLang="ko-KR" dirty="0"/>
              <a:t>kl</a:t>
            </a:r>
            <a:r>
              <a:rPr kumimoji="1" lang="ko-KR" altLang="en-US" dirty="0"/>
              <a:t>등은 제거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Importance sampling – </a:t>
            </a:r>
            <a:r>
              <a:rPr kumimoji="1" lang="ko-KR" altLang="en-US" dirty="0"/>
              <a:t>이전의 샘플로 현재의 </a:t>
            </a:r>
            <a:r>
              <a:rPr kumimoji="1" lang="ko-KR" altLang="en-US" dirty="0" err="1"/>
              <a:t>샘플링하는</a:t>
            </a:r>
            <a:r>
              <a:rPr kumimoji="1" lang="ko-KR" altLang="en-US" dirty="0"/>
              <a:t> 효과 나타냄</a:t>
            </a:r>
            <a:endParaRPr kumimoji="1" lang="en-US" altLang="ko-KR" dirty="0"/>
          </a:p>
          <a:p>
            <a:r>
              <a:rPr kumimoji="1" lang="ko-KR" altLang="en-US" dirty="0"/>
              <a:t>아래 오른쪽 설명 </a:t>
            </a:r>
            <a:r>
              <a:rPr kumimoji="1" lang="en-US" altLang="ko-KR" dirty="0"/>
              <a:t>– state s</a:t>
            </a:r>
            <a:r>
              <a:rPr kumimoji="1" lang="ko-KR" altLang="en-US" dirty="0"/>
              <a:t>에서의 </a:t>
            </a:r>
            <a:r>
              <a:rPr kumimoji="1" lang="en-US" altLang="ko-KR" dirty="0"/>
              <a:t>expected reward – </a:t>
            </a:r>
            <a:r>
              <a:rPr kumimoji="1" lang="ko-KR" altLang="en-US" dirty="0"/>
              <a:t>실제 계산이 아닌</a:t>
            </a:r>
            <a:r>
              <a:rPr kumimoji="1" lang="en-US" altLang="ko-KR" dirty="0"/>
              <a:t> </a:t>
            </a:r>
            <a:r>
              <a:rPr kumimoji="1" lang="ko-KR" altLang="en-US" dirty="0"/>
              <a:t>추정치</a:t>
            </a:r>
            <a:endParaRPr kumimoji="1" lang="en-US" altLang="ko-KR" dirty="0"/>
          </a:p>
          <a:p>
            <a:r>
              <a:rPr kumimoji="1" lang="ko-KR" altLang="en-US" dirty="0"/>
              <a:t>아래 왼쪽 설명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시퀀스 </a:t>
            </a:r>
            <a:r>
              <a:rPr kumimoji="1" lang="ko-KR" altLang="en-US" dirty="0" err="1"/>
              <a:t>타우</a:t>
            </a:r>
            <a:r>
              <a:rPr kumimoji="1" lang="ko-KR" altLang="en-US" dirty="0"/>
              <a:t> 에서 </a:t>
            </a:r>
            <a:r>
              <a:rPr kumimoji="1" lang="en-US" altLang="ko-KR" dirty="0"/>
              <a:t>k</a:t>
            </a:r>
            <a:r>
              <a:rPr kumimoji="1" lang="ko-KR" altLang="en-US" dirty="0"/>
              <a:t>번째 </a:t>
            </a:r>
            <a:r>
              <a:rPr kumimoji="1" lang="en-US" altLang="ko-KR" dirty="0"/>
              <a:t>state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보상</a:t>
            </a:r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5326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AAEC-9777-FBD3-3850-3BD97364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CE8D2F-E97D-F5EF-CC7A-9B8F8E809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A2F342-79DE-F8B6-39F7-8645F5956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여기서 다양한 차이점이 있지만 </a:t>
            </a:r>
            <a:r>
              <a:rPr kumimoji="1" lang="en-US" altLang="ko-KR" dirty="0" err="1"/>
              <a:t>ppo</a:t>
            </a:r>
            <a:r>
              <a:rPr kumimoji="1" lang="ko-KR" altLang="en-US" dirty="0" err="1"/>
              <a:t>와의</a:t>
            </a:r>
            <a:r>
              <a:rPr kumimoji="1" lang="ko-KR" altLang="en-US" dirty="0"/>
              <a:t> 주요 차이점이라고 하면 두가지가 있습니다</a:t>
            </a:r>
            <a:endParaRPr kumimoji="1" lang="en-US" altLang="ko-KR" dirty="0"/>
          </a:p>
          <a:p>
            <a:r>
              <a:rPr kumimoji="1" lang="ko-KR" altLang="en-US" dirty="0"/>
              <a:t>하나는 </a:t>
            </a:r>
            <a:r>
              <a:rPr kumimoji="1" lang="en-US" altLang="ko-KR" dirty="0"/>
              <a:t>kl term. –log , -1</a:t>
            </a:r>
            <a:r>
              <a:rPr kumimoji="1" lang="ko-KR" altLang="en-US" dirty="0"/>
              <a:t>이 붙은 </a:t>
            </a:r>
            <a:r>
              <a:rPr kumimoji="1" lang="en-US" altLang="ko-KR" dirty="0"/>
              <a:t>Kl Term</a:t>
            </a:r>
            <a:r>
              <a:rPr kumimoji="1" lang="ko-KR" altLang="en-US" dirty="0"/>
              <a:t>이 있는데 논문에 나와있기로 이것이 기존 </a:t>
            </a:r>
            <a:r>
              <a:rPr kumimoji="1" lang="en-US" altLang="ko-KR" dirty="0"/>
              <a:t>kl</a:t>
            </a:r>
            <a:r>
              <a:rPr kumimoji="1" lang="ko-KR" altLang="en-US" dirty="0"/>
              <a:t>보다 더 </a:t>
            </a:r>
            <a:r>
              <a:rPr kumimoji="1" lang="en-US" altLang="ko-KR" dirty="0"/>
              <a:t>unbiased</a:t>
            </a:r>
            <a:r>
              <a:rPr kumimoji="1" lang="ko-KR" altLang="en-US" dirty="0"/>
              <a:t>하다고 합니다</a:t>
            </a:r>
            <a:endParaRPr kumimoji="1" lang="en-US" altLang="ko-KR" dirty="0"/>
          </a:p>
          <a:p>
            <a:r>
              <a:rPr kumimoji="1" lang="ko-KR" altLang="en-US" dirty="0"/>
              <a:t>그리고 중요한 하나는 </a:t>
            </a:r>
            <a:r>
              <a:rPr kumimoji="1" lang="en-US" altLang="ko-KR" dirty="0"/>
              <a:t>value function</a:t>
            </a:r>
            <a:r>
              <a:rPr kumimoji="1" lang="ko-KR" altLang="en-US" dirty="0"/>
              <a:t>의 제거입니다</a:t>
            </a:r>
            <a:endParaRPr kumimoji="1" lang="en-US" altLang="ko-KR" dirty="0"/>
          </a:p>
          <a:p>
            <a:r>
              <a:rPr kumimoji="1" lang="en-US" altLang="ko-KR" dirty="0"/>
              <a:t>Advantage function</a:t>
            </a:r>
            <a:r>
              <a:rPr kumimoji="1" lang="ko-KR" altLang="en-US" dirty="0"/>
              <a:t>을 보면 기존에 </a:t>
            </a:r>
            <a:r>
              <a:rPr kumimoji="1" lang="en-US" altLang="ko-KR" dirty="0"/>
              <a:t>value function</a:t>
            </a:r>
            <a:r>
              <a:rPr kumimoji="1" lang="ko-KR" altLang="en-US" dirty="0"/>
              <a:t>을 호출하기 보다는 </a:t>
            </a:r>
            <a:r>
              <a:rPr kumimoji="1" lang="en-US" altLang="ko-KR" dirty="0"/>
              <a:t>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평균과 표준편차로 정규화를 해줍니다</a:t>
            </a:r>
            <a:endParaRPr kumimoji="1" lang="en-US" altLang="ko-KR" dirty="0"/>
          </a:p>
          <a:p>
            <a:r>
              <a:rPr kumimoji="1" lang="ko-KR" altLang="en-US" dirty="0"/>
              <a:t>이로써 상대적인 값 비교를 통하여 보다 안정적이며 </a:t>
            </a:r>
            <a:r>
              <a:rPr kumimoji="1" lang="en-US" altLang="ko-KR" dirty="0"/>
              <a:t>efficient</a:t>
            </a:r>
            <a:r>
              <a:rPr kumimoji="1" lang="ko-KR" altLang="en-US" dirty="0"/>
              <a:t>한 학습이 가능합니다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초반 </a:t>
            </a:r>
            <a:r>
              <a:rPr kumimoji="1" lang="en-US" altLang="ko-KR" dirty="0"/>
              <a:t>reward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이 나오는 이유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초반에는 </a:t>
            </a:r>
            <a:r>
              <a:rPr kumimoji="1" lang="ko-KR" altLang="en-US" dirty="0" err="1"/>
              <a:t>그룹들간의</a:t>
            </a:r>
            <a:r>
              <a:rPr kumimoji="1" lang="ko-KR" altLang="en-US" dirty="0"/>
              <a:t> 차이가 없기에 </a:t>
            </a:r>
            <a:r>
              <a:rPr kumimoji="1" lang="en-US" altLang="ko-KR" dirty="0"/>
              <a:t>r 0</a:t>
            </a:r>
            <a:r>
              <a:rPr kumimoji="1" lang="ko-KR" altLang="en-US" dirty="0"/>
              <a:t>이고 </a:t>
            </a:r>
            <a:r>
              <a:rPr kumimoji="1" lang="en-US" altLang="ko-KR" dirty="0" err="1"/>
              <a:t>sft</a:t>
            </a:r>
            <a:r>
              <a:rPr kumimoji="1" lang="ko-KR" altLang="en-US" dirty="0"/>
              <a:t>랑 분포가 같아서 </a:t>
            </a:r>
            <a:r>
              <a:rPr kumimoji="1" lang="en-US" altLang="ko-KR" dirty="0"/>
              <a:t>kl</a:t>
            </a:r>
            <a:r>
              <a:rPr kumimoji="1" lang="ko-KR" altLang="en-US" dirty="0"/>
              <a:t>도 </a:t>
            </a:r>
            <a:r>
              <a:rPr kumimoji="1" lang="en-US" altLang="ko-KR"/>
              <a:t>0 </a:t>
            </a:r>
          </a:p>
          <a:p>
            <a:endParaRPr kumimoji="1" lang="en-US" altLang="ko-KR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453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443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7005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알파가 커지면 </a:t>
            </a:r>
            <a:r>
              <a:rPr kumimoji="1" lang="en-US" altLang="ko-KR" dirty="0"/>
              <a:t>BA</a:t>
            </a:r>
            <a:r>
              <a:rPr kumimoji="1" lang="ko-KR" altLang="en-US" dirty="0"/>
              <a:t>가 커져서 </a:t>
            </a:r>
            <a:r>
              <a:rPr kumimoji="1" lang="en-US" altLang="ko-KR" dirty="0"/>
              <a:t>task-specific</a:t>
            </a:r>
            <a:r>
              <a:rPr kumimoji="1" lang="ko-KR" altLang="en-US" dirty="0"/>
              <a:t>한 정보가 더</a:t>
            </a:r>
            <a:r>
              <a:rPr kumimoji="1" lang="en-US" altLang="ko-KR" dirty="0"/>
              <a:t> </a:t>
            </a:r>
            <a:r>
              <a:rPr kumimoji="1" lang="ko-KR" altLang="en-US" dirty="0"/>
              <a:t>많이 학습됩니다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초기화하는 값 </a:t>
            </a:r>
            <a:r>
              <a:rPr kumimoji="1" lang="en-US" altLang="ko-KR" dirty="0"/>
              <a:t>, </a:t>
            </a:r>
            <a:r>
              <a:rPr kumimoji="1" lang="ko-KR" altLang="en-US" dirty="0"/>
              <a:t>초기는 </a:t>
            </a:r>
            <a:r>
              <a:rPr kumimoji="1" lang="en-US" altLang="ko-KR" dirty="0"/>
              <a:t>B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되어서 </a:t>
            </a:r>
            <a:endParaRPr kumimoji="1" lang="en-US" altLang="ko-KR" dirty="0"/>
          </a:p>
          <a:p>
            <a:r>
              <a:rPr kumimoji="1" lang="en-US" altLang="ko-KR" dirty="0"/>
              <a:t>BA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이어서 초기에는 순수 </a:t>
            </a:r>
            <a:r>
              <a:rPr kumimoji="1" lang="en-US" altLang="ko-KR" dirty="0"/>
              <a:t>pt model</a:t>
            </a:r>
            <a:r>
              <a:rPr kumimoji="1" lang="ko-KR" altLang="en-US" dirty="0"/>
              <a:t>이다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학습됨으로 델타가 변화되어 가는 것 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Pt</a:t>
            </a:r>
            <a:r>
              <a:rPr kumimoji="1" lang="ko-KR" altLang="en-US" dirty="0"/>
              <a:t>의 크기가 </a:t>
            </a:r>
            <a:r>
              <a:rPr kumimoji="1" lang="en-US" altLang="ko-KR" dirty="0"/>
              <a:t>d x k </a:t>
            </a:r>
            <a:r>
              <a:rPr kumimoji="1" lang="ko-KR" altLang="en-US" dirty="0"/>
              <a:t>이면 </a:t>
            </a:r>
            <a:r>
              <a:rPr kumimoji="1" lang="en-US" altLang="ko-KR" dirty="0"/>
              <a:t>r</a:t>
            </a:r>
            <a:r>
              <a:rPr kumimoji="1" lang="ko-KR" altLang="en-US" dirty="0"/>
              <a:t>이 매우 작아서 훨씬 적은 파라미터를 학습할 수가</a:t>
            </a:r>
            <a:r>
              <a:rPr kumimoji="1" lang="en-US" altLang="ko-KR" dirty="0"/>
              <a:t> </a:t>
            </a:r>
            <a:r>
              <a:rPr kumimoji="1" lang="ko-KR" altLang="en-US" dirty="0"/>
              <a:t>있습니다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812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en-US" altLang="ko-KR" dirty="0"/>
              <a:t>Task</a:t>
            </a:r>
            <a:r>
              <a:rPr kumimoji="1" lang="ko-KR" altLang="en-US" dirty="0"/>
              <a:t>가 다르게 되면 그냥 </a:t>
            </a:r>
            <a:r>
              <a:rPr kumimoji="1" lang="en-US" altLang="ko-KR" dirty="0" err="1"/>
              <a:t>ba</a:t>
            </a:r>
            <a:r>
              <a:rPr kumimoji="1" lang="ko-KR" altLang="en-US" dirty="0"/>
              <a:t>만 </a:t>
            </a:r>
            <a:r>
              <a:rPr kumimoji="1" lang="ko-KR" altLang="en-US" dirty="0" err="1"/>
              <a:t>갈아끼우면</a:t>
            </a:r>
            <a:r>
              <a:rPr kumimoji="1" lang="ko-KR" altLang="en-US" dirty="0"/>
              <a:t> 되니까 추가적인 추론 시간이 크게 들지 않습니다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다른 모델이라면 완전 새롭게 </a:t>
            </a:r>
            <a:r>
              <a:rPr kumimoji="1" lang="ko-KR" altLang="en-US" dirty="0" err="1"/>
              <a:t>불러와야해서</a:t>
            </a:r>
            <a:r>
              <a:rPr kumimoji="1" lang="ko-KR" altLang="en-US" dirty="0"/>
              <a:t> 시간이 많이 들겠죠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14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ko-KR" altLang="en-US" dirty="0"/>
              <a:t>초기화를 해줍니다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@</a:t>
            </a:r>
            <a:r>
              <a:rPr kumimoji="1" lang="ko-KR" altLang="en-US" dirty="0"/>
              <a:t>는 </a:t>
            </a:r>
            <a:r>
              <a:rPr kumimoji="1" lang="en-US" altLang="ko-KR" dirty="0" err="1"/>
              <a:t>matmul</a:t>
            </a:r>
            <a:r>
              <a:rPr kumimoji="1" lang="ko-KR" altLang="en-US" dirty="0"/>
              <a:t>과 동일하게 행렬 연산입니다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코랩으로</a:t>
            </a:r>
            <a:r>
              <a:rPr kumimoji="1" lang="ko-KR" altLang="en-US" dirty="0"/>
              <a:t> 제한된 환경인지라</a:t>
            </a:r>
            <a:endParaRPr kumimoji="1" lang="en-US" altLang="ko-KR" dirty="0"/>
          </a:p>
          <a:p>
            <a:r>
              <a:rPr kumimoji="1" lang="ko-KR" altLang="en-US" dirty="0"/>
              <a:t>저희도 </a:t>
            </a:r>
            <a:r>
              <a:rPr kumimoji="1" lang="en-US" altLang="ko-KR" dirty="0"/>
              <a:t>lora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쓸거고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gpu</a:t>
            </a:r>
            <a:r>
              <a:rPr kumimoji="1" lang="ko-KR" altLang="en-US" dirty="0"/>
              <a:t>가 제한된 환경이면 </a:t>
            </a:r>
            <a:r>
              <a:rPr kumimoji="1" lang="en-US" altLang="ko-KR" dirty="0"/>
              <a:t>lora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쓰는게</a:t>
            </a:r>
            <a:r>
              <a:rPr kumimoji="1" lang="ko-KR" altLang="en-US" dirty="0"/>
              <a:t> 맞지만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실제로 학습을 시켜보면 제 체감상으로는 </a:t>
            </a:r>
            <a:r>
              <a:rPr kumimoji="1" lang="en-US" altLang="ko-KR" dirty="0"/>
              <a:t>full finetuning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lora</a:t>
            </a:r>
            <a:r>
              <a:rPr kumimoji="1" lang="ko-KR" altLang="en-US" dirty="0"/>
              <a:t>보다 훨씬 </a:t>
            </a:r>
            <a:r>
              <a:rPr kumimoji="1" lang="ko-KR" altLang="en-US" dirty="0" err="1"/>
              <a:t>나은거</a:t>
            </a:r>
            <a:r>
              <a:rPr kumimoji="1" lang="ko-KR" altLang="en-US" dirty="0"/>
              <a:t> 같습니다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그래도 </a:t>
            </a:r>
            <a:r>
              <a:rPr kumimoji="1" lang="en-US" altLang="ko-KR" dirty="0"/>
              <a:t>lora</a:t>
            </a:r>
            <a:r>
              <a:rPr kumimoji="1" lang="ko-KR" altLang="en-US" dirty="0"/>
              <a:t>는 학습 자원을 엄청 줄여주니까 잘 선택해서 사용하면 </a:t>
            </a:r>
            <a:r>
              <a:rPr kumimoji="1" lang="ko-KR" altLang="en-US" dirty="0" err="1"/>
              <a:t>좋을거</a:t>
            </a:r>
            <a:r>
              <a:rPr kumimoji="1" lang="ko-KR" altLang="en-US" dirty="0"/>
              <a:t> 같습니다</a:t>
            </a:r>
          </a:p>
        </p:txBody>
      </p:sp>
    </p:spTree>
    <p:extLst>
      <p:ext uri="{BB962C8B-B14F-4D97-AF65-F5344CB8AC3E}">
        <p14:creationId xmlns:p14="http://schemas.microsoft.com/office/powerpoint/2010/main" val="2695916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83EF-3093-DB14-96A1-D9E5A6EF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2FAE5-D424-33DD-28ED-ED89C8178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EABD46-1028-8FCF-99FC-1A686D268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6731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body" idx="1"/>
          </p:nvPr>
        </p:nvSpPr>
        <p:spPr>
          <a:xfrm>
            <a:off x="311150" y="519113"/>
            <a:ext cx="85218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body" idx="2"/>
          </p:nvPr>
        </p:nvSpPr>
        <p:spPr>
          <a:xfrm>
            <a:off x="311150" y="3225800"/>
            <a:ext cx="8521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3"/>
          </p:nvPr>
        </p:nvSpPr>
        <p:spPr>
          <a:xfrm>
            <a:off x="311150" y="3619500"/>
            <a:ext cx="8521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9144000" cy="3132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4605601"/>
            <a:ext cx="9144000" cy="3132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sz="2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733425" y="49213"/>
            <a:ext cx="76773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733425" y="258763"/>
            <a:ext cx="7677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23863" y="838200"/>
            <a:ext cx="82455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Char char="o"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4"/>
          </p:nvPr>
        </p:nvSpPr>
        <p:spPr>
          <a:xfrm>
            <a:off x="122238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47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abs/2005.1416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abs/2005.1416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005.1416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jmlr.org/papers/v25/23-0870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abs/2204.0770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abs/2009.0330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jmlr.org/papers/v25/23-0870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12.1056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rxiv.org/abs/2204.05862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04.05862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www.jstor.org/stable/233402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/2020/hash/1f89885d556929e98d3ef9b86448f951-Abstrac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roceedings.neurips.cc/paper_files/paper/2022/hash/b1efde53be364a73914f58805a001731-Abstract-Conference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roceedings.neurips.cc/paper_files/paper/2022/hash/b1efde53be364a73914f58805a001731-Abstract-Conferenc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roceedings.neurips.cc/paper_files/paper/2022/hash/b1efde53be364a73914f58805a001731-Abstract-Conferenc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496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hyperlink" Target="https://proceedings.neurips.cc/paper_files/paper/2023/hash/a85b405ed65c6477a4fe8302b5e06ce7-Abstract-Conference.htm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hash/a85b405ed65c6477a4fe8302b5e06ce7-Abstract-Conferenc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hash/a85b405ed65c6477a4fe8302b5e06ce7-Abstract-Conference.html" TargetMode="External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hash/a85b405ed65c6477a4fe8302b5e06ce7-Abstract-Conferenc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hyperlink" Target="https://proceedings.neurips.cc/paper_files/paper/2023/hash/a85b405ed65c6477a4fe8302b5e06ce7-Abstract-Conferenc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hash/a85b405ed65c6477a4fe8302b5e06ce7-Abstract-Conference.html" TargetMode="External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4/hash/404df2480b6eef0486a1679e371894b0-Abstract-Conference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10719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3.07691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3.07691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3.07691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3.07691" TargetMode="External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hyperlink" Target="https://arxiv.org/abs/2403.07691" TargetMode="External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0.png"/><Relationship Id="rId10" Type="http://schemas.openxmlformats.org/officeDocument/2006/relationships/image" Target="../media/image80.png"/><Relationship Id="rId4" Type="http://schemas.openxmlformats.org/officeDocument/2006/relationships/image" Target="../media/image740.png"/><Relationship Id="rId9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hyperlink" Target="https://arxiv.org/abs/2501.12948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hyperlink" Target="https://arxiv.org/abs/2501.12948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arxiv.org/abs/2501.12948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3300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3300" TargetMode="External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3300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arxiv.org/pdf/2106.09685v1/100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106.09685v1/1000" TargetMode="External"/><Relationship Id="rId4" Type="http://schemas.openxmlformats.org/officeDocument/2006/relationships/image" Target="../media/image10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106.09685v1/1000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11150" y="519113"/>
            <a:ext cx="8521800" cy="2052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Reinforcement Learning with Human Feedback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/>
              <a:t>(RLHF)</a:t>
            </a:r>
            <a:endParaRPr sz="2300" dirty="0"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11150" y="3225800"/>
            <a:ext cx="8521800" cy="39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 err="1"/>
              <a:t>Dongje</a:t>
            </a:r>
            <a:r>
              <a:rPr lang="en-US" altLang="ko" dirty="0"/>
              <a:t> Yoo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pass120@yonsei.ac.kr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3"/>
          </p:nvPr>
        </p:nvSpPr>
        <p:spPr>
          <a:xfrm>
            <a:off x="311150" y="3619500"/>
            <a:ext cx="8521800" cy="436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/>
              <a:t>Language &amp; AGI</a:t>
            </a:r>
            <a:r>
              <a:rPr lang="ko" dirty="0"/>
              <a:t> Lab, Yonsei University</a:t>
            </a:r>
            <a:endParaRPr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40AB8E-33C0-224B-04A7-F193EBE9F2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</a:t>
            </a:fld>
            <a:endParaRPr lang="ko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733425" y="49213"/>
            <a:ext cx="7677300" cy="20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Title</a:t>
            </a:r>
            <a:endParaRPr dirty="0"/>
          </a:p>
        </p:txBody>
      </p:sp>
      <p:sp>
        <p:nvSpPr>
          <p:cNvPr id="219" name="Google Shape;219;p26"/>
          <p:cNvSpPr txBox="1">
            <a:spLocks noGrp="1"/>
          </p:cNvSpPr>
          <p:nvPr>
            <p:ph type="body" idx="2"/>
          </p:nvPr>
        </p:nvSpPr>
        <p:spPr>
          <a:xfrm>
            <a:off x="733425" y="258763"/>
            <a:ext cx="7677300" cy="33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Contents</a:t>
            </a:r>
            <a:endParaRPr sz="2200" dirty="0"/>
          </a:p>
        </p:txBody>
      </p:sp>
      <p:sp>
        <p:nvSpPr>
          <p:cNvPr id="220" name="Google Shape;220;p26"/>
          <p:cNvSpPr txBox="1">
            <a:spLocks noGrp="1"/>
          </p:cNvSpPr>
          <p:nvPr>
            <p:ph type="body" idx="3"/>
          </p:nvPr>
        </p:nvSpPr>
        <p:spPr>
          <a:xfrm>
            <a:off x="423863" y="838200"/>
            <a:ext cx="8245500" cy="39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</a:rPr>
              <a:t>Large Language Model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</a:rPr>
              <a:t>RLHF(Reinforcement Learning with Human Feedback)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Instruction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</a:rPr>
              <a:t>InstructGPT</a:t>
            </a:r>
            <a:r>
              <a:rPr lang="en-US" sz="1800" dirty="0">
                <a:solidFill>
                  <a:schemeClr val="dk1"/>
                </a:solidFill>
              </a:rPr>
              <a:t> and PPO(Proxy Policy Optimization)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DPO (direct policy optimization)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ORPO (odds ratio policy optimization)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GRPO (group relative policy optimization)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</a:rPr>
              <a:t>Efficient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</a:rPr>
              <a:t>LoRA</a:t>
            </a:r>
            <a:endParaRPr lang="en-US" sz="18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dk1"/>
                </a:solidFill>
              </a:rPr>
              <a:t>Appendix</a:t>
            </a:r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4"/>
          </p:nvPr>
        </p:nvSpPr>
        <p:spPr>
          <a:xfrm>
            <a:off x="122238" y="4884738"/>
            <a:ext cx="5702400" cy="20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C2112A-B33B-EEE4-21BA-9E4A79D685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</a:t>
            </a:fld>
            <a:endParaRPr lang="ko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331388-8220-D5E8-A28B-2BC224BD0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050D95-25A8-77A2-76BE-819AC3B66C4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2E9DB9-243F-C8E7-1B75-5B1F9757368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98500" y="2048692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Large Language Model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CF3142-1979-2ED2-D983-491B43421CBB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9BB533-2B83-4D3F-1DD9-DA412763F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90532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65685BF-B9C2-6C59-EB6B-EBF6AB1E7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906B9-6ACD-AEDE-4E28-F7E0FC4F881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LLMs getting larger and larger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9B725-BC64-E348-98AE-9AD9EFB103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35451E-8B60-B32E-A32A-CE750051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37" y="838200"/>
            <a:ext cx="8308925" cy="3585754"/>
          </a:xfrm>
          <a:prstGeom prst="rect">
            <a:avLst/>
          </a:prstGeom>
        </p:spPr>
      </p:pic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6851079-56AA-203E-DDD8-C3C027285EF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1CC0A8-6778-AA71-37DB-D29917CBBACB}"/>
              </a:ext>
            </a:extLst>
          </p:cNvPr>
          <p:cNvSpPr/>
          <p:nvPr/>
        </p:nvSpPr>
        <p:spPr>
          <a:xfrm>
            <a:off x="2238103" y="4319451"/>
            <a:ext cx="635726" cy="26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noFill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F0DAAC8-F70A-2B49-0DA7-FFA0C014EB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57383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601D62E-239B-5AE4-CA48-174667B2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3B5D91-9937-6BCE-FA2E-7EA91BBB077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Pretraining paradigm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852537-BA18-A02E-FE60-138255F181AB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5789F-9F9A-DB9F-C175-F28E7B2A9FF6}"/>
              </a:ext>
            </a:extLst>
          </p:cNvPr>
          <p:cNvSpPr txBox="1"/>
          <p:nvPr/>
        </p:nvSpPr>
        <p:spPr>
          <a:xfrm>
            <a:off x="921327" y="905635"/>
            <a:ext cx="7128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Pretraining</a:t>
            </a:r>
            <a:r>
              <a:rPr lang="ko-KR" altLang="en-US" dirty="0"/>
              <a:t> </a:t>
            </a:r>
            <a:r>
              <a:rPr lang="ko-KR" altLang="en-US" dirty="0" err="1"/>
              <a:t>can</a:t>
            </a:r>
            <a:r>
              <a:rPr lang="ko-KR" altLang="en-US" dirty="0"/>
              <a:t> </a:t>
            </a:r>
            <a:r>
              <a:rPr lang="ko-KR" altLang="en-US" dirty="0" err="1"/>
              <a:t>improve</a:t>
            </a:r>
            <a:r>
              <a:rPr lang="ko-KR" altLang="en-US" dirty="0"/>
              <a:t> NLP </a:t>
            </a:r>
            <a:r>
              <a:rPr lang="ko-KR" altLang="en-US" dirty="0" err="1"/>
              <a:t>applications</a:t>
            </a:r>
            <a:r>
              <a:rPr lang="ko-KR" altLang="en-US" dirty="0"/>
              <a:t> </a:t>
            </a:r>
            <a:r>
              <a:rPr lang="ko-KR" altLang="en-US" dirty="0" err="1"/>
              <a:t>by</a:t>
            </a:r>
            <a:r>
              <a:rPr lang="ko-KR" altLang="en-US" dirty="0"/>
              <a:t> </a:t>
            </a:r>
            <a:r>
              <a:rPr lang="ko-KR" altLang="en-US" dirty="0" err="1"/>
              <a:t>serving</a:t>
            </a:r>
            <a:r>
              <a:rPr lang="ko-KR" altLang="en-US" dirty="0"/>
              <a:t> </a:t>
            </a:r>
            <a:r>
              <a:rPr lang="ko-KR" altLang="en-US" dirty="0" err="1"/>
              <a:t>as</a:t>
            </a:r>
            <a:r>
              <a:rPr lang="ko-KR" altLang="en-US" dirty="0"/>
              <a:t> </a:t>
            </a:r>
            <a:r>
              <a:rPr lang="ko-KR" altLang="en-US" dirty="0" err="1"/>
              <a:t>parameter</a:t>
            </a:r>
            <a:r>
              <a:rPr lang="ko-KR" altLang="en-US" dirty="0"/>
              <a:t> </a:t>
            </a:r>
            <a:r>
              <a:rPr lang="ko-KR" altLang="en-US" dirty="0" err="1"/>
              <a:t>initialization</a:t>
            </a:r>
            <a:r>
              <a:rPr lang="ko-KR" altLang="en-US" dirty="0"/>
              <a:t>.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91DFCC9-CF93-FCBC-1E20-A2C0D024200F}"/>
              </a:ext>
            </a:extLst>
          </p:cNvPr>
          <p:cNvSpPr/>
          <p:nvPr/>
        </p:nvSpPr>
        <p:spPr>
          <a:xfrm>
            <a:off x="2466108" y="2299854"/>
            <a:ext cx="4094018" cy="10113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Decoder</a:t>
            </a:r>
          </a:p>
          <a:p>
            <a:pPr algn="ctr"/>
            <a:r>
              <a:rPr kumimoji="1" lang="en-US" altLang="ko-KR" dirty="0"/>
              <a:t>(Transformer , LSTM,…)</a:t>
            </a:r>
            <a:endParaRPr kumimoji="1"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4C564EE-8664-1524-8A00-F8C8C128D50F}"/>
              </a:ext>
            </a:extLst>
          </p:cNvPr>
          <p:cNvCxnSpPr/>
          <p:nvPr/>
        </p:nvCxnSpPr>
        <p:spPr>
          <a:xfrm flipV="1">
            <a:off x="2819400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010567A-9293-1C76-4F60-DB97CFE4641F}"/>
              </a:ext>
            </a:extLst>
          </p:cNvPr>
          <p:cNvCxnSpPr/>
          <p:nvPr/>
        </p:nvCxnSpPr>
        <p:spPr>
          <a:xfrm flipV="1">
            <a:off x="3463636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98307C3-1E87-1D79-68B6-E7926E44B4F2}"/>
              </a:ext>
            </a:extLst>
          </p:cNvPr>
          <p:cNvCxnSpPr/>
          <p:nvPr/>
        </p:nvCxnSpPr>
        <p:spPr>
          <a:xfrm flipV="1">
            <a:off x="4087090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40F5714-0DF1-D2BA-0BEA-F37DCB3768F5}"/>
              </a:ext>
            </a:extLst>
          </p:cNvPr>
          <p:cNvCxnSpPr/>
          <p:nvPr/>
        </p:nvCxnSpPr>
        <p:spPr>
          <a:xfrm flipV="1">
            <a:off x="4828310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C6EAE51-345F-AD4F-396A-B32C3688E1AF}"/>
              </a:ext>
            </a:extLst>
          </p:cNvPr>
          <p:cNvCxnSpPr/>
          <p:nvPr/>
        </p:nvCxnSpPr>
        <p:spPr>
          <a:xfrm flipV="1">
            <a:off x="5514109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04E2EAB-7091-030C-7150-747D98766DE3}"/>
              </a:ext>
            </a:extLst>
          </p:cNvPr>
          <p:cNvCxnSpPr/>
          <p:nvPr/>
        </p:nvCxnSpPr>
        <p:spPr>
          <a:xfrm flipV="1">
            <a:off x="6116781" y="2092036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9133FDC-B530-6C9C-CC7B-A1B5975ECF12}"/>
              </a:ext>
            </a:extLst>
          </p:cNvPr>
          <p:cNvCxnSpPr/>
          <p:nvPr/>
        </p:nvCxnSpPr>
        <p:spPr>
          <a:xfrm flipV="1">
            <a:off x="2826326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60408C2-5B3B-C0E1-1E65-963944BAAD9E}"/>
              </a:ext>
            </a:extLst>
          </p:cNvPr>
          <p:cNvCxnSpPr/>
          <p:nvPr/>
        </p:nvCxnSpPr>
        <p:spPr>
          <a:xfrm flipV="1">
            <a:off x="3470562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F2F13F8-D5DB-0949-E1B0-C9C6D3875294}"/>
              </a:ext>
            </a:extLst>
          </p:cNvPr>
          <p:cNvCxnSpPr/>
          <p:nvPr/>
        </p:nvCxnSpPr>
        <p:spPr>
          <a:xfrm flipV="1">
            <a:off x="4094016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FEF0420-F2F5-CAB2-3A66-EBEA805E8C31}"/>
              </a:ext>
            </a:extLst>
          </p:cNvPr>
          <p:cNvCxnSpPr/>
          <p:nvPr/>
        </p:nvCxnSpPr>
        <p:spPr>
          <a:xfrm flipV="1">
            <a:off x="4835236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87BC78-DD30-D40B-3C0E-69F356026DBD}"/>
              </a:ext>
            </a:extLst>
          </p:cNvPr>
          <p:cNvCxnSpPr/>
          <p:nvPr/>
        </p:nvCxnSpPr>
        <p:spPr>
          <a:xfrm flipV="1">
            <a:off x="5521035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9C9C805-831E-149C-D8FC-EE27F8BAC5F4}"/>
              </a:ext>
            </a:extLst>
          </p:cNvPr>
          <p:cNvCxnSpPr/>
          <p:nvPr/>
        </p:nvCxnSpPr>
        <p:spPr>
          <a:xfrm flipV="1">
            <a:off x="6123707" y="3179623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DB6378-7A48-BD82-42C7-10A3188BA0BC}"/>
              </a:ext>
            </a:extLst>
          </p:cNvPr>
          <p:cNvSpPr/>
          <p:nvPr/>
        </p:nvSpPr>
        <p:spPr>
          <a:xfrm>
            <a:off x="2750127" y="346364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78B38C-72B0-060D-1DB5-7548F8872A38}"/>
              </a:ext>
            </a:extLst>
          </p:cNvPr>
          <p:cNvSpPr/>
          <p:nvPr/>
        </p:nvSpPr>
        <p:spPr>
          <a:xfrm>
            <a:off x="3397825" y="346364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A1DC82-4E20-4D3D-09F6-64912E358750}"/>
              </a:ext>
            </a:extLst>
          </p:cNvPr>
          <p:cNvSpPr/>
          <p:nvPr/>
        </p:nvSpPr>
        <p:spPr>
          <a:xfrm>
            <a:off x="4021279" y="346364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485D55-8575-2372-11CA-12D3D81F5EBA}"/>
              </a:ext>
            </a:extLst>
          </p:cNvPr>
          <p:cNvSpPr/>
          <p:nvPr/>
        </p:nvSpPr>
        <p:spPr>
          <a:xfrm>
            <a:off x="4772891" y="346364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E95DCC-D7E4-A215-A29F-BA9E7DED0FDC}"/>
              </a:ext>
            </a:extLst>
          </p:cNvPr>
          <p:cNvSpPr/>
          <p:nvPr/>
        </p:nvSpPr>
        <p:spPr>
          <a:xfrm>
            <a:off x="5448299" y="3455570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C88A03-52B0-27E9-53D7-4646E697DA28}"/>
              </a:ext>
            </a:extLst>
          </p:cNvPr>
          <p:cNvSpPr/>
          <p:nvPr/>
        </p:nvSpPr>
        <p:spPr>
          <a:xfrm>
            <a:off x="6049144" y="346364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AA637A-89C0-B01A-A27C-F188C3ED5B80}"/>
              </a:ext>
            </a:extLst>
          </p:cNvPr>
          <p:cNvSpPr txBox="1"/>
          <p:nvPr/>
        </p:nvSpPr>
        <p:spPr>
          <a:xfrm>
            <a:off x="2624187" y="3763095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Iroh</a:t>
            </a:r>
            <a:endParaRPr kumimoji="1"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A843B0-FE95-D0AA-8F81-F84A28643507}"/>
              </a:ext>
            </a:extLst>
          </p:cNvPr>
          <p:cNvSpPr txBox="1"/>
          <p:nvPr/>
        </p:nvSpPr>
        <p:spPr>
          <a:xfrm>
            <a:off x="3240370" y="3763594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goes</a:t>
            </a:r>
            <a:endParaRPr kumimoji="1"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D6343B-0719-5104-27C6-7B93D893862C}"/>
              </a:ext>
            </a:extLst>
          </p:cNvPr>
          <p:cNvSpPr txBox="1"/>
          <p:nvPr/>
        </p:nvSpPr>
        <p:spPr>
          <a:xfrm>
            <a:off x="3948783" y="3763094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to</a:t>
            </a:r>
            <a:endParaRPr kumimoji="1"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1F334-92B5-75C8-07D0-C83B63D663D7}"/>
              </a:ext>
            </a:extLst>
          </p:cNvPr>
          <p:cNvSpPr txBox="1"/>
          <p:nvPr/>
        </p:nvSpPr>
        <p:spPr>
          <a:xfrm>
            <a:off x="4643488" y="3763093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make</a:t>
            </a:r>
            <a:endParaRPr kumimoji="1"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11FBC1-4F3A-FC8C-6EFB-FE708F405E5F}"/>
              </a:ext>
            </a:extLst>
          </p:cNvPr>
          <p:cNvSpPr txBox="1"/>
          <p:nvPr/>
        </p:nvSpPr>
        <p:spPr>
          <a:xfrm>
            <a:off x="5318896" y="3763093"/>
            <a:ext cx="453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tasty</a:t>
            </a:r>
            <a:endParaRPr kumimoji="1"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1CE72D-C646-35F3-1B47-016FE563F8E1}"/>
              </a:ext>
            </a:extLst>
          </p:cNvPr>
          <p:cNvSpPr txBox="1"/>
          <p:nvPr/>
        </p:nvSpPr>
        <p:spPr>
          <a:xfrm>
            <a:off x="5959584" y="375458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tea</a:t>
            </a:r>
            <a:endParaRPr kumimoji="1"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648899-CF78-AB0E-E108-12F648413482}"/>
              </a:ext>
            </a:extLst>
          </p:cNvPr>
          <p:cNvSpPr txBox="1"/>
          <p:nvPr/>
        </p:nvSpPr>
        <p:spPr>
          <a:xfrm>
            <a:off x="2589209" y="1804322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goes</a:t>
            </a:r>
            <a:endParaRPr kumimoji="1"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D62FE6-0FED-C14C-E5A5-F1591B6155E6}"/>
              </a:ext>
            </a:extLst>
          </p:cNvPr>
          <p:cNvSpPr txBox="1"/>
          <p:nvPr/>
        </p:nvSpPr>
        <p:spPr>
          <a:xfrm>
            <a:off x="3318404" y="1769612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to</a:t>
            </a:r>
            <a:endParaRPr kumimoji="1"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8EAF47-77BA-A099-24EA-321542115A7E}"/>
              </a:ext>
            </a:extLst>
          </p:cNvPr>
          <p:cNvSpPr txBox="1"/>
          <p:nvPr/>
        </p:nvSpPr>
        <p:spPr>
          <a:xfrm>
            <a:off x="3838464" y="1783475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make</a:t>
            </a:r>
            <a:endParaRPr kumimoji="1"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72BB9B-006F-AD33-1301-DA7F9B56FEEF}"/>
              </a:ext>
            </a:extLst>
          </p:cNvPr>
          <p:cNvSpPr txBox="1"/>
          <p:nvPr/>
        </p:nvSpPr>
        <p:spPr>
          <a:xfrm>
            <a:off x="4618642" y="1790842"/>
            <a:ext cx="453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tasty</a:t>
            </a:r>
            <a:endParaRPr kumimoji="1" lang="ko-KR" alt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2809AF-D571-8269-F4DA-8F0B62FEB0A4}"/>
              </a:ext>
            </a:extLst>
          </p:cNvPr>
          <p:cNvSpPr txBox="1"/>
          <p:nvPr/>
        </p:nvSpPr>
        <p:spPr>
          <a:xfrm>
            <a:off x="5340537" y="1797337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tea</a:t>
            </a:r>
            <a:endParaRPr kumimoji="1"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1B504C-116B-FAE2-3BF2-C8F7C7C5291D}"/>
              </a:ext>
            </a:extLst>
          </p:cNvPr>
          <p:cNvSpPr txBox="1"/>
          <p:nvPr/>
        </p:nvSpPr>
        <p:spPr>
          <a:xfrm>
            <a:off x="5877029" y="1804327"/>
            <a:ext cx="5261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/>
              <a:t>[END]</a:t>
            </a:r>
            <a:endParaRPr kumimoji="1" lang="ko-KR" altLang="en-US" sz="1000" dirty="0"/>
          </a:p>
        </p:txBody>
      </p:sp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CF69FC97-4DFF-158B-F384-0F99326DB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20660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1DCCB7-828B-F830-113E-0E40E53AD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B70E4D-869A-01BC-D7B6-4588222A8A5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Language models trained on more and more data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13E42C-60F9-CE3A-C166-D29D4B8FA0B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63DF0BA-22A3-8C0F-BA5F-1760FFC647BD}"/>
              </a:ext>
            </a:extLst>
          </p:cNvPr>
          <p:cNvSpPr/>
          <p:nvPr/>
        </p:nvSpPr>
        <p:spPr>
          <a:xfrm>
            <a:off x="1614055" y="3015246"/>
            <a:ext cx="214745" cy="209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BDBF35-48DE-AE6A-4A45-13904735D0FE}"/>
              </a:ext>
            </a:extLst>
          </p:cNvPr>
          <p:cNvSpPr/>
          <p:nvPr/>
        </p:nvSpPr>
        <p:spPr>
          <a:xfrm>
            <a:off x="2783756" y="2812473"/>
            <a:ext cx="493474" cy="4609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6525757-7D5F-EB67-7EDC-0C482DD0F950}"/>
              </a:ext>
            </a:extLst>
          </p:cNvPr>
          <p:cNvSpPr/>
          <p:nvPr/>
        </p:nvSpPr>
        <p:spPr>
          <a:xfrm>
            <a:off x="4253346" y="2209023"/>
            <a:ext cx="1136073" cy="10567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A6C7636-BC82-5891-9879-0A3BCD06AF51}"/>
              </a:ext>
            </a:extLst>
          </p:cNvPr>
          <p:cNvSpPr/>
          <p:nvPr/>
        </p:nvSpPr>
        <p:spPr>
          <a:xfrm>
            <a:off x="6407728" y="1219200"/>
            <a:ext cx="2107718" cy="205423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B7699-27BE-2288-900B-A2912333B240}"/>
              </a:ext>
            </a:extLst>
          </p:cNvPr>
          <p:cNvSpPr txBox="1"/>
          <p:nvPr/>
        </p:nvSpPr>
        <p:spPr>
          <a:xfrm>
            <a:off x="1378527" y="3338945"/>
            <a:ext cx="7008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BERT</a:t>
            </a:r>
          </a:p>
          <a:p>
            <a:r>
              <a:rPr kumimoji="1" lang="en-US" altLang="ko-KR" dirty="0"/>
              <a:t>(2018)</a:t>
            </a:r>
          </a:p>
          <a:p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BCA1E-E07D-F542-5896-60F37F2FBB7D}"/>
              </a:ext>
            </a:extLst>
          </p:cNvPr>
          <p:cNvSpPr txBox="1"/>
          <p:nvPr/>
        </p:nvSpPr>
        <p:spPr>
          <a:xfrm>
            <a:off x="2534204" y="3352209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RoBERTa</a:t>
            </a:r>
            <a:endParaRPr kumimoji="1" lang="en-US" altLang="ko-KR" dirty="0"/>
          </a:p>
          <a:p>
            <a:r>
              <a:rPr kumimoji="1" lang="en-US" altLang="ko-KR" dirty="0"/>
              <a:t>   (2019)</a:t>
            </a:r>
          </a:p>
          <a:p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7CD8A-FAB1-BD83-3A27-666CED63E3CD}"/>
              </a:ext>
            </a:extLst>
          </p:cNvPr>
          <p:cNvSpPr txBox="1"/>
          <p:nvPr/>
        </p:nvSpPr>
        <p:spPr>
          <a:xfrm>
            <a:off x="4470965" y="3352611"/>
            <a:ext cx="7120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GPT-3</a:t>
            </a:r>
          </a:p>
          <a:p>
            <a:r>
              <a:rPr kumimoji="1" lang="en-US" altLang="ko-KR" dirty="0"/>
              <a:t>(2020)</a:t>
            </a:r>
          </a:p>
          <a:p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B2A2B-0D75-F1F7-903B-8489E1CBCAC4}"/>
              </a:ext>
            </a:extLst>
          </p:cNvPr>
          <p:cNvSpPr txBox="1"/>
          <p:nvPr/>
        </p:nvSpPr>
        <p:spPr>
          <a:xfrm>
            <a:off x="7042870" y="3352209"/>
            <a:ext cx="9621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Chinchilla</a:t>
            </a:r>
          </a:p>
          <a:p>
            <a:r>
              <a:rPr kumimoji="1" lang="en-US" altLang="ko-KR" dirty="0"/>
              <a:t>(2022)</a:t>
            </a:r>
          </a:p>
          <a:p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E69D5-1A16-5E37-0EBD-8CC6C6C6A5FE}"/>
              </a:ext>
            </a:extLst>
          </p:cNvPr>
          <p:cNvSpPr txBox="1"/>
          <p:nvPr/>
        </p:nvSpPr>
        <p:spPr>
          <a:xfrm>
            <a:off x="1287956" y="2650469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 billion</a:t>
            </a:r>
            <a:endParaRPr kumimoji="1"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6A2C3-FC53-1118-826F-32DA8B5542D8}"/>
              </a:ext>
            </a:extLst>
          </p:cNvPr>
          <p:cNvSpPr txBox="1"/>
          <p:nvPr/>
        </p:nvSpPr>
        <p:spPr>
          <a:xfrm>
            <a:off x="2532451" y="2412282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30 billion</a:t>
            </a:r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670F49-F517-879B-256E-7BDDAAB0008B}"/>
              </a:ext>
            </a:extLst>
          </p:cNvPr>
          <p:cNvSpPr txBox="1"/>
          <p:nvPr/>
        </p:nvSpPr>
        <p:spPr>
          <a:xfrm>
            <a:off x="4334436" y="1795052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200 billion</a:t>
            </a:r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4E12A-1ECF-861B-86DC-ADD3CB51CC68}"/>
              </a:ext>
            </a:extLst>
          </p:cNvPr>
          <p:cNvSpPr txBox="1"/>
          <p:nvPr/>
        </p:nvSpPr>
        <p:spPr>
          <a:xfrm>
            <a:off x="7105560" y="2042950"/>
            <a:ext cx="712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   1.4</a:t>
            </a:r>
          </a:p>
          <a:p>
            <a:r>
              <a:rPr kumimoji="1" lang="en-US" altLang="ko-KR" dirty="0"/>
              <a:t>Trillion</a:t>
            </a:r>
            <a:endParaRPr kumimoji="1"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25017531-BFF5-3E85-0E99-F5237BEA01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37134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91342C6-009C-4905-B93E-4363A5849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D98583-18F7-92A4-1BEE-06279ADFB90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Scaling Law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467FC5-A264-0E15-75F1-71E3397599D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ko-KR" dirty="0"/>
              <a:t>Larger</a:t>
            </a:r>
            <a:r>
              <a:rPr lang="en" altLang="ko-KR" b="0" dirty="0"/>
              <a:t> language models achieve </a:t>
            </a:r>
            <a:r>
              <a:rPr lang="en" altLang="ko-KR" dirty="0"/>
              <a:t>lower validation loss </a:t>
            </a:r>
            <a:r>
              <a:rPr lang="en" altLang="ko-KR" b="0" dirty="0"/>
              <a:t>with more </a:t>
            </a:r>
            <a:r>
              <a:rPr lang="en" altLang="ko-KR" dirty="0"/>
              <a:t>compute</a:t>
            </a:r>
            <a:r>
              <a:rPr lang="en" altLang="ko-KR" b="0" dirty="0"/>
              <a:t>, demonstrating the scalability of performance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ECF07D-BA69-1793-BBCD-64A1941F66F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11363FE0-FF0A-8C96-83B3-C70E07DAB744}"/>
              </a:ext>
            </a:extLst>
          </p:cNvPr>
          <p:cNvSpPr txBox="1">
            <a:spLocks/>
          </p:cNvSpPr>
          <p:nvPr/>
        </p:nvSpPr>
        <p:spPr>
          <a:xfrm>
            <a:off x="122238" y="4865935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25"/>
              </a:spcBef>
            </a:pP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[2005.14165] Language Models are Few-Shot Learners</a:t>
            </a:r>
          </a:p>
          <a:p>
            <a:pPr fontAlgn="ctr"/>
            <a:b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</a:br>
            <a:endParaRPr lang="en" altLang="ko-KR">
              <a:solidFill>
                <a:srgbClr val="1A0DAB"/>
              </a:solidFill>
              <a:latin typeface="Arial" panose="020B0604020202020204" pitchFamily="34" charset="0"/>
              <a:hlinkClick r:id="rId2"/>
            </a:endParaRPr>
          </a:p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157AC8-E980-AF00-1D90-1E33E7D2C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46" y="1620138"/>
            <a:ext cx="4056452" cy="2992963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E2F33D9-D1E5-E558-A31C-5014F5EBA8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29133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61CC85-ED38-3983-028C-8F3D89B9C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B2EA5-5704-0405-E965-877C28021E1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N</a:t>
            </a:r>
            <a:r>
              <a:rPr kumimoji="1" lang="ko-KR" altLang="en-US" dirty="0"/>
              <a:t> </a:t>
            </a:r>
            <a:r>
              <a:rPr kumimoji="1" lang="en-US" altLang="ko-KR" dirty="0"/>
              <a:t>Shot</a:t>
            </a:r>
            <a:r>
              <a:rPr kumimoji="1" lang="ko-KR" altLang="en-US" dirty="0"/>
              <a:t> </a:t>
            </a:r>
            <a:r>
              <a:rPr kumimoji="1" lang="en-US" altLang="ko-KR" dirty="0"/>
              <a:t>Learning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2348D0-0449-567A-31D4-B52FE7A38A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49250" y="1113235"/>
            <a:ext cx="8245500" cy="3962400"/>
          </a:xfrm>
        </p:spPr>
        <p:txBody>
          <a:bodyPr/>
          <a:lstStyle/>
          <a:p>
            <a:r>
              <a:rPr lang="en" altLang="ko-KR" b="0" dirty="0"/>
              <a:t>GPT-3 can perform zero-shot, one-shot, or few-shot learning by</a:t>
            </a:r>
            <a:r>
              <a:rPr lang="ko-KR" altLang="en-US" b="0" dirty="0"/>
              <a:t> </a:t>
            </a:r>
            <a:r>
              <a:rPr lang="en" altLang="ko-KR" dirty="0"/>
              <a:t>leveraging task instructions and minimal examples </a:t>
            </a:r>
            <a:r>
              <a:rPr lang="en" altLang="ko-KR" b="0" dirty="0"/>
              <a:t>to generate appropriate responses.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EBDF35-ABDD-ED8B-9DEA-DB7A9447092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13AA473B-D114-8C15-1205-16825F9CE0E2}"/>
              </a:ext>
            </a:extLst>
          </p:cNvPr>
          <p:cNvSpPr txBox="1">
            <a:spLocks/>
          </p:cNvSpPr>
          <p:nvPr/>
        </p:nvSpPr>
        <p:spPr>
          <a:xfrm>
            <a:off x="122238" y="4865935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25"/>
              </a:spcBef>
            </a:pP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[2005.14165] Language Models are Few-Shot Learners</a:t>
            </a:r>
          </a:p>
          <a:p>
            <a:pPr fontAlgn="ctr"/>
            <a:b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</a:br>
            <a:endParaRPr lang="en" altLang="ko-KR">
              <a:solidFill>
                <a:srgbClr val="1A0DAB"/>
              </a:solidFill>
              <a:latin typeface="Arial" panose="020B0604020202020204" pitchFamily="34" charset="0"/>
              <a:hlinkClick r:id="rId2"/>
            </a:endParaRPr>
          </a:p>
          <a:p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F759CF9-5486-AA91-218E-02DD41C0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766" y="2381102"/>
            <a:ext cx="3848100" cy="1193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A09259-6895-C37C-58D7-E2C7265FF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50" y="2501501"/>
            <a:ext cx="4169632" cy="976168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C423F9A-166B-FC0F-AB79-B9B9741C2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41812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B212625-77F4-449B-D538-10A7731B6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26FED9-5102-6923-2150-EE3F87D409A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In Context Learning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8F8718-1B7D-A424-B037-AF9E500D5A5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ko-KR" b="0" dirty="0"/>
              <a:t>In-context learning allows the model to </a:t>
            </a:r>
            <a:r>
              <a:rPr lang="en" altLang="ko-KR" dirty="0"/>
              <a:t>learn from examples </a:t>
            </a:r>
            <a:r>
              <a:rPr lang="en" altLang="ko-KR" b="0" dirty="0"/>
              <a:t>provided in the prompt, without any training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C1ADBA-651A-A158-0AAC-172F315B134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3DFB5A-3D3D-A210-54E0-80876CEE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336" y="1809172"/>
            <a:ext cx="5122577" cy="2229427"/>
          </a:xfrm>
          <a:prstGeom prst="rect">
            <a:avLst/>
          </a:prstGeom>
        </p:spPr>
      </p:pic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4296A7F0-8889-2F8A-A629-3C9C0A0ADF85}"/>
              </a:ext>
            </a:extLst>
          </p:cNvPr>
          <p:cNvSpPr txBox="1">
            <a:spLocks/>
          </p:cNvSpPr>
          <p:nvPr/>
        </p:nvSpPr>
        <p:spPr>
          <a:xfrm>
            <a:off x="122238" y="4865935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25"/>
              </a:spcBef>
            </a:pP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[2005.14165] Language Models are Few-Shot Learners</a:t>
            </a:r>
          </a:p>
          <a:p>
            <a:pPr fontAlgn="ctr"/>
            <a:b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</a:br>
            <a:endParaRPr lang="en" altLang="ko-KR">
              <a:solidFill>
                <a:srgbClr val="1A0DAB"/>
              </a:solidFill>
              <a:latin typeface="Arial" panose="020B0604020202020204" pitchFamily="34" charset="0"/>
              <a:hlinkClick r:id="rId4"/>
            </a:endParaRPr>
          </a:p>
          <a:p>
            <a:endParaRPr kumimoji="1"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207B0CF-68D2-43F1-7019-1FE935C0FB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95319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A40172-78A0-84B0-C548-D64B4216A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AED796-8E49-C089-EE01-78C235BC809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Limitation of only pretraining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6892DF-EA42-B1D3-FE0F-2E8A3D62E1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lang="en" altLang="ko-KR" b="0" dirty="0"/>
              <a:t>Without fine-tuning, pretrained models can </a:t>
            </a:r>
            <a:r>
              <a:rPr lang="en" altLang="ko-KR" dirty="0"/>
              <a:t>fail to follow instructions </a:t>
            </a:r>
            <a:r>
              <a:rPr lang="en" altLang="ko-KR" b="0" dirty="0"/>
              <a:t>and instead mimic patterns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228A60-AFAB-E913-2A1A-277997FCB21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ED353A-3987-54C1-CBB0-16E3FF00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25" y="1089973"/>
            <a:ext cx="7772400" cy="254510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8A082-64C1-9D22-7481-8BEC01BF6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68716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99EF-4C56-44E0-1EC7-08D7F475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A5E0552-73EB-F5B4-D977-E013DFE1B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EEB6A7-8C42-FF56-3F3B-754DE715DC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Limitation of only pretraining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E6187-F3BB-62F4-007B-18C1ECF4DF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lang="en" altLang="ko-KR" b="0" dirty="0"/>
              <a:t>Without fine-tuning, pretrained models can </a:t>
            </a:r>
            <a:r>
              <a:rPr lang="en" altLang="ko-KR" dirty="0"/>
              <a:t>fail to follow instructions </a:t>
            </a:r>
            <a:r>
              <a:rPr lang="en" altLang="ko-KR" b="0" dirty="0"/>
              <a:t>and instead mimic patterns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04EBF7-2136-ADFF-4394-67D3A0D4AE0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900DDC-E0F2-8297-0270-7C56DA63F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926441"/>
            <a:ext cx="7772400" cy="2802938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90B0135-2502-6B68-122A-2E3DC9F837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20627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7AEB-5BF7-9CCB-8E8A-AB8315A8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CB87472-0D4A-B740-45DA-29D04BB78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2AFC9-A694-9106-5CD6-62BD8C43C0E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221E30-56F2-C70D-5660-8BF399F10A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345608" y="2205447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RLHF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3E4AB0-EA1F-B99C-2092-A957E7419BE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02D43-304A-EF88-5955-538B094B6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908139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2B127B-E92D-7B03-F96C-B32F22499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AD3056-138E-07C4-83CD-DE94E189A96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Finetuning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4EFA47-C9E8-BBC6-05DB-71C254378569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5E381AA-9D39-3D10-257C-CABB5B18F5CC}"/>
              </a:ext>
            </a:extLst>
          </p:cNvPr>
          <p:cNvSpPr/>
          <p:nvPr/>
        </p:nvSpPr>
        <p:spPr>
          <a:xfrm>
            <a:off x="556459" y="2325763"/>
            <a:ext cx="3809999" cy="80356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Decoder</a:t>
            </a:r>
          </a:p>
          <a:p>
            <a:pPr algn="ctr"/>
            <a:r>
              <a:rPr kumimoji="1" lang="en-US" altLang="ko-KR" dirty="0"/>
              <a:t>(Transformer , LSTM,…)</a:t>
            </a:r>
            <a:endParaRPr kumimoji="1"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EFEE246-A858-7B60-B3E1-99AD992BF8CB}"/>
              </a:ext>
            </a:extLst>
          </p:cNvPr>
          <p:cNvCxnSpPr>
            <a:cxnSpLocks/>
          </p:cNvCxnSpPr>
          <p:nvPr/>
        </p:nvCxnSpPr>
        <p:spPr>
          <a:xfrm flipV="1">
            <a:off x="777155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A3F2527-44C4-6C07-2F67-253EBBBC8679}"/>
              </a:ext>
            </a:extLst>
          </p:cNvPr>
          <p:cNvCxnSpPr>
            <a:cxnSpLocks/>
          </p:cNvCxnSpPr>
          <p:nvPr/>
        </p:nvCxnSpPr>
        <p:spPr>
          <a:xfrm flipV="1">
            <a:off x="1421391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BEF4671-A3FB-33D2-B6A0-AB21A0235F8F}"/>
              </a:ext>
            </a:extLst>
          </p:cNvPr>
          <p:cNvCxnSpPr>
            <a:cxnSpLocks/>
          </p:cNvCxnSpPr>
          <p:nvPr/>
        </p:nvCxnSpPr>
        <p:spPr>
          <a:xfrm flipV="1">
            <a:off x="2044845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A4975AE-A5A9-CE8A-43C0-00E1F87BE4A1}"/>
              </a:ext>
            </a:extLst>
          </p:cNvPr>
          <p:cNvCxnSpPr>
            <a:cxnSpLocks/>
          </p:cNvCxnSpPr>
          <p:nvPr/>
        </p:nvCxnSpPr>
        <p:spPr>
          <a:xfrm flipV="1">
            <a:off x="2786065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5E107BC-7595-F214-51D7-4514AA42042C}"/>
              </a:ext>
            </a:extLst>
          </p:cNvPr>
          <p:cNvCxnSpPr>
            <a:cxnSpLocks/>
          </p:cNvCxnSpPr>
          <p:nvPr/>
        </p:nvCxnSpPr>
        <p:spPr>
          <a:xfrm flipV="1">
            <a:off x="3471864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803F75E-55BD-D3C6-7807-3ADA53701C60}"/>
              </a:ext>
            </a:extLst>
          </p:cNvPr>
          <p:cNvCxnSpPr>
            <a:cxnSpLocks/>
          </p:cNvCxnSpPr>
          <p:nvPr/>
        </p:nvCxnSpPr>
        <p:spPr>
          <a:xfrm flipV="1">
            <a:off x="4074536" y="2022368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CFFDB60-270F-04D1-E181-2D052DD25D2F}"/>
              </a:ext>
            </a:extLst>
          </p:cNvPr>
          <p:cNvCxnSpPr>
            <a:cxnSpLocks/>
          </p:cNvCxnSpPr>
          <p:nvPr/>
        </p:nvCxnSpPr>
        <p:spPr>
          <a:xfrm flipV="1">
            <a:off x="784081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CD659A3-C3AA-1C3C-49A8-6AF078F0C670}"/>
              </a:ext>
            </a:extLst>
          </p:cNvPr>
          <p:cNvCxnSpPr>
            <a:cxnSpLocks/>
          </p:cNvCxnSpPr>
          <p:nvPr/>
        </p:nvCxnSpPr>
        <p:spPr>
          <a:xfrm flipV="1">
            <a:off x="1428317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50FB213-6D1D-7233-3F45-F80FC1073DFC}"/>
              </a:ext>
            </a:extLst>
          </p:cNvPr>
          <p:cNvCxnSpPr>
            <a:cxnSpLocks/>
          </p:cNvCxnSpPr>
          <p:nvPr/>
        </p:nvCxnSpPr>
        <p:spPr>
          <a:xfrm flipV="1">
            <a:off x="2051771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CC75B86-6743-4FFD-7BBC-885C6A623C5D}"/>
              </a:ext>
            </a:extLst>
          </p:cNvPr>
          <p:cNvCxnSpPr>
            <a:cxnSpLocks/>
          </p:cNvCxnSpPr>
          <p:nvPr/>
        </p:nvCxnSpPr>
        <p:spPr>
          <a:xfrm flipV="1">
            <a:off x="2792991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0002F2D-DFBF-DFCC-5880-6E0F5B219EF5}"/>
              </a:ext>
            </a:extLst>
          </p:cNvPr>
          <p:cNvCxnSpPr>
            <a:cxnSpLocks/>
          </p:cNvCxnSpPr>
          <p:nvPr/>
        </p:nvCxnSpPr>
        <p:spPr>
          <a:xfrm flipV="1">
            <a:off x="3478790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A1BAD83-DC10-1C87-C938-FF9263E9B9F1}"/>
              </a:ext>
            </a:extLst>
          </p:cNvPr>
          <p:cNvCxnSpPr>
            <a:cxnSpLocks/>
          </p:cNvCxnSpPr>
          <p:nvPr/>
        </p:nvCxnSpPr>
        <p:spPr>
          <a:xfrm flipV="1">
            <a:off x="4081462" y="3109955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64C98C-F68F-EDE3-53EB-F07D9AE8838B}"/>
              </a:ext>
            </a:extLst>
          </p:cNvPr>
          <p:cNvSpPr/>
          <p:nvPr/>
        </p:nvSpPr>
        <p:spPr>
          <a:xfrm>
            <a:off x="707882" y="3393974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81B07A-FCDB-0D11-828F-8113D1FF32B7}"/>
              </a:ext>
            </a:extLst>
          </p:cNvPr>
          <p:cNvSpPr/>
          <p:nvPr/>
        </p:nvSpPr>
        <p:spPr>
          <a:xfrm>
            <a:off x="1355580" y="3393974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2CC132-41C8-DEC4-C0EB-48742F58555C}"/>
              </a:ext>
            </a:extLst>
          </p:cNvPr>
          <p:cNvSpPr/>
          <p:nvPr/>
        </p:nvSpPr>
        <p:spPr>
          <a:xfrm>
            <a:off x="1979034" y="3393974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C4FD3E-8480-FACA-D50E-D695FB3146C5}"/>
              </a:ext>
            </a:extLst>
          </p:cNvPr>
          <p:cNvSpPr/>
          <p:nvPr/>
        </p:nvSpPr>
        <p:spPr>
          <a:xfrm>
            <a:off x="2730646" y="3393974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F4B9A9D-BB4A-F0D2-8C2C-04F1758D606D}"/>
              </a:ext>
            </a:extLst>
          </p:cNvPr>
          <p:cNvSpPr/>
          <p:nvPr/>
        </p:nvSpPr>
        <p:spPr>
          <a:xfrm>
            <a:off x="3406054" y="3385902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4963AC-AC19-DB20-BFE8-AEB14E991F66}"/>
              </a:ext>
            </a:extLst>
          </p:cNvPr>
          <p:cNvSpPr/>
          <p:nvPr/>
        </p:nvSpPr>
        <p:spPr>
          <a:xfrm>
            <a:off x="4006899" y="3393974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33274A-A2EA-3611-0191-E783805C5DBE}"/>
              </a:ext>
            </a:extLst>
          </p:cNvPr>
          <p:cNvSpPr txBox="1"/>
          <p:nvPr/>
        </p:nvSpPr>
        <p:spPr>
          <a:xfrm>
            <a:off x="581942" y="3693427"/>
            <a:ext cx="4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Iroh</a:t>
            </a:r>
            <a:endParaRPr kumimoji="1"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EA0810-D13D-AD3F-EE12-EF322193B985}"/>
              </a:ext>
            </a:extLst>
          </p:cNvPr>
          <p:cNvSpPr txBox="1"/>
          <p:nvPr/>
        </p:nvSpPr>
        <p:spPr>
          <a:xfrm>
            <a:off x="1198125" y="3693926"/>
            <a:ext cx="460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goes</a:t>
            </a:r>
            <a:endParaRPr kumimoji="1"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43798-7F24-CFB3-B566-604BD4CFE211}"/>
              </a:ext>
            </a:extLst>
          </p:cNvPr>
          <p:cNvSpPr txBox="1"/>
          <p:nvPr/>
        </p:nvSpPr>
        <p:spPr>
          <a:xfrm>
            <a:off x="1906538" y="3693426"/>
            <a:ext cx="290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to</a:t>
            </a:r>
            <a:endParaRPr kumimoji="1"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C035C3-E700-4DDA-DAD2-DAC25108EB3A}"/>
              </a:ext>
            </a:extLst>
          </p:cNvPr>
          <p:cNvSpPr txBox="1"/>
          <p:nvPr/>
        </p:nvSpPr>
        <p:spPr>
          <a:xfrm>
            <a:off x="2601243" y="3693425"/>
            <a:ext cx="497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make</a:t>
            </a:r>
            <a:endParaRPr kumimoji="1"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7E6518-0327-8446-8940-24ECA0DD3CA1}"/>
              </a:ext>
            </a:extLst>
          </p:cNvPr>
          <p:cNvSpPr txBox="1"/>
          <p:nvPr/>
        </p:nvSpPr>
        <p:spPr>
          <a:xfrm>
            <a:off x="3276651" y="3693425"/>
            <a:ext cx="453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tasty</a:t>
            </a:r>
            <a:endParaRPr kumimoji="1"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BCDD2F-1193-AEC4-D7FA-B504212257B7}"/>
              </a:ext>
            </a:extLst>
          </p:cNvPr>
          <p:cNvSpPr txBox="1"/>
          <p:nvPr/>
        </p:nvSpPr>
        <p:spPr>
          <a:xfrm>
            <a:off x="3917339" y="3684921"/>
            <a:ext cx="3609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tea</a:t>
            </a:r>
            <a:endParaRPr kumimoji="1"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57DD7-3B69-F64B-F131-7EB46F2F2AF6}"/>
              </a:ext>
            </a:extLst>
          </p:cNvPr>
          <p:cNvSpPr txBox="1"/>
          <p:nvPr/>
        </p:nvSpPr>
        <p:spPr>
          <a:xfrm>
            <a:off x="546964" y="1734654"/>
            <a:ext cx="460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goes</a:t>
            </a:r>
            <a:endParaRPr kumimoji="1"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E57C7-56E9-9F4E-7E8B-DBB0BBE7EF14}"/>
              </a:ext>
            </a:extLst>
          </p:cNvPr>
          <p:cNvSpPr txBox="1"/>
          <p:nvPr/>
        </p:nvSpPr>
        <p:spPr>
          <a:xfrm>
            <a:off x="1276159" y="1699944"/>
            <a:ext cx="290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to</a:t>
            </a:r>
            <a:endParaRPr kumimoji="1"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6B2DD-637D-1EED-4BB4-B9EE3187C929}"/>
              </a:ext>
            </a:extLst>
          </p:cNvPr>
          <p:cNvSpPr txBox="1"/>
          <p:nvPr/>
        </p:nvSpPr>
        <p:spPr>
          <a:xfrm>
            <a:off x="1796219" y="1713807"/>
            <a:ext cx="497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make</a:t>
            </a:r>
            <a:endParaRPr kumimoji="1"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C960C2-89B1-2B76-E0B9-E38CF6D2443F}"/>
              </a:ext>
            </a:extLst>
          </p:cNvPr>
          <p:cNvSpPr txBox="1"/>
          <p:nvPr/>
        </p:nvSpPr>
        <p:spPr>
          <a:xfrm>
            <a:off x="2576397" y="1721174"/>
            <a:ext cx="453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tasty</a:t>
            </a:r>
            <a:endParaRPr kumimoji="1"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499AC2-2B98-34DE-F44D-0CD93170226A}"/>
              </a:ext>
            </a:extLst>
          </p:cNvPr>
          <p:cNvSpPr txBox="1"/>
          <p:nvPr/>
        </p:nvSpPr>
        <p:spPr>
          <a:xfrm>
            <a:off x="3298292" y="1727669"/>
            <a:ext cx="3609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tea</a:t>
            </a:r>
            <a:endParaRPr kumimoji="1"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8A46CF-8F39-BB3B-8673-CE6DE888C1A4}"/>
              </a:ext>
            </a:extLst>
          </p:cNvPr>
          <p:cNvSpPr txBox="1"/>
          <p:nvPr/>
        </p:nvSpPr>
        <p:spPr>
          <a:xfrm>
            <a:off x="3834784" y="1734659"/>
            <a:ext cx="5261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[END]</a:t>
            </a:r>
            <a:endParaRPr kumimoji="1" lang="ko-KR" altLang="en-US" sz="1000" dirty="0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D7C455D3-0289-A9D6-BA05-61E0DE71B2F8}"/>
              </a:ext>
            </a:extLst>
          </p:cNvPr>
          <p:cNvSpPr/>
          <p:nvPr/>
        </p:nvSpPr>
        <p:spPr>
          <a:xfrm>
            <a:off x="5281711" y="2325763"/>
            <a:ext cx="3078208" cy="803566"/>
          </a:xfrm>
          <a:prstGeom prst="roundRect">
            <a:avLst/>
          </a:prstGeom>
          <a:gradFill>
            <a:gsLst>
              <a:gs pos="1000">
                <a:schemeClr val="accent1">
                  <a:lumMod val="0"/>
                  <a:lumOff val="100000"/>
                </a:schemeClr>
              </a:gs>
              <a:gs pos="20000">
                <a:schemeClr val="accent1">
                  <a:lumMod val="0"/>
                  <a:lumOff val="100000"/>
                </a:schemeClr>
              </a:gs>
              <a:gs pos="75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Decoder</a:t>
            </a:r>
          </a:p>
          <a:p>
            <a:pPr algn="ctr"/>
            <a:r>
              <a:rPr kumimoji="1" lang="en-US" altLang="ko-KR" dirty="0"/>
              <a:t>(Transformer , LSTM,…)</a:t>
            </a:r>
            <a:endParaRPr kumimoji="1"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11A35-C36A-1ED7-2546-F1D891736C59}"/>
              </a:ext>
            </a:extLst>
          </p:cNvPr>
          <p:cNvSpPr txBox="1"/>
          <p:nvPr/>
        </p:nvSpPr>
        <p:spPr>
          <a:xfrm>
            <a:off x="1023833" y="1134804"/>
            <a:ext cx="305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/>
              <a:t>Step1:Pretrain</a:t>
            </a:r>
          </a:p>
          <a:p>
            <a:r>
              <a:rPr kumimoji="1" lang="en-US" altLang="ko-KR" dirty="0"/>
              <a:t>Lots of text; Learn general thing!</a:t>
            </a:r>
            <a:endParaRPr kumimoji="1"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FBD871-BFCD-45A0-B5C5-F8F3F8C20893}"/>
              </a:ext>
            </a:extLst>
          </p:cNvPr>
          <p:cNvSpPr txBox="1"/>
          <p:nvPr/>
        </p:nvSpPr>
        <p:spPr>
          <a:xfrm>
            <a:off x="5360022" y="1134804"/>
            <a:ext cx="305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/>
              <a:t>Step2:Finetune (on </a:t>
            </a:r>
            <a:r>
              <a:rPr kumimoji="1" lang="en-US" altLang="ko-KR" b="1" dirty="0">
                <a:highlight>
                  <a:srgbClr val="00FFFF"/>
                </a:highlight>
              </a:rPr>
              <a:t>many task</a:t>
            </a:r>
            <a:r>
              <a:rPr kumimoji="1" lang="en-US" altLang="ko-KR" b="1" dirty="0"/>
              <a:t>)</a:t>
            </a:r>
          </a:p>
          <a:p>
            <a:r>
              <a:rPr kumimoji="1" lang="en-US" altLang="ko-KR" dirty="0"/>
              <a:t>Many labels; adapt to the tasks!</a:t>
            </a:r>
            <a:endParaRPr kumimoji="1" lang="ko-KR" altLang="en-US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1EB4D9C-C636-DB00-875A-56A8D1743F44}"/>
              </a:ext>
            </a:extLst>
          </p:cNvPr>
          <p:cNvCxnSpPr>
            <a:cxnSpLocks/>
          </p:cNvCxnSpPr>
          <p:nvPr/>
        </p:nvCxnSpPr>
        <p:spPr>
          <a:xfrm flipV="1">
            <a:off x="5500111" y="313960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3E9EBA0-7F09-9B04-A6F0-6C03F89A445B}"/>
              </a:ext>
            </a:extLst>
          </p:cNvPr>
          <p:cNvCxnSpPr>
            <a:cxnSpLocks/>
          </p:cNvCxnSpPr>
          <p:nvPr/>
        </p:nvCxnSpPr>
        <p:spPr>
          <a:xfrm flipV="1">
            <a:off x="6123565" y="313960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8A1BA40F-03D5-53A6-94FA-7CFE2724ED13}"/>
              </a:ext>
            </a:extLst>
          </p:cNvPr>
          <p:cNvCxnSpPr>
            <a:cxnSpLocks/>
          </p:cNvCxnSpPr>
          <p:nvPr/>
        </p:nvCxnSpPr>
        <p:spPr>
          <a:xfrm flipV="1">
            <a:off x="6864785" y="313960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01A66FB-0BF3-68F9-C2AB-5B244D51C9FF}"/>
              </a:ext>
            </a:extLst>
          </p:cNvPr>
          <p:cNvCxnSpPr>
            <a:cxnSpLocks/>
          </p:cNvCxnSpPr>
          <p:nvPr/>
        </p:nvCxnSpPr>
        <p:spPr>
          <a:xfrm flipV="1">
            <a:off x="7550584" y="313960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FDBB4A6-9704-4025-5D24-5C1C0CC41D33}"/>
              </a:ext>
            </a:extLst>
          </p:cNvPr>
          <p:cNvCxnSpPr>
            <a:cxnSpLocks/>
          </p:cNvCxnSpPr>
          <p:nvPr/>
        </p:nvCxnSpPr>
        <p:spPr>
          <a:xfrm flipV="1">
            <a:off x="8153256" y="313960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BA4E92A-D1B7-AF54-8ACE-B92E8C3C849C}"/>
              </a:ext>
            </a:extLst>
          </p:cNvPr>
          <p:cNvSpPr/>
          <p:nvPr/>
        </p:nvSpPr>
        <p:spPr>
          <a:xfrm>
            <a:off x="5427374" y="3423621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94F744B-E50E-39BE-2042-A31D7567D6C4}"/>
              </a:ext>
            </a:extLst>
          </p:cNvPr>
          <p:cNvSpPr/>
          <p:nvPr/>
        </p:nvSpPr>
        <p:spPr>
          <a:xfrm>
            <a:off x="6050828" y="3423621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C20EC7E-1C79-DC37-81C4-859787775123}"/>
              </a:ext>
            </a:extLst>
          </p:cNvPr>
          <p:cNvSpPr/>
          <p:nvPr/>
        </p:nvSpPr>
        <p:spPr>
          <a:xfrm>
            <a:off x="6802440" y="3423621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43164EE-807D-CA41-10F2-F19536C33801}"/>
              </a:ext>
            </a:extLst>
          </p:cNvPr>
          <p:cNvSpPr/>
          <p:nvPr/>
        </p:nvSpPr>
        <p:spPr>
          <a:xfrm>
            <a:off x="7477848" y="3415549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33693B8-20B2-0109-E4A5-53C0BECE90AA}"/>
              </a:ext>
            </a:extLst>
          </p:cNvPr>
          <p:cNvSpPr/>
          <p:nvPr/>
        </p:nvSpPr>
        <p:spPr>
          <a:xfrm>
            <a:off x="8078693" y="3423621"/>
            <a:ext cx="145473" cy="270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FC231C3-E0F3-7FEC-0C7E-5C2453AAF239}"/>
              </a:ext>
            </a:extLst>
          </p:cNvPr>
          <p:cNvCxnSpPr>
            <a:cxnSpLocks/>
          </p:cNvCxnSpPr>
          <p:nvPr/>
        </p:nvCxnSpPr>
        <p:spPr>
          <a:xfrm flipV="1">
            <a:off x="5500111" y="210625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149CE76-4F1B-6503-B976-B18E24F53048}"/>
              </a:ext>
            </a:extLst>
          </p:cNvPr>
          <p:cNvCxnSpPr>
            <a:cxnSpLocks/>
          </p:cNvCxnSpPr>
          <p:nvPr/>
        </p:nvCxnSpPr>
        <p:spPr>
          <a:xfrm flipV="1">
            <a:off x="6123565" y="210625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3DD1D18-3B46-CC83-5E5E-81CB3C164FBD}"/>
              </a:ext>
            </a:extLst>
          </p:cNvPr>
          <p:cNvCxnSpPr>
            <a:cxnSpLocks/>
          </p:cNvCxnSpPr>
          <p:nvPr/>
        </p:nvCxnSpPr>
        <p:spPr>
          <a:xfrm flipV="1">
            <a:off x="6864785" y="210625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223DF2CA-4F16-483C-7111-DC5209A8ED8D}"/>
              </a:ext>
            </a:extLst>
          </p:cNvPr>
          <p:cNvCxnSpPr>
            <a:cxnSpLocks/>
          </p:cNvCxnSpPr>
          <p:nvPr/>
        </p:nvCxnSpPr>
        <p:spPr>
          <a:xfrm flipV="1">
            <a:off x="7550584" y="210625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C003C54-B6D8-6EB1-D2B3-83F37DCACD63}"/>
              </a:ext>
            </a:extLst>
          </p:cNvPr>
          <p:cNvCxnSpPr>
            <a:cxnSpLocks/>
          </p:cNvCxnSpPr>
          <p:nvPr/>
        </p:nvCxnSpPr>
        <p:spPr>
          <a:xfrm flipV="1">
            <a:off x="8153256" y="2106252"/>
            <a:ext cx="0" cy="2840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CB94850-3EAC-1CC8-E098-11DD0C860831}"/>
              </a:ext>
            </a:extLst>
          </p:cNvPr>
          <p:cNvSpPr txBox="1"/>
          <p:nvPr/>
        </p:nvSpPr>
        <p:spPr>
          <a:xfrm>
            <a:off x="6196301" y="3823909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The movie was…</a:t>
            </a:r>
            <a:endParaRPr kumimoji="1"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B6B07F-2ECF-4C51-6A49-43FF700D7FF1}"/>
              </a:ext>
            </a:extLst>
          </p:cNvPr>
          <p:cNvSpPr txBox="1"/>
          <p:nvPr/>
        </p:nvSpPr>
        <p:spPr>
          <a:xfrm>
            <a:off x="7876634" y="1805218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label</a:t>
            </a:r>
            <a:endParaRPr kumimoji="1" lang="ko-KR" altLang="en-US" dirty="0"/>
          </a:p>
        </p:txBody>
      </p:sp>
      <p:sp>
        <p:nvSpPr>
          <p:cNvPr id="71" name="슬라이드 번호 개체 틀 70">
            <a:extLst>
              <a:ext uri="{FF2B5EF4-FFF2-40B4-BE49-F238E27FC236}">
                <a16:creationId xmlns:a16="http://schemas.microsoft.com/office/drawing/2014/main" id="{A8060B2F-4B67-1624-5E5D-9163CAE692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45268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9E49554-9DAD-5E71-E02D-46FD1A4CF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F39364-E86A-1C35-A58D-59E1AB14547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Instruction finetuning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ABFD17-FDA9-A973-6C8B-734D9B4B001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sz="1600" b="0" dirty="0"/>
              <a:t>Collect examples of (instruction, output) pairs across many tasks and finetune an LM</a:t>
            </a:r>
            <a:endParaRPr kumimoji="1" lang="ko-KR" altLang="en-US" sz="16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FE1BFD-E08B-22CA-72F8-A1F9531AA4D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Scaling instruction-finetuned language models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6E56C3-0AD4-3F42-6991-4780CBDAC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63" y="1340546"/>
            <a:ext cx="6620691" cy="336426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983D89-4023-D598-B644-1DF3BDC335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07810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6E24B2-6647-24BC-A4F6-187447265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05B468-F966-C476-7838-19DF38110BF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Instruction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finetuning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F5C274-504B-11B6-90DF-69B0605142E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Super</a:t>
            </a:r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-</a:t>
            </a:r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naturalinstructions</a:t>
            </a:r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: Generalization via declarative instructions on 1600+ nlp tasks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7EBD95-4C31-286C-77BD-442EB64A6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949338"/>
            <a:ext cx="4042211" cy="374012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64DBE27-CAAD-88F5-71DC-F365BB19A88D}"/>
              </a:ext>
            </a:extLst>
          </p:cNvPr>
          <p:cNvSpPr/>
          <p:nvPr/>
        </p:nvSpPr>
        <p:spPr>
          <a:xfrm>
            <a:off x="4659086" y="933322"/>
            <a:ext cx="1252638" cy="40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8E8A2D-1746-F123-F103-11D9F7ACC662}"/>
              </a:ext>
            </a:extLst>
          </p:cNvPr>
          <p:cNvSpPr/>
          <p:nvPr/>
        </p:nvSpPr>
        <p:spPr>
          <a:xfrm>
            <a:off x="7666373" y="4400089"/>
            <a:ext cx="1252638" cy="40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8847-F458-C427-0DB9-FB89D7ED6983}"/>
              </a:ext>
            </a:extLst>
          </p:cNvPr>
          <p:cNvSpPr txBox="1"/>
          <p:nvPr/>
        </p:nvSpPr>
        <p:spPr>
          <a:xfrm>
            <a:off x="302883" y="1556087"/>
            <a:ext cx="42691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ko-KR" sz="1800" dirty="0"/>
              <a:t>As is usually the case, </a:t>
            </a:r>
            <a:r>
              <a:rPr kumimoji="1" lang="en" altLang="ko-KR" sz="1800" b="1" dirty="0"/>
              <a:t>data + model</a:t>
            </a:r>
          </a:p>
          <a:p>
            <a:r>
              <a:rPr kumimoji="1" lang="en" altLang="ko-KR" sz="1800" b="1" dirty="0"/>
              <a:t>scale </a:t>
            </a:r>
            <a:r>
              <a:rPr kumimoji="1" lang="en" altLang="ko-KR" sz="1800" dirty="0"/>
              <a:t>is key for this to work!</a:t>
            </a:r>
          </a:p>
          <a:p>
            <a:endParaRPr kumimoji="1" lang="en" altLang="ko-K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ko-KR" sz="1800" b="1" dirty="0"/>
              <a:t>Super-</a:t>
            </a:r>
            <a:r>
              <a:rPr kumimoji="1" lang="en" altLang="ko-KR" sz="1800" b="1" dirty="0" err="1"/>
              <a:t>NaturalInstructions</a:t>
            </a:r>
            <a:r>
              <a:rPr kumimoji="1" lang="en" altLang="ko-KR" sz="1800" dirty="0"/>
              <a:t> dataset</a:t>
            </a:r>
          </a:p>
          <a:p>
            <a:r>
              <a:rPr kumimoji="1" lang="en" altLang="ko-KR" sz="1800" dirty="0"/>
              <a:t>contains over 1.6K tasks,3M+ examples</a:t>
            </a:r>
          </a:p>
          <a:p>
            <a:endParaRPr kumimoji="1" lang="en" altLang="ko-KR" sz="1800" dirty="0"/>
          </a:p>
          <a:p>
            <a:r>
              <a:rPr kumimoji="1" lang="en-US" altLang="ko-KR" sz="1800" u="sng" dirty="0"/>
              <a:t>How do we evaluate such models?</a:t>
            </a:r>
            <a:endParaRPr kumimoji="1" lang="ko-KR" altLang="en-US" sz="1800" u="sng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E9B22A6-0385-3A98-60B3-223BC49D2F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99196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167EFB-9BEA-0B4E-2AF3-EC6C25B27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1F560-685B-A63D-EAB9-03BB28EAAD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N</a:t>
            </a:r>
            <a:r>
              <a:rPr kumimoji="1" lang="en" altLang="ko-KR" dirty="0" err="1"/>
              <a:t>ew</a:t>
            </a:r>
            <a:r>
              <a:rPr kumimoji="1" lang="en" altLang="ko-KR" dirty="0"/>
              <a:t> benchmarks for multitask LMs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A72B4-FDCB-F861-F6FF-A437C6F9269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b="0" dirty="0"/>
              <a:t>Massive Multitask Language</a:t>
            </a:r>
          </a:p>
          <a:p>
            <a:r>
              <a:rPr kumimoji="1" lang="en-US" altLang="ko-KR" b="0" dirty="0"/>
              <a:t>Understanding (MMLU)</a:t>
            </a:r>
          </a:p>
          <a:p>
            <a:endParaRPr kumimoji="1" lang="en-US" altLang="ko-KR" b="0" dirty="0"/>
          </a:p>
          <a:p>
            <a:r>
              <a:rPr kumimoji="1" lang="en" altLang="ko-KR" b="0" dirty="0"/>
              <a:t>New benchmarks for measuring LM</a:t>
            </a:r>
          </a:p>
          <a:p>
            <a:r>
              <a:rPr kumimoji="1" lang="en" altLang="ko-KR" b="0" dirty="0"/>
              <a:t>performance on 57 diverse</a:t>
            </a:r>
          </a:p>
          <a:p>
            <a:r>
              <a:rPr kumimoji="1" lang="en" altLang="ko-KR" b="0" dirty="0"/>
              <a:t>knowledge intensive tasks</a:t>
            </a:r>
          </a:p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91776E-AE64-043E-B30F-FEF7E8EFC44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Measuring massive multitask language understanding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517695-A6B5-06FD-E030-9222463A2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57" y="943754"/>
            <a:ext cx="3932806" cy="375129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5CC301-A974-36C9-A1FA-F4315D5759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341853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E319A1-E863-B1BE-3203-CFC2BC6C3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ADD3E-7224-9B4D-6852-FA6380EE57D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Example from MMLU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BFFE6E-1706-2920-6B39-3C1008A43A7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8E5995-9C5B-FCC5-4B31-5E69D66CF7F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CD4593-020C-555A-B0C6-9288A103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9" y="838200"/>
            <a:ext cx="6008076" cy="379182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12C6CF-E825-D4B1-211A-F75DD7BFC1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71319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896AF29-ECB2-64BC-0463-07A3836DC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9F6008-028F-6772-1677-8DDDCBA5565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Instruction finetuning and performance gains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D09496-3011-4C6F-FA3A-F32FACE4B7A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9984A9-309A-5210-1680-8BFEA4C893B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A180B1-F9F0-5C44-AA48-84542CA28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2" y="1168350"/>
            <a:ext cx="3623282" cy="3147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B44839-2D08-4498-3C71-1EADB7F3C12B}"/>
              </a:ext>
            </a:extLst>
          </p:cNvPr>
          <p:cNvSpPr txBox="1"/>
          <p:nvPr/>
        </p:nvSpPr>
        <p:spPr>
          <a:xfrm>
            <a:off x="353210" y="1371421"/>
            <a:ext cx="45704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800" b="1" dirty="0"/>
              <a:t>Flan-T5 </a:t>
            </a:r>
            <a:r>
              <a:rPr kumimoji="1" lang="en" altLang="ko-KR" sz="1800" dirty="0"/>
              <a:t>- T5 models</a:t>
            </a:r>
          </a:p>
          <a:p>
            <a:r>
              <a:rPr kumimoji="1" lang="en" altLang="ko-KR" sz="1800" dirty="0"/>
              <a:t>finetuned on 1.8K additional tasks</a:t>
            </a:r>
          </a:p>
          <a:p>
            <a:endParaRPr kumimoji="1" lang="en" altLang="ko-KR" sz="1800" b="1" dirty="0"/>
          </a:p>
          <a:p>
            <a:r>
              <a:rPr kumimoji="1" lang="en" altLang="ko-KR" sz="1800" b="1" dirty="0"/>
              <a:t>Bigger model performance gains better!</a:t>
            </a:r>
            <a:endParaRPr kumimoji="1" lang="ko-KR" altLang="en-US" sz="1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BB9C0D-4AE5-07D9-E32C-B7AE50D3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571" y="2730119"/>
            <a:ext cx="2059279" cy="1903535"/>
          </a:xfrm>
          <a:prstGeom prst="rect">
            <a:avLst/>
          </a:prstGeom>
        </p:spPr>
      </p:pic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D409F716-9A16-366C-8C70-5573396CD735}"/>
              </a:ext>
            </a:extLst>
          </p:cNvPr>
          <p:cNvSpPr txBox="1">
            <a:spLocks/>
          </p:cNvSpPr>
          <p:nvPr/>
        </p:nvSpPr>
        <p:spPr>
          <a:xfrm>
            <a:off x="230821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Scaling instruction-finetuned language models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29368CE-F77F-5F8A-632D-7E16D0B7EA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583787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26143BF-E456-3B4A-C1DB-7480132B1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2750B2-903A-6F69-36EB-20ADDF7561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Instruction finetuning and performance gains</a:t>
            </a:r>
            <a:endParaRPr kumimoji="1" lang="ko-KR" altLang="en-US" dirty="0"/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493CD5-970B-290D-BF6D-14172942F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030011"/>
            <a:ext cx="7772400" cy="3083477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CE2169-3826-0CE3-E3D2-BF1BBD1E45F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1AF1ED-9731-A67D-BA25-436C9A34CAB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E4DE47-A55C-590F-C297-61A16072E0A3}"/>
              </a:ext>
            </a:extLst>
          </p:cNvPr>
          <p:cNvSpPr/>
          <p:nvPr/>
        </p:nvSpPr>
        <p:spPr>
          <a:xfrm>
            <a:off x="4079631" y="1184031"/>
            <a:ext cx="187569" cy="187569"/>
          </a:xfrm>
          <a:prstGeom prst="rect">
            <a:avLst/>
          </a:prstGeom>
          <a:solidFill>
            <a:srgbClr val="CDDB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006984-779B-3AE0-52D3-02F7BB0B7D68}"/>
              </a:ext>
            </a:extLst>
          </p:cNvPr>
          <p:cNvSpPr/>
          <p:nvPr/>
        </p:nvSpPr>
        <p:spPr>
          <a:xfrm>
            <a:off x="7725506" y="1191796"/>
            <a:ext cx="187569" cy="187569"/>
          </a:xfrm>
          <a:prstGeom prst="rect">
            <a:avLst/>
          </a:prstGeom>
          <a:solidFill>
            <a:srgbClr val="EEC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018489-E0D6-0CA8-CC59-EDA7C0282A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279692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65B1EA-DD1A-E38A-0CF4-2DD603D63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804BB-3A7B-8B72-A91A-0B5AE6C2CC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Instruction finetuning and performance gains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F49D56-6ECD-F4DE-A6E3-4E995C026BB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CF63E3-41E5-90DF-89F3-F9876A1CF77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CDBC09-A552-15C2-BD7D-EE352F14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13" y="952234"/>
            <a:ext cx="7772400" cy="323903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11D6038-A5A9-C231-B0BC-54C29F9758A8}"/>
              </a:ext>
            </a:extLst>
          </p:cNvPr>
          <p:cNvSpPr/>
          <p:nvPr/>
        </p:nvSpPr>
        <p:spPr>
          <a:xfrm>
            <a:off x="7502769" y="1133181"/>
            <a:ext cx="187569" cy="187569"/>
          </a:xfrm>
          <a:prstGeom prst="rect">
            <a:avLst/>
          </a:prstGeom>
          <a:solidFill>
            <a:srgbClr val="D9EA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43EAC1-EA2F-FB98-A7AF-E75F9C1CEB7C}"/>
              </a:ext>
            </a:extLst>
          </p:cNvPr>
          <p:cNvSpPr/>
          <p:nvPr/>
        </p:nvSpPr>
        <p:spPr>
          <a:xfrm>
            <a:off x="4044461" y="1133181"/>
            <a:ext cx="187569" cy="187569"/>
          </a:xfrm>
          <a:prstGeom prst="rect">
            <a:avLst/>
          </a:prstGeom>
          <a:solidFill>
            <a:srgbClr val="CBD9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7A90ED-214D-4B77-065C-72D01C2A4E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123204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55BFC2-3FBC-CF76-8809-AFE8E35DA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B7C950-0A0C-2BC8-314B-6C75FF02560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Instruction tuning from LM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58E61-77B0-9935-B8E7-4B079C74DC2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b="0" dirty="0"/>
              <a:t>Generate instructions, input, and output from LM</a:t>
            </a:r>
          </a:p>
          <a:p>
            <a:r>
              <a:rPr kumimoji="1" lang="en" altLang="ko-KR" b="0" dirty="0"/>
              <a:t>Instruction tuned small model</a:t>
            </a:r>
            <a:r>
              <a:rPr kumimoji="1" lang="ko-KR" altLang="en-US" b="0" dirty="0"/>
              <a:t> </a:t>
            </a:r>
            <a:r>
              <a:rPr kumimoji="1" lang="en" altLang="ko-KR" b="0" dirty="0"/>
              <a:t>on par with GPT3.5 on evaluation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6F168F-4287-A83A-390A-F1E435CA630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Self-instruct: Aligning language models with self-generated instructions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8C711F-C5AC-0F99-6EFC-E5FCC17A4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98" y="1578658"/>
            <a:ext cx="6673804" cy="287634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A01BDB-CEAD-E25E-FE0B-FB6C594502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4665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5A62C1-E376-EC77-F558-893F73768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5AFCE-E2B9-A7F4-898B-2DAA908E2E4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HH-RLHF dataset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7050A2-E51E-0E2E-B02F-1BD18CF43E2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Training a helpful and harmless assistant with reinforcement learning from human feedback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(2022)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C22DE-B761-64CC-97FD-DD25F0E3BCBC}"/>
              </a:ext>
            </a:extLst>
          </p:cNvPr>
          <p:cNvSpPr txBox="1"/>
          <p:nvPr/>
        </p:nvSpPr>
        <p:spPr>
          <a:xfrm>
            <a:off x="833786" y="838200"/>
            <a:ext cx="70921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800" b="1" dirty="0"/>
              <a:t>Purpose</a:t>
            </a:r>
            <a:r>
              <a:rPr lang="en" altLang="ko-KR" sz="1800" dirty="0"/>
              <a:t>: To train reward models that guide large language models (LLMs) to produce responses that are both helpful and harmless, aligning with human preferences.</a:t>
            </a:r>
            <a:endParaRPr lang="ko-KR" alt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7CF084-E93B-E20C-4CD7-B80E01CB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74639"/>
            <a:ext cx="7772400" cy="162044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BF1911A-59BA-0F3F-F76C-1EBDF09D7EF1}"/>
              </a:ext>
            </a:extLst>
          </p:cNvPr>
          <p:cNvSpPr/>
          <p:nvPr/>
        </p:nvSpPr>
        <p:spPr>
          <a:xfrm>
            <a:off x="635620" y="2843561"/>
            <a:ext cx="3936380" cy="7917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D30DC-BA77-1545-3C24-40AB0B89C821}"/>
              </a:ext>
            </a:extLst>
          </p:cNvPr>
          <p:cNvSpPr txBox="1"/>
          <p:nvPr/>
        </p:nvSpPr>
        <p:spPr>
          <a:xfrm>
            <a:off x="3189249" y="364252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chosen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8552B-0B14-19EC-F74C-0151EA6771FA}"/>
              </a:ext>
            </a:extLst>
          </p:cNvPr>
          <p:cNvSpPr/>
          <p:nvPr/>
        </p:nvSpPr>
        <p:spPr>
          <a:xfrm>
            <a:off x="4669805" y="2869023"/>
            <a:ext cx="3836020" cy="7662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0F753-63FD-87E5-4FEF-19087F2DCB96}"/>
              </a:ext>
            </a:extLst>
          </p:cNvPr>
          <p:cNvSpPr txBox="1"/>
          <p:nvPr/>
        </p:nvSpPr>
        <p:spPr>
          <a:xfrm>
            <a:off x="7713432" y="3658134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rejected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30DF0-B99E-4AE4-C062-4E14C3658592}"/>
              </a:ext>
            </a:extLst>
          </p:cNvPr>
          <p:cNvSpPr txBox="1"/>
          <p:nvPr/>
        </p:nvSpPr>
        <p:spPr>
          <a:xfrm>
            <a:off x="733425" y="401602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Approximately 161,000 comparison pairs</a:t>
            </a:r>
            <a:endParaRPr lang="ko-KR" altLang="en-US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7A109972-58E7-6EFB-E682-28995D2DCF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111414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30DE-3A85-1809-54F7-70DA9A7C3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0AED8B-7A42-A227-4757-A139FFDD3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FD5DF2-475D-2D87-3FB4-6C893A4F24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HH-RLHF dataset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33B138-E2D7-D239-90C1-00F7C10748A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Training a helpful and harmless assistant with reinforcement learning from human feedback</a:t>
            </a:r>
            <a:r>
              <a:rPr kumimoji="1" lang="en-US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(2022)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FA9AE-33BD-1499-1E60-D1482C80576A}"/>
              </a:ext>
            </a:extLst>
          </p:cNvPr>
          <p:cNvSpPr txBox="1"/>
          <p:nvPr/>
        </p:nvSpPr>
        <p:spPr>
          <a:xfrm>
            <a:off x="733425" y="2287666"/>
            <a:ext cx="7568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800" b="1" dirty="0"/>
              <a:t>Data construction process</a:t>
            </a:r>
          </a:p>
          <a:p>
            <a:pPr>
              <a:buNone/>
            </a:pPr>
            <a:endParaRPr lang="en" altLang="ko-KR" sz="1800" b="1" dirty="0"/>
          </a:p>
          <a:p>
            <a:pPr>
              <a:buNone/>
            </a:pPr>
            <a:r>
              <a:rPr lang="en" altLang="ko-KR" sz="1800" b="1" dirty="0"/>
              <a:t>- Prompting</a:t>
            </a:r>
            <a:r>
              <a:rPr lang="en" altLang="ko-KR" sz="1800" dirty="0"/>
              <a:t>: LLMs generate multiple responses to a variety of prompts.</a:t>
            </a:r>
          </a:p>
          <a:p>
            <a:pPr>
              <a:buNone/>
            </a:pPr>
            <a:r>
              <a:rPr lang="en" altLang="ko-KR" sz="1800" b="1" dirty="0"/>
              <a:t>- Human Evaluation</a:t>
            </a:r>
            <a:r>
              <a:rPr lang="en" altLang="ko-KR" sz="1800" dirty="0"/>
              <a:t>: Annotators compare pairs of responses, selecting the one that better aligns with desired attributes (helpfulness or harmlessness).</a:t>
            </a:r>
          </a:p>
          <a:p>
            <a:r>
              <a:rPr lang="en" altLang="ko-KR" sz="1800" b="1" dirty="0"/>
              <a:t>- Labeling</a:t>
            </a:r>
            <a:r>
              <a:rPr lang="en" altLang="ko-KR" sz="1800" dirty="0"/>
              <a:t>: Selected responses are labeled as "chosen," and the others as "rejected," forming the basis for training reward models.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F108E5-CC69-634D-C65C-7F949BF9F2C1}"/>
              </a:ext>
            </a:extLst>
          </p:cNvPr>
          <p:cNvSpPr txBox="1"/>
          <p:nvPr/>
        </p:nvSpPr>
        <p:spPr>
          <a:xfrm>
            <a:off x="733425" y="798613"/>
            <a:ext cx="7407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800" b="1" dirty="0"/>
              <a:t>Helpfulness</a:t>
            </a:r>
            <a:r>
              <a:rPr lang="en" altLang="ko-KR" sz="1800" dirty="0"/>
              <a:t>: Pairs where human annotators selected the more helpful response to a given prompt.</a:t>
            </a:r>
          </a:p>
          <a:p>
            <a:r>
              <a:rPr lang="en" altLang="ko-KR" sz="1800" b="1" dirty="0"/>
              <a:t>Harmlessness</a:t>
            </a:r>
            <a:r>
              <a:rPr lang="en" altLang="ko-KR" sz="1800" dirty="0"/>
              <a:t>: Pairs where annotators chose the safer or less harmful response.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6B610EB-8FA6-B2B5-8D1F-F68BDDAF73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930273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38AE-BF8B-299B-D647-6000F3EC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D0D0FC6-D52D-A0FA-D62D-B44DB8B71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A62AA1-C753-FC12-25E9-14ACA51A9CD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PPO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238147-7B13-E1D1-B592-8EC165FE3D9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     PPO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1D0908-24BF-4F60-93B2-8B1D16A3313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A09AB-B7EB-381D-8D6C-EFE2DF8B94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393822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F580C4-4909-97AE-0197-1509DF8D3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CFE867-EBAF-F45B-27AA-B1A86D4033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Limitation of instruction finetuning?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766002-5106-EB93-4381-5BE23D4DFCF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sz="1800" b="0" dirty="0"/>
              <a:t>- </a:t>
            </a:r>
            <a:r>
              <a:rPr kumimoji="1" lang="en" altLang="ko-KR" sz="1800" b="0" dirty="0">
                <a:highlight>
                  <a:srgbClr val="00FFFF"/>
                </a:highlight>
              </a:rPr>
              <a:t>Problem 1</a:t>
            </a:r>
            <a:r>
              <a:rPr kumimoji="1" lang="en" altLang="ko-KR" sz="1800" b="0" dirty="0"/>
              <a:t>: </a:t>
            </a:r>
            <a:r>
              <a:rPr kumimoji="1" lang="en" altLang="ko-KR" sz="1800" dirty="0"/>
              <a:t>tasks like open-ended creative generation have no right answer.</a:t>
            </a:r>
          </a:p>
          <a:p>
            <a:r>
              <a:rPr kumimoji="1" lang="en" altLang="ko-KR" sz="1800" dirty="0"/>
              <a:t>• Write me a story about a dog and her pet grasshopper.</a:t>
            </a:r>
          </a:p>
          <a:p>
            <a:endParaRPr kumimoji="1" lang="en" altLang="ko-KR" sz="1800" b="0" dirty="0"/>
          </a:p>
          <a:p>
            <a:r>
              <a:rPr kumimoji="1" lang="en" altLang="ko-KR" sz="1800" b="0" dirty="0"/>
              <a:t>- </a:t>
            </a:r>
            <a:r>
              <a:rPr kumimoji="1" lang="en" altLang="ko-KR" sz="1800" b="0" dirty="0">
                <a:highlight>
                  <a:srgbClr val="00FFFF"/>
                </a:highlight>
              </a:rPr>
              <a:t>Problem 2</a:t>
            </a:r>
            <a:r>
              <a:rPr kumimoji="1" lang="en" altLang="ko-KR" sz="1800" b="0" dirty="0"/>
              <a:t>: </a:t>
            </a:r>
            <a:r>
              <a:rPr kumimoji="1" lang="en" altLang="ko-KR" sz="1800" dirty="0"/>
              <a:t>language modeling penalizes all token-level mistakes equally, but some errors are worse than others.</a:t>
            </a:r>
          </a:p>
          <a:p>
            <a:endParaRPr kumimoji="1" lang="en" altLang="ko-KR" sz="1800" b="0" dirty="0"/>
          </a:p>
          <a:p>
            <a:r>
              <a:rPr kumimoji="1" lang="en" altLang="ko-KR" sz="1800" b="0" dirty="0"/>
              <a:t>• Even with instruction finetuning, there</a:t>
            </a:r>
          </a:p>
          <a:p>
            <a:r>
              <a:rPr kumimoji="1" lang="en" altLang="ko-KR" sz="1800" b="0" dirty="0"/>
              <a:t>a mismatch between the LM</a:t>
            </a:r>
          </a:p>
          <a:p>
            <a:r>
              <a:rPr kumimoji="1" lang="en" altLang="ko-KR" sz="1800" b="0" dirty="0"/>
              <a:t>objective and the objective of</a:t>
            </a:r>
          </a:p>
          <a:p>
            <a:r>
              <a:rPr kumimoji="1" lang="en" altLang="ko-KR" sz="1800" b="0" dirty="0"/>
              <a:t>“satisfy human preferences”!</a:t>
            </a:r>
          </a:p>
          <a:p>
            <a:endParaRPr kumimoji="1" lang="en" altLang="ko-KR" sz="1800" b="0" dirty="0"/>
          </a:p>
          <a:p>
            <a:r>
              <a:rPr kumimoji="1" lang="en" altLang="ko-KR" sz="1800" b="0" dirty="0"/>
              <a:t>• Can we explicitly attempt to satisfy</a:t>
            </a:r>
          </a:p>
          <a:p>
            <a:r>
              <a:rPr kumimoji="1" lang="en" altLang="ko-KR" sz="1800" b="0" dirty="0"/>
              <a:t>human preferences?</a:t>
            </a:r>
            <a:endParaRPr kumimoji="1" lang="ko-KR" altLang="en-US" sz="18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394577-BC1F-E9DB-3E1A-BA5C9394A5BB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C00E780-99A9-8E9F-4D68-7BF0B8EA38C5}"/>
              </a:ext>
            </a:extLst>
          </p:cNvPr>
          <p:cNvSpPr/>
          <p:nvPr/>
        </p:nvSpPr>
        <p:spPr>
          <a:xfrm>
            <a:off x="5580185" y="3555023"/>
            <a:ext cx="2965938" cy="7502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LM</a:t>
            </a:r>
            <a:endParaRPr kumimoji="1"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4BF3949-BD27-F09F-C181-8467EFCC07D8}"/>
              </a:ext>
            </a:extLst>
          </p:cNvPr>
          <p:cNvCxnSpPr/>
          <p:nvPr/>
        </p:nvCxnSpPr>
        <p:spPr>
          <a:xfrm flipV="1">
            <a:off x="5824638" y="3352800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4FD25AD-727C-7013-65A7-3F80AA3F9568}"/>
              </a:ext>
            </a:extLst>
          </p:cNvPr>
          <p:cNvCxnSpPr/>
          <p:nvPr/>
        </p:nvCxnSpPr>
        <p:spPr>
          <a:xfrm flipV="1">
            <a:off x="6305282" y="3364524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976A7E1-4814-5EA8-7989-B89DAA6557C5}"/>
              </a:ext>
            </a:extLst>
          </p:cNvPr>
          <p:cNvCxnSpPr/>
          <p:nvPr/>
        </p:nvCxnSpPr>
        <p:spPr>
          <a:xfrm flipV="1">
            <a:off x="6762479" y="3352801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D30B8F0-DFA7-A523-3175-6E5D9A87E61D}"/>
              </a:ext>
            </a:extLst>
          </p:cNvPr>
          <p:cNvCxnSpPr/>
          <p:nvPr/>
        </p:nvCxnSpPr>
        <p:spPr>
          <a:xfrm flipV="1">
            <a:off x="7290021" y="3364524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57747E-42E4-278A-B8D5-EBE2F62810BE}"/>
              </a:ext>
            </a:extLst>
          </p:cNvPr>
          <p:cNvCxnSpPr/>
          <p:nvPr/>
        </p:nvCxnSpPr>
        <p:spPr>
          <a:xfrm flipV="1">
            <a:off x="7723777" y="3364524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E94E530-58A7-5F7F-EAD0-E82C72A1FF6B}"/>
              </a:ext>
            </a:extLst>
          </p:cNvPr>
          <p:cNvCxnSpPr/>
          <p:nvPr/>
        </p:nvCxnSpPr>
        <p:spPr>
          <a:xfrm flipV="1">
            <a:off x="8204420" y="3364524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6E2F49B-A819-4EBB-FB5D-8D6C170FA745}"/>
              </a:ext>
            </a:extLst>
          </p:cNvPr>
          <p:cNvCxnSpPr/>
          <p:nvPr/>
        </p:nvCxnSpPr>
        <p:spPr>
          <a:xfrm flipV="1">
            <a:off x="5824639" y="4196858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8C9A732-A4C4-053F-8721-4C4576AC7416}"/>
              </a:ext>
            </a:extLst>
          </p:cNvPr>
          <p:cNvCxnSpPr/>
          <p:nvPr/>
        </p:nvCxnSpPr>
        <p:spPr>
          <a:xfrm flipV="1">
            <a:off x="6305283" y="4208582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B1725A5-F1CE-0B13-BA62-2BCCFEB1F0AD}"/>
              </a:ext>
            </a:extLst>
          </p:cNvPr>
          <p:cNvCxnSpPr/>
          <p:nvPr/>
        </p:nvCxnSpPr>
        <p:spPr>
          <a:xfrm flipV="1">
            <a:off x="6762480" y="4196859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73486A5-1D6C-1771-A5FE-FEECAA7BB4FB}"/>
              </a:ext>
            </a:extLst>
          </p:cNvPr>
          <p:cNvCxnSpPr/>
          <p:nvPr/>
        </p:nvCxnSpPr>
        <p:spPr>
          <a:xfrm flipV="1">
            <a:off x="7290022" y="4208582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5E6D16E-6B55-1A70-7690-8B34CFF2A807}"/>
              </a:ext>
            </a:extLst>
          </p:cNvPr>
          <p:cNvCxnSpPr/>
          <p:nvPr/>
        </p:nvCxnSpPr>
        <p:spPr>
          <a:xfrm flipV="1">
            <a:off x="7723778" y="4208582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E2BDC7D-801C-BD70-2EA0-F0A6A2A7227E}"/>
              </a:ext>
            </a:extLst>
          </p:cNvPr>
          <p:cNvCxnSpPr/>
          <p:nvPr/>
        </p:nvCxnSpPr>
        <p:spPr>
          <a:xfrm flipV="1">
            <a:off x="8204421" y="4208582"/>
            <a:ext cx="0" cy="202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12BDA77-FD30-1A6E-2161-C3AC63B55A08}"/>
              </a:ext>
            </a:extLst>
          </p:cNvPr>
          <p:cNvSpPr/>
          <p:nvPr/>
        </p:nvSpPr>
        <p:spPr>
          <a:xfrm>
            <a:off x="5766021" y="4399082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D8522F2-2221-E4F2-96E1-300B7E4C2D67}"/>
              </a:ext>
            </a:extLst>
          </p:cNvPr>
          <p:cNvSpPr/>
          <p:nvPr/>
        </p:nvSpPr>
        <p:spPr>
          <a:xfrm>
            <a:off x="6258388" y="4410806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B92349F-ED40-516C-0583-695CE2693F7A}"/>
              </a:ext>
            </a:extLst>
          </p:cNvPr>
          <p:cNvSpPr/>
          <p:nvPr/>
        </p:nvSpPr>
        <p:spPr>
          <a:xfrm>
            <a:off x="6715586" y="4422528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3E31AE4-0FAE-8BF8-D25D-B872A0080CCC}"/>
              </a:ext>
            </a:extLst>
          </p:cNvPr>
          <p:cNvSpPr/>
          <p:nvPr/>
        </p:nvSpPr>
        <p:spPr>
          <a:xfrm>
            <a:off x="7243127" y="4422528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315F39D-5A0D-9623-5E0B-CBD35C8A2DFC}"/>
              </a:ext>
            </a:extLst>
          </p:cNvPr>
          <p:cNvSpPr/>
          <p:nvPr/>
        </p:nvSpPr>
        <p:spPr>
          <a:xfrm>
            <a:off x="7676882" y="4399083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E438665D-5141-3CB9-03C6-6850B25600E9}"/>
              </a:ext>
            </a:extLst>
          </p:cNvPr>
          <p:cNvSpPr/>
          <p:nvPr/>
        </p:nvSpPr>
        <p:spPr>
          <a:xfrm>
            <a:off x="8157528" y="4410805"/>
            <a:ext cx="107241" cy="2022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2EDAF1-F4AB-59DD-F4C5-92F90AF82F7F}"/>
              </a:ext>
            </a:extLst>
          </p:cNvPr>
          <p:cNvSpPr txBox="1"/>
          <p:nvPr/>
        </p:nvSpPr>
        <p:spPr>
          <a:xfrm>
            <a:off x="5459276" y="4708211"/>
            <a:ext cx="3100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Avatar     is      a    fantasy TV  show</a:t>
            </a:r>
            <a:endParaRPr kumimoji="1"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6D63D-5FBF-70E8-C8D4-107378C28DCB}"/>
              </a:ext>
            </a:extLst>
          </p:cNvPr>
          <p:cNvSpPr txBox="1"/>
          <p:nvPr/>
        </p:nvSpPr>
        <p:spPr>
          <a:xfrm>
            <a:off x="5459276" y="3008410"/>
            <a:ext cx="3079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    is      a    fantasy   TV   show [end]</a:t>
            </a:r>
            <a:endParaRPr kumimoji="1"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41105-BC37-B45C-6D14-DD623BA3ABB4}"/>
              </a:ext>
            </a:extLst>
          </p:cNvPr>
          <p:cNvSpPr txBox="1"/>
          <p:nvPr/>
        </p:nvSpPr>
        <p:spPr>
          <a:xfrm>
            <a:off x="6305282" y="2804675"/>
            <a:ext cx="1835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</a:rPr>
              <a:t>adventure     musical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6D8B7F4B-5FF9-A233-B01D-B9D8712BD41C}"/>
              </a:ext>
            </a:extLst>
          </p:cNvPr>
          <p:cNvCxnSpPr>
            <a:endCxn id="28" idx="3"/>
          </p:cNvCxnSpPr>
          <p:nvPr/>
        </p:nvCxnSpPr>
        <p:spPr>
          <a:xfrm>
            <a:off x="6258388" y="2958563"/>
            <a:ext cx="1882653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8CCE7F9C-F327-57F3-F55D-810AC87B6C3A}"/>
              </a:ext>
            </a:extLst>
          </p:cNvPr>
          <p:cNvCxnSpPr/>
          <p:nvPr/>
        </p:nvCxnSpPr>
        <p:spPr>
          <a:xfrm>
            <a:off x="6258389" y="2993733"/>
            <a:ext cx="1882653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3816AA45-ADA0-B41A-AAEC-A9DD19A608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352209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0FBF1A3-D13B-D9D8-0C1A-A043B6FCC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02418F-BAA8-EDA6-D447-712107B988D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Optimizing for human preferences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969530-BDDD-A0C2-C69D-F5AD1CAEBEF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b="0" dirty="0"/>
              <a:t>Let’s say we were training a language model on </a:t>
            </a:r>
            <a:r>
              <a:rPr kumimoji="1" lang="en-US" altLang="ko-KR" b="0" dirty="0"/>
              <a:t>summarization</a:t>
            </a:r>
          </a:p>
          <a:p>
            <a:endParaRPr kumimoji="1" lang="en-US" altLang="ko-KR" b="0" dirty="0"/>
          </a:p>
          <a:p>
            <a:endParaRPr kumimoji="1" lang="en-US" altLang="ko-KR" b="0" dirty="0"/>
          </a:p>
          <a:p>
            <a:endParaRPr kumimoji="1" lang="en-US" altLang="ko-KR" b="0" dirty="0"/>
          </a:p>
          <a:p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9BA1B1-3300-21CC-535D-6FE88A5D793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90F15-9928-05A9-A3A0-4CBC719CD4D3}"/>
              </a:ext>
            </a:extLst>
          </p:cNvPr>
          <p:cNvSpPr txBox="1"/>
          <p:nvPr/>
        </p:nvSpPr>
        <p:spPr>
          <a:xfrm>
            <a:off x="733425" y="1663809"/>
            <a:ext cx="19046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SAN FRANCISCO,</a:t>
            </a:r>
          </a:p>
          <a:p>
            <a:r>
              <a:rPr kumimoji="1" lang="en" altLang="ko-KR" dirty="0"/>
              <a:t>California (CNN) --</a:t>
            </a:r>
          </a:p>
          <a:p>
            <a:r>
              <a:rPr kumimoji="1" lang="en" altLang="ko-KR" dirty="0"/>
              <a:t>A magnitude 4.2</a:t>
            </a:r>
          </a:p>
          <a:p>
            <a:r>
              <a:rPr kumimoji="1" lang="en" altLang="ko-KR" dirty="0"/>
              <a:t>earthquake shook the</a:t>
            </a:r>
          </a:p>
          <a:p>
            <a:r>
              <a:rPr kumimoji="1" lang="en" altLang="ko-KR" dirty="0"/>
              <a:t>San Francisco</a:t>
            </a:r>
          </a:p>
          <a:p>
            <a:r>
              <a:rPr kumimoji="1" lang="en" altLang="ko-KR" dirty="0"/>
              <a:t>...</a:t>
            </a:r>
          </a:p>
          <a:p>
            <a:r>
              <a:rPr kumimoji="1" lang="en" altLang="ko-KR" dirty="0"/>
              <a:t>overturn unstable</a:t>
            </a:r>
          </a:p>
          <a:p>
            <a:r>
              <a:rPr kumimoji="1" lang="en" altLang="ko-KR" dirty="0"/>
              <a:t>objects.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0EECB-8B44-43A2-4BCA-F49729D3CC60}"/>
              </a:ext>
            </a:extLst>
          </p:cNvPr>
          <p:cNvSpPr txBox="1"/>
          <p:nvPr/>
        </p:nvSpPr>
        <p:spPr>
          <a:xfrm>
            <a:off x="3596856" y="1663809"/>
            <a:ext cx="158729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An earthquake hit</a:t>
            </a:r>
          </a:p>
          <a:p>
            <a:r>
              <a:rPr kumimoji="1" lang="en" altLang="ko-KR" dirty="0"/>
              <a:t>San Francisco.</a:t>
            </a:r>
          </a:p>
          <a:p>
            <a:r>
              <a:rPr kumimoji="1" lang="en" altLang="ko-KR" dirty="0"/>
              <a:t>There was minor</a:t>
            </a:r>
          </a:p>
          <a:p>
            <a:r>
              <a:rPr kumimoji="1" lang="en" altLang="ko-KR" dirty="0"/>
              <a:t>property damage,</a:t>
            </a:r>
          </a:p>
          <a:p>
            <a:r>
              <a:rPr kumimoji="1" lang="en" altLang="ko-KR" dirty="0"/>
              <a:t>but no injuries.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2AF3F-028E-27DE-E50B-DA827D869CC8}"/>
              </a:ext>
            </a:extLst>
          </p:cNvPr>
          <p:cNvSpPr txBox="1"/>
          <p:nvPr/>
        </p:nvSpPr>
        <p:spPr>
          <a:xfrm>
            <a:off x="6142892" y="1663809"/>
            <a:ext cx="174599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The Bay Area has</a:t>
            </a:r>
          </a:p>
          <a:p>
            <a:r>
              <a:rPr kumimoji="1" lang="en" altLang="ko-KR" dirty="0"/>
              <a:t>good weather but is</a:t>
            </a:r>
          </a:p>
          <a:p>
            <a:r>
              <a:rPr kumimoji="1" lang="en" altLang="ko-KR" dirty="0"/>
              <a:t>prone to</a:t>
            </a:r>
          </a:p>
          <a:p>
            <a:r>
              <a:rPr kumimoji="1" lang="en" altLang="ko-KR" dirty="0"/>
              <a:t>earthquakes and</a:t>
            </a:r>
          </a:p>
          <a:p>
            <a:r>
              <a:rPr kumimoji="1" lang="en" altLang="ko-KR" dirty="0"/>
              <a:t>wildfires.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CE25F-4A88-300D-8830-6952D74ED212}"/>
                  </a:ext>
                </a:extLst>
              </p:cNvPr>
              <p:cNvSpPr txBox="1"/>
              <p:nvPr/>
            </p:nvSpPr>
            <p:spPr>
              <a:xfrm>
                <a:off x="3790242" y="2956471"/>
                <a:ext cx="12005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       S1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=8.0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3CE25F-4A88-300D-8830-6952D74E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242" y="2956471"/>
                <a:ext cx="1200521" cy="523220"/>
              </a:xfrm>
              <a:prstGeom prst="rect">
                <a:avLst/>
              </a:prstGeom>
              <a:blipFill>
                <a:blip r:embed="rId2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7A59EF-4DC2-B914-23CC-010EFB7DCF94}"/>
                  </a:ext>
                </a:extLst>
              </p:cNvPr>
              <p:cNvSpPr txBox="1"/>
              <p:nvPr/>
            </p:nvSpPr>
            <p:spPr>
              <a:xfrm>
                <a:off x="6415626" y="2956471"/>
                <a:ext cx="12005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       S2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=1.2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7A59EF-4DC2-B914-23CC-010EFB7DC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626" y="2956471"/>
                <a:ext cx="1200521" cy="523220"/>
              </a:xfrm>
              <a:prstGeom prst="rect">
                <a:avLst/>
              </a:prstGeom>
              <a:blipFill>
                <a:blip r:embed="rId3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4C0DDA-E4B0-C326-673C-E3E0CEF4F933}"/>
                  </a:ext>
                </a:extLst>
              </p:cNvPr>
              <p:cNvSpPr txBox="1"/>
              <p:nvPr/>
            </p:nvSpPr>
            <p:spPr>
              <a:xfrm>
                <a:off x="1286012" y="3889701"/>
                <a:ext cx="6747360" cy="924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" altLang="ko-KR" sz="1600" dirty="0"/>
                  <a:t>Now we want to maximize the expected reward of samples from our LM:</a:t>
                </a:r>
              </a:p>
              <a:p>
                <a:r>
                  <a:rPr kumimoji="1" lang="en" altLang="ko-KR" sz="1600" dirty="0"/>
                  <a:t>		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" altLang="ko-KR" sz="2000" dirty="0"/>
              </a:p>
              <a:p>
                <a:endParaRPr kumimoji="1"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4C0DDA-E4B0-C326-673C-E3E0CEF4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12" y="3889701"/>
                <a:ext cx="6747360" cy="924420"/>
              </a:xfrm>
              <a:prstGeom prst="rect">
                <a:avLst/>
              </a:prstGeom>
              <a:blipFill>
                <a:blip r:embed="rId4"/>
                <a:stretch>
                  <a:fillRect l="-564" t="-27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891220B-7364-13C6-CFD2-7B6B9ADC87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4552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B27C35-9CA7-EA7F-0F8B-A82707717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E5A7A-BA24-F5E2-229C-047AFBED3CA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High-level instantiation: “RLHF” pipeline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BA4C93-6B96-6AE2-AF51-CE0876DE7F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US" altLang="ko-KR" b="0" dirty="0"/>
              <a:t>First , instruction tuning. Second, </a:t>
            </a:r>
            <a:r>
              <a:rPr kumimoji="1" lang="en-US" altLang="ko-KR" dirty="0"/>
              <a:t>maximize Reward (how?)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82769C-B6DF-BE36-E51F-E0B653440F0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F4A611-7FCC-329E-D250-3F243D034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796" y="1269017"/>
            <a:ext cx="6018407" cy="353158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7E2F7-AE3E-3DCE-F646-1EEFCB28A2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55573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DB5274-F196-B7AC-3F1E-C0148550F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9327C6-8A7B-7A72-8A13-0B05340234C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How do we get the rewards?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96CC70-87E8-EA8C-9AE5-825E78A622B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sz="1800" dirty="0">
                <a:solidFill>
                  <a:srgbClr val="C00000"/>
                </a:solidFill>
              </a:rPr>
              <a:t>Problem 1</a:t>
            </a:r>
            <a:r>
              <a:rPr kumimoji="1" lang="en" altLang="ko-KR" sz="1800" dirty="0"/>
              <a:t>: </a:t>
            </a:r>
            <a:r>
              <a:rPr kumimoji="1" lang="en" altLang="ko-KR" sz="1800" b="0" dirty="0"/>
              <a:t>human-in-the-loop is expensive!</a:t>
            </a:r>
          </a:p>
          <a:p>
            <a:endParaRPr kumimoji="1" lang="en" altLang="ko-KR" dirty="0"/>
          </a:p>
          <a:p>
            <a:r>
              <a:rPr kumimoji="1" lang="en" altLang="ko-KR" sz="1800" dirty="0">
                <a:solidFill>
                  <a:srgbClr val="C00000"/>
                </a:solidFill>
              </a:rPr>
              <a:t>Solution</a:t>
            </a:r>
            <a:r>
              <a:rPr kumimoji="1" lang="en" altLang="ko-KR" sz="1800" b="0" dirty="0"/>
              <a:t>: instead of directly asking humans for preferences, model their</a:t>
            </a:r>
            <a:r>
              <a:rPr kumimoji="1" lang="ko-KR" altLang="en-US" sz="1800" b="0" dirty="0"/>
              <a:t> </a:t>
            </a:r>
            <a:r>
              <a:rPr kumimoji="1" lang="en" altLang="ko-KR" sz="1800" b="0" dirty="0"/>
              <a:t>preferences as a separate (NLP) problem!</a:t>
            </a:r>
            <a:endParaRPr kumimoji="1" lang="ko-KR" altLang="en-US" sz="18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C3FF34-F3F4-BE35-7F2E-3A649DFF0FBA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07DED-FE02-EC71-4B30-D710765F4AED}"/>
              </a:ext>
            </a:extLst>
          </p:cNvPr>
          <p:cNvSpPr txBox="1"/>
          <p:nvPr/>
        </p:nvSpPr>
        <p:spPr>
          <a:xfrm>
            <a:off x="1299029" y="2571750"/>
            <a:ext cx="158729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An earthquake hit</a:t>
            </a:r>
          </a:p>
          <a:p>
            <a:r>
              <a:rPr kumimoji="1" lang="en" altLang="ko-KR" dirty="0"/>
              <a:t>San Francisco.</a:t>
            </a:r>
          </a:p>
          <a:p>
            <a:r>
              <a:rPr kumimoji="1" lang="en" altLang="ko-KR" dirty="0"/>
              <a:t>There was minor</a:t>
            </a:r>
          </a:p>
          <a:p>
            <a:r>
              <a:rPr kumimoji="1" lang="en" altLang="ko-KR" dirty="0"/>
              <a:t>property damage,</a:t>
            </a:r>
          </a:p>
          <a:p>
            <a:r>
              <a:rPr kumimoji="1" lang="en" altLang="ko-KR" dirty="0"/>
              <a:t>but no injuries.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74153-0C49-8C4A-BBBE-1F3522ED38FC}"/>
              </a:ext>
            </a:extLst>
          </p:cNvPr>
          <p:cNvSpPr txBox="1"/>
          <p:nvPr/>
        </p:nvSpPr>
        <p:spPr>
          <a:xfrm>
            <a:off x="3904343" y="2571750"/>
            <a:ext cx="174599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The Bay Area has</a:t>
            </a:r>
          </a:p>
          <a:p>
            <a:r>
              <a:rPr kumimoji="1" lang="en" altLang="ko-KR" dirty="0"/>
              <a:t>good weather but is</a:t>
            </a:r>
          </a:p>
          <a:p>
            <a:r>
              <a:rPr kumimoji="1" lang="en" altLang="ko-KR" dirty="0"/>
              <a:t>prone to</a:t>
            </a:r>
          </a:p>
          <a:p>
            <a:r>
              <a:rPr kumimoji="1" lang="en" altLang="ko-KR" dirty="0"/>
              <a:t>earthquakes and</a:t>
            </a:r>
          </a:p>
          <a:p>
            <a:r>
              <a:rPr kumimoji="1" lang="en" altLang="ko-KR" dirty="0"/>
              <a:t>wildfires.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DAADB-0360-816E-3C2A-2E930EAAFBCA}"/>
              </a:ext>
            </a:extLst>
          </p:cNvPr>
          <p:cNvSpPr txBox="1"/>
          <p:nvPr/>
        </p:nvSpPr>
        <p:spPr>
          <a:xfrm>
            <a:off x="1708348" y="3828027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𝑅</a:t>
            </a:r>
            <a:r>
              <a:rPr kumimoji="1" lang="en-US" altLang="ko-KR" dirty="0"/>
              <a:t>(</a:t>
            </a:r>
            <a:r>
              <a:rPr kumimoji="1" lang="ko-KR" altLang="en-US" dirty="0"/>
              <a:t>𝑥</a:t>
            </a:r>
            <a:r>
              <a:rPr kumimoji="1" lang="en-US" altLang="ko-KR" dirty="0"/>
              <a:t>, 𝑦1) = 8.0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E9B76-EFA9-0CF2-E08E-383EFD8C94E5}"/>
              </a:ext>
            </a:extLst>
          </p:cNvPr>
          <p:cNvSpPr txBox="1"/>
          <p:nvPr/>
        </p:nvSpPr>
        <p:spPr>
          <a:xfrm>
            <a:off x="4385244" y="3809285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𝑅</a:t>
            </a:r>
            <a:r>
              <a:rPr kumimoji="1" lang="en-US" altLang="ko-KR" dirty="0"/>
              <a:t>(</a:t>
            </a:r>
            <a:r>
              <a:rPr kumimoji="1" lang="ko-KR" altLang="en-US" dirty="0"/>
              <a:t>𝑥</a:t>
            </a:r>
            <a:r>
              <a:rPr kumimoji="1" lang="en-US" altLang="ko-KR" dirty="0"/>
              <a:t>, 𝑦2) = 1.2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90574-EFC3-AEF9-1DA7-0EE060C3223A}"/>
              </a:ext>
            </a:extLst>
          </p:cNvPr>
          <p:cNvSpPr txBox="1"/>
          <p:nvPr/>
        </p:nvSpPr>
        <p:spPr>
          <a:xfrm>
            <a:off x="6542994" y="272307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Train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𝑅𝑀𝜙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𝑥, 𝑦</a:t>
            </a:r>
            <a:r>
              <a:rPr lang="en-US" altLang="ko-KR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to</a:t>
            </a:r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predict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human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reward</a:t>
            </a:r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from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an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annotated</a:t>
            </a:r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dataset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then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optimize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for</a:t>
            </a:r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𝑅𝑀𝜙 </a:t>
            </a:r>
            <a:r>
              <a:rPr lang="ko-KR" altLang="en-US" dirty="0" err="1">
                <a:solidFill>
                  <a:schemeClr val="accent4">
                    <a:lumMod val="75000"/>
                  </a:schemeClr>
                </a:solidFill>
              </a:rPr>
              <a:t>instead</a:t>
            </a:r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7146B65-8007-322E-6E1C-F8EFF1A2F3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4236247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7B3802-A298-76A5-6C67-C2F53D307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3E5F02-CE0B-16DA-4A35-406B03ACD3F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How do we model human preferences?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6663CC-3D65-8041-1500-45D33F34692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0153B-E753-F9AD-AF2D-594C4EB852AD}"/>
              </a:ext>
            </a:extLst>
          </p:cNvPr>
          <p:cNvSpPr txBox="1"/>
          <p:nvPr/>
        </p:nvSpPr>
        <p:spPr>
          <a:xfrm>
            <a:off x="733425" y="1124807"/>
            <a:ext cx="6937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 err="1">
                <a:solidFill>
                  <a:srgbClr val="C00000"/>
                </a:solidFill>
              </a:rPr>
              <a:t>Problem</a:t>
            </a:r>
            <a:r>
              <a:rPr lang="ko-KR" altLang="en-US" sz="1800" b="1" dirty="0">
                <a:solidFill>
                  <a:srgbClr val="C00000"/>
                </a:solidFill>
              </a:rPr>
              <a:t> 2</a:t>
            </a:r>
            <a:r>
              <a:rPr lang="ko-KR" altLang="en-US" sz="1800" dirty="0"/>
              <a:t>: </a:t>
            </a:r>
            <a:r>
              <a:rPr lang="ko-KR" altLang="en-US" sz="1800" dirty="0" err="1"/>
              <a:t>human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judgments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are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noisy</a:t>
            </a:r>
            <a:r>
              <a:rPr lang="ko-KR" altLang="en-US" sz="1800" dirty="0"/>
              <a:t> and </a:t>
            </a:r>
            <a:r>
              <a:rPr lang="ko-KR" altLang="en-US" sz="1800" dirty="0" err="1"/>
              <a:t>miscalibrated</a:t>
            </a:r>
            <a:r>
              <a:rPr lang="ko-KR" altLang="en-US" sz="1800" dirty="0"/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00FDF-C030-FB08-2882-3C59093160E2}"/>
              </a:ext>
            </a:extLst>
          </p:cNvPr>
          <p:cNvSpPr txBox="1"/>
          <p:nvPr/>
        </p:nvSpPr>
        <p:spPr>
          <a:xfrm>
            <a:off x="733425" y="1602329"/>
            <a:ext cx="7808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 err="1">
                <a:solidFill>
                  <a:srgbClr val="C00000"/>
                </a:solidFill>
              </a:rPr>
              <a:t>Solution</a:t>
            </a:r>
            <a:r>
              <a:rPr lang="ko-KR" altLang="en-US" sz="1800" dirty="0"/>
              <a:t>: </a:t>
            </a:r>
            <a:r>
              <a:rPr lang="ko-KR" altLang="en-US" sz="1800" dirty="0" err="1"/>
              <a:t>instead</a:t>
            </a:r>
            <a:r>
              <a:rPr lang="ko-KR" altLang="en-US" sz="1800" dirty="0"/>
              <a:t> of </a:t>
            </a:r>
            <a:r>
              <a:rPr lang="ko-KR" altLang="en-US" sz="1800" dirty="0" err="1"/>
              <a:t>asking</a:t>
            </a:r>
            <a:r>
              <a:rPr lang="ko-KR" altLang="en-US" sz="1800" dirty="0"/>
              <a:t> </a:t>
            </a:r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direct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ratings</a:t>
            </a:r>
            <a:r>
              <a:rPr lang="ko-KR" altLang="en-US" sz="1800" dirty="0"/>
              <a:t>, </a:t>
            </a:r>
            <a:r>
              <a:rPr lang="ko-KR" altLang="en-US" sz="1800" dirty="0" err="1"/>
              <a:t>ask</a:t>
            </a:r>
            <a:r>
              <a:rPr lang="ko-KR" altLang="en-US" sz="1800" dirty="0"/>
              <a:t> </a:t>
            </a:r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pairwise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comparisons</a:t>
            </a:r>
            <a:r>
              <a:rPr lang="ko-KR" altLang="en-US" sz="1800" dirty="0"/>
              <a:t>, </a:t>
            </a:r>
            <a:r>
              <a:rPr lang="ko-KR" altLang="en-US" sz="1800" dirty="0" err="1"/>
              <a:t>which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can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be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more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reliable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64660-27CE-6788-4B1F-839E591D1933}"/>
              </a:ext>
            </a:extLst>
          </p:cNvPr>
          <p:cNvSpPr txBox="1"/>
          <p:nvPr/>
        </p:nvSpPr>
        <p:spPr>
          <a:xfrm>
            <a:off x="3737427" y="246537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</a:t>
            </a:r>
            <a:r>
              <a:rPr lang="ko-KR" altLang="en-US" dirty="0"/>
              <a:t> 4.2 </a:t>
            </a:r>
            <a:r>
              <a:rPr lang="ko-KR" altLang="en-US" dirty="0" err="1"/>
              <a:t>magnitude</a:t>
            </a:r>
            <a:endParaRPr lang="ko-KR" altLang="en-US" dirty="0"/>
          </a:p>
          <a:p>
            <a:r>
              <a:rPr lang="ko-KR" altLang="en-US" dirty="0" err="1"/>
              <a:t>earthquake</a:t>
            </a:r>
            <a:r>
              <a:rPr lang="ko-KR" altLang="en-US" dirty="0"/>
              <a:t> </a:t>
            </a:r>
            <a:r>
              <a:rPr lang="ko-KR" altLang="en-US" dirty="0" err="1"/>
              <a:t>hit</a:t>
            </a:r>
            <a:endParaRPr lang="ko-KR" altLang="en-US" dirty="0"/>
          </a:p>
          <a:p>
            <a:r>
              <a:rPr lang="ko-KR" altLang="en-US" dirty="0" err="1"/>
              <a:t>San</a:t>
            </a:r>
            <a:r>
              <a:rPr lang="ko-KR" altLang="en-US" dirty="0"/>
              <a:t> </a:t>
            </a:r>
            <a:r>
              <a:rPr lang="ko-KR" altLang="en-US" dirty="0" err="1"/>
              <a:t>Francisco</a:t>
            </a:r>
            <a:r>
              <a:rPr lang="ko-KR" altLang="en-US" dirty="0"/>
              <a:t>,</a:t>
            </a:r>
          </a:p>
          <a:p>
            <a:r>
              <a:rPr lang="ko-KR" altLang="en-US" dirty="0" err="1"/>
              <a:t>resulting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endParaRPr lang="ko-KR" altLang="en-US" dirty="0"/>
          </a:p>
          <a:p>
            <a:r>
              <a:rPr lang="ko-KR" altLang="en-US" dirty="0" err="1"/>
              <a:t>massive</a:t>
            </a:r>
            <a:r>
              <a:rPr lang="ko-KR" altLang="en-US" dirty="0"/>
              <a:t> </a:t>
            </a:r>
            <a:r>
              <a:rPr lang="ko-KR" altLang="en-US" dirty="0" err="1"/>
              <a:t>damage</a:t>
            </a:r>
            <a:r>
              <a:rPr lang="ko-KR" alt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6F434-2853-A58B-6FA7-9CA1EF587515}"/>
              </a:ext>
            </a:extLst>
          </p:cNvPr>
          <p:cNvSpPr txBox="1"/>
          <p:nvPr/>
        </p:nvSpPr>
        <p:spPr>
          <a:xfrm>
            <a:off x="3320923" y="37180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	</a:t>
            </a:r>
            <a:r>
              <a:rPr lang="ko-KR" altLang="en-US" dirty="0"/>
              <a:t>𝑦3</a:t>
            </a:r>
          </a:p>
          <a:p>
            <a:r>
              <a:rPr lang="ko-KR" altLang="en-US" dirty="0"/>
              <a:t>𝑅</a:t>
            </a:r>
            <a:r>
              <a:rPr lang="en-US" altLang="ko-KR" dirty="0"/>
              <a:t>(</a:t>
            </a:r>
            <a:r>
              <a:rPr lang="ko-KR" altLang="en-US" dirty="0"/>
              <a:t>𝑥, 𝑦3</a:t>
            </a:r>
            <a:r>
              <a:rPr lang="en-US" altLang="ko-KR" dirty="0"/>
              <a:t>)</a:t>
            </a:r>
            <a:r>
              <a:rPr lang="ko-KR" altLang="en-US" dirty="0"/>
              <a:t> = 4.1? 6.6? 3.2?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7AD01225-025D-800E-7711-1706F478F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29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848124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97862B-166A-7713-2089-ACEC18454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45D8F-1E8F-F141-2F47-6A486BF0733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How do we model human preferences?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9B3CAC-1DB9-C057-71AB-4229FB916D0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Rank analysis of incomplete block designs: I. The method of paired comparisons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(1952)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9A7D9-7D5A-0BE5-0B27-F25BA2483377}"/>
              </a:ext>
            </a:extLst>
          </p:cNvPr>
          <p:cNvSpPr txBox="1"/>
          <p:nvPr/>
        </p:nvSpPr>
        <p:spPr>
          <a:xfrm>
            <a:off x="733425" y="975829"/>
            <a:ext cx="8124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C00000"/>
                </a:solidFill>
              </a:rPr>
              <a:t>Problem2</a:t>
            </a:r>
            <a:r>
              <a:rPr lang="ko-KR" altLang="en-US" sz="1800" dirty="0"/>
              <a:t>: </a:t>
            </a:r>
            <a:r>
              <a:rPr lang="ko-KR" altLang="en-US" sz="1800" dirty="0" err="1"/>
              <a:t>human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judgments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are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noisy</a:t>
            </a:r>
            <a:r>
              <a:rPr lang="ko-KR" altLang="en-US" sz="1800" dirty="0"/>
              <a:t> and </a:t>
            </a:r>
            <a:r>
              <a:rPr lang="ko-KR" altLang="en-US" sz="1800" dirty="0" err="1"/>
              <a:t>miscalibrated</a:t>
            </a:r>
            <a:r>
              <a:rPr lang="ko-KR" altLang="en-US" sz="1800" dirty="0"/>
              <a:t>!</a:t>
            </a:r>
            <a:endParaRPr lang="en-US" altLang="ko-KR" sz="1800" dirty="0"/>
          </a:p>
          <a:p>
            <a:endParaRPr lang="ko-KR" altLang="en-US" sz="1800" dirty="0"/>
          </a:p>
          <a:p>
            <a:r>
              <a:rPr lang="ko-KR" altLang="en-US" sz="1800" b="1" dirty="0" err="1">
                <a:solidFill>
                  <a:srgbClr val="C00000"/>
                </a:solidFill>
              </a:rPr>
              <a:t>Solution</a:t>
            </a:r>
            <a:r>
              <a:rPr lang="ko-KR" altLang="en-US" sz="1800" dirty="0"/>
              <a:t>: </a:t>
            </a:r>
            <a:r>
              <a:rPr lang="ko-KR" altLang="en-US" sz="1800" dirty="0" err="1"/>
              <a:t>instead</a:t>
            </a:r>
            <a:r>
              <a:rPr lang="ko-KR" altLang="en-US" sz="1800" dirty="0"/>
              <a:t> of </a:t>
            </a:r>
            <a:r>
              <a:rPr lang="ko-KR" altLang="en-US" sz="1800" dirty="0" err="1"/>
              <a:t>asking</a:t>
            </a:r>
            <a:r>
              <a:rPr lang="ko-KR" altLang="en-US" sz="1800" dirty="0"/>
              <a:t> </a:t>
            </a:r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direct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ratings</a:t>
            </a:r>
            <a:r>
              <a:rPr lang="ko-KR" altLang="en-US" sz="1800" dirty="0"/>
              <a:t>, </a:t>
            </a:r>
            <a:r>
              <a:rPr lang="ko-KR" altLang="en-US" sz="1800" dirty="0" err="1"/>
              <a:t>ask</a:t>
            </a:r>
            <a:r>
              <a:rPr lang="ko-KR" altLang="en-US" sz="1800" dirty="0"/>
              <a:t> </a:t>
            </a:r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pairwise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comparisons</a:t>
            </a:r>
            <a:r>
              <a:rPr lang="ko-KR" altLang="en-US" sz="1800" dirty="0"/>
              <a:t>, </a:t>
            </a:r>
            <a:r>
              <a:rPr lang="ko-KR" altLang="en-US" sz="1800" dirty="0" err="1"/>
              <a:t>which</a:t>
            </a:r>
            <a:r>
              <a:rPr lang="ko-KR" altLang="en-US" sz="1800" dirty="0"/>
              <a:t> </a:t>
            </a:r>
            <a:r>
              <a:rPr lang="ko-KR" altLang="en-US" sz="1800" dirty="0" err="1"/>
              <a:t>can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be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more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reliable</a:t>
            </a:r>
            <a:endParaRPr lang="ko-KR" alt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959EC-9B95-9F2C-180F-A376A09DF395}"/>
              </a:ext>
            </a:extLst>
          </p:cNvPr>
          <p:cNvSpPr txBox="1"/>
          <p:nvPr/>
        </p:nvSpPr>
        <p:spPr>
          <a:xfrm>
            <a:off x="1245381" y="230829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An</a:t>
            </a:r>
            <a:r>
              <a:rPr lang="ko-KR" altLang="en-US" dirty="0"/>
              <a:t> </a:t>
            </a:r>
            <a:r>
              <a:rPr lang="ko-KR" altLang="en-US" dirty="0" err="1"/>
              <a:t>earthquake</a:t>
            </a:r>
            <a:r>
              <a:rPr lang="ko-KR" altLang="en-US" dirty="0"/>
              <a:t> </a:t>
            </a:r>
            <a:r>
              <a:rPr lang="ko-KR" altLang="en-US" dirty="0" err="1"/>
              <a:t>hit</a:t>
            </a:r>
            <a:endParaRPr lang="ko-KR" altLang="en-US" dirty="0"/>
          </a:p>
          <a:p>
            <a:r>
              <a:rPr lang="ko-KR" altLang="en-US" dirty="0" err="1"/>
              <a:t>San</a:t>
            </a:r>
            <a:r>
              <a:rPr lang="ko-KR" altLang="en-US" dirty="0"/>
              <a:t> </a:t>
            </a:r>
            <a:r>
              <a:rPr lang="ko-KR" altLang="en-US" dirty="0" err="1"/>
              <a:t>Francisco</a:t>
            </a:r>
            <a:r>
              <a:rPr lang="ko-KR" altLang="en-US" dirty="0"/>
              <a:t>.</a:t>
            </a:r>
          </a:p>
          <a:p>
            <a:r>
              <a:rPr lang="ko-KR" altLang="en-US" dirty="0" err="1"/>
              <a:t>There</a:t>
            </a:r>
            <a:r>
              <a:rPr lang="ko-KR" altLang="en-US" dirty="0"/>
              <a:t> </a:t>
            </a:r>
            <a:r>
              <a:rPr lang="ko-KR" altLang="en-US" dirty="0" err="1"/>
              <a:t>was</a:t>
            </a:r>
            <a:r>
              <a:rPr lang="ko-KR" altLang="en-US" dirty="0"/>
              <a:t> </a:t>
            </a:r>
            <a:r>
              <a:rPr lang="ko-KR" altLang="en-US" dirty="0" err="1"/>
              <a:t>minor</a:t>
            </a:r>
            <a:endParaRPr lang="ko-KR" altLang="en-US" dirty="0"/>
          </a:p>
          <a:p>
            <a:r>
              <a:rPr lang="ko-KR" altLang="en-US" dirty="0" err="1"/>
              <a:t>property</a:t>
            </a:r>
            <a:r>
              <a:rPr lang="ko-KR" altLang="en-US" dirty="0"/>
              <a:t> </a:t>
            </a:r>
            <a:r>
              <a:rPr lang="ko-KR" altLang="en-US" dirty="0" err="1"/>
              <a:t>damage</a:t>
            </a:r>
            <a:r>
              <a:rPr lang="ko-KR" altLang="en-US" dirty="0"/>
              <a:t>,</a:t>
            </a:r>
          </a:p>
          <a:p>
            <a:r>
              <a:rPr lang="ko-KR" altLang="en-US" dirty="0" err="1"/>
              <a:t>but</a:t>
            </a:r>
            <a:r>
              <a:rPr lang="ko-KR" altLang="en-US" dirty="0"/>
              <a:t> </a:t>
            </a:r>
            <a:r>
              <a:rPr lang="ko-KR" altLang="en-US" dirty="0" err="1"/>
              <a:t>no</a:t>
            </a:r>
            <a:r>
              <a:rPr lang="ko-KR" altLang="en-US" dirty="0"/>
              <a:t> </a:t>
            </a:r>
            <a:r>
              <a:rPr lang="ko-KR" altLang="en-US" dirty="0" err="1"/>
              <a:t>injuries</a:t>
            </a:r>
            <a:r>
              <a:rPr lang="ko-KR" alt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D24B3-668A-4181-B565-EEFD1C2104BF}"/>
              </a:ext>
            </a:extLst>
          </p:cNvPr>
          <p:cNvSpPr txBox="1"/>
          <p:nvPr/>
        </p:nvSpPr>
        <p:spPr>
          <a:xfrm>
            <a:off x="3728748" y="230829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</a:t>
            </a:r>
            <a:r>
              <a:rPr lang="ko-KR" altLang="en-US" dirty="0"/>
              <a:t> 4.2 </a:t>
            </a:r>
            <a:r>
              <a:rPr lang="ko-KR" altLang="en-US" dirty="0" err="1"/>
              <a:t>magnitude</a:t>
            </a:r>
            <a:endParaRPr lang="ko-KR" altLang="en-US" dirty="0"/>
          </a:p>
          <a:p>
            <a:r>
              <a:rPr lang="ko-KR" altLang="en-US" dirty="0" err="1"/>
              <a:t>earthquake</a:t>
            </a:r>
            <a:r>
              <a:rPr lang="ko-KR" altLang="en-US" dirty="0"/>
              <a:t> </a:t>
            </a:r>
            <a:r>
              <a:rPr lang="ko-KR" altLang="en-US" dirty="0" err="1"/>
              <a:t>hit</a:t>
            </a:r>
            <a:endParaRPr lang="ko-KR" altLang="en-US" dirty="0"/>
          </a:p>
          <a:p>
            <a:r>
              <a:rPr lang="ko-KR" altLang="en-US" dirty="0" err="1"/>
              <a:t>San</a:t>
            </a:r>
            <a:r>
              <a:rPr lang="ko-KR" altLang="en-US" dirty="0"/>
              <a:t> </a:t>
            </a:r>
            <a:r>
              <a:rPr lang="ko-KR" altLang="en-US" dirty="0" err="1"/>
              <a:t>Francisco</a:t>
            </a:r>
            <a:r>
              <a:rPr lang="ko-KR" altLang="en-US" dirty="0"/>
              <a:t>,</a:t>
            </a:r>
          </a:p>
          <a:p>
            <a:r>
              <a:rPr lang="ko-KR" altLang="en-US" dirty="0" err="1"/>
              <a:t>resulting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endParaRPr lang="ko-KR" altLang="en-US" dirty="0"/>
          </a:p>
          <a:p>
            <a:r>
              <a:rPr lang="ko-KR" altLang="en-US" dirty="0" err="1"/>
              <a:t>massive</a:t>
            </a:r>
            <a:r>
              <a:rPr lang="ko-KR" altLang="en-US" dirty="0"/>
              <a:t> </a:t>
            </a:r>
            <a:r>
              <a:rPr lang="ko-KR" altLang="en-US" dirty="0" err="1"/>
              <a:t>damage</a:t>
            </a:r>
            <a:r>
              <a:rPr lang="ko-KR" alt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EE023-27B7-B995-FA1E-CCD8F337C6FF}"/>
              </a:ext>
            </a:extLst>
          </p:cNvPr>
          <p:cNvSpPr txBox="1"/>
          <p:nvPr/>
        </p:nvSpPr>
        <p:spPr>
          <a:xfrm>
            <a:off x="6212115" y="230829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The </a:t>
            </a:r>
            <a:r>
              <a:rPr lang="ko-KR" altLang="en-US" dirty="0" err="1"/>
              <a:t>Bay</a:t>
            </a:r>
            <a:r>
              <a:rPr lang="ko-KR" altLang="en-US" dirty="0"/>
              <a:t> </a:t>
            </a:r>
            <a:r>
              <a:rPr lang="ko-KR" altLang="en-US" dirty="0" err="1"/>
              <a:t>Area</a:t>
            </a:r>
            <a:r>
              <a:rPr lang="ko-KR" altLang="en-US" dirty="0"/>
              <a:t> </a:t>
            </a:r>
            <a:r>
              <a:rPr lang="ko-KR" altLang="en-US" dirty="0" err="1"/>
              <a:t>has</a:t>
            </a:r>
            <a:endParaRPr lang="ko-KR" altLang="en-US" dirty="0"/>
          </a:p>
          <a:p>
            <a:r>
              <a:rPr lang="ko-KR" altLang="en-US" dirty="0" err="1"/>
              <a:t>good</a:t>
            </a:r>
            <a:r>
              <a:rPr lang="ko-KR" altLang="en-US" dirty="0"/>
              <a:t> </a:t>
            </a:r>
            <a:r>
              <a:rPr lang="ko-KR" altLang="en-US" dirty="0" err="1"/>
              <a:t>weather</a:t>
            </a:r>
            <a:r>
              <a:rPr lang="ko-KR" altLang="en-US" dirty="0"/>
              <a:t> </a:t>
            </a:r>
            <a:r>
              <a:rPr lang="ko-KR" altLang="en-US" dirty="0" err="1"/>
              <a:t>but</a:t>
            </a:r>
            <a:r>
              <a:rPr lang="ko-KR" altLang="en-US" dirty="0"/>
              <a:t> </a:t>
            </a:r>
            <a:r>
              <a:rPr lang="ko-KR" altLang="en-US" dirty="0" err="1"/>
              <a:t>is</a:t>
            </a:r>
            <a:endParaRPr lang="ko-KR" altLang="en-US" dirty="0"/>
          </a:p>
          <a:p>
            <a:r>
              <a:rPr lang="ko-KR" altLang="en-US" dirty="0" err="1"/>
              <a:t>prone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endParaRPr lang="ko-KR" altLang="en-US" dirty="0"/>
          </a:p>
          <a:p>
            <a:r>
              <a:rPr lang="ko-KR" altLang="en-US" dirty="0" err="1"/>
              <a:t>earthquakes</a:t>
            </a:r>
            <a:r>
              <a:rPr lang="ko-KR" altLang="en-US" dirty="0"/>
              <a:t> and</a:t>
            </a:r>
          </a:p>
          <a:p>
            <a:r>
              <a:rPr lang="ko-KR" altLang="en-US" dirty="0" err="1"/>
              <a:t>wildfires</a:t>
            </a:r>
            <a:r>
              <a:rPr lang="ko-KR" alt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7E2BC3-24A0-79EF-7952-D0866E617F46}"/>
              </a:ext>
            </a:extLst>
          </p:cNvPr>
          <p:cNvSpPr txBox="1"/>
          <p:nvPr/>
        </p:nvSpPr>
        <p:spPr>
          <a:xfrm>
            <a:off x="3030762" y="2748759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&gt;</a:t>
            </a:r>
            <a:endParaRPr kumimoji="1" lang="ko-KR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3DA82-0824-1FCA-A672-1FA35197B950}"/>
              </a:ext>
            </a:extLst>
          </p:cNvPr>
          <p:cNvSpPr txBox="1"/>
          <p:nvPr/>
        </p:nvSpPr>
        <p:spPr>
          <a:xfrm>
            <a:off x="5592534" y="2693018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&gt;</a:t>
            </a:r>
            <a:endParaRPr kumimoji="1"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A33B9-B043-1F3B-740D-26823CE01B6E}"/>
                  </a:ext>
                </a:extLst>
              </p:cNvPr>
              <p:cNvSpPr txBox="1"/>
              <p:nvPr/>
            </p:nvSpPr>
            <p:spPr>
              <a:xfrm>
                <a:off x="1785257" y="3429158"/>
                <a:ext cx="3207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EA33B9-B043-1F3B-740D-26823CE0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257" y="3429158"/>
                <a:ext cx="320729" cy="307777"/>
              </a:xfrm>
              <a:prstGeom prst="rect">
                <a:avLst/>
              </a:prstGeom>
              <a:blipFill>
                <a:blip r:embed="rId3"/>
                <a:stretch>
                  <a:fillRect l="-15385" r="-769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5FAFEF-AB68-B0A1-E597-C88D398DF127}"/>
                  </a:ext>
                </a:extLst>
              </p:cNvPr>
              <p:cNvSpPr txBox="1"/>
              <p:nvPr/>
            </p:nvSpPr>
            <p:spPr>
              <a:xfrm>
                <a:off x="4325257" y="3429157"/>
                <a:ext cx="3266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5FAFEF-AB68-B0A1-E597-C88D398DF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57" y="3429157"/>
                <a:ext cx="326691" cy="307777"/>
              </a:xfrm>
              <a:prstGeom prst="rect">
                <a:avLst/>
              </a:prstGeom>
              <a:blipFill>
                <a:blip r:embed="rId4"/>
                <a:stretch>
                  <a:fillRect l="-14815" r="-370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557C04-C1D7-43A0-0243-D90987EEAAD8}"/>
                  </a:ext>
                </a:extLst>
              </p:cNvPr>
              <p:cNvSpPr txBox="1"/>
              <p:nvPr/>
            </p:nvSpPr>
            <p:spPr>
              <a:xfrm>
                <a:off x="6895719" y="3441069"/>
                <a:ext cx="3266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557C04-C1D7-43A0-0243-D90987EEA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719" y="3441069"/>
                <a:ext cx="326691" cy="307777"/>
              </a:xfrm>
              <a:prstGeom prst="rect">
                <a:avLst/>
              </a:prstGeom>
              <a:blipFill>
                <a:blip r:embed="rId5"/>
                <a:stretch>
                  <a:fillRect l="-11111" r="-3704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모서리가 둥근 직사각형 18">
                <a:extLst>
                  <a:ext uri="{FF2B5EF4-FFF2-40B4-BE49-F238E27FC236}">
                    <a16:creationId xmlns:a16="http://schemas.microsoft.com/office/drawing/2014/main" id="{6C8AE731-99B4-6DB7-9987-9FF7DD85E2F6}"/>
                  </a:ext>
                </a:extLst>
              </p:cNvPr>
              <p:cNvSpPr/>
              <p:nvPr/>
            </p:nvSpPr>
            <p:spPr>
              <a:xfrm>
                <a:off x="1146587" y="4062900"/>
                <a:ext cx="2159864" cy="413658"/>
              </a:xfrm>
              <a:prstGeom prst="roundRect">
                <a:avLst/>
              </a:prstGeom>
              <a:solidFill>
                <a:srgbClr val="BE415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/>
                  <a:t>Reward Model(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9" name="모서리가 둥근 직사각형 18">
                <a:extLst>
                  <a:ext uri="{FF2B5EF4-FFF2-40B4-BE49-F238E27FC236}">
                    <a16:creationId xmlns:a16="http://schemas.microsoft.com/office/drawing/2014/main" id="{6C8AE731-99B4-6DB7-9987-9FF7DD85E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587" y="4062900"/>
                <a:ext cx="2159864" cy="41365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E696B48-FF6D-F75B-7D26-9BD2A1E3C670}"/>
              </a:ext>
            </a:extLst>
          </p:cNvPr>
          <p:cNvCxnSpPr/>
          <p:nvPr/>
        </p:nvCxnSpPr>
        <p:spPr>
          <a:xfrm flipV="1">
            <a:off x="1313544" y="4367151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012469A-3A7D-3657-C16C-CDCB5873371D}"/>
              </a:ext>
            </a:extLst>
          </p:cNvPr>
          <p:cNvCxnSpPr/>
          <p:nvPr/>
        </p:nvCxnSpPr>
        <p:spPr>
          <a:xfrm flipV="1">
            <a:off x="1640113" y="4367154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C786D55-12CB-ADBF-729E-E2070ACE640D}"/>
              </a:ext>
            </a:extLst>
          </p:cNvPr>
          <p:cNvCxnSpPr/>
          <p:nvPr/>
        </p:nvCxnSpPr>
        <p:spPr>
          <a:xfrm flipV="1">
            <a:off x="1966687" y="4367154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F9DC74F-BB04-14DE-D27E-29BE30BE411A}"/>
              </a:ext>
            </a:extLst>
          </p:cNvPr>
          <p:cNvCxnSpPr/>
          <p:nvPr/>
        </p:nvCxnSpPr>
        <p:spPr>
          <a:xfrm flipV="1">
            <a:off x="2264229" y="4359896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8003787-47AB-CADA-967F-B05A130CAA5E}"/>
              </a:ext>
            </a:extLst>
          </p:cNvPr>
          <p:cNvCxnSpPr/>
          <p:nvPr/>
        </p:nvCxnSpPr>
        <p:spPr>
          <a:xfrm flipV="1">
            <a:off x="2634344" y="4359896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A486ABB-EC76-54E8-CD3C-45D2C9ACF583}"/>
              </a:ext>
            </a:extLst>
          </p:cNvPr>
          <p:cNvCxnSpPr/>
          <p:nvPr/>
        </p:nvCxnSpPr>
        <p:spPr>
          <a:xfrm flipV="1">
            <a:off x="2982682" y="4359896"/>
            <a:ext cx="0" cy="218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6B0178-1CF3-9132-9122-3DDDE4CEF87E}"/>
              </a:ext>
            </a:extLst>
          </p:cNvPr>
          <p:cNvSpPr/>
          <p:nvPr/>
        </p:nvSpPr>
        <p:spPr>
          <a:xfrm>
            <a:off x="1288923" y="4535167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782EC3-4A55-7749-BFA3-66467481550E}"/>
              </a:ext>
            </a:extLst>
          </p:cNvPr>
          <p:cNvSpPr/>
          <p:nvPr/>
        </p:nvSpPr>
        <p:spPr>
          <a:xfrm>
            <a:off x="1615492" y="4527913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AF2F7B3-D43E-865C-2017-1D94490ADC3D}"/>
              </a:ext>
            </a:extLst>
          </p:cNvPr>
          <p:cNvSpPr/>
          <p:nvPr/>
        </p:nvSpPr>
        <p:spPr>
          <a:xfrm>
            <a:off x="1942066" y="4535170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14544F-2113-D395-4A94-6106C39A402D}"/>
              </a:ext>
            </a:extLst>
          </p:cNvPr>
          <p:cNvSpPr/>
          <p:nvPr/>
        </p:nvSpPr>
        <p:spPr>
          <a:xfrm>
            <a:off x="2239607" y="4542429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259D54-9C71-4D3C-DFBC-15E3E33AEDAB}"/>
              </a:ext>
            </a:extLst>
          </p:cNvPr>
          <p:cNvSpPr/>
          <p:nvPr/>
        </p:nvSpPr>
        <p:spPr>
          <a:xfrm>
            <a:off x="2609724" y="4542429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FEF5D2-6526-D180-CC51-B41F9E3BE080}"/>
              </a:ext>
            </a:extLst>
          </p:cNvPr>
          <p:cNvSpPr/>
          <p:nvPr/>
        </p:nvSpPr>
        <p:spPr>
          <a:xfrm>
            <a:off x="2958065" y="4542429"/>
            <a:ext cx="68163" cy="174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800FD43-C94B-46D8-0D8A-1A8A5DAF9D3A}"/>
              </a:ext>
            </a:extLst>
          </p:cNvPr>
          <p:cNvCxnSpPr>
            <a:cxnSpLocks/>
          </p:cNvCxnSpPr>
          <p:nvPr/>
        </p:nvCxnSpPr>
        <p:spPr>
          <a:xfrm flipV="1">
            <a:off x="2982682" y="3953493"/>
            <a:ext cx="0" cy="207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713EA27-F48B-C54D-2315-7DFCAAFB6839}"/>
              </a:ext>
            </a:extLst>
          </p:cNvPr>
          <p:cNvSpPr txBox="1"/>
          <p:nvPr/>
        </p:nvSpPr>
        <p:spPr>
          <a:xfrm>
            <a:off x="2766116" y="3685744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1.2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595A84-F13B-BE03-EE51-92B274F740F5}"/>
              </a:ext>
            </a:extLst>
          </p:cNvPr>
          <p:cNvSpPr txBox="1"/>
          <p:nvPr/>
        </p:nvSpPr>
        <p:spPr>
          <a:xfrm>
            <a:off x="4983814" y="3799604"/>
            <a:ext cx="3316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Bradley-Terry paired comparison model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DB267DB-46DC-E5D6-A623-DC5498E7B4A2}"/>
                  </a:ext>
                </a:extLst>
              </p:cNvPr>
              <p:cNvSpPr txBox="1"/>
              <p:nvPr/>
            </p:nvSpPr>
            <p:spPr>
              <a:xfrm>
                <a:off x="4296229" y="4167671"/>
                <a:ext cx="4604786" cy="3852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𝑅𝑀</m:t>
                        </m:r>
                      </m:sub>
                    </m:sSub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kumimoji="1" lang="en-US" altLang="ko-KR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kumimoji="1" lang="en-US" altLang="ko-KR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kumimoji="1" lang="en-US" altLang="ko-KR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kumimoji="1" lang="en-US" altLang="ko-KR" b="1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</m:sup>
                            </m:sSup>
                          </m:e>
                        </m:d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ko-KR" dirty="0"/>
                  <a:t>)]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DB267DB-46DC-E5D6-A623-DC5498E7B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229" y="4167671"/>
                <a:ext cx="4604786" cy="3852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19BDB962-5F4B-F41C-8256-A91462888CAD}"/>
              </a:ext>
            </a:extLst>
          </p:cNvPr>
          <p:cNvSpPr txBox="1"/>
          <p:nvPr/>
        </p:nvSpPr>
        <p:spPr>
          <a:xfrm>
            <a:off x="4876912" y="4578709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00B050"/>
                </a:solidFill>
              </a:rPr>
              <a:t>winning</a:t>
            </a:r>
          </a:p>
          <a:p>
            <a:r>
              <a:rPr kumimoji="1" lang="en-US" altLang="ko-KR" sz="1000" dirty="0">
                <a:solidFill>
                  <a:srgbClr val="00B050"/>
                </a:solidFill>
              </a:rPr>
              <a:t>sample</a:t>
            </a:r>
            <a:endParaRPr kumimoji="1"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BB5251-C2B1-05EA-1F78-52446918BA5E}"/>
              </a:ext>
            </a:extLst>
          </p:cNvPr>
          <p:cNvSpPr txBox="1"/>
          <p:nvPr/>
        </p:nvSpPr>
        <p:spPr>
          <a:xfrm>
            <a:off x="5691582" y="4571023"/>
            <a:ext cx="596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accent1">
                    <a:lumMod val="75000"/>
                  </a:schemeClr>
                </a:solidFill>
              </a:rPr>
              <a:t>losing</a:t>
            </a:r>
          </a:p>
          <a:p>
            <a:r>
              <a:rPr kumimoji="1" lang="en-US" altLang="ko-KR" sz="1000" dirty="0">
                <a:solidFill>
                  <a:schemeClr val="accent1">
                    <a:lumMod val="75000"/>
                  </a:schemeClr>
                </a:solidFill>
              </a:rPr>
              <a:t>sample</a:t>
            </a:r>
            <a:endParaRPr kumimoji="1" lang="ko-KR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9D115EE-AF55-D857-EC3E-6DB6C724A7CC}"/>
              </a:ext>
            </a:extLst>
          </p:cNvPr>
          <p:cNvCxnSpPr>
            <a:cxnSpLocks/>
          </p:cNvCxnSpPr>
          <p:nvPr/>
        </p:nvCxnSpPr>
        <p:spPr>
          <a:xfrm flipV="1">
            <a:off x="5392057" y="4515561"/>
            <a:ext cx="159768" cy="997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108C47-1FAD-4E34-CE61-A4C33C74B148}"/>
              </a:ext>
            </a:extLst>
          </p:cNvPr>
          <p:cNvCxnSpPr>
            <a:cxnSpLocks/>
          </p:cNvCxnSpPr>
          <p:nvPr/>
        </p:nvCxnSpPr>
        <p:spPr>
          <a:xfrm flipH="1" flipV="1">
            <a:off x="5836659" y="4486188"/>
            <a:ext cx="89621" cy="13343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FD84991-C393-4369-F7B7-FA31A96A0B44}"/>
                  </a:ext>
                </a:extLst>
              </p:cNvPr>
              <p:cNvSpPr txBox="1"/>
              <p:nvPr/>
            </p:nvSpPr>
            <p:spPr>
              <a:xfrm>
                <a:off x="6267121" y="4525133"/>
                <a:ext cx="2699072" cy="311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𝑠h𝑜𝑢𝑙𝑑</m:t>
                          </m:r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h𝑖𝑔h𝑒𝑟</m:t>
                          </m:r>
                          <m:r>
                            <a:rPr kumimoji="1"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𝑡h𝑎𝑛</m:t>
                          </m:r>
                          <m:r>
                            <a:rPr kumimoji="1"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ko-K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ko-K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FD84991-C393-4369-F7B7-FA31A96A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121" y="4525133"/>
                <a:ext cx="2699072" cy="311560"/>
              </a:xfrm>
              <a:prstGeom prst="rect">
                <a:avLst/>
              </a:prstGeom>
              <a:blipFill>
                <a:blip r:embed="rId8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슬라이드 번호 개체 틀 48">
            <a:extLst>
              <a:ext uri="{FF2B5EF4-FFF2-40B4-BE49-F238E27FC236}">
                <a16:creationId xmlns:a16="http://schemas.microsoft.com/office/drawing/2014/main" id="{08A037B7-6874-831C-B072-6C900294D2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074435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86C8D25-7E8D-8113-299A-E4AAF3B4F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7985-0E74-77FE-9A8C-134CD4C882F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RLHF: Optimizing the learned reward model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513AB7-95C5-F9C4-9177-3405F7B10E1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440-BBBE-618C-B1F8-37CD5F62422B}"/>
              </a:ext>
            </a:extLst>
          </p:cNvPr>
          <p:cNvSpPr txBox="1"/>
          <p:nvPr/>
        </p:nvSpPr>
        <p:spPr>
          <a:xfrm>
            <a:off x="1023256" y="10326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We</a:t>
            </a:r>
            <a:r>
              <a:rPr lang="ko-KR" altLang="en-US" dirty="0"/>
              <a:t> </a:t>
            </a:r>
            <a:r>
              <a:rPr lang="ko-KR" altLang="en-US" dirty="0" err="1"/>
              <a:t>want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optimize</a:t>
            </a:r>
            <a:r>
              <a:rPr lang="ko-KR" altLang="en-US" dirty="0"/>
              <a:t>: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01268A9-146C-7AA6-4839-F17E5175F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256" y="1032653"/>
            <a:ext cx="2276929" cy="4306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92875-D3A4-0D3E-9F1B-DA2F799DD379}"/>
              </a:ext>
            </a:extLst>
          </p:cNvPr>
          <p:cNvSpPr txBox="1"/>
          <p:nvPr/>
        </p:nvSpPr>
        <p:spPr>
          <a:xfrm>
            <a:off x="1023256" y="1769457"/>
            <a:ext cx="67781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Do</a:t>
            </a:r>
            <a:r>
              <a:rPr lang="ko-KR" altLang="en-US" dirty="0"/>
              <a:t> </a:t>
            </a:r>
            <a:r>
              <a:rPr lang="ko-KR" altLang="en-US" dirty="0" err="1"/>
              <a:t>you</a:t>
            </a:r>
            <a:r>
              <a:rPr lang="ko-KR" altLang="en-US" dirty="0"/>
              <a:t> </a:t>
            </a:r>
            <a:r>
              <a:rPr lang="ko-KR" altLang="en-US" dirty="0" err="1"/>
              <a:t>see</a:t>
            </a:r>
            <a:r>
              <a:rPr lang="ko-KR" altLang="en-US" dirty="0"/>
              <a:t> </a:t>
            </a:r>
            <a:r>
              <a:rPr lang="ko-KR" altLang="en-US" dirty="0" err="1"/>
              <a:t>any</a:t>
            </a:r>
            <a:r>
              <a:rPr lang="ko-KR" altLang="en-US" dirty="0"/>
              <a:t> </a:t>
            </a:r>
            <a:r>
              <a:rPr lang="ko-KR" altLang="en-US" dirty="0" err="1"/>
              <a:t>problems</a:t>
            </a:r>
            <a:r>
              <a:rPr lang="ko-KR" altLang="en-US" dirty="0"/>
              <a:t>?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 </a:t>
            </a:r>
            <a:r>
              <a:rPr lang="ko-KR" altLang="en-US" dirty="0" err="1"/>
              <a:t>Learned</a:t>
            </a:r>
            <a:r>
              <a:rPr lang="ko-KR" altLang="en-US" dirty="0"/>
              <a:t> </a:t>
            </a:r>
            <a:r>
              <a:rPr lang="ko-KR" altLang="en-US" dirty="0" err="1"/>
              <a:t>rewards</a:t>
            </a:r>
            <a:r>
              <a:rPr lang="ko-KR" altLang="en-US" dirty="0"/>
              <a:t> </a:t>
            </a:r>
            <a:r>
              <a:rPr lang="ko-KR" altLang="en-US" dirty="0" err="1"/>
              <a:t>are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C00000"/>
                </a:solidFill>
              </a:rPr>
              <a:t>imperfect</a:t>
            </a:r>
            <a:r>
              <a:rPr lang="ko-KR" altLang="en-US" dirty="0"/>
              <a:t>; </a:t>
            </a:r>
            <a:r>
              <a:rPr lang="ko-KR" altLang="en-US" dirty="0" err="1"/>
              <a:t>this</a:t>
            </a:r>
            <a:r>
              <a:rPr lang="ko-KR" altLang="en-US" dirty="0"/>
              <a:t> </a:t>
            </a:r>
            <a:r>
              <a:rPr lang="ko-KR" altLang="en-US" dirty="0" err="1"/>
              <a:t>quantity</a:t>
            </a:r>
            <a:r>
              <a:rPr lang="ko-KR" altLang="en-US" dirty="0"/>
              <a:t> </a:t>
            </a:r>
            <a:r>
              <a:rPr lang="ko-KR" altLang="en-US" dirty="0" err="1"/>
              <a:t>can</a:t>
            </a:r>
            <a:r>
              <a:rPr lang="ko-KR" altLang="en-US" dirty="0"/>
              <a:t> </a:t>
            </a:r>
            <a:r>
              <a:rPr lang="ko-KR" altLang="en-US" dirty="0" err="1"/>
              <a:t>be</a:t>
            </a:r>
            <a:r>
              <a:rPr lang="ko-KR" altLang="en-US" dirty="0"/>
              <a:t> </a:t>
            </a:r>
            <a:r>
              <a:rPr lang="ko-KR" altLang="en-US" dirty="0" err="1"/>
              <a:t>imperfectly</a:t>
            </a:r>
            <a:r>
              <a:rPr lang="ko-KR" altLang="en-US" dirty="0"/>
              <a:t> </a:t>
            </a:r>
            <a:r>
              <a:rPr lang="ko-KR" altLang="en-US" dirty="0" err="1"/>
              <a:t>optimized</a:t>
            </a:r>
            <a:endParaRPr lang="en-US" altLang="ko-KR" dirty="0"/>
          </a:p>
          <a:p>
            <a:r>
              <a:rPr lang="en" altLang="ko-KR" dirty="0"/>
              <a:t>Add a penalty for drifting too for from the initialization: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A8E0886-8D40-0319-688B-AF4B2C93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29" y="2737513"/>
            <a:ext cx="3597729" cy="750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72753D-4FC3-A6C4-6F11-4343E83E23B5}"/>
                  </a:ext>
                </a:extLst>
              </p:cNvPr>
              <p:cNvSpPr txBox="1"/>
              <p:nvPr/>
            </p:nvSpPr>
            <p:spPr>
              <a:xfrm>
                <a:off x="3075038" y="3580994"/>
                <a:ext cx="6574972" cy="757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T</a:t>
                </a:r>
                <a:r>
                  <a:rPr lang="ko-KR" altLang="en-US" dirty="0" err="1"/>
                  <a:t>his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penalty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which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prevents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us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from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diverging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too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far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from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the</a:t>
                </a:r>
                <a:endParaRPr lang="ko-KR" altLang="en-US" dirty="0"/>
              </a:p>
              <a:p>
                <a:r>
                  <a:rPr lang="ko-KR" altLang="en-US" dirty="0" err="1"/>
                  <a:t>pretrained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model</a:t>
                </a:r>
                <a:r>
                  <a:rPr lang="ko-KR" altLang="en-US" dirty="0"/>
                  <a:t>. </a:t>
                </a:r>
                <a:r>
                  <a:rPr lang="ko-KR" altLang="en-US" dirty="0" err="1"/>
                  <a:t>In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expectation</a:t>
                </a:r>
                <a:r>
                  <a:rPr lang="ko-KR" altLang="en-US" dirty="0"/>
                  <a:t>, </a:t>
                </a:r>
                <a:r>
                  <a:rPr lang="ko-KR" altLang="en-US" dirty="0" err="1"/>
                  <a:t>it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is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known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as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the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Kullback-Leibler</a:t>
                </a:r>
                <a:r>
                  <a:rPr lang="ko-KR" altLang="en-US" dirty="0"/>
                  <a:t> (KL)</a:t>
                </a:r>
              </a:p>
              <a:p>
                <a:r>
                  <a:rPr lang="ko-KR" altLang="en-US" dirty="0" err="1"/>
                  <a:t>divergence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between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ko-KR" altLang="en-US" dirty="0"/>
                  <a:t>and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sup>
                    </m:sSup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C00000"/>
                    </a:solidFill>
                  </a:rPr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72753D-4FC3-A6C4-6F11-4343E83E2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038" y="3580994"/>
                <a:ext cx="6574972" cy="757067"/>
              </a:xfrm>
              <a:prstGeom prst="rect">
                <a:avLst/>
              </a:prstGeom>
              <a:blipFill>
                <a:blip r:embed="rId4"/>
                <a:stretch>
                  <a:fillRect l="-193"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A9A444-8E2D-1C72-9E1B-82A6FB400091}"/>
                  </a:ext>
                </a:extLst>
              </p:cNvPr>
              <p:cNvSpPr txBox="1"/>
              <p:nvPr/>
            </p:nvSpPr>
            <p:spPr>
              <a:xfrm>
                <a:off x="122238" y="3427105"/>
                <a:ext cx="2759153" cy="322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Pays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dirty="0"/>
                  <a:t>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sup>
                    </m:sSup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/>
                  <a:t> 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A9A444-8E2D-1C72-9E1B-82A6FB400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38" y="3427105"/>
                <a:ext cx="2759153" cy="322011"/>
              </a:xfrm>
              <a:prstGeom prst="rect">
                <a:avLst/>
              </a:prstGeom>
              <a:blipFill>
                <a:blip r:embed="rId5"/>
                <a:stretch>
                  <a:fillRect l="-457" t="-3704" b="-14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3A607B53-2DED-3ACB-31B1-E9DFAAFDD9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410337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A4B6C7-5977-27F0-8E31-2B7EE7A9D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3B239-CFCA-BAC8-2FD3-B44E65E94EC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Cross Entropy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024A5A-36C7-74D2-B8B2-FB3F130277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2157EC-DB18-E74F-CD1B-5BEFC23C3E6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D04BBB-0F54-26F8-BF60-7E9A9AF80D2B}"/>
                  </a:ext>
                </a:extLst>
              </p:cNvPr>
              <p:cNvSpPr txBox="1"/>
              <p:nvPr/>
            </p:nvSpPr>
            <p:spPr>
              <a:xfrm>
                <a:off x="-312234" y="953736"/>
                <a:ext cx="4572000" cy="839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kumimoji="1" lang="en-US" altLang="ko-KR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ko-KR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kumimoji="1" lang="en-US" altLang="ko-KR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kumimoji="1" lang="en-US" altLang="ko-KR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D04BBB-0F54-26F8-BF60-7E9A9AF80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2234" y="953736"/>
                <a:ext cx="4572000" cy="839204"/>
              </a:xfrm>
              <a:prstGeom prst="rect">
                <a:avLst/>
              </a:prstGeom>
              <a:blipFill>
                <a:blip r:embed="rId3"/>
                <a:stretch>
                  <a:fillRect t="-122059" b="-17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4092AD-F547-89E6-2ED6-32BC183D98E6}"/>
                  </a:ext>
                </a:extLst>
              </p:cNvPr>
              <p:cNvSpPr txBox="1"/>
              <p:nvPr/>
            </p:nvSpPr>
            <p:spPr>
              <a:xfrm>
                <a:off x="979435" y="2971893"/>
                <a:ext cx="45887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2000" b="0" dirty="0"/>
                  <a:t>-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1" lang="en-US" altLang="ko-K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4092AD-F547-89E6-2ED6-32BC183D9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35" y="2971893"/>
                <a:ext cx="4588726" cy="400110"/>
              </a:xfrm>
              <a:prstGeom prst="rect">
                <a:avLst/>
              </a:prstGeom>
              <a:blipFill>
                <a:blip r:embed="rId4"/>
                <a:stretch>
                  <a:fillRect l="-6354" t="-118750" b="-18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F58048E-1DA0-9312-57F6-7315D3EADD30}"/>
              </a:ext>
            </a:extLst>
          </p:cNvPr>
          <p:cNvSpPr txBox="1"/>
          <p:nvPr/>
        </p:nvSpPr>
        <p:spPr>
          <a:xfrm>
            <a:off x="733425" y="1925419"/>
            <a:ext cx="6013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800" dirty="0"/>
              <a:t>it quantifies how well a predicted distribution </a:t>
            </a:r>
            <a:r>
              <a:rPr lang="en" altLang="ko-KR" sz="1800" b="1" dirty="0"/>
              <a:t>Q</a:t>
            </a:r>
            <a:r>
              <a:rPr lang="en" altLang="ko-KR" sz="1800" dirty="0"/>
              <a:t> approximates the true distribution </a:t>
            </a:r>
            <a:r>
              <a:rPr lang="en" altLang="ko-KR" sz="1800" b="1" dirty="0"/>
              <a:t>P</a:t>
            </a:r>
            <a:endParaRPr lang="ko-KR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44C40-BCFF-F32B-D7B7-FEAA67FB6F46}"/>
              </a:ext>
            </a:extLst>
          </p:cNvPr>
          <p:cNvSpPr txBox="1"/>
          <p:nvPr/>
        </p:nvSpPr>
        <p:spPr>
          <a:xfrm>
            <a:off x="814039" y="3566636"/>
            <a:ext cx="7855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800" dirty="0"/>
              <a:t>If </a:t>
            </a:r>
            <a:r>
              <a:rPr lang="en" altLang="ko-KR" sz="1800" b="1" dirty="0"/>
              <a:t>Q = P</a:t>
            </a:r>
            <a:r>
              <a:rPr lang="en" altLang="ko-KR" sz="1800" dirty="0"/>
              <a:t>, cross-entropy becomes </a:t>
            </a:r>
            <a:r>
              <a:rPr lang="en" altLang="ko-KR" sz="1800" b="1" dirty="0"/>
              <a:t>entropy</a:t>
            </a:r>
            <a:r>
              <a:rPr lang="en" altLang="ko-KR" sz="1800" dirty="0"/>
              <a:t>, representing the lowest possible value—it means the prediction perfectly matches the true distribution.</a:t>
            </a:r>
            <a:endParaRPr lang="ko-KR" altLang="en-US" sz="1800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BFBE80A-2B35-2531-2CD3-F05DBF0A8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392558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2B52CA-998F-7F24-0EF2-380E77728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BA917-D305-C1A0-4409-DF37B854CC6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KL - Divergence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44BDD-B347-ED98-8AA6-41B6F0EA995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5F36C-84F3-C926-DF83-635CFDC941D2}"/>
                  </a:ext>
                </a:extLst>
              </p:cNvPr>
              <p:cNvSpPr txBox="1"/>
              <p:nvPr/>
            </p:nvSpPr>
            <p:spPr>
              <a:xfrm>
                <a:off x="1422399" y="1002445"/>
                <a:ext cx="6451601" cy="774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kumimoji="1" lang="en-US" altLang="ko-KR" b="0" dirty="0"/>
                  <a:t> =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ko-KR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b="0" dirty="0"/>
                  <a:t> -(-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1" lang="en-US" altLang="ko-K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r>
                  <a:rPr kumimoji="1" lang="en-US" altLang="ko-KR" b="0" dirty="0"/>
                  <a:t> </a:t>
                </a:r>
              </a:p>
              <a:p>
                <a:endParaRPr kumimoji="1" lang="en-US" altLang="ko-KR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5F36C-84F3-C926-DF83-635CFDC94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399" y="1002445"/>
                <a:ext cx="6451601" cy="774186"/>
              </a:xfrm>
              <a:prstGeom prst="rect">
                <a:avLst/>
              </a:prstGeom>
              <a:blipFill>
                <a:blip r:embed="rId3"/>
                <a:stretch>
                  <a:fillRect l="-784" t="-38710"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BDC401-7E88-D303-9A7B-26113BA2CEA4}"/>
                  </a:ext>
                </a:extLst>
              </p:cNvPr>
              <p:cNvSpPr txBox="1"/>
              <p:nvPr/>
            </p:nvSpPr>
            <p:spPr>
              <a:xfrm>
                <a:off x="623134" y="1618865"/>
                <a:ext cx="7680308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Always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≻−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kumimoji="1" lang="en-US" altLang="ko-K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kumimoji="1" lang="en-US" altLang="ko-KR" dirty="0"/>
                  <a:t> </a:t>
                </a:r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because </a:t>
                </a:r>
                <a:r>
                  <a:rPr lang="en" altLang="ko-KR" dirty="0"/>
                  <a:t>cross-entropy is always greater than or equal to entropy, with equality only when P=Q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BDC401-7E88-D303-9A7B-26113BA2C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4" y="1618865"/>
                <a:ext cx="7680308" cy="738664"/>
              </a:xfrm>
              <a:prstGeom prst="rect">
                <a:avLst/>
              </a:prstGeom>
              <a:blipFill>
                <a:blip r:embed="rId4"/>
                <a:stretch>
                  <a:fillRect l="-165" t="-42373" b="-135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41B04B83-0159-E1B7-313B-1010239CF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160" y="2437866"/>
            <a:ext cx="4960257" cy="16499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30BE2A-6FBF-1319-251F-A7937CEF16C2}"/>
                  </a:ext>
                </a:extLst>
              </p:cNvPr>
              <p:cNvSpPr txBox="1"/>
              <p:nvPr/>
            </p:nvSpPr>
            <p:spPr>
              <a:xfrm>
                <a:off x="1566822" y="4280914"/>
                <a:ext cx="6447984" cy="414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sSubSup>
                          <m:sSub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sup>
                        </m:sSub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func>
                      <m:func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𝑅𝐿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Sup>
                                  <m:sSubSupPr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  <m:sup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𝑃𝑇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ko-KR" dirty="0"/>
                      <m:t>− </m:t>
                    </m:r>
                    <m:sSubSup>
                      <m:sSubSupPr>
                        <m:ctrlP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l-GR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kumimoji="1" lang="en-US" altLang="ko-KR" dirty="0">
                        <a:solidFill>
                          <a:srgbClr val="C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kumimoji="1" lang="en-US" altLang="ko-KR" dirty="0"/>
                      <m:t>log</m:t>
                    </m:r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a:rPr kumimoji="1" lang="en-US" altLang="ko-KR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kumimoji="1"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/>
                      <m:sup>
                        <m:r>
                          <a:rPr kumimoji="1"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𝑃𝑇</m:t>
                        </m:r>
                      </m:sup>
                    </m:sSubSup>
                    <m:d>
                      <m:dPr>
                        <m:ctrlPr>
                          <a:rPr kumimoji="1"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kumimoji="1"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kumimoji="1" lang="en-US" altLang="ko-KR" dirty="0"/>
                      <m:t>)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−(−</m:t>
                    </m:r>
                    <m:r>
                      <m:rPr>
                        <m:sty m:val="p"/>
                      </m:rPr>
                      <a:rPr kumimoji="1"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bSup>
                      <m:sSubSupPr>
                        <m:ctrlPr>
                          <a:rPr kumimoji="1"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ko-KR" dirty="0">
                    <a:solidFill>
                      <a:srgbClr val="C00000"/>
                    </a:solidFill>
                  </a:rPr>
                  <a:t>)</a:t>
                </a:r>
                <a:r>
                  <a:rPr kumimoji="1" lang="en-US" altLang="ko-KR" dirty="0"/>
                  <a:t>log(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d>
                      <m:dPr>
                        <m:ctrlP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kumimoji="1"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-US" altLang="ko-KR" dirty="0"/>
                  <a:t>)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30BE2A-6FBF-1319-251F-A7937CEF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22" y="4280914"/>
                <a:ext cx="6447984" cy="414857"/>
              </a:xfrm>
              <a:prstGeom prst="rect">
                <a:avLst/>
              </a:prstGeom>
              <a:blipFill>
                <a:blip r:embed="rId6"/>
                <a:stretch>
                  <a:fillRect l="-982" t="-11765" r="-786"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3EB52839-8BDD-EFEA-3F40-2FFF45B33278}"/>
              </a:ext>
            </a:extLst>
          </p:cNvPr>
          <p:cNvCxnSpPr/>
          <p:nvPr/>
        </p:nvCxnSpPr>
        <p:spPr>
          <a:xfrm>
            <a:off x="4325257" y="1320800"/>
            <a:ext cx="1429657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B28A6F-F164-740C-B20F-349D77431D19}"/>
              </a:ext>
            </a:extLst>
          </p:cNvPr>
          <p:cNvSpPr txBox="1"/>
          <p:nvPr/>
        </p:nvSpPr>
        <p:spPr>
          <a:xfrm>
            <a:off x="6266127" y="1309185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00B050"/>
                </a:solidFill>
              </a:rPr>
              <a:t>H(P)  entropy</a:t>
            </a:r>
            <a:endParaRPr kumimoji="1" lang="ko-KR" altLang="en-US" dirty="0">
              <a:solidFill>
                <a:srgbClr val="00B050"/>
              </a:solidFill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20ACADF5-77A2-5437-7973-788F15858D75}"/>
              </a:ext>
            </a:extLst>
          </p:cNvPr>
          <p:cNvCxnSpPr>
            <a:cxnSpLocks/>
          </p:cNvCxnSpPr>
          <p:nvPr/>
        </p:nvCxnSpPr>
        <p:spPr>
          <a:xfrm>
            <a:off x="5907314" y="1320800"/>
            <a:ext cx="1582057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B006F-4D58-5963-B441-DBE684BEC5B5}"/>
                  </a:ext>
                </a:extLst>
              </p:cNvPr>
              <p:cNvSpPr txBox="1"/>
              <p:nvPr/>
            </p:nvSpPr>
            <p:spPr>
              <a:xfrm>
                <a:off x="4215115" y="1304623"/>
                <a:ext cx="17993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solidFill>
                      <a:srgbClr val="00B050"/>
                    </a:solidFill>
                  </a:rPr>
                  <a:t> cross entropy</a:t>
                </a:r>
                <a:endParaRPr kumimoji="1"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B006F-4D58-5963-B441-DBE684BEC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115" y="1304623"/>
                <a:ext cx="1799339" cy="307777"/>
              </a:xfrm>
              <a:prstGeom prst="rect">
                <a:avLst/>
              </a:prstGeom>
              <a:blipFill>
                <a:blip r:embed="rId7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91340369-7051-B123-41DA-4B21F11023EA}"/>
              </a:ext>
            </a:extLst>
          </p:cNvPr>
          <p:cNvCxnSpPr>
            <a:cxnSpLocks/>
          </p:cNvCxnSpPr>
          <p:nvPr/>
        </p:nvCxnSpPr>
        <p:spPr>
          <a:xfrm>
            <a:off x="3933370" y="4622800"/>
            <a:ext cx="182154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DEB72B21-39B6-4010-79C0-FC6835270310}"/>
              </a:ext>
            </a:extLst>
          </p:cNvPr>
          <p:cNvCxnSpPr>
            <a:cxnSpLocks/>
          </p:cNvCxnSpPr>
          <p:nvPr/>
        </p:nvCxnSpPr>
        <p:spPr>
          <a:xfrm>
            <a:off x="5907314" y="4622800"/>
            <a:ext cx="196668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33C52C-AB2D-3727-7760-B3FE0D4DE0C7}"/>
                  </a:ext>
                </a:extLst>
              </p:cNvPr>
              <p:cNvSpPr txBox="1"/>
              <p:nvPr/>
            </p:nvSpPr>
            <p:spPr>
              <a:xfrm>
                <a:off x="3912319" y="4591119"/>
                <a:ext cx="18892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𝑟𝑙</m:t>
                        </m:r>
                      </m:sub>
                    </m:sSub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𝑝𝑡</m:t>
                    </m:r>
                    <m:r>
                      <a:rPr kumimoji="1"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solidFill>
                      <a:srgbClr val="00B050"/>
                    </a:solidFill>
                  </a:rPr>
                  <a:t> cross entropy</a:t>
                </a:r>
                <a:endParaRPr kumimoji="1"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33C52C-AB2D-3727-7760-B3FE0D4DE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19" y="4591119"/>
                <a:ext cx="1889235" cy="307777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999CBC8-2060-9D31-2617-740A491182C7}"/>
              </a:ext>
            </a:extLst>
          </p:cNvPr>
          <p:cNvSpPr txBox="1"/>
          <p:nvPr/>
        </p:nvSpPr>
        <p:spPr>
          <a:xfrm>
            <a:off x="6348957" y="4591119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00B050"/>
                </a:solidFill>
              </a:rPr>
              <a:t>H(</a:t>
            </a:r>
            <a:r>
              <a:rPr kumimoji="1" lang="en-US" altLang="ko-KR" dirty="0" err="1">
                <a:solidFill>
                  <a:srgbClr val="00B050"/>
                </a:solidFill>
              </a:rPr>
              <a:t>rl</a:t>
            </a:r>
            <a:r>
              <a:rPr kumimoji="1" lang="en-US" altLang="ko-KR" dirty="0">
                <a:solidFill>
                  <a:srgbClr val="00B050"/>
                </a:solidFill>
              </a:rPr>
              <a:t>)  entropy</a:t>
            </a:r>
            <a:endParaRPr kumimoji="1" lang="ko-KR" altLang="en-US" dirty="0">
              <a:solidFill>
                <a:srgbClr val="00B050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13CC88E-4555-8DB1-7CB7-AC9BA8F801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528" y="4478378"/>
            <a:ext cx="128041" cy="120038"/>
          </a:xfrm>
          <a:prstGeom prst="rect">
            <a:avLst/>
          </a:prstGeom>
        </p:spPr>
      </p:pic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634CB0FA-734E-1DC9-9475-A1645B989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773153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BEAF91-A17A-E011-7ADA-1A444158C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F8C0DA-1B97-9EEE-2934-845A719158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RLHF provides gains over pretraining + finetuning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19456F-F1DF-43EA-AE93-63A6265F06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86B875-4E8E-6BAD-D02B-6301871ECFC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Learning to summarize with human feedback</a:t>
            </a:r>
            <a:r>
              <a:rPr lang="en" altLang="ko-KR" u="sng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" altLang="ko-KR" b="0" i="0" dirty="0">
                <a:solidFill>
                  <a:srgbClr val="212529"/>
                </a:solidFill>
                <a:effectLst/>
                <a:latin typeface="system-ui"/>
              </a:rPr>
              <a:t>(2020)</a:t>
            </a: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67488D-4588-79D3-7F9D-3F6877620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67" y="1032758"/>
            <a:ext cx="5410200" cy="350980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EF7EF6-04C6-75C7-A508-D5EF6B7C1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937487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890681-14A5-DFC4-F3DF-E61C3697B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6B99AC-0A68-1229-DDFA-A9F4523BA65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5E1D7F-1244-7771-234D-92E07FB5DA3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598F83-AFD2-6049-D149-8BBBBAD174A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Training language models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to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follow instructions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with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human feedback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ko-KR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(2022)</a:t>
            </a:r>
            <a:endParaRPr lang="en" altLang="ko-K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EFB72C-106D-A48D-9D79-C6A33AB3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32" y="838200"/>
            <a:ext cx="6214535" cy="37759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AF7BC5C-2439-AB05-2A62-AA8DE6009919}"/>
              </a:ext>
            </a:extLst>
          </p:cNvPr>
          <p:cNvSpPr/>
          <p:nvPr/>
        </p:nvSpPr>
        <p:spPr>
          <a:xfrm>
            <a:off x="584200" y="1532466"/>
            <a:ext cx="1998134" cy="277283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06F16D4-CE4A-4DE1-CB4D-09C528430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149372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D1EB98-3E6A-694C-8C3C-C939E3D34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0FFA41-1946-B657-9154-D006717D837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r>
              <a:rPr kumimoji="1" lang="en-US" altLang="ko-KR" dirty="0"/>
              <a:t> – Collect prompt and SFT 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5F2217-E95D-E3DF-AAE6-01CE33EFB5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sz="1600" b="0" dirty="0"/>
          </a:p>
          <a:p>
            <a:endParaRPr kumimoji="1" lang="en-US" altLang="ko-KR" sz="1600" b="0" dirty="0"/>
          </a:p>
          <a:p>
            <a:endParaRPr kumimoji="1" lang="en-US" altLang="ko-KR" sz="1600" b="0" dirty="0"/>
          </a:p>
          <a:p>
            <a:endParaRPr kumimoji="1" lang="ko-KR" altLang="en-US" sz="16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139D9-E867-A955-66D1-7BABC9E5F0A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FF52D3-4FAF-DB9D-B5C8-84BDB4B6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09" y="2673350"/>
            <a:ext cx="7026807" cy="1490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062A3B-1029-C020-4D17-3BDFA21C6B13}"/>
              </a:ext>
            </a:extLst>
          </p:cNvPr>
          <p:cNvSpPr txBox="1"/>
          <p:nvPr/>
        </p:nvSpPr>
        <p:spPr>
          <a:xfrm>
            <a:off x="733425" y="1500883"/>
            <a:ext cx="4241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1.Collect prompts from GPT3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2.Writing prompts</a:t>
            </a:r>
            <a:endParaRPr kumimoji="1" lang="ko-KR" altLang="en-US" sz="1800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7394BCC-1321-6E5F-300B-6B28567DB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454161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0BEC9F-B540-1B9F-95FC-211BC337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7748AD-08A7-4719-3FA2-4A487449707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r>
              <a:rPr kumimoji="1" lang="en-US" altLang="ko-KR" dirty="0"/>
              <a:t> – Collect prompt and SFT 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665989-783B-2194-96CB-A25941C07EE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984E6D-7149-6005-539D-8427D16413BB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815DCB-3FC6-25A4-537A-ADAE9A256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68" y="1535403"/>
            <a:ext cx="2186038" cy="28935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F9E4C2-99F4-7066-7DC3-ABE2C3AAA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711" y="1730069"/>
            <a:ext cx="4890298" cy="2504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4B23C-3501-7131-7324-32501F63994B}"/>
              </a:ext>
            </a:extLst>
          </p:cNvPr>
          <p:cNvSpPr txBox="1"/>
          <p:nvPr/>
        </p:nvSpPr>
        <p:spPr>
          <a:xfrm>
            <a:off x="917768" y="886156"/>
            <a:ext cx="276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13K dataset for SFT</a:t>
            </a:r>
            <a:endParaRPr kumimoji="1" lang="ko-KR" altLang="en-US" sz="2000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4EC4330-A386-B1DD-80AC-F58FAEA68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184738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CDFC-7E9A-06C8-61AA-BE2ABDBE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B14612C-AF50-F617-CA9B-01A3701D7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3D5966-1472-7E0E-45F6-225B453210C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C6A43F-698C-D315-8AC0-09C322EA500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A45E9A-70D7-194B-1D97-3F5655E6F72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Training language models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to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follow instructions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with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human feedback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ko-KR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(2022)</a:t>
            </a:r>
            <a:endParaRPr lang="en" altLang="ko-K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D55112-7A4B-66B1-764F-89C2BC20D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373" y="647800"/>
            <a:ext cx="6214535" cy="37759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341113-473E-5A4F-A052-5676CA220356}"/>
              </a:ext>
            </a:extLst>
          </p:cNvPr>
          <p:cNvSpPr/>
          <p:nvPr/>
        </p:nvSpPr>
        <p:spPr>
          <a:xfrm>
            <a:off x="3555999" y="1263312"/>
            <a:ext cx="1998134" cy="298873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4EFE36-F8C1-0E20-275C-3FEDA631F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699" y="4261045"/>
            <a:ext cx="4038600" cy="514004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5009BF13-A1DA-3D95-D663-86D28AA7DB29}"/>
              </a:ext>
            </a:extLst>
          </p:cNvPr>
          <p:cNvSpPr/>
          <p:nvPr/>
        </p:nvSpPr>
        <p:spPr>
          <a:xfrm>
            <a:off x="5164667" y="4305301"/>
            <a:ext cx="474134" cy="36761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140565E-022D-039F-BF18-8CABFDB20A8B}"/>
              </a:ext>
            </a:extLst>
          </p:cNvPr>
          <p:cNvSpPr/>
          <p:nvPr/>
        </p:nvSpPr>
        <p:spPr>
          <a:xfrm>
            <a:off x="5966632" y="4311894"/>
            <a:ext cx="474134" cy="3676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052E49-A31B-6CFD-CB1E-591D701BA708}"/>
              </a:ext>
            </a:extLst>
          </p:cNvPr>
          <p:cNvSpPr txBox="1"/>
          <p:nvPr/>
        </p:nvSpPr>
        <p:spPr>
          <a:xfrm>
            <a:off x="5005343" y="4690265"/>
            <a:ext cx="1814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C00000"/>
                </a:solidFill>
              </a:rPr>
              <a:t>Preferred </a:t>
            </a:r>
            <a:r>
              <a:rPr kumimoji="1" lang="en-US" altLang="ko-KR" sz="1000" dirty="0"/>
              <a:t>       </a:t>
            </a:r>
            <a:r>
              <a:rPr kumimoji="1" lang="en-US" altLang="ko-KR" sz="1000" dirty="0">
                <a:solidFill>
                  <a:srgbClr val="0070C0"/>
                </a:solidFill>
              </a:rPr>
              <a:t>less preferred 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5D6DEDE-8207-8D05-8BE8-49B7CAA500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467260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87DC-CE3A-215B-EE9D-7B767B7B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F3AF93-61DA-8F5E-FD18-091B3C919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1ED3B-2E12-E6E3-97AF-70BD7AAF2AD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r>
              <a:rPr kumimoji="1" lang="en-US" altLang="ko-KR" dirty="0"/>
              <a:t> – Optimize a policy against reward model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08DE12-D7E1-5A8E-FCE5-2554A3000A3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BAAE2A-2659-ED41-1CBF-6245FC6870E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Training language models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to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follow instructions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with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human feedback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ko-KR" b="1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(2022)</a:t>
            </a:r>
            <a:endParaRPr lang="en" altLang="ko-K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F6020E-FA9E-1AE2-BB97-3D913B9C6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99" y="871278"/>
            <a:ext cx="5764743" cy="350268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D51F451-21F6-F957-B649-2A3A072EA490}"/>
              </a:ext>
            </a:extLst>
          </p:cNvPr>
          <p:cNvSpPr/>
          <p:nvPr/>
        </p:nvSpPr>
        <p:spPr>
          <a:xfrm>
            <a:off x="5613400" y="885969"/>
            <a:ext cx="2005542" cy="35026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988204-5D6B-CE26-191C-01E0C1A4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541" y="4472786"/>
            <a:ext cx="6477000" cy="444500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6F5C8B-CC6F-8232-B5C0-E8D4754C93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39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688167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1AC7148-9455-C59C-CF42-3A29CF1D3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1F117-DBB7-C9BD-4830-D523BFFD816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3E2A8F-3583-6313-D9E6-85C1E919B0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79F65D-0C5E-C074-9D3A-F0C26DF92FFA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033E0F-AACC-BA95-0D59-7F046C759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13" y="798613"/>
            <a:ext cx="7772400" cy="389363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823AD-0A04-EC73-F4BD-D90F95FBD2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693957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AB748E-3B64-18BA-A7D0-A7CB17BB0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FA4E78-950E-AE26-C7F9-0345180D8DE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 err="1"/>
              <a:t>InstructGPT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8E5245-3655-4E1A-A348-E7567F66BDE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608A07-87EB-A5A0-3129-B84B3F01084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5CC645-B0B1-E212-DADA-74058961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06" y="902102"/>
            <a:ext cx="6752527" cy="383459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4F3C22-B741-8C4B-4296-F58D7BDD7B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362294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2E56-A877-3732-00C2-12204640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497D031-1B69-4A99-5673-CA6FE0D8C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2A5E03-5942-7293-F816-59D84B721E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DPO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CD939E-2717-83B2-0951-C3ABC6CDCF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    DPO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35B0CD-971D-A433-7D90-FEE035475AD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72DC3-88B8-0D77-C3B7-70EB040A5A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4045175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CCA75D-F063-689E-6779-E34D81029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38AC3-D15A-BD29-D6B8-55667FB490E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RLHF can be complex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70F3F2-F55C-7325-EB50-4A813833AB9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88396" y="423913"/>
            <a:ext cx="8245500" cy="3962400"/>
          </a:xfrm>
        </p:spPr>
        <p:txBody>
          <a:bodyPr/>
          <a:lstStyle/>
          <a:p>
            <a:endParaRPr kumimoji="1" lang="en-US" altLang="ko-KR" sz="1600" b="0" dirty="0"/>
          </a:p>
          <a:p>
            <a:endParaRPr kumimoji="1" lang="en-US" altLang="ko-KR" sz="1600" b="0" dirty="0"/>
          </a:p>
          <a:p>
            <a:endParaRPr kumimoji="1" lang="en-US" altLang="ko-KR" sz="1600" b="0" dirty="0"/>
          </a:p>
          <a:p>
            <a:pPr marL="228600" indent="0"/>
            <a:r>
              <a:rPr kumimoji="1" lang="en" altLang="ko-KR" sz="1600" b="0" dirty="0"/>
              <a:t>RL optimization can be</a:t>
            </a:r>
          </a:p>
          <a:p>
            <a:pPr marL="228600" indent="0"/>
            <a:r>
              <a:rPr kumimoji="1" lang="en" altLang="ko-KR" sz="1600" b="0" dirty="0"/>
              <a:t> computationally expensive and tricky:</a:t>
            </a:r>
          </a:p>
          <a:p>
            <a:pPr marL="228600" indent="0"/>
            <a:endParaRPr kumimoji="1" lang="en" altLang="ko-KR" sz="1600" b="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kumimoji="1" lang="en" altLang="ko-KR" sz="1600" b="0" dirty="0"/>
              <a:t>Fitting a value function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kumimoji="1" lang="en" altLang="ko-KR" sz="1600" b="0" dirty="0"/>
              <a:t>Online sampling is slow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kumimoji="1" lang="en" altLang="ko-KR" sz="1600" b="0" dirty="0"/>
              <a:t>Performance can be sensitive</a:t>
            </a:r>
          </a:p>
          <a:p>
            <a:pPr marL="228600" indent="0"/>
            <a:r>
              <a:rPr kumimoji="1" lang="en" altLang="ko-KR" sz="1600" b="0" dirty="0"/>
              <a:t>to hyperparameters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kumimoji="1" lang="ko-KR" altLang="en-US" sz="16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B00762-F55C-1B67-4536-EF3671E90F9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Secrets of rlhf in large language models part i: Ppo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(2023)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970F82-D156-4E87-3AD5-61DCBE8D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799" y="1728302"/>
            <a:ext cx="5444067" cy="276634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D8A99D-E625-3CC8-333F-4064BAEB10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648243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244353-5061-BA4A-D4D4-2390948D7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76267-BA82-1B80-E88D-18A86A50EFD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1800" dirty="0"/>
              <a:t>Can we simplify RLHF? Towards Direct Preference Optimization</a:t>
            </a:r>
          </a:p>
          <a:p>
            <a:endParaRPr kumimoji="1" lang="ko-KR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419E495F-51D1-20D9-391F-E3DABE5E66F0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r>
                  <a:rPr kumimoji="1" lang="en" altLang="ko-KR" sz="1800" b="0" dirty="0"/>
                  <a:t>Current pipeline is as follows:</a:t>
                </a:r>
              </a:p>
              <a:p>
                <a:r>
                  <a:rPr kumimoji="1" lang="ko-KR" altLang="en-US" sz="1800" dirty="0"/>
                  <a:t> </a:t>
                </a:r>
                <a:r>
                  <a:rPr kumimoji="1" lang="en-US" altLang="ko-KR" sz="1800" b="0" dirty="0"/>
                  <a:t>- Train a reward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kumimoji="1" lang="en-US" altLang="ko-KR" sz="1800" b="0" dirty="0">
                    <a:solidFill>
                      <a:srgbClr val="7030A0"/>
                    </a:solidFill>
                  </a:rPr>
                  <a:t>(𝑥, 𝑦)</a:t>
                </a:r>
                <a:r>
                  <a:rPr kumimoji="1" lang="en-US" altLang="ko-KR" sz="1800" b="0" dirty="0"/>
                  <a:t> to produce scalar rewards for LM outputs, trained on a dataset of human comparisons</a:t>
                </a:r>
              </a:p>
              <a:p>
                <a:r>
                  <a:rPr kumimoji="1" lang="en-US" altLang="ko-KR" sz="1800" b="0" dirty="0"/>
                  <a:t> - Optimize pretrained (possibly instruction-finetuned) LM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kumimoji="1" lang="en-US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olidFill>
                      <a:srgbClr val="C00000"/>
                    </a:solidFill>
                  </a:rPr>
                  <a:t>(𝑦|𝑥) </a:t>
                </a:r>
                <a:r>
                  <a:rPr kumimoji="1" lang="en-US" altLang="ko-KR" sz="1800" b="0" dirty="0"/>
                  <a:t>to produce the final RLHF LM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d>
                      <m:dPr>
                        <m:ctrlP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ko-KR" sz="1800" b="0" dirty="0"/>
              </a:p>
              <a:p>
                <a:endParaRPr kumimoji="1" lang="en-US" altLang="ko-KR" sz="1800" b="0" dirty="0"/>
              </a:p>
              <a:p>
                <a:endParaRPr kumimoji="1" lang="en" altLang="ko-KR" sz="1800" b="0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419E495F-51D1-20D9-391F-E3DABE5E6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>
                <a:blip r:embed="rId3"/>
                <a:stretch>
                  <a:fillRect t="-958" r="-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B9292B-1170-3378-102D-AD862941D88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Direct preference optimization: Your language model is secretly a reward model</a:t>
            </a:r>
            <a:r>
              <a:rPr kumimoji="1" lang="en-US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(2023)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97A8A0-D7AC-478D-31FA-7AA635DAB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86" y="2606824"/>
            <a:ext cx="8135377" cy="169847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4DD9DED-FD83-4340-47B9-97E73ACE3466}"/>
              </a:ext>
            </a:extLst>
          </p:cNvPr>
          <p:cNvSpPr/>
          <p:nvPr/>
        </p:nvSpPr>
        <p:spPr>
          <a:xfrm>
            <a:off x="423863" y="2571750"/>
            <a:ext cx="4992199" cy="1733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828C6C7-4D4B-BEEF-C360-328F09871B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2574746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A7DC1-E436-98B2-2912-790F77F6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DB969E-04BA-7868-F279-F54641EF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949110-146A-E3FF-1F44-7DDDF2E7E5C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1800" dirty="0"/>
              <a:t>Can we simplify RLHF? Towards Direct Preference Optimization</a:t>
            </a:r>
          </a:p>
          <a:p>
            <a:endParaRPr kumimoji="1" lang="ko-KR" altLang="en-US" sz="18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EFBD90-E710-396E-4446-D98FCED8136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Direct preference optimization: Your language model is secretly a reward model</a:t>
            </a:r>
            <a:r>
              <a:rPr kumimoji="1" lang="en-US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(2023)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E6E2D8-7396-5330-EDB8-A3101D70F474}"/>
                  </a:ext>
                </a:extLst>
              </p:cNvPr>
              <p:cNvSpPr txBox="1"/>
              <p:nvPr/>
            </p:nvSpPr>
            <p:spPr>
              <a:xfrm>
                <a:off x="423863" y="838200"/>
                <a:ext cx="8245500" cy="2099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" altLang="ko-KR" sz="1800" b="0" dirty="0"/>
                  <a:t>What if there was a way to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kumimoji="1" lang="en" altLang="ko-KR" sz="1800" b="0" dirty="0">
                    <a:solidFill>
                      <a:srgbClr val="7030A0"/>
                    </a:solidFill>
                  </a:rPr>
                  <a:t>(𝑥, 𝑦) </a:t>
                </a:r>
                <a:r>
                  <a:rPr kumimoji="1" lang="en" altLang="ko-KR" sz="1800" b="0" dirty="0"/>
                  <a:t>in terms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d>
                      <m:dPr>
                        <m:ctrlP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" altLang="ko-KR" sz="1800" b="0" dirty="0"/>
                  <a:t> ?</a:t>
                </a:r>
              </a:p>
              <a:p>
                <a:r>
                  <a:rPr kumimoji="1" lang="en" altLang="ko-KR" sz="1800" b="0" dirty="0"/>
                  <a:t> - Derive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en" altLang="ko-KR" sz="1800" b="0" dirty="0">
                    <a:solidFill>
                      <a:srgbClr val="7030A0"/>
                    </a:solidFill>
                  </a:rPr>
                  <a:t>(𝑥, 𝑦) </a:t>
                </a:r>
                <a:r>
                  <a:rPr kumimoji="1" lang="en" altLang="ko-KR" sz="1800" b="0" dirty="0"/>
                  <a:t>in terms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sup>
                    </m:sSubSup>
                    <m:d>
                      <m:dPr>
                        <m:ctrlP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sz="18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sz="18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kumimoji="1" lang="en-US" altLang="ko-KR" sz="18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" altLang="ko-KR" sz="1800" b="0" dirty="0"/>
              </a:p>
              <a:p>
                <a:r>
                  <a:rPr kumimoji="1" lang="en" altLang="ko-KR" sz="1800" b="0" dirty="0"/>
                  <a:t> - Optimizing parameters 𝜃 by fitting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en" altLang="ko-KR" sz="1800" b="0" dirty="0">
                    <a:solidFill>
                      <a:srgbClr val="7030A0"/>
                    </a:solidFill>
                  </a:rPr>
                  <a:t>(𝑥, 𝑦) </a:t>
                </a:r>
                <a:r>
                  <a:rPr kumimoji="1" lang="en" altLang="ko-KR" sz="1800" b="0" dirty="0">
                    <a:solidFill>
                      <a:schemeClr val="tx1"/>
                    </a:solidFill>
                  </a:rPr>
                  <a:t>to the preference data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kumimoji="1" lang="en" altLang="ko-KR" sz="1800" b="0" dirty="0">
                    <a:solidFill>
                      <a:srgbClr val="7030A0"/>
                    </a:solidFill>
                  </a:rPr>
                  <a:t>(𝑥, 𝑦) </a:t>
                </a:r>
              </a:p>
              <a:p>
                <a:endParaRPr kumimoji="1" lang="en" altLang="ko-KR" sz="1800" b="0" dirty="0"/>
              </a:p>
              <a:p>
                <a:r>
                  <a:rPr kumimoji="1" lang="en" altLang="ko-KR" sz="1800" b="0" dirty="0"/>
                  <a:t>How is this possible? The only external information to the optimization comes from the preference labels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E6E2D8-7396-5330-EDB8-A3101D70F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63" y="838200"/>
                <a:ext cx="8245500" cy="2099164"/>
              </a:xfrm>
              <a:prstGeom prst="rect">
                <a:avLst/>
              </a:prstGeom>
              <a:blipFill>
                <a:blip r:embed="rId4"/>
                <a:stretch>
                  <a:fillRect l="-615" t="-2410" r="-615" b="-30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C5583F04-F000-2484-EFE2-266A657EA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25" y="3021502"/>
            <a:ext cx="7772400" cy="1622695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6442F434-3707-1FC6-44AF-2ACA493B4ABA}"/>
              </a:ext>
            </a:extLst>
          </p:cNvPr>
          <p:cNvCxnSpPr>
            <a:cxnSpLocks/>
          </p:cNvCxnSpPr>
          <p:nvPr/>
        </p:nvCxnSpPr>
        <p:spPr>
          <a:xfrm>
            <a:off x="2622620" y="3445466"/>
            <a:ext cx="703384" cy="6542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7E0B584A-08C7-159E-D921-9A4456752737}"/>
              </a:ext>
            </a:extLst>
          </p:cNvPr>
          <p:cNvCxnSpPr>
            <a:cxnSpLocks/>
          </p:cNvCxnSpPr>
          <p:nvPr/>
        </p:nvCxnSpPr>
        <p:spPr>
          <a:xfrm flipV="1">
            <a:off x="2622620" y="3486778"/>
            <a:ext cx="703384" cy="5403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168C28F-C531-AA38-D233-105BEDEBF9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654593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0065-E9B0-124D-51BB-4F67EE68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64F9E8-C5D8-AD35-0D06-BAFF79DA4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2B648A-E97B-8604-6D8C-70F547DAA3F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1800" dirty="0"/>
              <a:t>Appendix1 - Direct Preference Optimization (DPO)</a:t>
            </a:r>
            <a:endParaRPr kumimoji="1" lang="ko-KR" altLang="en-US" sz="18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2D8C60-49ED-764B-D3E0-DE6CAFBAB9E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0DADC3-4303-FE3D-A543-2D8B6C7B4B2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0C6A9C42-0415-97F4-FF3A-78FEBAC54236}"/>
              </a:ext>
            </a:extLst>
          </p:cNvPr>
          <p:cNvSpPr txBox="1">
            <a:spLocks/>
          </p:cNvSpPr>
          <p:nvPr/>
        </p:nvSpPr>
        <p:spPr>
          <a:xfrm>
            <a:off x="122238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Direct preference optimization: Your language model is secretly a reward model</a:t>
            </a:r>
            <a:r>
              <a:rPr kumimoji="1" lang="en-US" altLang="ko-KR">
                <a:solidFill>
                  <a:srgbClr val="1A0DAB"/>
                </a:solidFill>
                <a:latin typeface="Arial" panose="020B0604020202020204" pitchFamily="34" charset="0"/>
              </a:rPr>
              <a:t> (2023)</a:t>
            </a:r>
            <a:endParaRPr lang="en" altLang="ko-K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6198E5-009F-5BFB-D8C5-C54EF81F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25" y="982833"/>
            <a:ext cx="7721600" cy="2527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D41E6D8-8EA5-2F72-6410-C6BC9DCBB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56" y="3606800"/>
            <a:ext cx="3454400" cy="698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665256-51F0-9FA2-BA7C-B38E82953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2049" y="3606800"/>
            <a:ext cx="3860800" cy="7112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EC9CA46-3804-5C0F-14B4-776B9C42C17D}"/>
              </a:ext>
            </a:extLst>
          </p:cNvPr>
          <p:cNvCxnSpPr/>
          <p:nvPr/>
        </p:nvCxnSpPr>
        <p:spPr>
          <a:xfrm>
            <a:off x="4923692" y="1828800"/>
            <a:ext cx="713433" cy="200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4E0A8CD-11C5-E31B-E695-E7EE7661F7DE}"/>
              </a:ext>
            </a:extLst>
          </p:cNvPr>
          <p:cNvCxnSpPr>
            <a:cxnSpLocks/>
          </p:cNvCxnSpPr>
          <p:nvPr/>
        </p:nvCxnSpPr>
        <p:spPr>
          <a:xfrm flipH="1">
            <a:off x="5295482" y="1828800"/>
            <a:ext cx="231111" cy="24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DD9FB101-5D1C-12BB-AD0C-8E8839E2AD91}"/>
              </a:ext>
            </a:extLst>
          </p:cNvPr>
          <p:cNvSpPr/>
          <p:nvPr/>
        </p:nvSpPr>
        <p:spPr>
          <a:xfrm>
            <a:off x="2311120" y="1487155"/>
            <a:ext cx="502418" cy="48232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31D0B7E-E400-0B4F-6207-45B32D88C47C}"/>
              </a:ext>
            </a:extLst>
          </p:cNvPr>
          <p:cNvSpPr/>
          <p:nvPr/>
        </p:nvSpPr>
        <p:spPr>
          <a:xfrm>
            <a:off x="2258773" y="2091932"/>
            <a:ext cx="502418" cy="48232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B7F739B-B676-9A1B-F55A-B90F09C617BC}"/>
              </a:ext>
            </a:extLst>
          </p:cNvPr>
          <p:cNvCxnSpPr/>
          <p:nvPr/>
        </p:nvCxnSpPr>
        <p:spPr>
          <a:xfrm>
            <a:off x="3285811" y="4190163"/>
            <a:ext cx="75362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1467F1FC-E0A9-4CA4-3F5F-4E1661FC6A8F}"/>
              </a:ext>
            </a:extLst>
          </p:cNvPr>
          <p:cNvCxnSpPr/>
          <p:nvPr/>
        </p:nvCxnSpPr>
        <p:spPr>
          <a:xfrm>
            <a:off x="5637125" y="2583473"/>
            <a:ext cx="75362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AA1C597-96F9-4FAD-EAAC-0A40E4E56B2B}"/>
              </a:ext>
            </a:extLst>
          </p:cNvPr>
          <p:cNvCxnSpPr/>
          <p:nvPr/>
        </p:nvCxnSpPr>
        <p:spPr>
          <a:xfrm flipV="1">
            <a:off x="3848519" y="2481943"/>
            <a:ext cx="1788606" cy="112485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804379-DE62-69B3-CBA6-80024C582DDC}"/>
                  </a:ext>
                </a:extLst>
              </p:cNvPr>
              <p:cNvSpPr txBox="1"/>
              <p:nvPr/>
            </p:nvSpPr>
            <p:spPr>
              <a:xfrm>
                <a:off x="4719266" y="4343856"/>
                <a:ext cx="29935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804379-DE62-69B3-CBA6-80024C582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266" y="4343856"/>
                <a:ext cx="2993512" cy="215444"/>
              </a:xfrm>
              <a:prstGeom prst="rect">
                <a:avLst/>
              </a:prstGeom>
              <a:blipFill>
                <a:blip r:embed="rId7"/>
                <a:stretch>
                  <a:fillRect t="-5556" r="-1688" b="-3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타원 22">
            <a:extLst>
              <a:ext uri="{FF2B5EF4-FFF2-40B4-BE49-F238E27FC236}">
                <a16:creationId xmlns:a16="http://schemas.microsoft.com/office/drawing/2014/main" id="{F56FE822-1272-269D-1334-A6F7D0CDE050}"/>
              </a:ext>
            </a:extLst>
          </p:cNvPr>
          <p:cNvSpPr/>
          <p:nvPr/>
        </p:nvSpPr>
        <p:spPr>
          <a:xfrm>
            <a:off x="884255" y="3697793"/>
            <a:ext cx="502418" cy="49237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F40A12-DE7E-7430-A3D8-3EE5F2EC2FB6}"/>
              </a:ext>
            </a:extLst>
          </p:cNvPr>
          <p:cNvSpPr/>
          <p:nvPr/>
        </p:nvSpPr>
        <p:spPr>
          <a:xfrm>
            <a:off x="5727360" y="3927287"/>
            <a:ext cx="452176" cy="35053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7A77B582-BCF3-6E4C-CDBD-E1484D3B38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931736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468E-DAFD-523A-48B3-8DADBD45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6D5D54-FC34-B1F0-5DBA-4607EC4CC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B2F47D-FA0A-78A7-AC2A-020C13AB25E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1800" dirty="0"/>
              <a:t>Appendix1 - Direct Preference Optimization (DPO)</a:t>
            </a:r>
            <a:endParaRPr kumimoji="1" lang="ko-KR" altLang="en-US" sz="18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3DCDA1-6F34-922B-0AF2-28EADC30377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2842F3-6546-3C8F-530E-6AD98A8F249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0DC47BC-2D26-7B18-7695-58797A54731F}"/>
              </a:ext>
            </a:extLst>
          </p:cNvPr>
          <p:cNvSpPr txBox="1">
            <a:spLocks/>
          </p:cNvSpPr>
          <p:nvPr/>
        </p:nvSpPr>
        <p:spPr>
          <a:xfrm>
            <a:off x="122238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Direct preference optimization: Your language model is secretly a reward model</a:t>
            </a:r>
            <a:r>
              <a:rPr kumimoji="1" lang="en-US" altLang="ko-KR">
                <a:solidFill>
                  <a:srgbClr val="1A0DAB"/>
                </a:solidFill>
                <a:latin typeface="Arial" panose="020B0604020202020204" pitchFamily="34" charset="0"/>
              </a:rPr>
              <a:t> (2023)</a:t>
            </a:r>
            <a:endParaRPr lang="en" altLang="ko-K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7B4DA2-9132-64CB-22E9-82C0B19D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1320799"/>
            <a:ext cx="4724400" cy="1016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C820F8-5B51-3A29-9284-7EDDE598D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806701"/>
            <a:ext cx="4724400" cy="64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01184A-12E8-2E57-9BE7-6B1365D46560}"/>
                  </a:ext>
                </a:extLst>
              </p:cNvPr>
              <p:cNvSpPr txBox="1"/>
              <p:nvPr/>
            </p:nvSpPr>
            <p:spPr>
              <a:xfrm>
                <a:off x="2501598" y="3849022"/>
                <a:ext cx="3926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𝑜𝑝𝑡𝑖𝑚𝑎𝑙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𝑤h𝑒𝑛</m:t>
                      </m:r>
                      <m:r>
                        <a:rPr kumimoji="1" lang="ko-KR" altLang="en-US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kumimoji="1" lang="en-US" altLang="ko-KR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kumimoji="1" lang="en-US" altLang="ko-KR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𝑏𝑒𝑖𝑛𝑔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01184A-12E8-2E57-9BE7-6B1365D46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598" y="3849022"/>
                <a:ext cx="3926588" cy="369332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EA4EDBB-91FB-DC07-BB89-B2F50F83EC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934295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0A27F8-F3C0-930A-08EB-352E41A5E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0D1318-C438-417E-9782-57B303C4B44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1800" dirty="0"/>
              <a:t>Appendix1 - Direct Preference Optimization (DPO)</a:t>
            </a:r>
            <a:endParaRPr kumimoji="1" lang="ko-KR" altLang="en-US" sz="1800" dirty="0"/>
          </a:p>
          <a:p>
            <a:endParaRPr kumimoji="1" lang="ko-KR" altLang="en-US" sz="18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C370A4-413D-48E8-9EF9-27FFB03100E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0BFB4A-DBBD-2110-2180-88FCBE26C98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BFECB4-07CD-5969-E732-057E7AF01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3" y="884021"/>
            <a:ext cx="4622800" cy="82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EB86BF-511B-5F75-8035-D5BFCD484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236" y="965200"/>
            <a:ext cx="3733800" cy="698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E6EEF9-C830-C16C-E4B0-C1CE2B702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46" y="1999113"/>
            <a:ext cx="7951759" cy="2306136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F4948072-C7FC-00E9-961F-8B26E27A7A6A}"/>
              </a:ext>
            </a:extLst>
          </p:cNvPr>
          <p:cNvCxnSpPr/>
          <p:nvPr/>
        </p:nvCxnSpPr>
        <p:spPr>
          <a:xfrm flipV="1">
            <a:off x="5978769" y="1999164"/>
            <a:ext cx="723482" cy="392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961914F8-AEF7-A615-FBCA-DA3B4C535DED}"/>
              </a:ext>
            </a:extLst>
          </p:cNvPr>
          <p:cNvCxnSpPr/>
          <p:nvPr/>
        </p:nvCxnSpPr>
        <p:spPr>
          <a:xfrm flipV="1">
            <a:off x="4331742" y="2478141"/>
            <a:ext cx="723482" cy="392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59997FC4-3371-8414-DA47-92C02F73C663}"/>
              </a:ext>
            </a:extLst>
          </p:cNvPr>
          <p:cNvCxnSpPr/>
          <p:nvPr/>
        </p:nvCxnSpPr>
        <p:spPr>
          <a:xfrm flipV="1">
            <a:off x="7547987" y="2478141"/>
            <a:ext cx="723482" cy="392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E32461E8-2BC7-82CA-53DC-41B8FD96018F}"/>
              </a:ext>
            </a:extLst>
          </p:cNvPr>
          <p:cNvSpPr/>
          <p:nvPr/>
        </p:nvSpPr>
        <p:spPr>
          <a:xfrm>
            <a:off x="4291136" y="1853779"/>
            <a:ext cx="1316334" cy="66943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22A3F53-AD60-13EA-2463-935CB61881FF}"/>
              </a:ext>
            </a:extLst>
          </p:cNvPr>
          <p:cNvSpPr/>
          <p:nvPr/>
        </p:nvSpPr>
        <p:spPr>
          <a:xfrm>
            <a:off x="2668735" y="2339594"/>
            <a:ext cx="1316334" cy="66943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ABB551-36B4-7500-35D4-4D98A023B2D5}"/>
                  </a:ext>
                </a:extLst>
              </p:cNvPr>
              <p:cNvSpPr txBox="1"/>
              <p:nvPr/>
            </p:nvSpPr>
            <p:spPr>
              <a:xfrm>
                <a:off x="5969550" y="3255665"/>
                <a:ext cx="1341714" cy="3976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solidFill>
                      <a:schemeClr val="tx2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kumimoji="1" lang="ko-KR" altLang="en-US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ko-KR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kumimoji="1" lang="en-US" altLang="ko-KR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ko-KR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en-US" altLang="ko-KR" dirty="0">
                    <a:solidFill>
                      <a:schemeClr val="tx2">
                        <a:lumMod val="50000"/>
                      </a:schemeClr>
                    </a:solidFill>
                  </a:rPr>
                  <a:t>)</a:t>
                </a:r>
                <a:endParaRPr kumimoji="1" lang="ko-KR" alt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ABB551-36B4-7500-35D4-4D98A023B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550" y="3255665"/>
                <a:ext cx="1341714" cy="397673"/>
              </a:xfrm>
              <a:prstGeom prst="rect">
                <a:avLst/>
              </a:prstGeom>
              <a:blipFill>
                <a:blip r:embed="rId6"/>
                <a:stretch>
                  <a:fillRect l="-935" b="-3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A2E88B51-DBFB-20A1-8EEF-F486B3794BFD}"/>
              </a:ext>
            </a:extLst>
          </p:cNvPr>
          <p:cNvSpPr txBox="1">
            <a:spLocks/>
          </p:cNvSpPr>
          <p:nvPr/>
        </p:nvSpPr>
        <p:spPr>
          <a:xfrm>
            <a:off x="122238" y="4880492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7"/>
              </a:rPr>
              <a:t>Direct preference optimization: Your language model is secretly a reward model</a:t>
            </a:r>
            <a:r>
              <a:rPr kumimoji="1" lang="en-US" altLang="ko-KR">
                <a:solidFill>
                  <a:srgbClr val="1A0DAB"/>
                </a:solidFill>
                <a:latin typeface="Arial" panose="020B0604020202020204" pitchFamily="34" charset="0"/>
              </a:rPr>
              <a:t> (2023)</a:t>
            </a:r>
            <a:endParaRPr lang="en" altLang="ko-KR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B245BBF8-64EA-648B-F23C-F6A0D3A28B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5877508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9B66-1C74-88A5-CA7F-B5F5822D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6BEFA58-F29C-14F1-2940-413DCEB7D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3BB59-DAAA-0FC0-DA78-7AE0DD0DCB7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2400" dirty="0"/>
              <a:t>Direct Preference Optimization (DPO)</a:t>
            </a:r>
            <a:endParaRPr kumimoji="1" lang="ko-KR" altLang="en-US" sz="24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7E0199-E4C8-F4C8-3B1D-E2424C69652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sz="1800" b="0" dirty="0"/>
              <a:t>Recall, we want to maximize the following objective:</a:t>
            </a:r>
          </a:p>
          <a:p>
            <a:endParaRPr kumimoji="1" lang="en" altLang="ko-KR" sz="1800" b="0" dirty="0"/>
          </a:p>
          <a:p>
            <a:endParaRPr kumimoji="1" lang="en" altLang="ko-KR" sz="1800" b="0" dirty="0"/>
          </a:p>
          <a:p>
            <a:endParaRPr kumimoji="1" lang="en" altLang="ko-KR" sz="1800" b="0" dirty="0"/>
          </a:p>
          <a:p>
            <a:r>
              <a:rPr kumimoji="1" lang="en" altLang="ko-KR" sz="1800" b="0" dirty="0"/>
              <a:t>There is a closed form solution to this:</a:t>
            </a:r>
          </a:p>
          <a:p>
            <a:endParaRPr kumimoji="1" lang="en" altLang="ko-KR" sz="1800" b="0" dirty="0"/>
          </a:p>
          <a:p>
            <a:endParaRPr kumimoji="1" lang="en" altLang="ko-KR" sz="1800" b="0" dirty="0"/>
          </a:p>
          <a:p>
            <a:endParaRPr kumimoji="1" lang="en" altLang="ko-KR" sz="1800" b="0" dirty="0"/>
          </a:p>
          <a:p>
            <a:r>
              <a:rPr kumimoji="1" lang="en" altLang="ko-KR" sz="1800" b="0" dirty="0"/>
              <a:t>Rearrange the terms: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3F003F-E69F-86DC-8857-829E610F639A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Direct preference optimization: Your language model is secretly a reward model</a:t>
            </a:r>
            <a:r>
              <a:rPr kumimoji="1" lang="en-US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(2023)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A6190F-A09A-28BC-9921-6E815355C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823" y="1244378"/>
            <a:ext cx="4444354" cy="7250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F280D0-B04D-76F9-D9A0-0E386952F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892" y="2308916"/>
            <a:ext cx="4152215" cy="6711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949E99-A956-1153-C463-5AA9A64B7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3292" y="3229233"/>
            <a:ext cx="3474815" cy="5548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9C90E0-B462-85AC-C5C1-C972225D9A7A}"/>
              </a:ext>
            </a:extLst>
          </p:cNvPr>
          <p:cNvSpPr txBox="1"/>
          <p:nvPr/>
        </p:nvSpPr>
        <p:spPr>
          <a:xfrm>
            <a:off x="594992" y="38485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 err="1"/>
              <a:t>This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holds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true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arbitrary</a:t>
            </a:r>
            <a:r>
              <a:rPr lang="ko-KR" altLang="en-US" sz="1800" dirty="0"/>
              <a:t> </a:t>
            </a:r>
            <a:r>
              <a:rPr lang="ko-KR" altLang="en-US" sz="1800" dirty="0" err="1"/>
              <a:t>LMs</a:t>
            </a:r>
            <a:endParaRPr lang="ko-KR" altLang="en-US" sz="18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F7422A-613F-810B-D7C7-7366B4B9A1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3920" y="3986708"/>
            <a:ext cx="4316805" cy="711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2A2315-9BDC-EB35-EDA3-8E4ED364B132}"/>
              </a:ext>
            </a:extLst>
          </p:cNvPr>
          <p:cNvSpPr txBox="1"/>
          <p:nvPr/>
        </p:nvSpPr>
        <p:spPr>
          <a:xfrm>
            <a:off x="7381992" y="2490617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*Z(x) is constant</a:t>
            </a:r>
            <a:endParaRPr kumimoji="1"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63D3C4E5-DADC-59AA-8E28-58711198F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607030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6E1828-BC72-BD0F-5FF8-5B304DFFF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80D82C-737A-CAFC-51CF-070C425788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2400" dirty="0"/>
              <a:t>Direct Preference Optimization (DPO)</a:t>
            </a:r>
            <a:endParaRPr kumimoji="1" lang="ko-KR" altLang="en-US" sz="2400" dirty="0"/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D9EF9E68-8275-6803-D8E1-0E8A2A805D54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r>
                  <a:rPr kumimoji="1" lang="en" altLang="ko-KR" sz="1800" b="0" dirty="0"/>
                  <a:t>Recall, how we fit the reward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kumimoji="1" lang="en" altLang="ko-KR" sz="1800" b="0" dirty="0">
                    <a:solidFill>
                      <a:srgbClr val="7030A0"/>
                    </a:solidFill>
                  </a:rPr>
                  <a:t>(𝑥, 𝑦) </a:t>
                </a:r>
                <a:r>
                  <a:rPr kumimoji="1" lang="en" altLang="ko-KR" sz="1800" b="0" dirty="0"/>
                  <a:t>: </a:t>
                </a:r>
              </a:p>
              <a:p>
                <a:endParaRPr kumimoji="1" lang="en" altLang="ko-KR" sz="1800" b="0" dirty="0"/>
              </a:p>
              <a:p>
                <a:endParaRPr kumimoji="1" lang="en" altLang="ko-KR" sz="1800" b="0" dirty="0"/>
              </a:p>
              <a:p>
                <a:r>
                  <a:rPr kumimoji="1" lang="en" altLang="ko-KR" sz="1800" b="0" dirty="0"/>
                  <a:t>Notice that we only need the difference between the rewards</a:t>
                </a:r>
              </a:p>
              <a:p>
                <a:r>
                  <a:rPr kumimoji="1" lang="en" altLang="ko-KR" sz="1800" b="0" dirty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ko-KR" sz="1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" altLang="ko-KR" sz="1800" b="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ko-KR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1" lang="en" altLang="ko-KR" sz="1800" b="0" dirty="0"/>
                  <a:t>. Simplify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𝑅𝑀</m:t>
                        </m:r>
                      </m:e>
                      <m:sub>
                        <m:r>
                          <a:rPr kumimoji="1" lang="en" altLang="ko-KR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" altLang="ko-KR" sz="1800" b="0" dirty="0"/>
                  <a:t>:</a:t>
                </a:r>
              </a:p>
              <a:p>
                <a:endParaRPr kumimoji="1" lang="en" altLang="ko-KR" sz="1800" b="0" dirty="0"/>
              </a:p>
              <a:p>
                <a:endParaRPr kumimoji="1" lang="en" altLang="ko-KR" sz="1800" b="0" dirty="0"/>
              </a:p>
              <a:p>
                <a:endParaRPr kumimoji="1" lang="en" altLang="ko-KR" sz="1800" b="0" dirty="0"/>
              </a:p>
              <a:p>
                <a:r>
                  <a:rPr kumimoji="1" lang="en" altLang="ko-KR" sz="1800" b="0" dirty="0"/>
                  <a:t>The final DPO loss function is:</a:t>
                </a:r>
              </a:p>
              <a:p>
                <a:endParaRPr kumimoji="1" lang="en" altLang="ko-KR" sz="1800" b="0" dirty="0"/>
              </a:p>
              <a:p>
                <a:endParaRPr kumimoji="1" lang="en" altLang="ko-KR" sz="1800" b="0" dirty="0"/>
              </a:p>
              <a:p>
                <a:endParaRPr kumimoji="1" lang="ko-KR" altLang="en-US" sz="1800" b="0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D9EF9E68-8275-6803-D8E1-0E8A2A805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>
                <a:blip r:embed="rId3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95A412-67E6-6DC5-B749-A183D5F49AD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55C08A-E86A-56A4-C6C8-4FE20636C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478" y="1168350"/>
            <a:ext cx="6177224" cy="4710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DA8A9C-C91C-CE59-4FF4-D66C35395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9478" y="2347574"/>
            <a:ext cx="6033930" cy="6304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E6C4AC-C2A6-BF0C-98CF-882C9FA75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478" y="3513168"/>
            <a:ext cx="6491184" cy="563284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0BAEF3-8A98-BC46-C3E0-17F2C997DB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661939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D20C87-16E0-627A-BD58-DCA21F58E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B9C4DD-EA3A-4883-BFDD-7A0A156045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2400" dirty="0"/>
              <a:t>Direct Preference Optimization (DPO)</a:t>
            </a:r>
            <a:endParaRPr kumimoji="1" lang="ko-KR" altLang="en-US" sz="2400" dirty="0"/>
          </a:p>
          <a:p>
            <a:endParaRPr kumimoji="1" lang="ko-KR" altLang="en-US" sz="2400" dirty="0"/>
          </a:p>
          <a:p>
            <a:endParaRPr kumimoji="1" lang="ko-KR" altLang="en-US" sz="24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01446F-7C19-02D2-7EF4-80F44775A4A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US" altLang="ko-KR" b="0" dirty="0"/>
              <a:t>*Interpretation of DPO loss</a:t>
            </a:r>
            <a:endParaRPr kumimoji="1" lang="ko-KR" altLang="en-US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CC20BD-7517-97A4-C687-12A413CE787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5D1B92-9795-CCB0-C03C-B5E59FE46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1599074"/>
            <a:ext cx="7124700" cy="749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B34113-737B-CA6F-53A7-EF83B5B85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65093"/>
            <a:ext cx="7772400" cy="1127856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088CF9-A4AF-93CB-711B-07C792E4C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923577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FA7A88F-ED05-ADE3-A2A4-EF5766E5C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BA47B5-F7FE-D946-6D6E-2BBFA990F86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sz="2000" dirty="0"/>
              <a:t>Direct Preference Optimization (DPO)</a:t>
            </a:r>
            <a:endParaRPr kumimoji="1" lang="ko-KR" altLang="en-US" sz="2000" dirty="0"/>
          </a:p>
          <a:p>
            <a:endParaRPr kumimoji="1" lang="ko-KR" altLang="en-US" sz="2000" dirty="0"/>
          </a:p>
          <a:p>
            <a:endParaRPr kumimoji="1" lang="ko-KR" altLang="en-US" sz="2000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9B4534-0120-4E57-0BCB-1661E37830F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E35D1F-87EF-E167-8904-AACE7054553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03D77B-5E6A-D6A3-A5FB-882E73D4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919193"/>
            <a:ext cx="7342685" cy="363371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599A9B-2B4A-5E0F-47C4-E8F3A54F3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28374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F76DB9-F23D-ED6A-5414-24FA7A8BD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1E7FE7-A29E-6A48-CE64-6B5F3C2D9E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PPO vs DPO who is better?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24B31C-32FC-42A1-677A-7FAC958AF2E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B8C560-9E5C-3218-C4DA-1AE0FF9B131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Unpacking dpo and ppo: Disentangling best practices for learning from preference feedback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(2024)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355E3A-2AFB-99DD-DA2C-5AE5C4329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911" y="971130"/>
            <a:ext cx="6478571" cy="3696540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EBC1C8-3D18-670F-F3F5-904879369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53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64431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1A0F286-AFCE-61F6-1FC5-675699348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95F07-40CE-81ED-4D3F-1434EC8486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PPO vs DPO who is better?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42A1B4-0A02-E3F7-A018-D548F611826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en-US" altLang="ko-KR" dirty="0"/>
          </a:p>
          <a:p>
            <a:r>
              <a:rPr kumimoji="1" lang="en-US" altLang="ko-KR" b="0" dirty="0"/>
              <a:t>PPO is more unbiased to OOD</a:t>
            </a:r>
          </a:p>
          <a:p>
            <a:r>
              <a:rPr kumimoji="1" lang="en-US" altLang="ko-KR" b="0" dirty="0"/>
              <a:t>Response Because of KL-constraint</a:t>
            </a:r>
          </a:p>
          <a:p>
            <a:endParaRPr kumimoji="1" lang="en-US" altLang="ko-KR" dirty="0"/>
          </a:p>
          <a:p>
            <a:r>
              <a:rPr kumimoji="1" lang="en-US" altLang="ko-KR" b="0" dirty="0"/>
              <a:t>DPO is efficient than PPO,</a:t>
            </a:r>
          </a:p>
          <a:p>
            <a:r>
              <a:rPr kumimoji="1" lang="en-US" altLang="ko-KR" b="0" dirty="0"/>
              <a:t>but </a:t>
            </a:r>
            <a:r>
              <a:rPr kumimoji="1" lang="en-US" altLang="ko-KR" dirty="0"/>
              <a:t>susceptible</a:t>
            </a:r>
            <a:r>
              <a:rPr kumimoji="1" lang="en-US" altLang="ko-KR" b="0" dirty="0"/>
              <a:t> to </a:t>
            </a:r>
          </a:p>
          <a:p>
            <a:r>
              <a:rPr kumimoji="1" lang="en-US" altLang="ko-KR" dirty="0"/>
              <a:t>OOD</a:t>
            </a:r>
            <a:r>
              <a:rPr kumimoji="1" lang="en-US" altLang="ko-KR" b="0" dirty="0"/>
              <a:t> response generation which is</a:t>
            </a:r>
          </a:p>
          <a:p>
            <a:r>
              <a:rPr kumimoji="1" lang="en-US" altLang="ko-KR" b="0" dirty="0"/>
              <a:t>unpredictable behavior</a:t>
            </a:r>
          </a:p>
          <a:p>
            <a:endParaRPr kumimoji="1" lang="en-US" altLang="ko-KR" b="0" dirty="0"/>
          </a:p>
          <a:p>
            <a:endParaRPr kumimoji="1" lang="en-US" altLang="ko-KR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61E4BC-996C-1025-4CCD-4A7CE348076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Is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dpo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superior to </a:t>
            </a:r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ppo 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for llm alignment? a comprehensive study</a:t>
            </a:r>
            <a:r>
              <a:rPr lang="en" altLang="ko-KR" u="none" strike="noStrike" dirty="0">
                <a:solidFill>
                  <a:srgbClr val="222222"/>
                </a:solidFill>
                <a:latin typeface="Arial" panose="020B0604020202020204" pitchFamily="34" charset="0"/>
              </a:rPr>
              <a:t> (2024)</a:t>
            </a: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1212CF-2CF9-4071-1BE4-E3602E8E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822" y="258763"/>
            <a:ext cx="3733541" cy="476217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AC228C-0E9B-EAA1-732A-9FF37449D8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54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1062741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2B20-7740-39A4-B6FF-149F08F3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9C77CE5-3BCE-EBAF-8E2F-9623FB625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E61149-E765-6A64-3B07-46989B45C68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Odds Ratio Policy Optimization</a:t>
            </a:r>
            <a:endParaRPr kumimoji="1" lang="ko-KR" altLang="en-US" dirty="0"/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E51CAC-3B0A-533E-B097-170304BEF6D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  ORPO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42B144-9343-B254-035E-F6CA3616A56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9F7A8-8BA7-E78E-F368-F8C5F8A8F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55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4032671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56EEB15-D175-87FA-61A2-87FC973EE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E7297A-4ADA-5701-5F63-256DC99173D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Limitation of instruction finetuning?</a:t>
            </a:r>
            <a:endParaRPr kumimoji="1" lang="ko-KR" altLang="en-US" dirty="0"/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5601C28B-D5BF-DFC3-84F3-C7B4DEF4C450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>
              <a:xfrm>
                <a:off x="3131893" y="592188"/>
                <a:ext cx="8245500" cy="3962400"/>
              </a:xfrm>
            </p:spPr>
            <p:txBody>
              <a:bodyPr/>
              <a:lstStyle/>
              <a:p>
                <a:endParaRPr kumimoji="1" lang="en-US" altLang="ko-KR" dirty="0"/>
              </a:p>
              <a:p>
                <a:endParaRPr lang="en-US" altLang="ko-KR" sz="2000" b="0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𝑙𝑜𝑔𝑃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b="0" dirty="0"/>
              </a:p>
              <a:p>
                <a:r>
                  <a:rPr lang="ko-KR" altLang="en-US" sz="2000" dirty="0"/>
                  <a:t>     </a:t>
                </a:r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sup>
                            <m:e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sz="2000" b="0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5601C28B-D5BF-DFC3-84F3-C7B4DEF4C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xfrm>
                <a:off x="3131893" y="592188"/>
                <a:ext cx="8245500" cy="3962400"/>
              </a:xfrm>
              <a:blipFill>
                <a:blip r:embed="rId3"/>
                <a:stretch>
                  <a:fillRect t="-1597" b="-137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D17936-49CA-FB38-462B-61181208D55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Orpo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: Monolithic preference optimization without reference model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807CE-B42D-61FD-E89C-F7A7BC7FD185}"/>
              </a:ext>
            </a:extLst>
          </p:cNvPr>
          <p:cNvSpPr txBox="1"/>
          <p:nvPr/>
        </p:nvSpPr>
        <p:spPr>
          <a:xfrm>
            <a:off x="240681" y="1578891"/>
            <a:ext cx="50834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800" dirty="0"/>
              <a:t>Loss is computed based on </a:t>
            </a:r>
            <a:r>
              <a:rPr lang="en" altLang="ko-KR" sz="1800" b="1" dirty="0"/>
              <a:t>one-hot targets.</a:t>
            </a:r>
          </a:p>
          <a:p>
            <a:br>
              <a:rPr lang="en" altLang="ko-KR" sz="1800" dirty="0"/>
            </a:br>
            <a:r>
              <a:rPr lang="en" altLang="ko-KR" sz="1800" dirty="0"/>
              <a:t>Fine-tuning </a:t>
            </a:r>
            <a:r>
              <a:rPr lang="en-US" altLang="ko-KR" sz="1800" b="1" dirty="0"/>
              <a:t>addresses</a:t>
            </a:r>
            <a:r>
              <a:rPr lang="en" altLang="ko-KR" sz="1800" b="1" dirty="0"/>
              <a:t> only the correct token</a:t>
            </a:r>
            <a:r>
              <a:rPr lang="en" altLang="ko-KR" sz="1800" dirty="0"/>
              <a:t>.</a:t>
            </a:r>
            <a:br>
              <a:rPr lang="en" altLang="ko-KR" sz="1800" dirty="0"/>
            </a:br>
            <a:endParaRPr lang="en" altLang="ko-KR" sz="1800" dirty="0"/>
          </a:p>
          <a:p>
            <a:r>
              <a:rPr lang="en" altLang="ko-KR" sz="1800" dirty="0"/>
              <a:t>No feedback is given for other token choices.</a:t>
            </a:r>
          </a:p>
          <a:p>
            <a:endParaRPr lang="en" altLang="ko-KR" sz="1800" dirty="0"/>
          </a:p>
          <a:p>
            <a:r>
              <a:rPr lang="en-US" altLang="ko-KR" sz="1800" dirty="0"/>
              <a:t>There are no mechanisms to penalize </a:t>
            </a:r>
            <a:r>
              <a:rPr lang="en-US" altLang="ko-KR" sz="1800" b="1" dirty="0"/>
              <a:t>rejected</a:t>
            </a:r>
            <a:br>
              <a:rPr lang="en" altLang="ko-KR" sz="1800" dirty="0"/>
            </a:br>
            <a:endParaRPr lang="en" altLang="ko-KR" sz="1800" dirty="0"/>
          </a:p>
          <a:p>
            <a:r>
              <a:rPr lang="en" altLang="ko-KR" sz="1800" dirty="0"/>
              <a:t>So, what’s the limitation here?</a:t>
            </a:r>
            <a:endParaRPr kumimoji="1" lang="ko-KR" altLang="en-US" sz="18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BEEE4F-71F9-83A5-EDDA-639812268F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56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321566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8E643F7-5539-4CFC-24AE-B983BD8D5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904F73-01D9-DE56-9CFA-6B3116A190C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Limitation of instruction finetuning?</a:t>
            </a:r>
            <a:endParaRPr kumimoji="1" lang="ko-KR" altLang="en-US" dirty="0"/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F308B-87DF-9201-BB26-8CEE4C46050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ko-KR" sz="1800" b="0" dirty="0"/>
              <a:t>SFT on only chosen responses increases log-probability for both chosen and rejected responses.</a:t>
            </a:r>
          </a:p>
          <a:p>
            <a:r>
              <a:rPr lang="en" altLang="ko-KR" sz="1800" b="0" dirty="0"/>
              <a:t>Without penalizing bad outputs, rejected responses can be rated likely chosen ones.</a:t>
            </a:r>
          </a:p>
          <a:p>
            <a:r>
              <a:rPr kumimoji="1" lang="en-US" altLang="ko-KR" sz="1800" b="0" dirty="0"/>
              <a:t>This motivates to </a:t>
            </a:r>
            <a:r>
              <a:rPr kumimoji="1" lang="en-US" altLang="ko-KR" sz="1800" dirty="0"/>
              <a:t>utilize other training method</a:t>
            </a:r>
            <a:endParaRPr kumimoji="1"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D991D7-027B-D079-4EA1-28E4C8B8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236" y="2267616"/>
            <a:ext cx="3889127" cy="2721972"/>
          </a:xfrm>
          <a:prstGeom prst="rect">
            <a:avLst/>
          </a:prstGeom>
        </p:spPr>
      </p:pic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1A3BFA5D-7847-52D4-2C3C-6AEEBBABFF25}"/>
              </a:ext>
            </a:extLst>
          </p:cNvPr>
          <p:cNvSpPr txBox="1">
            <a:spLocks/>
          </p:cNvSpPr>
          <p:nvPr/>
        </p:nvSpPr>
        <p:spPr>
          <a:xfrm>
            <a:off x="122238" y="4864026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dirty="0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Orpo</a:t>
            </a:r>
            <a:r>
              <a:rPr lang="en" altLang="ko-KR" dirty="0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: Monolithic preference optimization without reference model</a:t>
            </a:r>
            <a:r>
              <a:rPr lang="en" altLang="ko-KR" dirty="0">
                <a:solidFill>
                  <a:srgbClr val="1A0DAB"/>
                </a:solidFill>
                <a:latin typeface="Arial" panose="020B0604020202020204" pitchFamily="34" charset="0"/>
              </a:rPr>
              <a:t> (2024)</a:t>
            </a:r>
            <a:endParaRPr lang="en" altLang="ko-K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85B8C93-7BCE-485A-8DB3-BC35FE10F4C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52066F3-9B19-227D-A61C-37FBA6C89E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57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945896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0D6BEA4-1717-8FD4-AB1E-890106A59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D1BF0C-2E7A-F070-5C84-43A0E5DA5A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Odds Ratio Policy Optimization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3CC8CA-069D-96DF-5251-10B06F8B500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" altLang="ko-KR" sz="1800" b="0" dirty="0"/>
              <a:t>ORPO performs RLHF as a </a:t>
            </a:r>
            <a:r>
              <a:rPr lang="en" altLang="ko-KR" sz="1800" dirty="0"/>
              <a:t>single-stage</a:t>
            </a:r>
            <a:r>
              <a:rPr lang="en" altLang="ko-KR" sz="1800" b="0" dirty="0"/>
              <a:t> process without requiring SFT</a:t>
            </a:r>
            <a:endParaRPr kumimoji="1" lang="ko-KR" altLang="en-US" sz="1800" b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4E6EC5-8E6C-00EB-F747-1AECEA04E16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409938-4770-62C4-CB6E-92CB8A45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8" y="1295401"/>
            <a:ext cx="8576343" cy="2821605"/>
          </a:xfrm>
          <a:prstGeom prst="rect">
            <a:avLst/>
          </a:prstGeom>
        </p:spPr>
      </p:pic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D72A873A-6CAD-E749-BE79-47BB353D7618}"/>
              </a:ext>
            </a:extLst>
          </p:cNvPr>
          <p:cNvSpPr txBox="1">
            <a:spLocks/>
          </p:cNvSpPr>
          <p:nvPr/>
        </p:nvSpPr>
        <p:spPr>
          <a:xfrm>
            <a:off x="239340" y="488458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dirty="0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Orpo</a:t>
            </a:r>
            <a:r>
              <a:rPr lang="en" altLang="ko-KR" dirty="0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: Monolithic preference optimization without reference model</a:t>
            </a:r>
            <a:r>
              <a:rPr lang="en" altLang="ko-KR" dirty="0">
                <a:solidFill>
                  <a:srgbClr val="1A0DAB"/>
                </a:solidFill>
                <a:latin typeface="Arial" panose="020B0604020202020204" pitchFamily="34" charset="0"/>
              </a:rPr>
              <a:t> (2024)</a:t>
            </a:r>
            <a:endParaRPr lang="en" altLang="ko-K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BE23C8-CEF5-39B8-3D3C-493482257D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6116444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A352F08-DB53-304D-E480-7BA3C1EF6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FE34DD-554B-E20C-1463-8046DE7D382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Odds Ratio Policy Optimization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4BA953-16E9-1D1C-15E3-3C3D2783FC8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B74F6-99C7-23CA-7E74-6172E728FC9F}"/>
                  </a:ext>
                </a:extLst>
              </p:cNvPr>
              <p:cNvSpPr txBox="1"/>
              <p:nvPr/>
            </p:nvSpPr>
            <p:spPr>
              <a:xfrm>
                <a:off x="733425" y="1213715"/>
                <a:ext cx="3034036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𝑜𝑑𝑑𝑠</m:t>
                          </m:r>
                        </m:e>
                        <m:sub>
                          <m:r>
                            <a:rPr kumimoji="1"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7B74F6-99C7-23CA-7E74-6172E728F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1213715"/>
                <a:ext cx="3034036" cy="640816"/>
              </a:xfrm>
              <a:prstGeom prst="rect">
                <a:avLst/>
              </a:prstGeom>
              <a:blipFill>
                <a:blip r:embed="rId2"/>
                <a:stretch>
                  <a:fillRect l="-1250" t="-3922" r="-2083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1DB61B-3EEC-8F58-185E-48277595D50D}"/>
                  </a:ext>
                </a:extLst>
              </p:cNvPr>
              <p:cNvSpPr txBox="1"/>
              <p:nvPr/>
            </p:nvSpPr>
            <p:spPr>
              <a:xfrm>
                <a:off x="733425" y="2863457"/>
                <a:ext cx="3101105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𝑂𝑅</m:t>
                          </m:r>
                        </m:e>
                        <m:sub>
                          <m:r>
                            <a:rPr kumimoji="1"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𝑜𝑑𝑑𝑠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𝑜𝑑𝑑𝑠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1DB61B-3EEC-8F58-185E-48277595D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2863457"/>
                <a:ext cx="3101105" cy="640816"/>
              </a:xfrm>
              <a:prstGeom prst="rect">
                <a:avLst/>
              </a:prstGeom>
              <a:blipFill>
                <a:blip r:embed="rId3"/>
                <a:stretch>
                  <a:fillRect l="-1224" t="-3922" r="-2449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47F2AF-05E1-85FE-7B07-A872B2353B29}"/>
                  </a:ext>
                </a:extLst>
              </p:cNvPr>
              <p:cNvSpPr txBox="1"/>
              <p:nvPr/>
            </p:nvSpPr>
            <p:spPr>
              <a:xfrm>
                <a:off x="733425" y="2084304"/>
                <a:ext cx="8160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𝑜𝑑𝑑𝑠</m:t>
                        </m:r>
                      </m:e>
                      <m:sub>
                        <m:r>
                          <a:rPr lang="en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" altLang="ko-KR" sz="1800" dirty="0"/>
                  <a:t> means the model is </a:t>
                </a:r>
                <a:r>
                  <a:rPr lang="en" altLang="ko-KR" sz="1800" dirty="0">
                    <a:solidFill>
                      <a:srgbClr val="0070C0"/>
                    </a:solidFill>
                  </a:rPr>
                  <a:t>k times </a:t>
                </a:r>
                <a:r>
                  <a:rPr lang="en" altLang="ko-KR" sz="1800" dirty="0"/>
                  <a:t>more likely to generate y than not.</a:t>
                </a:r>
                <a:endParaRPr kumimoji="1"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47F2AF-05E1-85FE-7B07-A872B2353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2084304"/>
                <a:ext cx="8160632" cy="369332"/>
              </a:xfrm>
              <a:prstGeom prst="rect">
                <a:avLst/>
              </a:prstGeom>
              <a:blipFill>
                <a:blip r:embed="rId4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E5F200-8784-8826-35FE-DA0D2FBF4E26}"/>
                  </a:ext>
                </a:extLst>
              </p:cNvPr>
              <p:cNvSpPr txBox="1"/>
              <p:nvPr/>
            </p:nvSpPr>
            <p:spPr>
              <a:xfrm>
                <a:off x="733425" y="3834101"/>
                <a:ext cx="79645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  <m:sub>
                        <m:r>
                          <a:rPr lang="en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ko-KR" sz="1800" dirty="0"/>
                  <a:t> shows how much more likely </a:t>
                </a:r>
              </a:p>
              <a:p>
                <a:r>
                  <a:rPr lang="en" altLang="ko-KR" sz="1800" dirty="0"/>
                  <a:t>the model is to 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" altLang="ko-KR" sz="1800" dirty="0">
                    <a:solidFill>
                      <a:srgbClr val="0070C0"/>
                    </a:solidFill>
                  </a:rPr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" altLang="ko-KR" sz="1800" dirty="0">
                    <a:solidFill>
                      <a:srgbClr val="0070C0"/>
                    </a:solidFill>
                  </a:rPr>
                  <a:t> given x</a:t>
                </a:r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E5F200-8784-8826-35FE-DA0D2FBF4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3834101"/>
                <a:ext cx="7964526" cy="646331"/>
              </a:xfrm>
              <a:prstGeom prst="rect">
                <a:avLst/>
              </a:prstGeom>
              <a:blipFill>
                <a:blip r:embed="rId5"/>
                <a:stretch>
                  <a:fillRect l="-637" t="-3846" b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EB070BE0-8EE9-F4E0-A7D5-13199E626A41}"/>
              </a:ext>
            </a:extLst>
          </p:cNvPr>
          <p:cNvSpPr txBox="1">
            <a:spLocks/>
          </p:cNvSpPr>
          <p:nvPr/>
        </p:nvSpPr>
        <p:spPr>
          <a:xfrm>
            <a:off x="218882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>
                <a:solidFill>
                  <a:srgbClr val="1A0DAB"/>
                </a:solidFill>
                <a:latin typeface="Arial" panose="020B0604020202020204" pitchFamily="34" charset="0"/>
                <a:hlinkClick r:id="rId6"/>
              </a:rPr>
              <a:t>Orpo</a:t>
            </a: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6"/>
              </a:rPr>
              <a:t>: Monolithic preference optimization without reference model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572C5FF4-9A85-9DFC-C42B-882A9F309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59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334601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6D7BEE-C624-CA02-3CB7-07D78DC79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D081D-9DB3-3F67-2D31-C574CB3EE4D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Odds Ratio Policy Optimization</a:t>
            </a:r>
            <a:endParaRPr kumimoji="1" lang="ko-KR" altLang="en-US" dirty="0"/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C2F4BD-4DFD-56D9-68D8-BC9D2E029C5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1E0A97D1-3851-F6D5-93EA-8BCCAB7E52A8}"/>
              </a:ext>
            </a:extLst>
          </p:cNvPr>
          <p:cNvSpPr txBox="1">
            <a:spLocks/>
          </p:cNvSpPr>
          <p:nvPr/>
        </p:nvSpPr>
        <p:spPr>
          <a:xfrm>
            <a:off x="118523" y="4884738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Orpo</a:t>
            </a: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: Monolithic preference optimization without reference model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59D8A-482E-0AB3-D69F-A81E91C793D3}"/>
                  </a:ext>
                </a:extLst>
              </p:cNvPr>
              <p:cNvSpPr txBox="1"/>
              <p:nvPr/>
            </p:nvSpPr>
            <p:spPr>
              <a:xfrm>
                <a:off x="733425" y="1157190"/>
                <a:ext cx="3512308" cy="337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𝑂𝑅𝑃𝑂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𝑆𝐹𝑇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kumimoji="1"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1"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𝑶𝑹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59D8A-482E-0AB3-D69F-A81E91C79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1157190"/>
                <a:ext cx="3512308" cy="337336"/>
              </a:xfrm>
              <a:prstGeom prst="rect">
                <a:avLst/>
              </a:prstGeom>
              <a:blipFill>
                <a:blip r:embed="rId4"/>
                <a:stretch>
                  <a:fillRect l="-1079" r="-2158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088F6-EC03-DBFB-5810-1C4EAD59E4BF}"/>
                  </a:ext>
                </a:extLst>
              </p:cNvPr>
              <p:cNvSpPr txBox="1"/>
              <p:nvPr/>
            </p:nvSpPr>
            <p:spPr>
              <a:xfrm>
                <a:off x="4572000" y="948976"/>
                <a:ext cx="3570914" cy="6499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1" lang="en-US" altLang="ko-KR" sz="2000" b="1" i="1" smtClean="0">
                              <a:latin typeface="Cambria Math" panose="02040503050406030204" pitchFamily="18" charset="0"/>
                            </a:rPr>
                            <m:t>𝑶𝑹</m:t>
                          </m:r>
                        </m:sub>
                      </m:sSub>
                      <m:r>
                        <a:rPr kumimoji="1" lang="en-US" altLang="ko-K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𝑜𝑑𝑑𝑠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𝑜𝑑𝑑𝑠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088F6-EC03-DBFB-5810-1C4EAD59E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948976"/>
                <a:ext cx="3570914" cy="649922"/>
              </a:xfrm>
              <a:prstGeom prst="rect">
                <a:avLst/>
              </a:prstGeom>
              <a:blipFill>
                <a:blip r:embed="rId5"/>
                <a:stretch>
                  <a:fillRect l="-1418" r="-2128" b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11DFD1-142F-3C20-5EDF-860CB7E36BE2}"/>
                  </a:ext>
                </a:extLst>
              </p:cNvPr>
              <p:cNvSpPr txBox="1"/>
              <p:nvPr/>
            </p:nvSpPr>
            <p:spPr>
              <a:xfrm>
                <a:off x="733425" y="1846707"/>
                <a:ext cx="507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ko-KR" sz="1800" dirty="0"/>
                  <a:t>Maximizes the odds of generating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en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𝑜𝑣𝑒𝑟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11DFD1-142F-3C20-5EDF-860CB7E36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1846707"/>
                <a:ext cx="5073804" cy="369332"/>
              </a:xfrm>
              <a:prstGeom prst="rect">
                <a:avLst/>
              </a:prstGeom>
              <a:blipFill>
                <a:blip r:embed="rId6"/>
                <a:stretch>
                  <a:fillRect l="-998"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89362-03C8-D0CD-931E-9D83A0B1B9E7}"/>
                  </a:ext>
                </a:extLst>
              </p:cNvPr>
              <p:cNvSpPr txBox="1"/>
              <p:nvPr/>
            </p:nvSpPr>
            <p:spPr>
              <a:xfrm>
                <a:off x="733425" y="2491993"/>
                <a:ext cx="23169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kumimoji="1"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𝑂𝑅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kumimoji="1" lang="en-US" altLang="ko-KR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kumimoji="1" lang="en-US" altLang="ko-K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kumimoji="1" lang="en-US" altLang="ko-K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89362-03C8-D0CD-931E-9D83A0B1B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2491993"/>
                <a:ext cx="2316916" cy="307777"/>
              </a:xfrm>
              <a:prstGeom prst="rect">
                <a:avLst/>
              </a:prstGeom>
              <a:blipFill>
                <a:blip r:embed="rId7"/>
                <a:stretch>
                  <a:fillRect l="-1630" r="-2717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45748-386A-B412-520C-692CD450C931}"/>
                  </a:ext>
                </a:extLst>
              </p:cNvPr>
              <p:cNvSpPr txBox="1"/>
              <p:nvPr/>
            </p:nvSpPr>
            <p:spPr>
              <a:xfrm>
                <a:off x="691840" y="3075724"/>
                <a:ext cx="3382657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ko-KR" altLang="en-US" sz="200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ko-KR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[1+</m:t>
                          </m:r>
                          <m:f>
                            <m:f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𝑜𝑑𝑑𝑠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𝑜𝑑𝑑𝑠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45748-386A-B412-520C-692CD450C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40" y="3075724"/>
                <a:ext cx="3382657" cy="640816"/>
              </a:xfrm>
              <a:prstGeom prst="rect">
                <a:avLst/>
              </a:prstGeom>
              <a:blipFill>
                <a:blip r:embed="rId8"/>
                <a:stretch>
                  <a:fillRect l="-1124" t="-3922" b="-15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30B91-3F91-4C10-50F8-FA00EAF2B47A}"/>
                  </a:ext>
                </a:extLst>
              </p:cNvPr>
              <p:cNvSpPr txBox="1"/>
              <p:nvPr/>
            </p:nvSpPr>
            <p:spPr>
              <a:xfrm>
                <a:off x="4445876" y="3090059"/>
                <a:ext cx="4068550" cy="549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ko-KR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kumimoji="1" lang="en-US" altLang="ko-KR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en-US" altLang="ko-KR" sz="2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30B91-3F91-4C10-50F8-FA00EAF2B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876" y="3090059"/>
                <a:ext cx="4068550" cy="549125"/>
              </a:xfrm>
              <a:prstGeom prst="rect">
                <a:avLst/>
              </a:prstGeom>
              <a:blipFill>
                <a:blip r:embed="rId9"/>
                <a:stretch>
                  <a:fillRect l="-2174" t="-2273" b="-11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08E517-0961-3CAF-806A-C90ED12F282C}"/>
                  </a:ext>
                </a:extLst>
              </p:cNvPr>
              <p:cNvSpPr txBox="1"/>
              <p:nvPr/>
            </p:nvSpPr>
            <p:spPr>
              <a:xfrm>
                <a:off x="4245733" y="3768980"/>
                <a:ext cx="47966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600" dirty="0">
                    <a:solidFill>
                      <a:srgbClr val="00B050"/>
                    </a:solidFill>
                  </a:rPr>
                  <a:t>h(d) increases the likelihood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kumimoji="1" lang="en-US" altLang="ko-KR" sz="1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1600" dirty="0">
                    <a:solidFill>
                      <a:srgbClr val="00B050"/>
                    </a:solidFill>
                  </a:rPr>
                  <a:t>and penalizes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kumimoji="1"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08E517-0961-3CAF-806A-C90ED12F2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33" y="3768980"/>
                <a:ext cx="4796634" cy="338554"/>
              </a:xfrm>
              <a:prstGeom prst="rect">
                <a:avLst/>
              </a:prstGeom>
              <a:blipFill>
                <a:blip r:embed="rId10"/>
                <a:stretch>
                  <a:fillRect l="-794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D207D-DD93-448E-3767-51735B004E89}"/>
                  </a:ext>
                </a:extLst>
              </p:cNvPr>
              <p:cNvSpPr txBox="1"/>
              <p:nvPr/>
            </p:nvSpPr>
            <p:spPr>
              <a:xfrm>
                <a:off x="615409" y="4045050"/>
                <a:ext cx="3459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ko-KR" altLang="en-US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kumimoji="1" lang="en-US" altLang="ko-KR" dirty="0">
                    <a:solidFill>
                      <a:schemeClr val="accent4">
                        <a:lumMod val="75000"/>
                      </a:schemeClr>
                    </a:solidFill>
                  </a:rPr>
                  <a:t> becomes 0 when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  <m:e>
                        <m: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r>
                  <a:rPr kumimoji="1" lang="en-US" altLang="ko-KR" dirty="0">
                    <a:solidFill>
                      <a:schemeClr val="accent4">
                        <a:lumMod val="75000"/>
                      </a:schemeClr>
                    </a:solidFill>
                  </a:rPr>
                  <a:t>-&gt; Prevents reward hacking!</a:t>
                </a:r>
                <a:endParaRPr kumimoji="1" lang="ko-KR" alt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D207D-DD93-448E-3767-51735B004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09" y="4045050"/>
                <a:ext cx="3459088" cy="523220"/>
              </a:xfrm>
              <a:prstGeom prst="rect">
                <a:avLst/>
              </a:prstGeom>
              <a:blipFill>
                <a:blip r:embed="rId11"/>
                <a:stretch>
                  <a:fillRect l="-366" t="-2381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970D238-98E1-5760-018A-9694575D7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60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0561329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61964-26CF-8EFB-9ACD-CC98E202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D458D2-F3AA-5997-12F8-E73F48B25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BFBDE-F06E-D8E2-E415-A48FACEE22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GRPO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BB4011-7C07-3AEE-63A7-7921A57B1C1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  GRPO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4E0BF0-C2B8-14B2-56E2-44F82A705405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5BF6F-676E-49B6-A01D-7EA9F1EFB0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61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9635477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F30071-37F2-EC1C-DBC6-654AC0565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62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E4F7CC-E9E0-A9AF-0163-942E70BDD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06EA77-B5C8-BDE2-7930-F1361C86AA8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Deepseek-R1- Zero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DBF417-01FB-B216-EFD4-EEDB950C822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kumimoji="1" lang="en-US" altLang="ko-KR" dirty="0"/>
              <a:t>Reward modeling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ko-KR" sz="1800" dirty="0"/>
              <a:t>Accuracy reward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ko-KR" sz="1800" dirty="0"/>
              <a:t>Format reward</a:t>
            </a:r>
            <a:endParaRPr kumimoji="1" lang="ko-KR" altLang="en-US" sz="18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39739B-27DB-D238-B4BB-CF3E3714C07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Deepseek</a:t>
            </a:r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-</a:t>
            </a:r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r1</a:t>
            </a:r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: </a:t>
            </a:r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Incentivizing reasoning capability </a:t>
            </a:r>
            <a:r>
              <a:rPr lang="en" altLang="ko-KR" b="0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in </a:t>
            </a:r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llms via reinforcement learning</a:t>
            </a:r>
            <a:r>
              <a:rPr lang="en" altLang="ko-KR" b="1" i="0" u="sng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(2025)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4B0EB3-BD47-D6F4-E3AA-6D6B61AEE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832610"/>
            <a:ext cx="4267200" cy="2711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4D1218-213F-C678-B596-4FE1F806A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763" y="1974030"/>
            <a:ext cx="3991600" cy="2570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56F8F6-3532-9F0F-79D0-6CF7CDD285C8}"/>
              </a:ext>
            </a:extLst>
          </p:cNvPr>
          <p:cNvSpPr txBox="1"/>
          <p:nvPr/>
        </p:nvSpPr>
        <p:spPr>
          <a:xfrm>
            <a:off x="5106467" y="1186279"/>
            <a:ext cx="3134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800" dirty="0"/>
              <a:t>Appearance of ‘aha moment’</a:t>
            </a:r>
          </a:p>
          <a:p>
            <a:r>
              <a:rPr kumimoji="1" lang="en-US" altLang="ko-KR" sz="1800" dirty="0"/>
              <a:t> - reflection , exploration</a:t>
            </a:r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793978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861D-EB83-245A-A616-46FC7E1C4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3D50D5-881A-077D-F1CD-DB1CB07F4D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63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662B46-E26D-82FD-14B6-22FF0AC95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90AE9D-FB13-01B2-7F88-3BEA3B3774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2601" y="186347"/>
            <a:ext cx="7677300" cy="330300"/>
          </a:xfrm>
        </p:spPr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1C7069B-CE30-DBF5-D762-C2476DE68B6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0D17BEB2-AA04-FB80-A943-CECD9406874E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55C1D8-D92F-409A-AAEC-0CD6C69A5CEF}"/>
              </a:ext>
            </a:extLst>
          </p:cNvPr>
          <p:cNvSpPr/>
          <p:nvPr/>
        </p:nvSpPr>
        <p:spPr>
          <a:xfrm>
            <a:off x="1521716" y="3162322"/>
            <a:ext cx="1451722" cy="13432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DeepSeek – V3 base</a:t>
            </a:r>
            <a:endParaRPr kumimoji="1"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D858447-1014-2DCA-A45D-AEA58C8BF7E4}"/>
              </a:ext>
            </a:extLst>
          </p:cNvPr>
          <p:cNvCxnSpPr>
            <a:cxnSpLocks/>
          </p:cNvCxnSpPr>
          <p:nvPr/>
        </p:nvCxnSpPr>
        <p:spPr>
          <a:xfrm>
            <a:off x="2973438" y="4199697"/>
            <a:ext cx="665311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EB9B1B-B881-6256-CDB6-D518F9B2A746}"/>
              </a:ext>
            </a:extLst>
          </p:cNvPr>
          <p:cNvSpPr/>
          <p:nvPr/>
        </p:nvSpPr>
        <p:spPr>
          <a:xfrm>
            <a:off x="3728277" y="1392365"/>
            <a:ext cx="2144789" cy="5239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263C3-9E68-B511-1C45-BDAB41BDCEE4}"/>
              </a:ext>
            </a:extLst>
          </p:cNvPr>
          <p:cNvSpPr txBox="1"/>
          <p:nvPr/>
        </p:nvSpPr>
        <p:spPr>
          <a:xfrm>
            <a:off x="4068938" y="4016083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SFT (cold-start)</a:t>
            </a:r>
            <a:endParaRPr kumimoji="1"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F753C44-B28B-F4B8-7141-D972F0274A4E}"/>
              </a:ext>
            </a:extLst>
          </p:cNvPr>
          <p:cNvCxnSpPr>
            <a:cxnSpLocks/>
          </p:cNvCxnSpPr>
          <p:nvPr/>
        </p:nvCxnSpPr>
        <p:spPr>
          <a:xfrm flipV="1">
            <a:off x="4169005" y="1927207"/>
            <a:ext cx="0" cy="26130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F6DA2F-D147-306C-40A2-822E5FEECC27}"/>
              </a:ext>
            </a:extLst>
          </p:cNvPr>
          <p:cNvSpPr/>
          <p:nvPr/>
        </p:nvSpPr>
        <p:spPr>
          <a:xfrm>
            <a:off x="3724519" y="2243812"/>
            <a:ext cx="2144789" cy="43770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E8F84-BF20-6A1B-A68A-0F3596A36740}"/>
              </a:ext>
            </a:extLst>
          </p:cNvPr>
          <p:cNvSpPr txBox="1"/>
          <p:nvPr/>
        </p:nvSpPr>
        <p:spPr>
          <a:xfrm>
            <a:off x="4128250" y="3150540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RL (reasoning)</a:t>
            </a:r>
            <a:endParaRPr kumimoji="1"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3DD042-09D5-9810-1163-FD777D713C8F}"/>
              </a:ext>
            </a:extLst>
          </p:cNvPr>
          <p:cNvSpPr/>
          <p:nvPr/>
        </p:nvSpPr>
        <p:spPr>
          <a:xfrm>
            <a:off x="3724519" y="3039532"/>
            <a:ext cx="2144789" cy="5239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545263-6886-8B89-B801-1A94B4D41CB8}"/>
              </a:ext>
            </a:extLst>
          </p:cNvPr>
          <p:cNvSpPr txBox="1"/>
          <p:nvPr/>
        </p:nvSpPr>
        <p:spPr>
          <a:xfrm>
            <a:off x="3799171" y="2188511"/>
            <a:ext cx="1846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SFT</a:t>
            </a:r>
          </a:p>
          <a:p>
            <a:pPr algn="ctr"/>
            <a:r>
              <a:rPr kumimoji="1" lang="en-US" altLang="ko-KR" dirty="0"/>
              <a:t>(Rejection Sampling)</a:t>
            </a:r>
            <a:endParaRPr kumimoji="1"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748BB72-7C45-12F1-4606-839CB4F798A7}"/>
              </a:ext>
            </a:extLst>
          </p:cNvPr>
          <p:cNvCxnSpPr>
            <a:cxnSpLocks/>
          </p:cNvCxnSpPr>
          <p:nvPr/>
        </p:nvCxnSpPr>
        <p:spPr>
          <a:xfrm flipV="1">
            <a:off x="4184194" y="2723004"/>
            <a:ext cx="0" cy="23006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19821B3-8FCB-81E6-9905-6660CE0F0EB7}"/>
              </a:ext>
            </a:extLst>
          </p:cNvPr>
          <p:cNvCxnSpPr>
            <a:cxnSpLocks/>
          </p:cNvCxnSpPr>
          <p:nvPr/>
        </p:nvCxnSpPr>
        <p:spPr>
          <a:xfrm flipV="1">
            <a:off x="4172002" y="3575704"/>
            <a:ext cx="0" cy="32019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76BC50-A440-6C4D-C12F-C760D46133B5}"/>
              </a:ext>
            </a:extLst>
          </p:cNvPr>
          <p:cNvSpPr/>
          <p:nvPr/>
        </p:nvSpPr>
        <p:spPr>
          <a:xfrm>
            <a:off x="3734638" y="3944271"/>
            <a:ext cx="2144789" cy="43770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15E1E-AA4D-B901-E561-A0907FFFD042}"/>
              </a:ext>
            </a:extLst>
          </p:cNvPr>
          <p:cNvSpPr txBox="1"/>
          <p:nvPr/>
        </p:nvSpPr>
        <p:spPr>
          <a:xfrm>
            <a:off x="4002815" y="1478105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RL (all scenarios)</a:t>
            </a:r>
            <a:endParaRPr kumimoji="1"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ED4E028-39C2-37F1-0FAA-0D3C5827B5E5}"/>
              </a:ext>
            </a:extLst>
          </p:cNvPr>
          <p:cNvCxnSpPr>
            <a:cxnSpLocks/>
          </p:cNvCxnSpPr>
          <p:nvPr/>
        </p:nvCxnSpPr>
        <p:spPr>
          <a:xfrm>
            <a:off x="5953405" y="1695519"/>
            <a:ext cx="464706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852F0DDB-CB1E-7656-62A7-77080661709B}"/>
              </a:ext>
            </a:extLst>
          </p:cNvPr>
          <p:cNvSpPr/>
          <p:nvPr/>
        </p:nvSpPr>
        <p:spPr>
          <a:xfrm>
            <a:off x="6494486" y="666071"/>
            <a:ext cx="1548384" cy="140208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DeepSeek – R1</a:t>
            </a:r>
            <a:endParaRPr kumimoji="1"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3D4F6C1-A817-A3E1-232B-CB6CC3869C95}"/>
              </a:ext>
            </a:extLst>
          </p:cNvPr>
          <p:cNvSpPr/>
          <p:nvPr/>
        </p:nvSpPr>
        <p:spPr>
          <a:xfrm>
            <a:off x="1418057" y="1197745"/>
            <a:ext cx="1589105" cy="13755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DeepSeek –V3</a:t>
            </a:r>
            <a:endParaRPr kumimoji="1"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E2A84D0-69E1-761B-FA08-E4FF7793D8FB}"/>
              </a:ext>
            </a:extLst>
          </p:cNvPr>
          <p:cNvCxnSpPr>
            <a:cxnSpLocks/>
          </p:cNvCxnSpPr>
          <p:nvPr/>
        </p:nvCxnSpPr>
        <p:spPr>
          <a:xfrm flipV="1">
            <a:off x="2145272" y="2585651"/>
            <a:ext cx="0" cy="566683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A3725D-A5B0-819F-4A69-3BAADA15AC2E}"/>
              </a:ext>
            </a:extLst>
          </p:cNvPr>
          <p:cNvSpPr txBox="1"/>
          <p:nvPr/>
        </p:nvSpPr>
        <p:spPr>
          <a:xfrm>
            <a:off x="1120696" y="2773836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Finetuning</a:t>
            </a:r>
            <a:endParaRPr kumimoji="1" lang="ko-KR" altLang="en-US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79166D9-BDC3-1117-1F18-6C85B4626651}"/>
              </a:ext>
            </a:extLst>
          </p:cNvPr>
          <p:cNvCxnSpPr>
            <a:cxnSpLocks/>
          </p:cNvCxnSpPr>
          <p:nvPr/>
        </p:nvCxnSpPr>
        <p:spPr>
          <a:xfrm>
            <a:off x="3005591" y="2375537"/>
            <a:ext cx="63315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3E4B669-1DB1-3102-D3B8-E41A8252234D}"/>
              </a:ext>
            </a:extLst>
          </p:cNvPr>
          <p:cNvCxnSpPr>
            <a:cxnSpLocks/>
          </p:cNvCxnSpPr>
          <p:nvPr/>
        </p:nvCxnSpPr>
        <p:spPr>
          <a:xfrm>
            <a:off x="3016093" y="1545146"/>
            <a:ext cx="636916" cy="685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E7D236-1368-B714-3744-910559FC2806}"/>
              </a:ext>
            </a:extLst>
          </p:cNvPr>
          <p:cNvSpPr txBox="1"/>
          <p:nvPr/>
        </p:nvSpPr>
        <p:spPr>
          <a:xfrm>
            <a:off x="2953728" y="237553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judge</a:t>
            </a:r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B1BEA8-D135-E7DA-7118-73DD7476E41F}"/>
              </a:ext>
            </a:extLst>
          </p:cNvPr>
          <p:cNvSpPr txBox="1"/>
          <p:nvPr/>
        </p:nvSpPr>
        <p:spPr>
          <a:xfrm>
            <a:off x="2739265" y="1130715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RM trained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2913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1806-861A-E2A5-C093-2D84AC1B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124D67F5-AAB5-4B16-0B86-C825CAA1B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9776"/>
            <a:ext cx="4203984" cy="238392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E07093-1B40-70DD-50FF-BED0422402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64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592147-5769-E34A-187D-8D9F22366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948C31-1F06-B5D6-34B5-A6A4F029EB1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2601" y="246705"/>
            <a:ext cx="7677300" cy="330300"/>
          </a:xfrm>
        </p:spPr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C6CFE69-34F2-12D8-2450-3DA659E6219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CB0D7E7D-8829-B004-AE93-395F0169B146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6CBBC91A-D916-B825-7FB0-988F70463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4497"/>
            <a:ext cx="4079479" cy="2383923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DBE3EBAE-8503-ABAC-2685-9B81ED184A55}"/>
              </a:ext>
            </a:extLst>
          </p:cNvPr>
          <p:cNvSpPr/>
          <p:nvPr/>
        </p:nvSpPr>
        <p:spPr>
          <a:xfrm>
            <a:off x="3142570" y="2031097"/>
            <a:ext cx="6001430" cy="2550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2000" dirty="0">
                <a:solidFill>
                  <a:schemeClr val="tx1"/>
                </a:solidFill>
              </a:rPr>
              <a:t>1.Cold-Start</a:t>
            </a:r>
          </a:p>
          <a:p>
            <a:endParaRPr kumimoji="1" lang="en-US" altLang="ko-K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800" dirty="0">
                <a:solidFill>
                  <a:schemeClr val="tx1"/>
                </a:solidFill>
              </a:rPr>
              <a:t>Few-shot prompting with long </a:t>
            </a:r>
            <a:r>
              <a:rPr kumimoji="1" lang="en-US" altLang="ko-KR" sz="1800" dirty="0" err="1">
                <a:solidFill>
                  <a:schemeClr val="tx1"/>
                </a:solidFill>
              </a:rPr>
              <a:t>CoT</a:t>
            </a:r>
            <a:r>
              <a:rPr kumimoji="1" lang="en-US" altLang="ko-KR" sz="1800" dirty="0">
                <a:solidFill>
                  <a:schemeClr val="tx1"/>
                </a:solidFill>
              </a:rPr>
              <a:t>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800" dirty="0">
                <a:solidFill>
                  <a:schemeClr val="tx1"/>
                </a:solidFill>
              </a:rPr>
              <a:t>Prompting to generate reflection and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800" dirty="0">
                <a:solidFill>
                  <a:schemeClr val="tx1"/>
                </a:solidFill>
              </a:rPr>
              <a:t>Refining results through annotation by human</a:t>
            </a:r>
          </a:p>
          <a:p>
            <a:endParaRPr kumimoji="1" lang="ko-KR" altLang="en-US" sz="1800" dirty="0">
              <a:solidFill>
                <a:schemeClr val="tx1"/>
              </a:solidFill>
            </a:endParaRPr>
          </a:p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482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4ED0-B901-3879-0B19-09F14071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6C7A0A-2C9B-EFCD-EF90-B773987B1E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65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2255E-0D61-E42B-DAA5-F59A0F4E1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454589-AB3D-C1D6-893B-102BDF577C8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15589DB-DA27-7186-1A0D-988B1C62CB5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AFC629A9-7619-F2E9-56F3-7F2CE93A4660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4954AA-2B72-DAD9-DCA4-7E4946B5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31475"/>
            <a:ext cx="3987751" cy="23554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F151CE3-41FB-3D56-D10A-339EEAD9306A}"/>
              </a:ext>
            </a:extLst>
          </p:cNvPr>
          <p:cNvSpPr/>
          <p:nvPr/>
        </p:nvSpPr>
        <p:spPr>
          <a:xfrm>
            <a:off x="3142570" y="2031097"/>
            <a:ext cx="5581300" cy="2550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2000" dirty="0">
                <a:solidFill>
                  <a:schemeClr val="tx1"/>
                </a:solidFill>
              </a:rPr>
              <a:t>2.Reasoning Oriented RL</a:t>
            </a:r>
          </a:p>
          <a:p>
            <a:endParaRPr kumimoji="1"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Applying RL on reasoning intensive tasks</a:t>
            </a:r>
          </a:p>
          <a:p>
            <a:pPr lvl="8"/>
            <a:r>
              <a:rPr kumimoji="1" lang="en-US" altLang="ko-KR" sz="1600" dirty="0">
                <a:solidFill>
                  <a:schemeClr val="tx1"/>
                </a:solidFill>
              </a:rPr>
              <a:t>     - math , coding , science , logic …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Reward modeling (rule based)</a:t>
            </a:r>
          </a:p>
          <a:p>
            <a:pPr lvl="8"/>
            <a:r>
              <a:rPr kumimoji="1" lang="en-US" altLang="ko-KR" sz="1600" dirty="0">
                <a:solidFill>
                  <a:schemeClr val="tx1"/>
                </a:solidFill>
              </a:rPr>
              <a:t>     - Accuracy , Format reward </a:t>
            </a:r>
          </a:p>
          <a:p>
            <a:pPr lvl="8"/>
            <a:r>
              <a:rPr kumimoji="1" lang="en-US" altLang="ko-KR" sz="1600" dirty="0">
                <a:solidFill>
                  <a:schemeClr val="tx1"/>
                </a:solidFill>
              </a:rPr>
              <a:t>     - </a:t>
            </a:r>
            <a:r>
              <a:rPr kumimoji="1" lang="en-US" altLang="ko-KR" sz="1600" u="sng" dirty="0">
                <a:solidFill>
                  <a:schemeClr val="tx1"/>
                </a:solidFill>
              </a:rPr>
              <a:t>Language consistency </a:t>
            </a:r>
            <a:r>
              <a:rPr kumimoji="1" lang="en-US" altLang="ko-KR" sz="1600" dirty="0">
                <a:solidFill>
                  <a:schemeClr val="tx1"/>
                </a:solidFill>
              </a:rPr>
              <a:t>reward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800" dirty="0">
                <a:solidFill>
                  <a:schemeClr val="tx1"/>
                </a:solidFill>
              </a:rPr>
              <a:t>RL until it converges on tasks</a:t>
            </a:r>
            <a:endParaRPr kumimoji="1"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3553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B838-08EA-AD95-1DBD-43EA5408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314C6A-ADA4-E53F-5D58-289E5A179A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66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421430-0E17-8504-2755-652FAEF2B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A1965D-0A18-8DA8-4F98-6370882C299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0F77EC6-4D8C-33D9-9E09-03CB6CEE06B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7592DCD4-9216-DA98-DEC4-96FE2E9B45E3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9E7D28-D499-5977-B21A-85120FC9A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38" y="793101"/>
            <a:ext cx="3807211" cy="231324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6F6066-1B2D-528E-D05C-160EE9A4D366}"/>
              </a:ext>
            </a:extLst>
          </p:cNvPr>
          <p:cNvSpPr/>
          <p:nvPr/>
        </p:nvSpPr>
        <p:spPr>
          <a:xfrm>
            <a:off x="3165508" y="2112472"/>
            <a:ext cx="5581300" cy="2550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2000" dirty="0">
                <a:solidFill>
                  <a:schemeClr val="tx1"/>
                </a:solidFill>
              </a:rPr>
              <a:t>3.Rejection Sampling and SFT</a:t>
            </a:r>
          </a:p>
          <a:p>
            <a:endParaRPr kumimoji="1"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Reasoning data</a:t>
            </a: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    - rule based + using DeepSeek-v3 as judge</a:t>
            </a:r>
          </a:p>
          <a:p>
            <a:pPr lvl="3"/>
            <a:r>
              <a:rPr kumimoji="1" lang="en-US" altLang="ko-KR" sz="1600" dirty="0">
                <a:solidFill>
                  <a:schemeClr val="tx1"/>
                </a:solidFill>
              </a:rPr>
              <a:t>    - for each prompt, retain correct one response</a:t>
            </a:r>
          </a:p>
          <a:p>
            <a:pPr lvl="3"/>
            <a:r>
              <a:rPr kumimoji="1" lang="en-US" altLang="ko-KR" sz="1600" dirty="0">
                <a:solidFill>
                  <a:schemeClr val="tx1"/>
                </a:solidFill>
              </a:rPr>
              <a:t>    - total approximately 600k samples</a:t>
            </a:r>
          </a:p>
          <a:p>
            <a:pPr lvl="3"/>
            <a:endParaRPr kumimoji="1" lang="en-US" altLang="ko-KR" sz="1600" dirty="0">
              <a:solidFill>
                <a:schemeClr val="tx1"/>
              </a:solidFill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Non Reasoning data</a:t>
            </a:r>
          </a:p>
          <a:p>
            <a:pPr lvl="3"/>
            <a:r>
              <a:rPr kumimoji="1" lang="en-US" altLang="ko-KR" sz="1600" dirty="0">
                <a:solidFill>
                  <a:schemeClr val="tx1"/>
                </a:solidFill>
              </a:rPr>
              <a:t>    - reuse portions of SFT data of DeepSeek-v3</a:t>
            </a:r>
          </a:p>
          <a:p>
            <a:pPr lvl="3"/>
            <a:r>
              <a:rPr kumimoji="1" lang="en-US" altLang="ko-KR" sz="1600" dirty="0">
                <a:solidFill>
                  <a:schemeClr val="tx1"/>
                </a:solidFill>
              </a:rPr>
              <a:t>    - prompting DeepSeek-v3 to generate </a:t>
            </a:r>
            <a:r>
              <a:rPr kumimoji="1" lang="en-US" altLang="ko-KR" sz="1600" dirty="0" err="1">
                <a:solidFill>
                  <a:schemeClr val="tx1"/>
                </a:solidFill>
              </a:rPr>
              <a:t>CoT</a:t>
            </a:r>
            <a:r>
              <a:rPr kumimoji="1" lang="en-US" altLang="ko-KR" sz="1600" dirty="0">
                <a:solidFill>
                  <a:schemeClr val="tx1"/>
                </a:solidFill>
              </a:rPr>
              <a:t> </a:t>
            </a:r>
          </a:p>
          <a:p>
            <a:pPr lvl="3"/>
            <a:r>
              <a:rPr kumimoji="1" lang="en-US" altLang="ko-KR" sz="1600" dirty="0">
                <a:solidFill>
                  <a:schemeClr val="tx1"/>
                </a:solidFill>
              </a:rPr>
              <a:t>    - total approximately 200k samples</a:t>
            </a:r>
          </a:p>
          <a:p>
            <a:endParaRPr kumimoji="1"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267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5DA2-9B6F-68CF-4C4A-56FD6E8C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06EC6E-5C52-6FEF-6A49-618D77BC63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67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E15C7-4043-6247-2462-BD42D6D80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1B4B9C-4721-B7CB-CFEB-73DE67D5193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BC0CF2D-C350-3FEB-5F44-EB49A57A2A4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B3D954F2-7853-C719-1D09-324E8C8BCFA3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3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F1CE9A-2646-030E-8D94-7F2DD7A14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38" y="783377"/>
            <a:ext cx="4046970" cy="230617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98604F2-C94F-4027-FEBF-1E51A9265F8E}"/>
              </a:ext>
            </a:extLst>
          </p:cNvPr>
          <p:cNvSpPr/>
          <p:nvPr/>
        </p:nvSpPr>
        <p:spPr>
          <a:xfrm>
            <a:off x="3165508" y="2008496"/>
            <a:ext cx="5855650" cy="2550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2000" dirty="0">
                <a:solidFill>
                  <a:schemeClr val="tx1"/>
                </a:solidFill>
              </a:rPr>
              <a:t>4.RL for all scenarios</a:t>
            </a:r>
          </a:p>
          <a:p>
            <a:endParaRPr kumimoji="1" lang="en-US" altLang="ko-KR" sz="2000" dirty="0">
              <a:solidFill>
                <a:schemeClr val="tx1"/>
              </a:solidFill>
            </a:endParaRP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Aim at improve helpfulness &amp; harmlessness</a:t>
            </a:r>
          </a:p>
          <a:p>
            <a:endParaRPr kumimoji="1"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Reasoning task</a:t>
            </a: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    - same method as Zero (rule-based)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/>
                </a:solidFill>
              </a:rPr>
              <a:t>General task</a:t>
            </a: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    - Use neural RM trained on DeepSeek-V3</a:t>
            </a: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    - for helpfulness, focus on final summary (relevance , utility)</a:t>
            </a:r>
          </a:p>
          <a:p>
            <a:r>
              <a:rPr kumimoji="1" lang="en-US" altLang="ko-KR" sz="1600" dirty="0">
                <a:solidFill>
                  <a:schemeClr val="tx1"/>
                </a:solidFill>
              </a:rPr>
              <a:t>    - for harmlessness, evaluate entire response (reasoning + response) for mitigating biases, risks</a:t>
            </a:r>
          </a:p>
        </p:txBody>
      </p:sp>
    </p:spTree>
    <p:extLst>
      <p:ext uri="{BB962C8B-B14F-4D97-AF65-F5344CB8AC3E}">
        <p14:creationId xmlns:p14="http://schemas.microsoft.com/office/powerpoint/2010/main" val="3818356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BCA1-0A3A-EFC3-11E9-C49D1ADE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00F570-EC05-C29C-7394-07891E61E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68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04135E-3997-68CD-B614-C980A8A91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F1096B-8F61-68CE-947C-36AA3D8175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Deepseek-R1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11AE0E8-4631-2467-88EE-40CBEFC3BA1E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86A376D4-BA68-A1D7-6FDF-9C700F1C1210}"/>
              </a:ext>
            </a:extLst>
          </p:cNvPr>
          <p:cNvSpPr txBox="1">
            <a:spLocks/>
          </p:cNvSpPr>
          <p:nvPr/>
        </p:nvSpPr>
        <p:spPr>
          <a:xfrm>
            <a:off x="122238" y="4860017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Deepseek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-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r1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: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Incentivizing reasoning capability </a:t>
            </a:r>
            <a:r>
              <a:rPr lang="en" altLang="ko-KR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in 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llms via reinforcement learning</a:t>
            </a:r>
            <a:r>
              <a:rPr lang="en" altLang="ko-KR" b="1" u="sng">
                <a:solidFill>
                  <a:srgbClr val="1A0DAB"/>
                </a:solidFill>
                <a:latin typeface="Arial" panose="020B0604020202020204" pitchFamily="34" charset="0"/>
              </a:rPr>
              <a:t> (2025)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83697D-A008-09DF-B135-16495D76E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567" y="764935"/>
            <a:ext cx="6327195" cy="407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24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7837-8A4E-65B1-5A80-1B1CB763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62C2BB-14AC-02E9-802A-10701B89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501A9B-1310-1942-94A6-861D6963436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Group Relative Policy Optimization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CD266-59DA-2CF9-54C6-CF1A5F6AA8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1C4C1E-6B6A-3A77-0AB8-2A5D6748BA2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Deepseekmath: Pushing the limits of mathematical reasoning in open language models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(2024)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F38B26-6384-4665-FFD0-10D3E2210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69</a:t>
            </a:fld>
            <a:endParaRPr lang="ko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2AEAEA-D2D1-7DD3-7B40-E4B6BEB89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68" y="838200"/>
            <a:ext cx="7244863" cy="367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197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5307C8-3189-A309-5C0A-A0F72FBEA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133578-D070-3C20-5621-67EBC45BAA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Group Relative Policy Optimization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D9C8AA-EA7B-CCE3-033D-908E31AE12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US" altLang="ko-KR" dirty="0"/>
              <a:t>PPO (except for clipping and</a:t>
            </a:r>
            <a:r>
              <a:rPr kumimoji="1" lang="ko-KR" altLang="en-US" dirty="0"/>
              <a:t> </a:t>
            </a:r>
            <a:r>
              <a:rPr kumimoji="1" lang="en-US" altLang="ko-KR" dirty="0"/>
              <a:t>KL)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A73928-910C-A77D-AB3C-F88E38DDF47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Deepseekmath: Pushing the limits of mathematical reasoning in open language models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(2024)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4E9FE-03E1-8BA2-8A05-0EAAD3B417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70</a:t>
            </a:fld>
            <a:endParaRPr lang="ko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3C05D-4524-E4E8-2E2C-55A1392A9898}"/>
                  </a:ext>
                </a:extLst>
              </p:cNvPr>
              <p:cNvSpPr txBox="1"/>
              <p:nvPr/>
            </p:nvSpPr>
            <p:spPr>
              <a:xfrm>
                <a:off x="850583" y="1564648"/>
                <a:ext cx="6984669" cy="952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 </m:t>
                      </m:r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 </m:t>
                      </m:r>
                      <m:nary>
                        <m:naryPr>
                          <m:chr m:val="∑"/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ko-KR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1" lang="en-US" altLang="ko-KR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83C05D-4524-E4E8-2E2C-55A1392A9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83" y="1564648"/>
                <a:ext cx="6984669" cy="952248"/>
              </a:xfrm>
              <a:prstGeom prst="rect">
                <a:avLst/>
              </a:prstGeom>
              <a:blipFill>
                <a:blip r:embed="rId4"/>
                <a:stretch>
                  <a:fillRect l="-545" t="-114474" r="-1091" b="-17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1020C8-BE7D-DB4D-4076-82AE7340FEB9}"/>
                  </a:ext>
                </a:extLst>
              </p:cNvPr>
              <p:cNvSpPr txBox="1"/>
              <p:nvPr/>
            </p:nvSpPr>
            <p:spPr>
              <a:xfrm>
                <a:off x="5370576" y="2766033"/>
                <a:ext cx="22088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ko-KR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1020C8-BE7D-DB4D-4076-82AE7340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576" y="2766033"/>
                <a:ext cx="2208874" cy="307777"/>
              </a:xfrm>
              <a:prstGeom prst="rect">
                <a:avLst/>
              </a:prstGeom>
              <a:blipFill>
                <a:blip r:embed="rId5"/>
                <a:stretch>
                  <a:fillRect l="-1714" t="-4000" r="-3429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D9EC3-1532-D66D-41D7-96081A370018}"/>
                  </a:ext>
                </a:extLst>
              </p:cNvPr>
              <p:cNvSpPr txBox="1"/>
              <p:nvPr/>
            </p:nvSpPr>
            <p:spPr>
              <a:xfrm>
                <a:off x="3564596" y="3655267"/>
                <a:ext cx="2260042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CD9EC3-1532-D66D-41D7-96081A370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596" y="3655267"/>
                <a:ext cx="2260042" cy="281937"/>
              </a:xfrm>
              <a:prstGeom prst="rect">
                <a:avLst/>
              </a:prstGeom>
              <a:blipFill>
                <a:blip r:embed="rId6"/>
                <a:stretch>
                  <a:fillRect l="-1676" t="-4348" r="-3352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E48301-4776-7AA0-187D-05097528D747}"/>
                  </a:ext>
                </a:extLst>
              </p:cNvPr>
              <p:cNvSpPr txBox="1"/>
              <p:nvPr/>
            </p:nvSpPr>
            <p:spPr>
              <a:xfrm>
                <a:off x="5961888" y="3418471"/>
                <a:ext cx="3003483" cy="7555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kumimoji="1" lang="en-US" altLang="ko-KR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E48301-4776-7AA0-187D-05097528D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888" y="3418471"/>
                <a:ext cx="3003483" cy="755528"/>
              </a:xfrm>
              <a:prstGeom prst="rect">
                <a:avLst/>
              </a:prstGeom>
              <a:blipFill>
                <a:blip r:embed="rId7"/>
                <a:stretch>
                  <a:fillRect t="-120000" b="-18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1749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BC50-0877-975B-0919-02767902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3A2B1EE-D73B-6A7F-1D6B-397EF71D4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E734FF-1403-764C-0316-F9F8A7AA37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Group Relative Policy Optimization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CA464B-5287-C8E4-C237-2D10B23787A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US" altLang="ko-KR" dirty="0"/>
              <a:t>GRPO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0081AB-9EE0-1234-95F7-06FE3D6BF2A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Deepseekmath: Pushing the limits of mathematical reasoning in open language models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(2024)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D18AC1-7099-6F96-DC35-AEB960E6A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71</a:t>
            </a:fld>
            <a:endParaRPr lang="ko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F241CD-A2F0-FD25-5D66-916186124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08" y="1421593"/>
            <a:ext cx="7326410" cy="15707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DBA64D-40F3-41EC-A826-4F50EB2C6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328" y="3318616"/>
            <a:ext cx="2545576" cy="50595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F038B39-77FA-FC74-528D-46278337DEFE}"/>
              </a:ext>
            </a:extLst>
          </p:cNvPr>
          <p:cNvSpPr/>
          <p:nvPr/>
        </p:nvSpPr>
        <p:spPr>
          <a:xfrm>
            <a:off x="1258328" y="3787993"/>
            <a:ext cx="1033768" cy="137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7ADC947-B365-6904-6B5A-98B7217DFD42}"/>
              </a:ext>
            </a:extLst>
          </p:cNvPr>
          <p:cNvSpPr/>
          <p:nvPr/>
        </p:nvSpPr>
        <p:spPr>
          <a:xfrm>
            <a:off x="6169152" y="1853184"/>
            <a:ext cx="268224" cy="4632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FC9823D-6417-F9B0-5051-1D2F7585CE98}"/>
              </a:ext>
            </a:extLst>
          </p:cNvPr>
          <p:cNvSpPr/>
          <p:nvPr/>
        </p:nvSpPr>
        <p:spPr>
          <a:xfrm>
            <a:off x="3566160" y="1871472"/>
            <a:ext cx="268224" cy="46329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2EAD9D0-E503-176B-DB1F-6282C4A6F116}"/>
              </a:ext>
            </a:extLst>
          </p:cNvPr>
          <p:cNvSpPr/>
          <p:nvPr/>
        </p:nvSpPr>
        <p:spPr>
          <a:xfrm>
            <a:off x="1225296" y="3241443"/>
            <a:ext cx="591312" cy="5685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6F75F-D811-9B0D-91EF-34EB809F158B}"/>
              </a:ext>
            </a:extLst>
          </p:cNvPr>
          <p:cNvSpPr txBox="1"/>
          <p:nvPr/>
        </p:nvSpPr>
        <p:spPr>
          <a:xfrm>
            <a:off x="4017276" y="3404105"/>
            <a:ext cx="51267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Difference</a:t>
            </a:r>
          </a:p>
          <a:p>
            <a:r>
              <a:rPr kumimoji="1" lang="en-US" altLang="ko-KR" sz="2000" dirty="0"/>
              <a:t>1.KL term (unbiased)</a:t>
            </a:r>
          </a:p>
          <a:p>
            <a:r>
              <a:rPr kumimoji="1" lang="en-US" altLang="ko-KR" sz="2000" dirty="0"/>
              <a:t>2.Substituting value model for </a:t>
            </a:r>
            <a:r>
              <a:rPr kumimoji="1" lang="en-US" altLang="ko-KR" sz="2000" dirty="0">
                <a:solidFill>
                  <a:srgbClr val="C00000"/>
                </a:solidFill>
              </a:rPr>
              <a:t>reward mean</a:t>
            </a:r>
            <a:endParaRPr kumimoji="1"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3984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459D-AFA6-A38B-985A-69BDC0A6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74057C6-9D20-81EA-FC51-B5A1206C9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9F6139-3793-229D-57D0-1CDDC64FFD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Efficient Training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37230F-6510-33DB-8CBC-F86094BEAC5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Efficient Training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CCFE44-6F4A-1218-E704-7D5CD877297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30A54-3DB2-0ACF-37F0-2EC1B94202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72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16587441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65E6C0-58AB-B0AD-13A1-C0D4F2B02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055C11-1044-23E3-EB55-E3BCD4A36BD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Revisit the full fine-tuning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117D1A5-EAB4-A17E-F4D3-CF615E10DCD5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r>
                  <a:rPr kumimoji="1" lang="en" altLang="ko-KR" sz="1800" b="0" dirty="0"/>
                  <a:t>Assume we have a pre-trained autoregressive language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1800" b="0" dirty="0"/>
              </a:p>
              <a:p>
                <a:r>
                  <a:rPr kumimoji="1" lang="en-US" altLang="ko-KR" sz="1800" b="0" dirty="0"/>
                  <a:t>   -  GPT based on Transformer</a:t>
                </a:r>
              </a:p>
              <a:p>
                <a:endParaRPr kumimoji="1" lang="en-US" altLang="ko-KR" sz="1800" b="0" dirty="0"/>
              </a:p>
              <a:p>
                <a:r>
                  <a:rPr kumimoji="1" lang="en" altLang="ko-KR" sz="1800" b="0" dirty="0"/>
                  <a:t>Adapt this pretrained model to downstream tasks</a:t>
                </a:r>
                <a:r>
                  <a:rPr kumimoji="1" lang="en-US" altLang="ko-KR" sz="1800" b="0" dirty="0"/>
                  <a:t> (e.g., summarization, NL2SQL, reading comprehension)</a:t>
                </a:r>
              </a:p>
              <a:p>
                <a:r>
                  <a:rPr kumimoji="1" lang="en-US" altLang="ko-KR" sz="1800" b="0" dirty="0"/>
                  <a:t>   -  Training dataset of context-target pairs</a:t>
                </a:r>
                <a14:m>
                  <m:oMath xmlns:m="http://schemas.openxmlformats.org/officeDocument/2006/math"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ko-KR" sz="1800" b="0" dirty="0"/>
                          <m:t>{(</m:t>
                        </m:r>
                        <m:sSub>
                          <m:sSubPr>
                            <m:ctrlP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sz="1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ko-KR" sz="18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en-US" altLang="ko-KR" sz="1800" b="0" dirty="0"/>
                          <m:t>)}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en-US" altLang="ko-KR" sz="1800" b="0" dirty="0"/>
              </a:p>
              <a:p>
                <a:endParaRPr kumimoji="1" lang="en-US" altLang="ko-KR" sz="1800" b="0" dirty="0"/>
              </a:p>
              <a:p>
                <a:r>
                  <a:rPr kumimoji="1" lang="en" altLang="ko-KR" sz="1800" b="0" dirty="0"/>
                  <a:t>During full fine-tuning, we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1" lang="en" altLang="ko-KR" sz="1800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1" lang="en" altLang="ko-KR" sz="1800" b="0" dirty="0"/>
                  <a:t> + </a:t>
                </a:r>
                <a:r>
                  <a:rPr kumimoji="1" lang="el-GR" altLang="ko-KR" sz="1800" b="0" dirty="0"/>
                  <a:t>Δ𝜙 </a:t>
                </a:r>
                <a:r>
                  <a:rPr kumimoji="1" lang="en" altLang="ko-KR" sz="1800" b="0" dirty="0"/>
                  <a:t>by following the gradient to</a:t>
                </a:r>
              </a:p>
              <a:p>
                <a:r>
                  <a:rPr kumimoji="1" lang="en" altLang="ko-KR" sz="1800" b="0" dirty="0"/>
                  <a:t>maximize the conditional language modeling objective</a:t>
                </a:r>
                <a:endParaRPr kumimoji="1" lang="ko-KR" altLang="en-US" sz="1800" b="0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117D1A5-EAB4-A17E-F4D3-CF615E10D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>
                <a:blip r:embed="rId3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94D7F9-F790-7F6A-72B9-0F6E0DF6AE4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06224-43D1-33AC-6189-40BC07080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73</a:t>
            </a:fld>
            <a:endParaRPr lang="ko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7DA5BF-B446-3A98-761D-EB567A46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79" y="3605558"/>
            <a:ext cx="4211667" cy="9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96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7C8C6D-A0CC-FDB0-1AA2-AF91E33A9C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74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7AACC7-FC67-DFE9-19FB-2B6612D39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B6A3E6-6F67-81F7-531C-9DE175630F9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 err="1"/>
              <a:t>LoRA</a:t>
            </a:r>
            <a:r>
              <a:rPr kumimoji="1" lang="en" altLang="ko-KR" dirty="0"/>
              <a:t>: low rank adaptation</a:t>
            </a:r>
            <a:endParaRPr kumimoji="1"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2AA45F-638B-48D9-E496-9483C5C2E0AB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Lora: Low-rank adaptation of large language models.</a:t>
            </a:r>
            <a:r>
              <a:rPr lang="en" altLang="ko-KR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(2021)</a:t>
            </a:r>
            <a:endParaRPr lang="en" altLang="ko-K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4FBD8-0180-C519-42B4-9FA387904ECD}"/>
              </a:ext>
            </a:extLst>
          </p:cNvPr>
          <p:cNvSpPr txBox="1"/>
          <p:nvPr/>
        </p:nvSpPr>
        <p:spPr>
          <a:xfrm>
            <a:off x="423863" y="860573"/>
            <a:ext cx="841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 err="1"/>
              <a:t>For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each</a:t>
            </a:r>
            <a:r>
              <a:rPr lang="ko-KR" altLang="en-US" sz="1800" dirty="0"/>
              <a:t> </a:t>
            </a:r>
            <a:r>
              <a:rPr lang="ko-KR" altLang="en-US" sz="1800" dirty="0" err="1"/>
              <a:t>downstream</a:t>
            </a:r>
            <a:r>
              <a:rPr lang="ko-KR" altLang="en-US" sz="1800" dirty="0"/>
              <a:t> </a:t>
            </a:r>
            <a:r>
              <a:rPr lang="ko-KR" altLang="en-US" sz="1800" dirty="0" err="1"/>
              <a:t>task</a:t>
            </a:r>
            <a:r>
              <a:rPr lang="ko-KR" altLang="en-US" sz="1800" dirty="0"/>
              <a:t>, </a:t>
            </a:r>
            <a:r>
              <a:rPr lang="ko-KR" altLang="en-US" sz="1800" dirty="0" err="1"/>
              <a:t>we</a:t>
            </a:r>
            <a:r>
              <a:rPr lang="ko-KR" altLang="en-US" sz="1800" dirty="0"/>
              <a:t> </a:t>
            </a:r>
            <a:r>
              <a:rPr lang="ko-KR" altLang="en-US" sz="1800" dirty="0" err="1"/>
              <a:t>learn</a:t>
            </a:r>
            <a:r>
              <a:rPr lang="ko-KR" altLang="en-US" sz="1800" dirty="0"/>
              <a:t> </a:t>
            </a:r>
            <a:r>
              <a:rPr lang="ko-KR" altLang="en-US" sz="1800" dirty="0" err="1"/>
              <a:t>a</a:t>
            </a:r>
            <a:r>
              <a:rPr lang="ko-KR" altLang="en-US" sz="1800" dirty="0"/>
              <a:t> </a:t>
            </a:r>
            <a:r>
              <a:rPr lang="ko-KR" altLang="en-US" sz="1800" dirty="0" err="1"/>
              <a:t>different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set</a:t>
            </a:r>
            <a:r>
              <a:rPr lang="ko-KR" altLang="en-US" sz="1800" dirty="0"/>
              <a:t> of </a:t>
            </a:r>
            <a:r>
              <a:rPr lang="ko-KR" altLang="en-US" sz="1800" dirty="0" err="1"/>
              <a:t>parameters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Δ</a:t>
            </a:r>
            <a:r>
              <a:rPr lang="ko-KR" altLang="en-US" sz="1800" dirty="0"/>
              <a:t>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740F0-8E11-1A96-67C6-3CB37679B06F}"/>
              </a:ext>
            </a:extLst>
          </p:cNvPr>
          <p:cNvSpPr txBox="1"/>
          <p:nvPr/>
        </p:nvSpPr>
        <p:spPr>
          <a:xfrm>
            <a:off x="334558" y="2640913"/>
            <a:ext cx="8597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800" dirty="0">
                <a:solidFill>
                  <a:srgbClr val="C00000"/>
                </a:solidFill>
              </a:rPr>
              <a:t>Key idea</a:t>
            </a:r>
            <a:r>
              <a:rPr lang="en" altLang="ko-KR" sz="1800" dirty="0"/>
              <a:t>: encode the </a:t>
            </a:r>
            <a:r>
              <a:rPr lang="en" altLang="ko-KR" sz="1800" dirty="0">
                <a:solidFill>
                  <a:srgbClr val="00B0F0"/>
                </a:solidFill>
              </a:rPr>
              <a:t>task-specific parameter increment</a:t>
            </a:r>
            <a:r>
              <a:rPr lang="en" altLang="ko-KR" sz="1800" dirty="0"/>
              <a:t> </a:t>
            </a:r>
            <a:r>
              <a:rPr lang="el-GR" altLang="ko-KR" sz="1800" dirty="0"/>
              <a:t>Δ𝜙 = Δ𝜙(Θ) </a:t>
            </a:r>
            <a:r>
              <a:rPr lang="en" altLang="ko-KR" sz="1800" dirty="0"/>
              <a:t>by </a:t>
            </a:r>
            <a:r>
              <a:rPr lang="en" altLang="ko-KR" sz="1800" dirty="0">
                <a:solidFill>
                  <a:srgbClr val="00B0F0"/>
                </a:solidFill>
              </a:rPr>
              <a:t>a smaller-</a:t>
            </a:r>
          </a:p>
          <a:p>
            <a:r>
              <a:rPr lang="en" altLang="ko-KR" sz="1800" dirty="0">
                <a:solidFill>
                  <a:srgbClr val="00B0F0"/>
                </a:solidFill>
              </a:rPr>
              <a:t>sized set of parameters 𝚯</a:t>
            </a:r>
            <a:r>
              <a:rPr lang="en" altLang="ko-KR" sz="1800" dirty="0"/>
              <a:t>, </a:t>
            </a:r>
            <a:r>
              <a:rPr lang="el-GR" altLang="ko-KR" sz="1800" dirty="0"/>
              <a:t>Θ ≪ |𝜙𝑜|</a:t>
            </a:r>
            <a:endParaRPr lang="ko-KR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B65DBF-819B-3C04-10CC-C47138C8BF47}"/>
                  </a:ext>
                </a:extLst>
              </p:cNvPr>
              <p:cNvSpPr txBox="1"/>
              <p:nvPr/>
            </p:nvSpPr>
            <p:spPr>
              <a:xfrm>
                <a:off x="528441" y="1256092"/>
                <a:ext cx="859729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dirty="0"/>
                  <a:t> |</a:t>
                </a:r>
                <a:r>
                  <a:rPr lang="ko-KR" altLang="en-US" sz="1800" dirty="0" err="1"/>
                  <a:t>Δ</a:t>
                </a:r>
                <a:r>
                  <a:rPr lang="ko-KR" altLang="en-US" sz="1800" dirty="0"/>
                  <a:t>𝜙| = 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ko-KR" sz="1800" dirty="0"/>
              </a:p>
              <a:p>
                <a:r>
                  <a:rPr lang="en-US" altLang="ko-KR" sz="1800" dirty="0"/>
                  <a:t> GPT-3 has a </a:t>
                </a:r>
                <a14:m>
                  <m:oMath xmlns:m="http://schemas.openxmlformats.org/officeDocument/2006/math">
                    <m:r>
                      <a:rPr lang="en-US" altLang="ko-KR" sz="18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sz="1800" dirty="0"/>
                  <a:t> of 175 billion</a:t>
                </a:r>
              </a:p>
              <a:p>
                <a:r>
                  <a:rPr lang="en-US" altLang="ko-KR" sz="1800" dirty="0"/>
                  <a:t> </a:t>
                </a:r>
                <a:r>
                  <a:rPr lang="en-US" altLang="ko-KR" sz="1800" dirty="0">
                    <a:solidFill>
                      <a:srgbClr val="C00000"/>
                    </a:solidFill>
                  </a:rPr>
                  <a:t>Expensive and challenging for storing and deploying many independent instances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B65DBF-819B-3C04-10CC-C47138C8B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41" y="1256092"/>
                <a:ext cx="8597295" cy="923330"/>
              </a:xfrm>
              <a:prstGeom prst="rect">
                <a:avLst/>
              </a:prstGeom>
              <a:blipFill>
                <a:blip r:embed="rId3"/>
                <a:stretch>
                  <a:fillRect t="-2703" b="-94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35F90F1-174A-C5BF-F42B-017DB5524A79}"/>
              </a:ext>
            </a:extLst>
          </p:cNvPr>
          <p:cNvSpPr txBox="1"/>
          <p:nvPr/>
        </p:nvSpPr>
        <p:spPr>
          <a:xfrm>
            <a:off x="334557" y="3471568"/>
            <a:ext cx="5925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The </a:t>
            </a:r>
            <a:r>
              <a:rPr lang="ko-KR" altLang="en-US" sz="1800" dirty="0" err="1"/>
              <a:t>task</a:t>
            </a:r>
            <a:r>
              <a:rPr lang="ko-KR" altLang="en-US" sz="1800" dirty="0"/>
              <a:t> of </a:t>
            </a:r>
            <a:r>
              <a:rPr lang="ko-KR" altLang="en-US" sz="1800" dirty="0" err="1"/>
              <a:t>finding</a:t>
            </a:r>
            <a:r>
              <a:rPr lang="ko-KR" altLang="en-US" sz="1800" dirty="0"/>
              <a:t> </a:t>
            </a:r>
            <a:r>
              <a:rPr lang="ko-KR" altLang="en-US" sz="1800" dirty="0" err="1"/>
              <a:t>Δ</a:t>
            </a:r>
            <a:r>
              <a:rPr lang="ko-KR" altLang="en-US" sz="1800" dirty="0"/>
              <a:t>𝜙 </a:t>
            </a:r>
            <a:r>
              <a:rPr lang="ko-KR" altLang="en-US" sz="1800" dirty="0" err="1"/>
              <a:t>becomes</a:t>
            </a:r>
            <a:r>
              <a:rPr lang="ko-KR" altLang="en-US" sz="1800" dirty="0"/>
              <a:t> </a:t>
            </a:r>
            <a:r>
              <a:rPr lang="ko-KR" altLang="en-US" sz="1800" dirty="0" err="1"/>
              <a:t>optimizing</a:t>
            </a:r>
            <a:r>
              <a:rPr lang="ko-KR" altLang="en-US" sz="1800" dirty="0"/>
              <a:t> </a:t>
            </a:r>
            <a:r>
              <a:rPr lang="ko-KR" altLang="en-US" sz="1800" dirty="0" err="1"/>
              <a:t>over</a:t>
            </a:r>
            <a:r>
              <a:rPr lang="ko-KR" altLang="en-US" sz="1800" dirty="0"/>
              <a:t> </a:t>
            </a:r>
            <a:r>
              <a:rPr lang="ko-KR" altLang="en-US" sz="1800" dirty="0" err="1"/>
              <a:t>Θ</a:t>
            </a:r>
            <a:endParaRPr lang="ko-KR" altLang="en-US" sz="1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4FC3C4E-16AA-14B1-709F-564318593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889" y="3887408"/>
            <a:ext cx="4466632" cy="81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909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B1873A-4D5F-B459-2E95-A7F0FA8B6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75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E7E23C-C2DC-16EC-43E6-5EF88EA26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53BA49-FA84-C17A-DD39-2795B22C277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</a:t>
            </a:r>
            <a:r>
              <a:rPr kumimoji="1" lang="en" altLang="ko-KR" dirty="0"/>
              <a:t>ow-rank-parameterized update matrices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45C0DDD3-8DA6-BCA0-8B2F-59F70BE4E49C}"/>
                  </a:ext>
                </a:extLst>
              </p:cNvPr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lstStyle/>
              <a:p>
                <a:endParaRPr kumimoji="1"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" altLang="ko-KR" b="0" dirty="0"/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1" lang="en" altLang="ko-KR" b="0" dirty="0"/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1" lang="en" altLang="ko-KR" b="0" dirty="0"/>
                  <a:t>: a pretrained weight matrix</a:t>
                </a:r>
              </a:p>
              <a:p>
                <a:endParaRPr kumimoji="1" lang="en" altLang="ko-KR" b="0" dirty="0"/>
              </a:p>
              <a:p>
                <a:r>
                  <a:rPr kumimoji="1" lang="en" altLang="ko-KR" b="0" dirty="0"/>
                  <a:t>Constrain its update with a low-rank</a:t>
                </a:r>
              </a:p>
              <a:p>
                <a:r>
                  <a:rPr kumimoji="1" lang="en" altLang="ko-KR" b="0" dirty="0"/>
                  <a:t>decomposition: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" altLang="ko-KR" b="0" dirty="0"/>
                  <a:t> + </a:t>
                </a:r>
                <a:r>
                  <a:rPr kumimoji="1" lang="el-GR" altLang="ko-KR" b="0" dirty="0"/>
                  <a:t>Δ𝑊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l-GR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l-GR" altLang="ko-KR" b="0" dirty="0"/>
                  <a:t> + 𝛼𝐵𝐴</a:t>
                </a:r>
              </a:p>
              <a:p>
                <a:r>
                  <a:rPr kumimoji="1" lang="en" altLang="ko-KR" b="0" dirty="0"/>
                  <a:t>where 𝐵 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1" lang="en" altLang="ko-KR" b="0" dirty="0"/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kumimoji="1" lang="en" altLang="ko-KR" b="0" dirty="0"/>
                  <a:t>, 𝐴 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kumimoji="1" lang="en" altLang="ko-KR" b="0" dirty="0"/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1"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1" lang="en" altLang="ko-KR" b="0" dirty="0"/>
                  <a:t>, 𝑟 ≪ min(𝑑, 𝑘)</a:t>
                </a:r>
              </a:p>
              <a:p>
                <a:endParaRPr kumimoji="1" lang="en" altLang="ko-KR" b="0" dirty="0"/>
              </a:p>
              <a:p>
                <a:r>
                  <a:rPr kumimoji="1" lang="en" altLang="ko-KR" b="0" dirty="0"/>
                  <a:t>𝛼 is the tradeoff between pre-trained</a:t>
                </a:r>
              </a:p>
              <a:p>
                <a:r>
                  <a:rPr kumimoji="1" lang="en" altLang="ko-KR" b="0" dirty="0"/>
                  <a:t>“knowledge” and task-specific “knowledge”</a:t>
                </a:r>
              </a:p>
              <a:p>
                <a:endParaRPr kumimoji="1" lang="en" altLang="ko-KR" b="0" dirty="0"/>
              </a:p>
              <a:p>
                <a:r>
                  <a:rPr kumimoji="1" lang="en" altLang="ko-KR" b="0" dirty="0"/>
                  <a:t>Only A and B contain </a:t>
                </a:r>
                <a:r>
                  <a:rPr kumimoji="1" lang="en" altLang="ko-KR" dirty="0"/>
                  <a:t>trainable</a:t>
                </a:r>
                <a:r>
                  <a:rPr kumimoji="1" lang="en" altLang="ko-KR" b="0" dirty="0"/>
                  <a:t> parameters</a:t>
                </a:r>
              </a:p>
              <a:p>
                <a:endParaRPr kumimoji="1" lang="ko-KR" altLang="en-US" b="0" dirty="0"/>
              </a:p>
            </p:txBody>
          </p:sp>
        </mc:Choice>
        <mc:Fallback xmlns=""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45C0DDD3-8DA6-BCA0-8B2F-59F70BE4E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9CA90A-7904-4E94-F2C9-F9F02BA948F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0549B2-DFB7-2C85-3F40-7FB51AB83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710" y="1327300"/>
            <a:ext cx="2940427" cy="2681991"/>
          </a:xfrm>
          <a:prstGeom prst="rect">
            <a:avLst/>
          </a:prstGeom>
        </p:spPr>
      </p:pic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E16DC0EA-8D2A-954F-3295-15CCC0162000}"/>
              </a:ext>
            </a:extLst>
          </p:cNvPr>
          <p:cNvSpPr txBox="1">
            <a:spLocks/>
          </p:cNvSpPr>
          <p:nvPr/>
        </p:nvSpPr>
        <p:spPr>
          <a:xfrm>
            <a:off x="122238" y="4881704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5"/>
              </a:rPr>
              <a:t>Lora: Low-rank adaptation of large language models.</a:t>
            </a: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</a:rPr>
              <a:t> (2021)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88889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D614-D2A3-D375-13FB-20927141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13FE0A-F4D7-90DF-7E5A-098B34C928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76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F1138-5748-ABBD-1716-94CD8B126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F266B8-24F3-1761-E195-586E8786016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L</a:t>
            </a:r>
            <a:r>
              <a:rPr kumimoji="1" lang="en" altLang="ko-KR" dirty="0"/>
              <a:t>ow-rank-parameterized update matrices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A3E264-C417-1A54-0382-B70D2D65FC4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" altLang="ko-KR" b="0" dirty="0"/>
              <a:t>As one increase the number of trainable</a:t>
            </a:r>
          </a:p>
          <a:p>
            <a:r>
              <a:rPr kumimoji="1" lang="en" altLang="ko-KR" b="0" dirty="0"/>
              <a:t>parameters, training </a:t>
            </a:r>
            <a:r>
              <a:rPr kumimoji="1" lang="en" altLang="ko-KR" b="0" dirty="0" err="1"/>
              <a:t>LoRA</a:t>
            </a:r>
            <a:r>
              <a:rPr kumimoji="1" lang="en" altLang="ko-KR" b="0" dirty="0"/>
              <a:t> converges </a:t>
            </a:r>
          </a:p>
          <a:p>
            <a:r>
              <a:rPr kumimoji="1" lang="en" altLang="ko-KR" b="0" dirty="0"/>
              <a:t>to training the original model</a:t>
            </a:r>
          </a:p>
          <a:p>
            <a:endParaRPr kumimoji="1" lang="en" altLang="ko-KR" b="0" dirty="0"/>
          </a:p>
          <a:p>
            <a:r>
              <a:rPr kumimoji="1" lang="en" altLang="ko-KR" b="0" dirty="0">
                <a:solidFill>
                  <a:srgbClr val="00B0F0"/>
                </a:solidFill>
              </a:rPr>
              <a:t>No additional inference latency</a:t>
            </a:r>
            <a:r>
              <a:rPr kumimoji="1" lang="en" altLang="ko-KR" b="0" dirty="0"/>
              <a:t>: when </a:t>
            </a:r>
          </a:p>
          <a:p>
            <a:r>
              <a:rPr kumimoji="1" lang="en-US" altLang="ko-KR" b="0" dirty="0"/>
              <a:t>s</a:t>
            </a:r>
            <a:r>
              <a:rPr kumimoji="1" lang="en" altLang="ko-KR" b="0" dirty="0"/>
              <a:t>witching to a different task, recover 𝑊0 </a:t>
            </a:r>
          </a:p>
          <a:p>
            <a:r>
              <a:rPr kumimoji="1" lang="en" altLang="ko-KR" b="0" dirty="0"/>
              <a:t>by subtracting 𝐵𝐴 and adding a different 𝐵′𝐴′</a:t>
            </a:r>
          </a:p>
          <a:p>
            <a:endParaRPr kumimoji="1" lang="en" altLang="ko-KR" b="0" dirty="0"/>
          </a:p>
          <a:p>
            <a:r>
              <a:rPr kumimoji="1" lang="en" altLang="ko-KR" b="0" dirty="0"/>
              <a:t>Often </a:t>
            </a:r>
            <a:r>
              <a:rPr kumimoji="1" lang="en" altLang="ko-KR" b="0" dirty="0" err="1"/>
              <a:t>LoRA</a:t>
            </a:r>
            <a:r>
              <a:rPr kumimoji="1" lang="en" altLang="ko-KR" b="0" dirty="0"/>
              <a:t> is applied to the weight matrices</a:t>
            </a:r>
          </a:p>
          <a:p>
            <a:r>
              <a:rPr kumimoji="1" lang="en" altLang="ko-KR" b="0" dirty="0"/>
              <a:t>in the self-attention module</a:t>
            </a:r>
            <a:endParaRPr kumimoji="1" lang="ko-KR" altLang="en-US" b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9A7995A-E0AE-5222-CF3E-D02DC5EDB0E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556D16-0B66-089C-D934-F2602B4C5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48" y="1307203"/>
            <a:ext cx="2940427" cy="2681991"/>
          </a:xfrm>
          <a:prstGeom prst="rect">
            <a:avLst/>
          </a:prstGeom>
        </p:spPr>
      </p:pic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D329D7C6-F168-5D9D-8F22-BE3F5229102F}"/>
              </a:ext>
            </a:extLst>
          </p:cNvPr>
          <p:cNvSpPr txBox="1">
            <a:spLocks/>
          </p:cNvSpPr>
          <p:nvPr/>
        </p:nvSpPr>
        <p:spPr>
          <a:xfrm>
            <a:off x="214348" y="4881704"/>
            <a:ext cx="5702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  <a:hlinkClick r:id="rId4"/>
              </a:rPr>
              <a:t>Lora: Low-rank adaptation of large language models.</a:t>
            </a:r>
            <a:r>
              <a:rPr lang="en" altLang="ko-KR">
                <a:solidFill>
                  <a:srgbClr val="1A0DAB"/>
                </a:solidFill>
                <a:latin typeface="Arial" panose="020B0604020202020204" pitchFamily="34" charset="0"/>
              </a:rPr>
              <a:t> (2021)</a:t>
            </a:r>
            <a:endParaRPr lang="en" altLang="ko-KR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9304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42245D-68F9-8E8D-7876-57DA80677E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77</a:t>
            </a:fld>
            <a:endParaRPr lang="ko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5C344-41E4-3019-75FB-BB71C5B08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B98CEE-21AF-CEF9-8117-E099031BBE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" altLang="ko-KR" dirty="0"/>
              <a:t>Example implementation of </a:t>
            </a:r>
            <a:r>
              <a:rPr kumimoji="1" lang="en" altLang="ko-KR" dirty="0" err="1"/>
              <a:t>LoRA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5D22E1-5CAC-C8C7-B585-28B1C197D59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02D8EC-65DF-CBE1-E43A-F5D95CB8158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550F06-5EC4-E44B-F30C-98F211B5C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938" y="754062"/>
            <a:ext cx="5009412" cy="403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528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B195F-4FBE-CB13-98C0-E39844AC3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58667C-7211-32D1-5298-C14BD5AD9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770392-4D39-19D6-E3D3-1F0CA6450B7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kumimoji="1" lang="en-US" altLang="ko-KR" dirty="0"/>
              <a:t>Appendix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4FAE2B-DF2F-31C9-392F-56C8FBF7645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873859" y="2135779"/>
            <a:ext cx="8245500" cy="3962400"/>
          </a:xfrm>
        </p:spPr>
        <p:txBody>
          <a:bodyPr/>
          <a:lstStyle/>
          <a:p>
            <a:r>
              <a:rPr kumimoji="1" lang="en-US" altLang="ko-KR" sz="4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Appendix</a:t>
            </a:r>
            <a:endParaRPr kumimoji="1" lang="ko-KR" altLang="en-US" sz="4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B2119E-0A36-BD3C-942E-0CCF8E53734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B5D25E-70C1-65BA-D583-A3630E095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78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89338489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13862</TotalTime>
  <Words>4684</Words>
  <Application>Microsoft Macintosh PowerPoint</Application>
  <PresentationFormat>화면 슬라이드 쇼(16:9)</PresentationFormat>
  <Paragraphs>774</Paragraphs>
  <Slides>78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5" baseType="lpstr">
      <vt:lpstr>Noto Sans Symbols</vt:lpstr>
      <vt:lpstr>system-ui</vt:lpstr>
      <vt:lpstr>맑은 고딕</vt:lpstr>
      <vt:lpstr>Arial</vt:lpstr>
      <vt:lpstr>Cambria Math</vt:lpstr>
      <vt:lpstr>Courier New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유동제</cp:lastModifiedBy>
  <cp:revision>19</cp:revision>
  <dcterms:modified xsi:type="dcterms:W3CDTF">2025-06-10T02:06:41Z</dcterms:modified>
</cp:coreProperties>
</file>
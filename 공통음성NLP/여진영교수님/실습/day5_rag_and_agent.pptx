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slide" Target="slides/slide43.xml"/><Relationship Id="rId25" Type="http://schemas.openxmlformats.org/officeDocument/2006/relationships/slide" Target="slides/slide20.xml"/><Relationship Id="rId47" Type="http://schemas.openxmlformats.org/officeDocument/2006/relationships/slide" Target="slides/slide42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7e9eb9e5e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47e9eb9e5e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7e9eb9e5e_0_1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47e9eb9e5e_0_13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5be72ce2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65be72ce2f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5be72ce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5be72ce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1183837d7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51183837d7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5d4ff502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65d4ff502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5be72ce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65be72ce2f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d4ff502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65d4ff502e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5d4ff502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Use some clear separator like "###"</a:t>
            </a:r>
            <a:endParaRPr/>
          </a:p>
        </p:txBody>
      </p:sp>
      <p:sp>
        <p:nvSpPr>
          <p:cNvPr id="130" name="Google Shape;130;g365d4ff502e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5d4ff502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65d4ff502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5be72ce2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5be72ce2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5d4ff502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65d4ff502e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65d4ff502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65d4ff502e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5d4ff502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It retrieves from an external datastore (at least during inference time)</a:t>
            </a:r>
            <a:endParaRPr/>
          </a:p>
        </p:txBody>
      </p:sp>
      <p:sp>
        <p:nvSpPr>
          <p:cNvPr id="179" name="Google Shape;179;g365d4ff502e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5d4ff502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65d4ff502e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5d4ff502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65d4ff502e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5d4ff502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65d4ff502e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65d4ff502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65d4ff502e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5d4ff502e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65d4ff502e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5d4ff502e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65d4ff502e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5d4ff502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65d4ff502e_0_2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1183837d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51183837d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5be72ce2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65be72ce2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5199e6a31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5199e6a318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5be72ce2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65be72ce2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199e6a31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5199e6a31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5199e6a31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5199e6a318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5199e6a31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5199e6a318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1183837d7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51183837d7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5199e6a318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5199e6a318_0_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5199e6a31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5199e6a318_0_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65d4ff502e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65d4ff502e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1183837d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51183837d7_0_2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5199e6a31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5199e6a318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199e6a318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5199e6a318_0_3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5199e6a318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5199e6a318_0_3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199e6a31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5199e6a318_0_3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51183837d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51183837d7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5199e6a318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5199e6a318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5199e6a31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5199e6a318_0_3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5199e6a318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5199e6a318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5d4ff502e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65d4ff502e_0_2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5dafd56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65dafd56ff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779425"/>
            <a:ext cx="1087100" cy="36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 title="pngimg.com - samsung_logo_PNG8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2699" y="-332300"/>
            <a:ext cx="1181299" cy="88597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ython.langchain.com/docs/introduction/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roq.com/" TargetMode="External"/><Relationship Id="rId4" Type="http://schemas.openxmlformats.org/officeDocument/2006/relationships/hyperlink" Target="https://openrouter.ai/" TargetMode="External"/><Relationship Id="rId5" Type="http://schemas.openxmlformats.org/officeDocument/2006/relationships/hyperlink" Target="https://docs.vllm.ai/en/latest/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hyperlink" Target="https://streamlit.io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hyperlink" Target="https://www.gradio.app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samsung.com/sec/sustainability/media/pdf/Samsung_Electronics_Sustainability_Report_2024_KOR.pd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arxiv.org/abs/2309.02427" TargetMode="External"/><Relationship Id="rId4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anthropic.com/engineering/building-effective-agents" TargetMode="External"/><Relationship Id="rId4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swebench.com/" TargetMode="External"/><Relationship Id="rId4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rxiv.org/abs/2210.03629" TargetMode="External"/><Relationship Id="rId4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alfworld.github.io/" TargetMode="External"/><Relationship Id="rId4" Type="http://schemas.openxmlformats.org/officeDocument/2006/relationships/image" Target="../media/image3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125" y="4702526"/>
            <a:ext cx="9144000" cy="4569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2720">
                <a:solidFill>
                  <a:srgbClr val="073763"/>
                </a:solidFill>
              </a:rPr>
              <a:t>Retrieval Augmented Generation (RAG) &amp;</a:t>
            </a:r>
            <a:endParaRPr b="1" sz="2720">
              <a:solidFill>
                <a:srgbClr val="07376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2720">
                <a:solidFill>
                  <a:srgbClr val="073763"/>
                </a:solidFill>
              </a:rPr>
              <a:t>Agent System</a:t>
            </a:r>
            <a:endParaRPr b="1" sz="2720">
              <a:solidFill>
                <a:srgbClr val="073763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32446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/>
              <a:t>Taeyoon Kwon</a:t>
            </a:r>
            <a:endParaRPr b="1" sz="1800"/>
          </a:p>
          <a:p>
            <a:pPr indent="0" lvl="0" marL="0" rtl="0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LangAGI Lab, Yonsei University</a:t>
            </a:r>
            <a:endParaRPr b="1" sz="1400">
              <a:solidFill>
                <a:srgbClr val="666666"/>
              </a:solidFill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125" y="0"/>
            <a:ext cx="9144000" cy="4569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733925" y="106775"/>
            <a:ext cx="409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3F3F42"/>
                </a:solidFill>
              </a:rPr>
              <a:t>Contents</a:t>
            </a:r>
            <a:endParaRPr b="1" sz="2400">
              <a:solidFill>
                <a:srgbClr val="3F3F42"/>
              </a:solidFill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Build a simple AI chatbot</a:t>
            </a:r>
            <a:endParaRPr b="1" sz="1500"/>
          </a:p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Retrieval Augmented Generation (RAG)</a:t>
            </a:r>
            <a:endParaRPr b="1" sz="1500">
              <a:solidFill>
                <a:schemeClr val="dk1"/>
              </a:solidFill>
            </a:endParaRPr>
          </a:p>
          <a:p>
            <a:pPr indent="-1841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>
                <a:solidFill>
                  <a:schemeClr val="dk1"/>
                </a:solidFill>
              </a:rPr>
              <a:t>LLM Agents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733925" y="106775"/>
            <a:ext cx="4099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3F3F42"/>
                </a:solidFill>
              </a:rPr>
              <a:t>Goal of this lecture</a:t>
            </a:r>
            <a:endParaRPr b="1" sz="2400">
              <a:solidFill>
                <a:srgbClr val="3F3F42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Learn how to use langchain and to build an AI chatbot</a:t>
            </a:r>
            <a:endParaRPr b="1" sz="1500"/>
          </a:p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Understand the basics of retrieval augmented generation (RAG) and learn how to build a RAG system</a:t>
            </a:r>
            <a:endParaRPr b="1" sz="1500">
              <a:solidFill>
                <a:schemeClr val="dk1"/>
              </a:solidFill>
            </a:endParaRPr>
          </a:p>
          <a:p>
            <a:pPr indent="-1841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>
                <a:solidFill>
                  <a:schemeClr val="dk1"/>
                </a:solidFill>
              </a:rPr>
              <a:t>Understand the basic concepts of LLM agents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272150" y="2139075"/>
            <a:ext cx="8520600" cy="73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3020">
                <a:solidFill>
                  <a:srgbClr val="073763"/>
                </a:solidFill>
              </a:rPr>
              <a:t>Build a simple AI chatbot</a:t>
            </a:r>
            <a:endParaRPr b="1" sz="1620">
              <a:solidFill>
                <a:srgbClr val="073763"/>
              </a:solidFill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What is Langchain?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ko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LangChain</a:t>
            </a:r>
            <a:r>
              <a:rPr lang="ko" sz="1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 is a framework for developing applications powered by frontier AI models</a:t>
            </a:r>
            <a:endParaRPr sz="1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Char char="○"/>
            </a:pPr>
            <a:r>
              <a:rPr lang="ko" sz="11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https://python.langchain.com/docs/introduction/</a:t>
            </a: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Understanding LangChain - A Framework for LLM Applications" id="93" name="Google Shape;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4097" y="1577472"/>
            <a:ext cx="5235800" cy="31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Model inference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API inference</a:t>
            </a:r>
            <a:endParaRPr b="1"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Groq (</a:t>
            </a:r>
            <a:r>
              <a:rPr lang="ko" sz="1500" u="sng">
                <a:solidFill>
                  <a:schemeClr val="hlink"/>
                </a:solidFill>
                <a:hlinkClick r:id="rId3"/>
              </a:rPr>
              <a:t>https://groq.com/</a:t>
            </a:r>
            <a:r>
              <a:rPr lang="ko" sz="1500"/>
              <a:t>) , Openrouter (</a:t>
            </a:r>
            <a:r>
              <a:rPr lang="ko" sz="1500" u="sng">
                <a:solidFill>
                  <a:schemeClr val="hlink"/>
                </a:solidFill>
                <a:hlinkClick r:id="rId4"/>
              </a:rPr>
              <a:t>https://openrouter.ai/</a:t>
            </a:r>
            <a:r>
              <a:rPr lang="ko" sz="1500"/>
              <a:t>), etc</a:t>
            </a:r>
            <a:endParaRPr sz="1500"/>
          </a:p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Local server inference</a:t>
            </a:r>
            <a:endParaRPr b="1"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vLLM (</a:t>
            </a:r>
            <a:r>
              <a:rPr lang="ko" sz="1500" u="sng">
                <a:solidFill>
                  <a:schemeClr val="hlink"/>
                </a:solidFill>
                <a:hlinkClick r:id="rId5"/>
              </a:rPr>
              <a:t>https://docs.vllm.ai/en/latest/</a:t>
            </a:r>
            <a:r>
              <a:rPr lang="ko" sz="1500"/>
              <a:t>) </a:t>
            </a:r>
            <a:endParaRPr sz="1500"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3675" y="2819405"/>
            <a:ext cx="3735475" cy="184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125" y="2542300"/>
            <a:ext cx="4338001" cy="239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2000">
                <a:solidFill>
                  <a:srgbClr val="3F3F42"/>
                </a:solidFill>
              </a:rPr>
              <a:t>Streamlit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1301" y="1257600"/>
            <a:ext cx="6321402" cy="357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420000" y="834175"/>
            <a:ext cx="8107200" cy="2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5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https://streamlit.io/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Gradio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889" y="1200116"/>
            <a:ext cx="6934200" cy="31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420000" y="834175"/>
            <a:ext cx="8107200" cy="22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ko" sz="15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4"/>
              </a:rPr>
              <a:t>https://www.gradio.app/</a:t>
            </a:r>
            <a:endParaRPr sz="12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Tips for prompt engineering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34" name="Google Shape;13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420000" y="834175"/>
            <a:ext cx="79575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Terminologies</a:t>
            </a:r>
            <a:endParaRPr b="1" sz="1500"/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○"/>
            </a:pPr>
            <a:r>
              <a:rPr b="1" lang="ko" sz="1300"/>
              <a:t>Instruction </a:t>
            </a:r>
            <a:r>
              <a:rPr lang="ko" sz="1300"/>
              <a:t>- a specific task or instruction you want the model to perform</a:t>
            </a:r>
            <a:endParaRPr sz="1300"/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○"/>
            </a:pPr>
            <a:r>
              <a:rPr b="1" lang="ko" sz="1300"/>
              <a:t>Context </a:t>
            </a:r>
            <a:r>
              <a:rPr lang="ko" sz="1300"/>
              <a:t>- external information or additional context that can steer the model to better responses</a:t>
            </a:r>
            <a:endParaRPr sz="1300"/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○"/>
            </a:pPr>
            <a:r>
              <a:rPr b="1" lang="ko" sz="1300"/>
              <a:t>Input data</a:t>
            </a:r>
            <a:r>
              <a:rPr lang="ko" sz="1300"/>
              <a:t> - the input or question that we are interested to find a response for</a:t>
            </a:r>
            <a:endParaRPr sz="1300"/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○"/>
            </a:pPr>
            <a:r>
              <a:rPr b="1" lang="ko" sz="1300"/>
              <a:t>Output indicator </a:t>
            </a:r>
            <a:r>
              <a:rPr lang="ko" sz="1300"/>
              <a:t>- the type or format of the output</a:t>
            </a:r>
            <a:endParaRPr sz="1300"/>
          </a:p>
          <a:p>
            <a:pPr indent="-1841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ko" sz="1500"/>
              <a:t>Use some clear </a:t>
            </a:r>
            <a:r>
              <a:rPr lang="ko" sz="1500"/>
              <a:t>separator</a:t>
            </a:r>
            <a:r>
              <a:rPr lang="ko" sz="1500"/>
              <a:t> like “###” or “[]”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1841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ko" sz="1500"/>
              <a:t>It’s often better to be specific and direct</a:t>
            </a:r>
            <a:endParaRPr sz="1500"/>
          </a:p>
          <a:p>
            <a:pPr indent="-1841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ko" sz="1500">
                <a:highlight>
                  <a:srgbClr val="FFD966"/>
                </a:highlight>
              </a:rPr>
              <a:t>Avoid saying what </a:t>
            </a:r>
            <a:r>
              <a:rPr b="1" lang="ko" sz="1500">
                <a:highlight>
                  <a:srgbClr val="FFD966"/>
                </a:highlight>
              </a:rPr>
              <a:t>not</a:t>
            </a:r>
            <a:r>
              <a:rPr lang="ko" sz="1500">
                <a:highlight>
                  <a:srgbClr val="FFD966"/>
                </a:highlight>
              </a:rPr>
              <a:t> to do but say what to do instead</a:t>
            </a:r>
            <a:endParaRPr sz="1500">
              <a:highlight>
                <a:srgbClr val="FFD966"/>
              </a:highlight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127" y="2684600"/>
            <a:ext cx="2523550" cy="6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420000" y="834175"/>
            <a:ext cx="8107200" cy="3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Chatbot with Visualization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Tutor Chatbot</a:t>
            </a:r>
            <a:endParaRPr>
              <a:solidFill>
                <a:schemeClr val="dk1"/>
              </a:solidFill>
            </a:endParaRPr>
          </a:p>
          <a:p>
            <a:pPr indent="-3365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문법 교정을 잡아주는 AI Tutor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lgun Gothic"/>
              <a:buChar char="■"/>
            </a:pPr>
            <a:r>
              <a:rPr b="1"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Scenario</a:t>
            </a: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유저는 틀린 영어 문장을 input으로 넣음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2" marL="1371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algun Gothic"/>
              <a:buChar char="■"/>
            </a:pPr>
            <a:r>
              <a:rPr b="1"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Requirements</a:t>
            </a: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AI Tutor는 (1) 수정된 문과 (2) paraphrase 한 문장 두개를 유저에게 제공해야함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Twenty Questions Game AI Chatbot</a:t>
            </a:r>
            <a:endParaRPr>
              <a:solidFill>
                <a:schemeClr val="dk1"/>
              </a:solidFill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스무고개 게임을 하는 AI Chatbot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b="1"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Scenario</a:t>
            </a: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AI가 예상하는 동물을 유저가 맞추는 게임을 진행하는 Chatbot, 유저의 질문에 따라 예, 아니요로 답해야 함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</a:pPr>
            <a:r>
              <a:rPr b="1"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Requirements</a:t>
            </a:r>
            <a:r>
              <a:rPr lang="ko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유저가 답이 뭔지 물어도 (20번이 되도) 절대 답을 알려주면 안됨</a:t>
            </a:r>
            <a:endParaRPr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Hands On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1. Build a simple AI chatbot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ctrTitle"/>
          </p:nvPr>
        </p:nvSpPr>
        <p:spPr>
          <a:xfrm>
            <a:off x="272150" y="2139075"/>
            <a:ext cx="8520600" cy="73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3020">
                <a:solidFill>
                  <a:srgbClr val="073763"/>
                </a:solidFill>
              </a:rPr>
              <a:t>Retrieval Augmented Generation (RAG)</a:t>
            </a:r>
            <a:endParaRPr b="1" sz="1620">
              <a:solidFill>
                <a:srgbClr val="073763"/>
              </a:solidFill>
            </a:endParaRPr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/>
        </p:nvSpPr>
        <p:spPr>
          <a:xfrm>
            <a:off x="420000" y="834175"/>
            <a:ext cx="8107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Information Retrieval + Language Models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ko" sz="1600">
                <a:solidFill>
                  <a:schemeClr val="dk1"/>
                </a:solidFill>
              </a:rPr>
              <a:t>Retrieve information from external datastore (at least during inference time)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Retrieval-based language models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63" name="Google Shape;163;p24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25" y="2382551"/>
            <a:ext cx="3736550" cy="19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575" y="2470575"/>
            <a:ext cx="4729123" cy="176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Retrieval-based language models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73" name="Google Shape;1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88" y="1515825"/>
            <a:ext cx="7814226" cy="248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Why r</a:t>
            </a:r>
            <a:r>
              <a:rPr b="1" lang="ko" sz="2000">
                <a:solidFill>
                  <a:srgbClr val="3F3F42"/>
                </a:solidFill>
              </a:rPr>
              <a:t>etrieval-based language models?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83" name="Google Shape;18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LLMs cannot memorize all (long-tail) knowledge in their parameters</a:t>
            </a:r>
            <a:endParaRPr b="1" sz="1500"/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797" y="1497549"/>
            <a:ext cx="4248401" cy="30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Why retrieval-based language models?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194" name="Google Shape;19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>
                <a:solidFill>
                  <a:schemeClr val="dk1"/>
                </a:solidFill>
              </a:rPr>
              <a:t>LLMs’ knowledge is easily outdated and hard to update</a:t>
            </a:r>
            <a:endParaRPr b="1" sz="1500"/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198" name="Google Shape;19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715" y="1240800"/>
            <a:ext cx="3522076" cy="373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Why retrieval-based language models?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06" name="Google Shape;206;p28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>
                <a:solidFill>
                  <a:schemeClr val="dk1"/>
                </a:solidFill>
              </a:rPr>
              <a:t>Private issues</a:t>
            </a:r>
            <a:endParaRPr b="1" sz="1500"/>
          </a:p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225" y="2180430"/>
            <a:ext cx="4025923" cy="22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050" y="1517085"/>
            <a:ext cx="5070276" cy="18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Retriever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18" name="Google Shape;218;p29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Sparse retriever </a:t>
            </a:r>
            <a:endParaRPr b="1"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TF-IDF, BM-25</a:t>
            </a:r>
            <a:endParaRPr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Basis - Lexical (word-level matching)</a:t>
            </a:r>
            <a:endParaRPr sz="1500"/>
          </a:p>
          <a:p>
            <a:pPr indent="-1714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Dense retriever (embedding based retriever)</a:t>
            </a:r>
            <a:endParaRPr b="1"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DPR, contriever, openai-embeddings, etc</a:t>
            </a:r>
            <a:endParaRPr sz="1500"/>
          </a:p>
          <a:p>
            <a:pPr indent="-1841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○"/>
            </a:pPr>
            <a:r>
              <a:rPr lang="ko" sz="1500"/>
              <a:t>Basis - Semantic similarity (mean-based matching)</a:t>
            </a:r>
            <a:endParaRPr sz="1500"/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525" y="2751650"/>
            <a:ext cx="4480625" cy="1774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600" y="2848763"/>
            <a:ext cx="4151176" cy="15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Vector store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232" name="Google Shape;232;p30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Database optimized for storing and searching high-dimensional embeddings</a:t>
            </a:r>
            <a:endParaRPr b="1" sz="1500"/>
          </a:p>
          <a:p>
            <a:pPr indent="-17145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ko" sz="1500"/>
              <a:t>Chroma, FAISS</a:t>
            </a:r>
            <a:endParaRPr b="1" sz="1500"/>
          </a:p>
        </p:txBody>
      </p:sp>
      <p:pic>
        <p:nvPicPr>
          <p:cNvPr descr="Faiss Vector Database Tutorial Step by Step Guide - 360DigiTMG" id="233" name="Google Shape;233;p30"/>
          <p:cNvPicPr preferRelativeResize="0"/>
          <p:nvPr/>
        </p:nvPicPr>
        <p:blipFill rotWithShape="1">
          <a:blip r:embed="rId3">
            <a:alphaModFix/>
          </a:blip>
          <a:srcRect b="8810" l="0" r="0" t="19091"/>
          <a:stretch/>
        </p:blipFill>
        <p:spPr>
          <a:xfrm>
            <a:off x="1457865" y="2290575"/>
            <a:ext cx="6228276" cy="2349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Retrieval Augmented Generation (RAG)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250" y="1305788"/>
            <a:ext cx="7387500" cy="29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Retrieval Augmented Generation (RAG)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50" name="Google Shape;25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51" name="Google Shape;251;p32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0599" y="1290923"/>
            <a:ext cx="6482799" cy="31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4349200" y="2453875"/>
            <a:ext cx="1775100" cy="1140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Build a RAG system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61" name="Google Shape;26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3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2. Retrieval Augmented Generation (RAG)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264" name="Google Shape;264;p33"/>
          <p:cNvSpPr txBox="1"/>
          <p:nvPr/>
        </p:nvSpPr>
        <p:spPr>
          <a:xfrm>
            <a:off x="420000" y="834175"/>
            <a:ext cx="8107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Basic RAG application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Build a Samsung Chatbot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lgun Gothic"/>
              <a:buChar char="○"/>
            </a:pPr>
            <a:r>
              <a:rPr lang="ko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2024 삼성 지속가능경영보고서 기반의 chatbot</a:t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" sz="11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https://www.samsung.com/sec/sustainability/media/pdf/Samsung_Electronics_Sustainability_Report_2024_KOR.pdf</a:t>
            </a:r>
            <a: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br>
              <a:rPr lang="ko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Build a Debate workflow system</a:t>
            </a:r>
            <a:endParaRPr b="1"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1 - </a:t>
            </a:r>
            <a:r>
              <a:rPr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주제에 대해 찬성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○"/>
            </a:pPr>
            <a:r>
              <a:rPr b="1"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Agent 2</a:t>
            </a:r>
            <a:r>
              <a:rPr lang="ko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특정 주제에 대해 반대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ctrTitle"/>
          </p:nvPr>
        </p:nvSpPr>
        <p:spPr>
          <a:xfrm>
            <a:off x="272150" y="2139075"/>
            <a:ext cx="8520600" cy="73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" sz="3020">
                <a:solidFill>
                  <a:srgbClr val="073763"/>
                </a:solidFill>
              </a:rPr>
              <a:t>LLM Agents</a:t>
            </a:r>
            <a:endParaRPr b="1" sz="1620">
              <a:solidFill>
                <a:srgbClr val="073763"/>
              </a:solidFill>
            </a:endParaRPr>
          </a:p>
        </p:txBody>
      </p:sp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00" y="1702674"/>
            <a:ext cx="4745748" cy="21064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  <p:sp>
        <p:nvSpPr>
          <p:cNvPr id="277" name="Google Shape;277;p35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AI Agents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279" name="Google Shape;27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80" name="Google Shape;280;p35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Recently AI/LLM agents are getting a lot of attention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0176" y="1352540"/>
            <a:ext cx="3553950" cy="3447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7750" y="3595261"/>
            <a:ext cx="3295748" cy="154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/>
        </p:nvSpPr>
        <p:spPr>
          <a:xfrm>
            <a:off x="733925" y="259175"/>
            <a:ext cx="409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What is the Agent?</a:t>
            </a:r>
            <a:endParaRPr b="1" sz="1500">
              <a:solidFill>
                <a:srgbClr val="000000"/>
              </a:solidFill>
            </a:endParaRPr>
          </a:p>
          <a:p>
            <a:pPr indent="-171450" lvl="1" marL="520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ko" sz="1300">
                <a:solidFill>
                  <a:schemeClr val="dk1"/>
                </a:solidFill>
              </a:rPr>
              <a:t>Anything that can be viewed as </a:t>
            </a:r>
            <a:r>
              <a:rPr b="1" lang="ko" sz="1300">
                <a:solidFill>
                  <a:schemeClr val="dk1"/>
                </a:solidFill>
              </a:rPr>
              <a:t>perceiving</a:t>
            </a:r>
            <a:r>
              <a:rPr lang="ko" sz="1300">
                <a:solidFill>
                  <a:schemeClr val="dk1"/>
                </a:solidFill>
              </a:rPr>
              <a:t> its environment through sensors and </a:t>
            </a:r>
            <a:r>
              <a:rPr b="1" lang="ko" sz="1300">
                <a:solidFill>
                  <a:schemeClr val="dk1"/>
                </a:solidFill>
              </a:rPr>
              <a:t>acting upon</a:t>
            </a:r>
            <a:r>
              <a:rPr lang="ko" sz="1300">
                <a:solidFill>
                  <a:schemeClr val="dk1"/>
                </a:solidFill>
              </a:rPr>
              <a:t> that </a:t>
            </a:r>
            <a:r>
              <a:rPr b="1" lang="ko" sz="1300">
                <a:solidFill>
                  <a:schemeClr val="dk1"/>
                </a:solidFill>
              </a:rPr>
              <a:t>environment</a:t>
            </a:r>
            <a:r>
              <a:rPr lang="ko" sz="1300">
                <a:solidFill>
                  <a:schemeClr val="dk1"/>
                </a:solidFill>
              </a:rPr>
              <a:t> through actuators </a:t>
            </a:r>
            <a:r>
              <a:rPr lang="ko" sz="1000">
                <a:solidFill>
                  <a:srgbClr val="999999"/>
                </a:solidFill>
              </a:rPr>
              <a:t>– Russell &amp; Norvig, </a:t>
            </a:r>
            <a:r>
              <a:rPr i="1" lang="ko" sz="1000">
                <a:solidFill>
                  <a:srgbClr val="999999"/>
                </a:solidFill>
              </a:rPr>
              <a:t>AI: A Modern Approach (2020)</a:t>
            </a:r>
            <a:endParaRPr i="1" sz="1000">
              <a:solidFill>
                <a:srgbClr val="999999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164" y="2018925"/>
            <a:ext cx="4035676" cy="2601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6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/>
        </p:nvSpPr>
        <p:spPr>
          <a:xfrm>
            <a:off x="733925" y="259175"/>
            <a:ext cx="409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00" name="Google Shape;300;p37"/>
          <p:cNvSpPr txBox="1"/>
          <p:nvPr/>
        </p:nvSpPr>
        <p:spPr>
          <a:xfrm>
            <a:off x="420000" y="834175"/>
            <a:ext cx="79575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Reinforcement Learning - </a:t>
            </a:r>
            <a:r>
              <a:rPr b="1" lang="ko" sz="1500">
                <a:solidFill>
                  <a:schemeClr val="accent1"/>
                </a:solidFill>
              </a:rPr>
              <a:t>Science of Decision Making</a:t>
            </a:r>
            <a:endParaRPr i="1" sz="1000">
              <a:solidFill>
                <a:srgbClr val="999999"/>
              </a:solidFill>
            </a:endParaRPr>
          </a:p>
        </p:txBody>
      </p:sp>
      <p:sp>
        <p:nvSpPr>
          <p:cNvPr id="301" name="Google Shape;301;p37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62" y="1393700"/>
            <a:ext cx="3501327" cy="343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574" y="1588437"/>
            <a:ext cx="2622901" cy="304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/>
        </p:nvSpPr>
        <p:spPr>
          <a:xfrm>
            <a:off x="733925" y="259175"/>
            <a:ext cx="409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LLM</a:t>
            </a:r>
            <a:r>
              <a:rPr b="1" lang="ko" sz="2000">
                <a:solidFill>
                  <a:srgbClr val="3F3F42"/>
                </a:solidFill>
              </a:rPr>
              <a:t> Agent (or Language Agent)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10" name="Google Shape;31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420000" y="834175"/>
            <a:ext cx="8380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What is the LLM Agent?</a:t>
            </a:r>
            <a:endParaRPr b="1" sz="1500">
              <a:solidFill>
                <a:srgbClr val="000000"/>
              </a:solidFill>
            </a:endParaRPr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ko" sz="1300">
                <a:solidFill>
                  <a:schemeClr val="dk1"/>
                </a:solidFill>
                <a:highlight>
                  <a:srgbClr val="C9DAF8"/>
                </a:highlight>
              </a:rPr>
              <a:t>LLM-first view</a:t>
            </a:r>
            <a:r>
              <a:rPr lang="ko" sz="1300">
                <a:solidFill>
                  <a:schemeClr val="dk1"/>
                </a:solidFill>
              </a:rPr>
              <a:t>: make LLM into an agent</a:t>
            </a:r>
            <a:endParaRPr sz="1300">
              <a:solidFill>
                <a:schemeClr val="dk1"/>
              </a:solidFill>
            </a:endParaRPr>
          </a:p>
          <a:p>
            <a:pPr indent="-152400" lvl="2" marL="863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■"/>
            </a:pPr>
            <a:r>
              <a:rPr lang="ko" sz="1000">
                <a:solidFill>
                  <a:schemeClr val="dk1"/>
                </a:solidFill>
              </a:rPr>
              <a:t>e.g., RAG system -&gt; RAG agent, Counselor agent</a:t>
            </a:r>
            <a:endParaRPr sz="1000">
              <a:solidFill>
                <a:schemeClr val="dk1"/>
              </a:solidFill>
            </a:endParaRPr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○"/>
            </a:pPr>
            <a:r>
              <a:rPr b="1" lang="ko" sz="1300">
                <a:solidFill>
                  <a:schemeClr val="dk1"/>
                </a:solidFill>
                <a:highlight>
                  <a:srgbClr val="C9DAF8"/>
                </a:highlight>
              </a:rPr>
              <a:t>Agent-first view</a:t>
            </a:r>
            <a:r>
              <a:rPr lang="ko" sz="1300">
                <a:solidFill>
                  <a:schemeClr val="dk1"/>
                </a:solidFill>
              </a:rPr>
              <a:t>: integrate LLMs into AI agents so they can use language for </a:t>
            </a:r>
            <a:r>
              <a:rPr lang="ko" sz="1300" u="sng">
                <a:solidFill>
                  <a:schemeClr val="dk1"/>
                </a:solidFill>
              </a:rPr>
              <a:t>reasoning</a:t>
            </a:r>
            <a:r>
              <a:rPr lang="ko" sz="1300">
                <a:solidFill>
                  <a:schemeClr val="dk1"/>
                </a:solidFill>
              </a:rPr>
              <a:t> and </a:t>
            </a:r>
            <a:r>
              <a:rPr lang="ko" sz="1300" u="sng">
                <a:solidFill>
                  <a:schemeClr val="dk1"/>
                </a:solidFill>
              </a:rPr>
              <a:t>communication</a:t>
            </a:r>
            <a:endParaRPr sz="1300" u="sng">
              <a:solidFill>
                <a:schemeClr val="dk1"/>
              </a:solidFill>
            </a:endParaRPr>
          </a:p>
          <a:p>
            <a:pPr indent="-158750" lvl="2" marL="863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■"/>
            </a:pPr>
            <a:r>
              <a:rPr lang="ko" sz="1100">
                <a:solidFill>
                  <a:schemeClr val="dk1"/>
                </a:solidFill>
              </a:rPr>
              <a:t>e.g., Embodied agent, GUI agent, Web agent, Code agent, etc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78975" y="4881625"/>
            <a:ext cx="2372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900">
                <a:solidFill>
                  <a:srgbClr val="999999"/>
                </a:solidFill>
              </a:rPr>
              <a:t>EMNLP 2024 Language Agent Tutorial</a:t>
            </a:r>
            <a:endParaRPr i="1" sz="900">
              <a:solidFill>
                <a:srgbClr val="999999"/>
              </a:solidFill>
            </a:endParaRPr>
          </a:p>
        </p:txBody>
      </p:sp>
      <p:sp>
        <p:nvSpPr>
          <p:cNvPr id="314" name="Google Shape;314;p38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/>
        </p:nvSpPr>
        <p:spPr>
          <a:xfrm>
            <a:off x="733925" y="259175"/>
            <a:ext cx="4099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LLM</a:t>
            </a:r>
            <a:r>
              <a:rPr b="1" lang="ko" sz="2000">
                <a:solidFill>
                  <a:srgbClr val="3F3F42"/>
                </a:solidFill>
              </a:rPr>
              <a:t> 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20" name="Google Shape;32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420000" y="834175"/>
            <a:ext cx="8380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ko" sz="1500"/>
              <a:t>Key concepts for LLM agents</a:t>
            </a:r>
            <a:endParaRPr b="1" sz="1500"/>
          </a:p>
          <a:p>
            <a:pPr indent="-171450" lvl="1" marL="520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Noto Sans Symbols"/>
              <a:buChar char="○"/>
            </a:pPr>
            <a:r>
              <a:rPr lang="ko" sz="1300"/>
              <a:t>Reasoning, Memory, Planning</a:t>
            </a:r>
            <a:endParaRPr sz="1300"/>
          </a:p>
        </p:txBody>
      </p:sp>
      <p:sp>
        <p:nvSpPr>
          <p:cNvPr id="322" name="Google Shape;322;p39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9"/>
          <p:cNvSpPr txBox="1"/>
          <p:nvPr/>
        </p:nvSpPr>
        <p:spPr>
          <a:xfrm>
            <a:off x="78975" y="4881625"/>
            <a:ext cx="30936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900">
                <a:solidFill>
                  <a:srgbClr val="999999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Cognitive Architectures for Language Agents</a:t>
            </a:r>
            <a:r>
              <a:rPr i="1" lang="ko" sz="900">
                <a:solidFill>
                  <a:srgbClr val="999999"/>
                </a:solidFill>
              </a:rPr>
              <a:t> (2023)</a:t>
            </a:r>
            <a:endParaRPr i="1" sz="900">
              <a:solidFill>
                <a:srgbClr val="999999"/>
              </a:solidFill>
            </a:endParaRPr>
          </a:p>
        </p:txBody>
      </p:sp>
      <p:pic>
        <p:nvPicPr>
          <p:cNvPr id="324" name="Google Shape;32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3050" y="1426675"/>
            <a:ext cx="4957899" cy="29505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 Design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32" name="Google Shape;33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33" name="Google Shape;333;p40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How can we design an agent?</a:t>
            </a:r>
            <a:endParaRPr b="1" sz="1500"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 u="sng">
                <a:solidFill>
                  <a:schemeClr val="hlink"/>
                </a:solidFill>
                <a:hlinkClick r:id="rId3"/>
              </a:rPr>
              <a:t>https://www.anthropic.com/engineering/building-effective-agents</a:t>
            </a:r>
            <a:endParaRPr sz="1100">
              <a:solidFill>
                <a:schemeClr val="accent1"/>
              </a:solidFill>
            </a:endParaRPr>
          </a:p>
        </p:txBody>
      </p:sp>
      <p:sp>
        <p:nvSpPr>
          <p:cNvPr id="334" name="Google Shape;334;p40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7838" y="2415362"/>
            <a:ext cx="5888325" cy="204728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0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vs 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42" name="Google Shape;342;p41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43" name="Google Shape;3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44" name="Google Shape;344;p41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1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Agentic systems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ko" sz="1500"/>
              <a:t>Workflows: </a:t>
            </a:r>
            <a:r>
              <a:rPr lang="ko" sz="1500"/>
              <a:t>systems where LLMs and tools are orchestrated through </a:t>
            </a:r>
            <a:r>
              <a:rPr b="1" lang="ko" sz="1500" u="sng">
                <a:solidFill>
                  <a:schemeClr val="accent1"/>
                </a:solidFill>
              </a:rPr>
              <a:t>predefined code paths</a:t>
            </a:r>
            <a:endParaRPr b="1" sz="1500" u="sng">
              <a:solidFill>
                <a:schemeClr val="accent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ko" sz="1500">
                <a:solidFill>
                  <a:schemeClr val="dk1"/>
                </a:solidFill>
              </a:rPr>
              <a:t>Agents: </a:t>
            </a:r>
            <a:r>
              <a:rPr lang="ko" sz="1500">
                <a:solidFill>
                  <a:schemeClr val="dk1"/>
                </a:solidFill>
              </a:rPr>
              <a:t>systems where </a:t>
            </a:r>
            <a:r>
              <a:rPr b="1" lang="ko" sz="1500">
                <a:solidFill>
                  <a:schemeClr val="accent1"/>
                </a:solidFill>
              </a:rPr>
              <a:t>LLMs dynamically direct their own processes</a:t>
            </a:r>
            <a:r>
              <a:rPr lang="ko" sz="1500">
                <a:solidFill>
                  <a:schemeClr val="dk1"/>
                </a:solidFill>
              </a:rPr>
              <a:t> and tool usage, maintaining control over how they accomplish tasks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46" name="Google Shape;346;p41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vs 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53" name="Google Shape;35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54" name="Google Shape;354;p42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2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Agentic systems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b="1" lang="ko" sz="1500"/>
              <a:t>Workflows: </a:t>
            </a:r>
            <a:r>
              <a:rPr lang="ko" sz="1500"/>
              <a:t>systems where LLMs and tools are orchestrated through </a:t>
            </a:r>
            <a:r>
              <a:rPr b="1" lang="ko" sz="1500" u="sng">
                <a:solidFill>
                  <a:schemeClr val="accent1"/>
                </a:solidFill>
              </a:rPr>
              <a:t>predefined code paths</a:t>
            </a:r>
            <a:endParaRPr b="1" sz="1500" u="sng">
              <a:solidFill>
                <a:schemeClr val="accent1"/>
              </a:solidFill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ko" sz="1300">
                <a:solidFill>
                  <a:schemeClr val="dk1"/>
                </a:solidFill>
              </a:rPr>
              <a:t>Predictability and consistency for well-defined tasks</a:t>
            </a:r>
            <a:endParaRPr sz="13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ko" sz="1500">
                <a:solidFill>
                  <a:schemeClr val="dk1"/>
                </a:solidFill>
              </a:rPr>
              <a:t>Agents: </a:t>
            </a:r>
            <a:r>
              <a:rPr lang="ko" sz="1500">
                <a:solidFill>
                  <a:schemeClr val="dk1"/>
                </a:solidFill>
              </a:rPr>
              <a:t>systems where </a:t>
            </a:r>
            <a:r>
              <a:rPr b="1" lang="ko" sz="1500">
                <a:solidFill>
                  <a:schemeClr val="accent1"/>
                </a:solidFill>
              </a:rPr>
              <a:t>LLMs dynamically direct their own processes</a:t>
            </a:r>
            <a:r>
              <a:rPr lang="ko" sz="1500">
                <a:solidFill>
                  <a:schemeClr val="dk1"/>
                </a:solidFill>
              </a:rPr>
              <a:t> and tool usage, maintaining control over how they accomplish tasks</a:t>
            </a:r>
            <a:endParaRPr sz="1500">
              <a:solidFill>
                <a:schemeClr val="dk1"/>
              </a:solidFill>
            </a:endParaRPr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ko" sz="1300">
                <a:solidFill>
                  <a:schemeClr val="dk1"/>
                </a:solidFill>
              </a:rPr>
              <a:t>Flexibility and model-driven </a:t>
            </a:r>
            <a:r>
              <a:rPr b="1" lang="ko" sz="1300">
                <a:solidFill>
                  <a:schemeClr val="dk1"/>
                </a:solidFill>
              </a:rPr>
              <a:t>decision-making</a:t>
            </a:r>
            <a:r>
              <a:rPr lang="ko" sz="1300">
                <a:solidFill>
                  <a:schemeClr val="dk1"/>
                </a:solidFill>
              </a:rPr>
              <a:t> are needed at scale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>
                <a:solidFill>
                  <a:schemeClr val="dk1"/>
                </a:solidFill>
              </a:rPr>
              <a:t>Note</a:t>
            </a:r>
            <a:endParaRPr b="1" sz="15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For many applications, optimizing single LLM with retrieval and in-context examples is usually enough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3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 Design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63" name="Google Shape;36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64" name="Google Shape;364;p43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Building block: </a:t>
            </a:r>
            <a:r>
              <a:rPr b="1" lang="ko" sz="1500">
                <a:solidFill>
                  <a:schemeClr val="accent1"/>
                </a:solidFill>
              </a:rPr>
              <a:t>The augmented LLM</a:t>
            </a:r>
            <a:endParaRPr b="1" sz="1500">
              <a:solidFill>
                <a:schemeClr val="accent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one way to implement this: </a:t>
            </a:r>
            <a:r>
              <a:rPr b="1" lang="ko" sz="1300">
                <a:solidFill>
                  <a:schemeClr val="dk1"/>
                </a:solidFill>
              </a:rPr>
              <a:t>Model Context Protocol (MCP)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365" name="Google Shape;365;p43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338" y="2375550"/>
            <a:ext cx="4043327" cy="226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3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4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 Design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73" name="Google Shape;373;p44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74" name="Google Shape;3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75" name="Google Shape;375;p44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Tools</a:t>
            </a:r>
            <a:endParaRPr b="1" sz="1500">
              <a:solidFill>
                <a:schemeClr val="accent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An agent can choose its actions (response) based on the tools it has access to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ko" sz="1300">
                <a:solidFill>
                  <a:schemeClr val="dk1"/>
                </a:solidFill>
              </a:rPr>
              <a:t>It is important to define the available tools that the agent can utilize for the target task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4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378" name="Google Shape;37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670" y="1980926"/>
            <a:ext cx="2487943" cy="289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75" y="2354004"/>
            <a:ext cx="5128049" cy="187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5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85" name="Google Shape;385;p45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86" name="Google Shape;38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87" name="Google Shape;387;p45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Workflow 1: Prompt Chaining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Decomposes a task into sequence of steps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tasks that can be easily and clearly decomposed into fixed subtasks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e.g., writing an outline of a document, checklist </a:t>
            </a:r>
            <a:endParaRPr sz="1300"/>
          </a:p>
        </p:txBody>
      </p:sp>
      <p:sp>
        <p:nvSpPr>
          <p:cNvPr id="388" name="Google Shape;388;p45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088" y="2648450"/>
            <a:ext cx="6945824" cy="19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5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396" name="Google Shape;396;p46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398" name="Google Shape;398;p46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Workflow 2: Routing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Classifies an input and directs it to a specialized follow-up task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This allows building more specialized prompts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Customer service queries</a:t>
            </a:r>
            <a:endParaRPr sz="1300"/>
          </a:p>
        </p:txBody>
      </p:sp>
      <p:sp>
        <p:nvSpPr>
          <p:cNvPr id="399" name="Google Shape;399;p46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724" y="2642975"/>
            <a:ext cx="5326550" cy="19772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6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07" name="Google Shape;407;p47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08" name="Google Shape;408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09" name="Google Shape;409;p47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Workflow 3: Parallelization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Work simultaneously on a task with output aggregation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 u="sng"/>
              <a:t>Sectioning</a:t>
            </a:r>
            <a:r>
              <a:rPr lang="ko" sz="1300"/>
              <a:t>: breaking a task into independent subtasks run in parallel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 u="sng"/>
              <a:t>Voting</a:t>
            </a:r>
            <a:r>
              <a:rPr lang="ko" sz="1300"/>
              <a:t>: Running the same task multiple times to get diverse outputs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Sectioning -&gt; when divided subtasks can be parallelized for speed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Voting -&gt; complex tasks with multiple consideration</a:t>
            </a:r>
            <a:endParaRPr sz="1300"/>
          </a:p>
        </p:txBody>
      </p:sp>
      <p:sp>
        <p:nvSpPr>
          <p:cNvPr id="410" name="Google Shape;410;p47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324" y="3054150"/>
            <a:ext cx="5235349" cy="180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47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8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18" name="Google Shape;418;p48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19" name="Google Shape;41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20" name="Google Shape;420;p48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Workflow 4: Orchestrator-workers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Central LLM dynamically breaks down tasks, delegates them to worker LLMs, and synthesizes their results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complex tasks where you can’t predict the subtasks needed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Difference between ‘parallelization’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b="1" lang="ko" sz="1300"/>
              <a:t>Flexibility</a:t>
            </a:r>
            <a:endParaRPr b="1" sz="1300"/>
          </a:p>
        </p:txBody>
      </p:sp>
      <p:sp>
        <p:nvSpPr>
          <p:cNvPr id="421" name="Google Shape;421;p48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8000" y="3236173"/>
            <a:ext cx="5588002" cy="16274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8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9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Workflow 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29" name="Google Shape;429;p49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30" name="Google Shape;43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31" name="Google Shape;431;p49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Workflow 5: Evaluator-optimizer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One LLM call generates a response while another provides evaluation and feedback in a loop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when we have clear </a:t>
            </a:r>
            <a:r>
              <a:rPr b="1" lang="ko" sz="1300"/>
              <a:t>evaluation criteria</a:t>
            </a:r>
            <a:endParaRPr b="1"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when iterative refinement provides measurable values</a:t>
            </a:r>
            <a:endParaRPr sz="1300"/>
          </a:p>
        </p:txBody>
      </p:sp>
      <p:sp>
        <p:nvSpPr>
          <p:cNvPr id="432" name="Google Shape;432;p49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825" y="2877378"/>
            <a:ext cx="5412351" cy="18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9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40" name="Google Shape;440;p50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41" name="Google Shape;44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2" name="Google Shape;442;p50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Autonomous agent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Key capabilities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Understanding complex inputs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Engaging in reasoning and planning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Using tools reliably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Recover from errors</a:t>
            </a:r>
            <a:endParaRPr sz="1300"/>
          </a:p>
        </p:txBody>
      </p:sp>
      <p:sp>
        <p:nvSpPr>
          <p:cNvPr id="443" name="Google Shape;443;p50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4" name="Google Shape;4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725" y="2701351"/>
            <a:ext cx="4358526" cy="20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50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51" name="Google Shape;451;p51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52" name="Google Shape;45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53" name="Google Shape;453;p51"/>
          <p:cNvSpPr txBox="1"/>
          <p:nvPr/>
        </p:nvSpPr>
        <p:spPr>
          <a:xfrm>
            <a:off x="420000" y="834175"/>
            <a:ext cx="81072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Autonomous agent</a:t>
            </a:r>
            <a:endParaRPr b="1" sz="15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It’s important for the agents to gain “</a:t>
            </a:r>
            <a:r>
              <a:rPr b="1" lang="ko" sz="1300" u="sng"/>
              <a:t>ground truth</a:t>
            </a:r>
            <a:r>
              <a:rPr lang="ko" sz="1300"/>
              <a:t>” from the environment at each step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ko" sz="1300"/>
              <a:t>When to use?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For open-ended problems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ko" sz="1300"/>
              <a:t>When you have trust in LLMs’ decision-making ability</a:t>
            </a:r>
            <a:endParaRPr sz="1300"/>
          </a:p>
        </p:txBody>
      </p:sp>
      <p:sp>
        <p:nvSpPr>
          <p:cNvPr id="454" name="Google Shape;454;p51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725" y="2701351"/>
            <a:ext cx="4358526" cy="2099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1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2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Agent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62" name="Google Shape;462;p52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63" name="Google Shape;46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64" name="Google Shape;464;p52"/>
          <p:cNvSpPr txBox="1"/>
          <p:nvPr/>
        </p:nvSpPr>
        <p:spPr>
          <a:xfrm>
            <a:off x="420000" y="834175"/>
            <a:ext cx="39588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Coding agent high-level flow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ko" sz="1500"/>
              <a:t>SWE-bench (</a:t>
            </a:r>
            <a:r>
              <a:rPr lang="ko" sz="1500" u="sng">
                <a:solidFill>
                  <a:schemeClr val="hlink"/>
                </a:solidFill>
                <a:hlinkClick r:id="rId3"/>
              </a:rPr>
              <a:t>https://www.swebench.com/</a:t>
            </a:r>
            <a:r>
              <a:rPr lang="ko" sz="1500"/>
              <a:t>)</a:t>
            </a:r>
            <a:endParaRPr sz="1500"/>
          </a:p>
        </p:txBody>
      </p:sp>
      <p:sp>
        <p:nvSpPr>
          <p:cNvPr id="465" name="Google Shape;465;p52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5250" y="337425"/>
            <a:ext cx="4355826" cy="42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2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ReACT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73" name="Google Shape;473;p53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74" name="Google Shape;47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75" name="Google Shape;475;p53"/>
          <p:cNvSpPr txBox="1"/>
          <p:nvPr/>
        </p:nvSpPr>
        <p:spPr>
          <a:xfrm>
            <a:off x="420000" y="834175"/>
            <a:ext cx="82416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ReACT: Reason + Act</a:t>
            </a:r>
            <a:endParaRPr b="1"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(</a:t>
            </a:r>
            <a:r>
              <a:rPr lang="ko" sz="1500" u="sng">
                <a:solidFill>
                  <a:schemeClr val="hlink"/>
                </a:solidFill>
                <a:hlinkClick r:id="rId3"/>
              </a:rPr>
              <a:t>https://arxiv.org/abs/2210.03629</a:t>
            </a:r>
            <a:r>
              <a:rPr lang="ko" sz="1500"/>
              <a:t>)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Base prompt format for current LLM agent</a:t>
            </a:r>
            <a:endParaRPr sz="1300"/>
          </a:p>
        </p:txBody>
      </p:sp>
      <p:sp>
        <p:nvSpPr>
          <p:cNvPr id="476" name="Google Shape;476;p53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7" name="Google Shape;47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9673" y="505750"/>
            <a:ext cx="4998426" cy="41319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3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Alfworld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85" name="Google Shape;48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86" name="Google Shape;486;p54"/>
          <p:cNvSpPr txBox="1"/>
          <p:nvPr/>
        </p:nvSpPr>
        <p:spPr>
          <a:xfrm>
            <a:off x="420000" y="834175"/>
            <a:ext cx="82416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Alfworld - TextWorld based embodied agent simulator </a:t>
            </a:r>
            <a:r>
              <a:rPr lang="ko" sz="1300"/>
              <a:t>(</a:t>
            </a:r>
            <a:r>
              <a:rPr lang="ko" sz="1300" u="sng">
                <a:solidFill>
                  <a:schemeClr val="hlink"/>
                </a:solidFill>
                <a:hlinkClick r:id="rId3"/>
              </a:rPr>
              <a:t>https://alfworld.github.io/</a:t>
            </a:r>
            <a:r>
              <a:rPr lang="ko" sz="1300"/>
              <a:t>)</a:t>
            </a:r>
            <a:endParaRPr b="1" sz="1500"/>
          </a:p>
        </p:txBody>
      </p:sp>
      <p:sp>
        <p:nvSpPr>
          <p:cNvPr id="487" name="Google Shape;487;p54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54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  <p:pic>
        <p:nvPicPr>
          <p:cNvPr id="489" name="Google Shape;489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249" y="1242900"/>
            <a:ext cx="2827102" cy="364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 txBox="1"/>
          <p:nvPr/>
        </p:nvSpPr>
        <p:spPr>
          <a:xfrm>
            <a:off x="733925" y="259175"/>
            <a:ext cx="48936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3F3F42"/>
                </a:solidFill>
              </a:rPr>
              <a:t>Hands On</a:t>
            </a:r>
            <a:endParaRPr b="1" sz="2000">
              <a:solidFill>
                <a:srgbClr val="3F3F42"/>
              </a:solidFill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6830716" y="2397976"/>
            <a:ext cx="1502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내용을</a:t>
            </a:r>
            <a:endParaRPr b="1"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입력하세요</a:t>
            </a:r>
            <a:endParaRPr sz="1100"/>
          </a:p>
        </p:txBody>
      </p:sp>
      <p:sp>
        <p:nvSpPr>
          <p:cNvPr id="496" name="Google Shape;49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97" name="Google Shape;497;p55"/>
          <p:cNvSpPr txBox="1"/>
          <p:nvPr/>
        </p:nvSpPr>
        <p:spPr>
          <a:xfrm>
            <a:off x="420000" y="834175"/>
            <a:ext cx="8241600" cy="39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ko" sz="1500"/>
              <a:t>w/ ReACT format prompting</a:t>
            </a:r>
            <a:endParaRPr b="1"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ko" sz="1500"/>
              <a:t>QA agent (with access to wikipedia)</a:t>
            </a:r>
            <a:endParaRPr sz="1500"/>
          </a:p>
        </p:txBody>
      </p:sp>
      <p:sp>
        <p:nvSpPr>
          <p:cNvPr id="498" name="Google Shape;498;p55"/>
          <p:cNvSpPr/>
          <p:nvPr/>
        </p:nvSpPr>
        <p:spPr>
          <a:xfrm>
            <a:off x="362224" y="0"/>
            <a:ext cx="311700" cy="589500"/>
          </a:xfrm>
          <a:prstGeom prst="rect">
            <a:avLst/>
          </a:prstGeom>
          <a:solidFill>
            <a:srgbClr val="23488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733925" y="36025"/>
            <a:ext cx="6603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F3F42"/>
                </a:solidFill>
              </a:rPr>
              <a:t>Part 3. LLM Agents</a:t>
            </a:r>
            <a:endParaRPr sz="1000">
              <a:solidFill>
                <a:srgbClr val="3F3F4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
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65"/>
  </p:notesMasterIdLst>
  <p:sldIdLst>
    <p:sldId id="256" r:id="rId2"/>
    <p:sldId id="276" r:id="rId3"/>
    <p:sldId id="257" r:id="rId4"/>
    <p:sldId id="258" r:id="rId5"/>
    <p:sldId id="449" r:id="rId6"/>
    <p:sldId id="450" r:id="rId7"/>
    <p:sldId id="453" r:id="rId8"/>
    <p:sldId id="490" r:id="rId9"/>
    <p:sldId id="451" r:id="rId10"/>
    <p:sldId id="483" r:id="rId11"/>
    <p:sldId id="485" r:id="rId12"/>
    <p:sldId id="486" r:id="rId13"/>
    <p:sldId id="487" r:id="rId14"/>
    <p:sldId id="484" r:id="rId15"/>
    <p:sldId id="488" r:id="rId16"/>
    <p:sldId id="466" r:id="rId17"/>
    <p:sldId id="261" r:id="rId18"/>
    <p:sldId id="262" r:id="rId19"/>
    <p:sldId id="454" r:id="rId20"/>
    <p:sldId id="263" r:id="rId21"/>
    <p:sldId id="452" r:id="rId22"/>
    <p:sldId id="455" r:id="rId23"/>
    <p:sldId id="456" r:id="rId24"/>
    <p:sldId id="457" r:id="rId25"/>
    <p:sldId id="458" r:id="rId26"/>
    <p:sldId id="259" r:id="rId27"/>
    <p:sldId id="459" r:id="rId28"/>
    <p:sldId id="460" r:id="rId29"/>
    <p:sldId id="489" r:id="rId30"/>
    <p:sldId id="462" r:id="rId31"/>
    <p:sldId id="461" r:id="rId32"/>
    <p:sldId id="463" r:id="rId33"/>
    <p:sldId id="464" r:id="rId34"/>
    <p:sldId id="465" r:id="rId35"/>
    <p:sldId id="467" r:id="rId36"/>
    <p:sldId id="264" r:id="rId37"/>
    <p:sldId id="265" r:id="rId38"/>
    <p:sldId id="266" r:id="rId39"/>
    <p:sldId id="267" r:id="rId40"/>
    <p:sldId id="468" r:id="rId41"/>
    <p:sldId id="469" r:id="rId42"/>
    <p:sldId id="470" r:id="rId43"/>
    <p:sldId id="268" r:id="rId44"/>
    <p:sldId id="269" r:id="rId45"/>
    <p:sldId id="270" r:id="rId46"/>
    <p:sldId id="271" r:id="rId47"/>
    <p:sldId id="471" r:id="rId48"/>
    <p:sldId id="472" r:id="rId49"/>
    <p:sldId id="476" r:id="rId50"/>
    <p:sldId id="473" r:id="rId51"/>
    <p:sldId id="474" r:id="rId52"/>
    <p:sldId id="475" r:id="rId53"/>
    <p:sldId id="477" r:id="rId54"/>
    <p:sldId id="478" r:id="rId55"/>
    <p:sldId id="479" r:id="rId56"/>
    <p:sldId id="272" r:id="rId57"/>
    <p:sldId id="273" r:id="rId58"/>
    <p:sldId id="274" r:id="rId59"/>
    <p:sldId id="491" r:id="rId60"/>
    <p:sldId id="275" r:id="rId61"/>
    <p:sldId id="480" r:id="rId62"/>
    <p:sldId id="481" r:id="rId63"/>
    <p:sldId id="482" r:id="rId6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99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6"/>
    <p:restoredTop sz="59755"/>
  </p:normalViewPr>
  <p:slideViewPr>
    <p:cSldViewPr snapToGrid="0">
      <p:cViewPr>
        <p:scale>
          <a:sx n="109" d="100"/>
          <a:sy n="109" d="100"/>
        </p:scale>
        <p:origin x="432" y="14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a:extLst>
            <a:ext uri="{FF2B5EF4-FFF2-40B4-BE49-F238E27FC236}">
              <a16:creationId xmlns:a16="http://schemas.microsoft.com/office/drawing/2014/main" id="{7398471C-AC23-3D2F-1175-8B5C5460DBD2}"/>
            </a:ext>
          </a:extLst>
        </p:cNvPr>
        <p:cNvGrpSpPr/>
        <p:nvPr/>
      </p:nvGrpSpPr>
      <p:grpSpPr>
        <a:xfrm>
          <a:off x="0" y="0"/>
          <a:ext cx="0" cy="0"/>
          <a:chOff x="0" y="0"/>
          <a:chExt cx="0" cy="0"/>
        </a:xfrm>
      </p:grpSpPr>
      <p:sp>
        <p:nvSpPr>
          <p:cNvPr id="79" name="Google Shape;79;g35657823334_0_52:notes">
            <a:extLst>
              <a:ext uri="{FF2B5EF4-FFF2-40B4-BE49-F238E27FC236}">
                <a16:creationId xmlns:a16="http://schemas.microsoft.com/office/drawing/2014/main" id="{F2D3AD15-8089-3BA3-5128-3350EBD169F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35657823334_0_52:notes">
            <a:extLst>
              <a:ext uri="{FF2B5EF4-FFF2-40B4-BE49-F238E27FC236}">
                <a16:creationId xmlns:a16="http://schemas.microsoft.com/office/drawing/2014/main" id="{27B8E3F1-ABA0-E63B-2BF8-ED6C23ECF6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ltLang="ko-KR" dirty="0"/>
          </a:p>
        </p:txBody>
      </p:sp>
    </p:spTree>
    <p:extLst>
      <p:ext uri="{BB962C8B-B14F-4D97-AF65-F5344CB8AC3E}">
        <p14:creationId xmlns:p14="http://schemas.microsoft.com/office/powerpoint/2010/main" val="37911852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35657823334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35657823334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5657823334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35657823334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ea9da67292_0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 name="Google Shape;114;g2ea9da67292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en-US" dirty="0"/>
          </a:p>
        </p:txBody>
      </p:sp>
      <p:sp>
        <p:nvSpPr>
          <p:cNvPr id="115" name="Google Shape;115;g2ea9da67292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a:t>
            </a:fld>
            <a:endParaRPr/>
          </a:p>
        </p:txBody>
      </p:sp>
    </p:spTree>
    <p:extLst>
      <p:ext uri="{BB962C8B-B14F-4D97-AF65-F5344CB8AC3E}">
        <p14:creationId xmlns:p14="http://schemas.microsoft.com/office/powerpoint/2010/main" val="23426747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ea9da67292_0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 name="Google Shape;114;g2ea9da67292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5" name="Google Shape;115;g2ea9da67292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a:t>
            </a:fld>
            <a:endParaRPr/>
          </a:p>
        </p:txBody>
      </p:sp>
    </p:spTree>
    <p:extLst>
      <p:ext uri="{BB962C8B-B14F-4D97-AF65-F5344CB8AC3E}">
        <p14:creationId xmlns:p14="http://schemas.microsoft.com/office/powerpoint/2010/main" val="36579762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D17FA228-7DCB-D2D7-F1A6-D10ADB9F5F66}"/>
            </a:ext>
          </a:extLst>
        </p:cNvPr>
        <p:cNvGrpSpPr/>
        <p:nvPr/>
      </p:nvGrpSpPr>
      <p:grpSpPr>
        <a:xfrm>
          <a:off x="0" y="0"/>
          <a:ext cx="0" cy="0"/>
          <a:chOff x="0" y="0"/>
          <a:chExt cx="0" cy="0"/>
        </a:xfrm>
      </p:grpSpPr>
      <p:sp>
        <p:nvSpPr>
          <p:cNvPr id="113" name="Google Shape;113;g2ea9da67292_0_17:notes">
            <a:extLst>
              <a:ext uri="{FF2B5EF4-FFF2-40B4-BE49-F238E27FC236}">
                <a16:creationId xmlns:a16="http://schemas.microsoft.com/office/drawing/2014/main" id="{C61C16C0-4E7F-4468-7898-9224B13B3D2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 name="Google Shape;114;g2ea9da67292_0_17:notes">
            <a:extLst>
              <a:ext uri="{FF2B5EF4-FFF2-40B4-BE49-F238E27FC236}">
                <a16:creationId xmlns:a16="http://schemas.microsoft.com/office/drawing/2014/main" id="{B1DE907B-0171-13C9-C177-96640A89BF39}"/>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en-US" altLang="ko-KR" dirty="0"/>
          </a:p>
        </p:txBody>
      </p:sp>
      <p:sp>
        <p:nvSpPr>
          <p:cNvPr id="115" name="Google Shape;115;g2ea9da67292_0_17:notes">
            <a:extLst>
              <a:ext uri="{FF2B5EF4-FFF2-40B4-BE49-F238E27FC236}">
                <a16:creationId xmlns:a16="http://schemas.microsoft.com/office/drawing/2014/main" id="{B6645FEF-E9AF-758C-691A-8F1FB2FE23E0}"/>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7</a:t>
            </a:fld>
            <a:endParaRPr/>
          </a:p>
        </p:txBody>
      </p:sp>
    </p:spTree>
    <p:extLst>
      <p:ext uri="{BB962C8B-B14F-4D97-AF65-F5344CB8AC3E}">
        <p14:creationId xmlns:p14="http://schemas.microsoft.com/office/powerpoint/2010/main" val="38308451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43164F9C-4A9E-9F55-0DDB-2B7EF117FE36}"/>
            </a:ext>
          </a:extLst>
        </p:cNvPr>
        <p:cNvGrpSpPr/>
        <p:nvPr/>
      </p:nvGrpSpPr>
      <p:grpSpPr>
        <a:xfrm>
          <a:off x="0" y="0"/>
          <a:ext cx="0" cy="0"/>
          <a:chOff x="0" y="0"/>
          <a:chExt cx="0" cy="0"/>
        </a:xfrm>
      </p:grpSpPr>
      <p:sp>
        <p:nvSpPr>
          <p:cNvPr id="113" name="Google Shape;113;g2ea9da67292_0_17:notes">
            <a:extLst>
              <a:ext uri="{FF2B5EF4-FFF2-40B4-BE49-F238E27FC236}">
                <a16:creationId xmlns:a16="http://schemas.microsoft.com/office/drawing/2014/main" id="{C8D848A5-A0AB-2D7C-7D1E-31C257C086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 name="Google Shape;114;g2ea9da67292_0_17:notes">
            <a:extLst>
              <a:ext uri="{FF2B5EF4-FFF2-40B4-BE49-F238E27FC236}">
                <a16:creationId xmlns:a16="http://schemas.microsoft.com/office/drawing/2014/main" id="{ECD2A619-197E-8E16-E9CD-408A10653663}"/>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5" name="Google Shape;115;g2ea9da67292_0_17:notes">
            <a:extLst>
              <a:ext uri="{FF2B5EF4-FFF2-40B4-BE49-F238E27FC236}">
                <a16:creationId xmlns:a16="http://schemas.microsoft.com/office/drawing/2014/main" id="{F2C71718-B8C2-8E5D-8F79-448D025D63AC}"/>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8</a:t>
            </a:fld>
            <a:endParaRPr/>
          </a:p>
        </p:txBody>
      </p:sp>
    </p:spTree>
    <p:extLst>
      <p:ext uri="{BB962C8B-B14F-4D97-AF65-F5344CB8AC3E}">
        <p14:creationId xmlns:p14="http://schemas.microsoft.com/office/powerpoint/2010/main" val="8526519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8D1420F9-C8FB-D3C3-A5B0-BB40B15D160C}"/>
            </a:ext>
          </a:extLst>
        </p:cNvPr>
        <p:cNvGrpSpPr/>
        <p:nvPr/>
      </p:nvGrpSpPr>
      <p:grpSpPr>
        <a:xfrm>
          <a:off x="0" y="0"/>
          <a:ext cx="0" cy="0"/>
          <a:chOff x="0" y="0"/>
          <a:chExt cx="0" cy="0"/>
        </a:xfrm>
      </p:grpSpPr>
      <p:sp>
        <p:nvSpPr>
          <p:cNvPr id="113" name="Google Shape;113;g2ea9da67292_0_17:notes">
            <a:extLst>
              <a:ext uri="{FF2B5EF4-FFF2-40B4-BE49-F238E27FC236}">
                <a16:creationId xmlns:a16="http://schemas.microsoft.com/office/drawing/2014/main" id="{A26CFDE3-D4C0-D568-C2C1-4A65DAF5353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 name="Google Shape;114;g2ea9da67292_0_17:notes">
            <a:extLst>
              <a:ext uri="{FF2B5EF4-FFF2-40B4-BE49-F238E27FC236}">
                <a16:creationId xmlns:a16="http://schemas.microsoft.com/office/drawing/2014/main" id="{422B0060-1A99-D5E5-1F7C-414ED9AD83AE}"/>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5" name="Google Shape;115;g2ea9da67292_0_17:notes">
            <a:extLst>
              <a:ext uri="{FF2B5EF4-FFF2-40B4-BE49-F238E27FC236}">
                <a16:creationId xmlns:a16="http://schemas.microsoft.com/office/drawing/2014/main" id="{AEB52622-7EF9-680B-E826-9BEA4F9665D5}"/>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extLst>
      <p:ext uri="{BB962C8B-B14F-4D97-AF65-F5344CB8AC3E}">
        <p14:creationId xmlns:p14="http://schemas.microsoft.com/office/powerpoint/2010/main" val="26613371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a:extLst>
            <a:ext uri="{FF2B5EF4-FFF2-40B4-BE49-F238E27FC236}">
              <a16:creationId xmlns:a16="http://schemas.microsoft.com/office/drawing/2014/main" id="{A5CC928A-7852-CF0D-A1E6-E0DB906696B8}"/>
            </a:ext>
          </a:extLst>
        </p:cNvPr>
        <p:cNvGrpSpPr/>
        <p:nvPr/>
      </p:nvGrpSpPr>
      <p:grpSpPr>
        <a:xfrm>
          <a:off x="0" y="0"/>
          <a:ext cx="0" cy="0"/>
          <a:chOff x="0" y="0"/>
          <a:chExt cx="0" cy="0"/>
        </a:xfrm>
      </p:grpSpPr>
      <p:sp>
        <p:nvSpPr>
          <p:cNvPr id="87" name="Google Shape;87;g35657823334_0_65:notes">
            <a:extLst>
              <a:ext uri="{FF2B5EF4-FFF2-40B4-BE49-F238E27FC236}">
                <a16:creationId xmlns:a16="http://schemas.microsoft.com/office/drawing/2014/main" id="{76EF32DA-46AA-359C-F758-7CCC995B2ED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5657823334_0_65:notes">
            <a:extLst>
              <a:ext uri="{FF2B5EF4-FFF2-40B4-BE49-F238E27FC236}">
                <a16:creationId xmlns:a16="http://schemas.microsoft.com/office/drawing/2014/main" id="{3B7F1FEE-AA68-FBD6-4F5E-A57F27CDFC8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918516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6B4F60A3-C4A1-A145-B8D5-2179E2265136}"/>
            </a:ext>
          </a:extLst>
        </p:cNvPr>
        <p:cNvGrpSpPr/>
        <p:nvPr/>
      </p:nvGrpSpPr>
      <p:grpSpPr>
        <a:xfrm>
          <a:off x="0" y="0"/>
          <a:ext cx="0" cy="0"/>
          <a:chOff x="0" y="0"/>
          <a:chExt cx="0" cy="0"/>
        </a:xfrm>
      </p:grpSpPr>
      <p:sp>
        <p:nvSpPr>
          <p:cNvPr id="93" name="Google Shape;93;g35657823334_0_8:notes">
            <a:extLst>
              <a:ext uri="{FF2B5EF4-FFF2-40B4-BE49-F238E27FC236}">
                <a16:creationId xmlns:a16="http://schemas.microsoft.com/office/drawing/2014/main" id="{94BE2442-C82B-CB94-F353-A9142E9758F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5657823334_0_8:notes">
            <a:extLst>
              <a:ext uri="{FF2B5EF4-FFF2-40B4-BE49-F238E27FC236}">
                <a16:creationId xmlns:a16="http://schemas.microsoft.com/office/drawing/2014/main" id="{F27056E1-F882-AC79-114E-22F44AC17A3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ltLang="ko-KR" dirty="0"/>
          </a:p>
        </p:txBody>
      </p:sp>
    </p:spTree>
    <p:extLst>
      <p:ext uri="{BB962C8B-B14F-4D97-AF65-F5344CB8AC3E}">
        <p14:creationId xmlns:p14="http://schemas.microsoft.com/office/powerpoint/2010/main" val="23369427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4EC3658B-7CA1-7120-24A7-ECC571F073EA}"/>
            </a:ext>
          </a:extLst>
        </p:cNvPr>
        <p:cNvGrpSpPr/>
        <p:nvPr/>
      </p:nvGrpSpPr>
      <p:grpSpPr>
        <a:xfrm>
          <a:off x="0" y="0"/>
          <a:ext cx="0" cy="0"/>
          <a:chOff x="0" y="0"/>
          <a:chExt cx="0" cy="0"/>
        </a:xfrm>
      </p:grpSpPr>
      <p:sp>
        <p:nvSpPr>
          <p:cNvPr id="93" name="Google Shape;93;g35657823334_0_8:notes">
            <a:extLst>
              <a:ext uri="{FF2B5EF4-FFF2-40B4-BE49-F238E27FC236}">
                <a16:creationId xmlns:a16="http://schemas.microsoft.com/office/drawing/2014/main" id="{C383BED9-31C0-8907-753F-7D66BF2F75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5657823334_0_8:notes">
            <a:extLst>
              <a:ext uri="{FF2B5EF4-FFF2-40B4-BE49-F238E27FC236}">
                <a16:creationId xmlns:a16="http://schemas.microsoft.com/office/drawing/2014/main" id="{0373ED9A-13FB-425B-D0A7-AE28974757A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315335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5782ED0A-C41D-FC6F-2EC4-AAD4994B67ED}"/>
            </a:ext>
          </a:extLst>
        </p:cNvPr>
        <p:cNvGrpSpPr/>
        <p:nvPr/>
      </p:nvGrpSpPr>
      <p:grpSpPr>
        <a:xfrm>
          <a:off x="0" y="0"/>
          <a:ext cx="0" cy="0"/>
          <a:chOff x="0" y="0"/>
          <a:chExt cx="0" cy="0"/>
        </a:xfrm>
      </p:grpSpPr>
      <p:sp>
        <p:nvSpPr>
          <p:cNvPr id="93" name="Google Shape;93;g35657823334_0_8:notes">
            <a:extLst>
              <a:ext uri="{FF2B5EF4-FFF2-40B4-BE49-F238E27FC236}">
                <a16:creationId xmlns:a16="http://schemas.microsoft.com/office/drawing/2014/main" id="{8EA5AFCD-6B01-41F9-BAAB-6030552A236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5657823334_0_8:notes">
            <a:extLst>
              <a:ext uri="{FF2B5EF4-FFF2-40B4-BE49-F238E27FC236}">
                <a16:creationId xmlns:a16="http://schemas.microsoft.com/office/drawing/2014/main" id="{BC3094BC-76C8-7BF8-1E96-AEA29485E5C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962148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1C49FC0B-C416-9EE3-5835-D9CF1599AC8D}"/>
            </a:ext>
          </a:extLst>
        </p:cNvPr>
        <p:cNvGrpSpPr/>
        <p:nvPr/>
      </p:nvGrpSpPr>
      <p:grpSpPr>
        <a:xfrm>
          <a:off x="0" y="0"/>
          <a:ext cx="0" cy="0"/>
          <a:chOff x="0" y="0"/>
          <a:chExt cx="0" cy="0"/>
        </a:xfrm>
      </p:grpSpPr>
      <p:sp>
        <p:nvSpPr>
          <p:cNvPr id="93" name="Google Shape;93;g35657823334_0_8:notes">
            <a:extLst>
              <a:ext uri="{FF2B5EF4-FFF2-40B4-BE49-F238E27FC236}">
                <a16:creationId xmlns:a16="http://schemas.microsoft.com/office/drawing/2014/main" id="{D7013F04-EC74-BE3E-3C79-588D400C62D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5657823334_0_8:notes">
            <a:extLst>
              <a:ext uri="{FF2B5EF4-FFF2-40B4-BE49-F238E27FC236}">
                <a16:creationId xmlns:a16="http://schemas.microsoft.com/office/drawing/2014/main" id="{04145C97-AB31-6C02-1F39-A62001F41E5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ltLang="ko-KR" dirty="0"/>
          </a:p>
        </p:txBody>
      </p:sp>
    </p:spTree>
    <p:extLst>
      <p:ext uri="{BB962C8B-B14F-4D97-AF65-F5344CB8AC3E}">
        <p14:creationId xmlns:p14="http://schemas.microsoft.com/office/powerpoint/2010/main" val="33986008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B2EE0BDA-0403-8635-B123-AD8A3C744A0A}"/>
            </a:ext>
          </a:extLst>
        </p:cNvPr>
        <p:cNvGrpSpPr/>
        <p:nvPr/>
      </p:nvGrpSpPr>
      <p:grpSpPr>
        <a:xfrm>
          <a:off x="0" y="0"/>
          <a:ext cx="0" cy="0"/>
          <a:chOff x="0" y="0"/>
          <a:chExt cx="0" cy="0"/>
        </a:xfrm>
      </p:grpSpPr>
      <p:sp>
        <p:nvSpPr>
          <p:cNvPr id="93" name="Google Shape;93;g35657823334_0_8:notes">
            <a:extLst>
              <a:ext uri="{FF2B5EF4-FFF2-40B4-BE49-F238E27FC236}">
                <a16:creationId xmlns:a16="http://schemas.microsoft.com/office/drawing/2014/main" id="{6701BCAD-CF3C-59BA-2C79-CDD2ED5FCA0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5657823334_0_8:notes">
            <a:extLst>
              <a:ext uri="{FF2B5EF4-FFF2-40B4-BE49-F238E27FC236}">
                <a16:creationId xmlns:a16="http://schemas.microsoft.com/office/drawing/2014/main" id="{9C9EE4D9-E139-1B30-E879-2B4F724D03C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lang="en-US" altLang="ko-KR" dirty="0"/>
          </a:p>
        </p:txBody>
      </p:sp>
    </p:spTree>
    <p:extLst>
      <p:ext uri="{BB962C8B-B14F-4D97-AF65-F5344CB8AC3E}">
        <p14:creationId xmlns:p14="http://schemas.microsoft.com/office/powerpoint/2010/main" val="2472646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a:extLst>
            <a:ext uri="{FF2B5EF4-FFF2-40B4-BE49-F238E27FC236}">
              <a16:creationId xmlns:a16="http://schemas.microsoft.com/office/drawing/2014/main" id="{4BEC1E25-B331-3B97-623E-EF81055D633E}"/>
            </a:ext>
          </a:extLst>
        </p:cNvPr>
        <p:cNvGrpSpPr/>
        <p:nvPr/>
      </p:nvGrpSpPr>
      <p:grpSpPr>
        <a:xfrm>
          <a:off x="0" y="0"/>
          <a:ext cx="0" cy="0"/>
          <a:chOff x="0" y="0"/>
          <a:chExt cx="0" cy="0"/>
        </a:xfrm>
      </p:grpSpPr>
      <p:sp>
        <p:nvSpPr>
          <p:cNvPr id="87" name="Google Shape;87;g35657823334_0_65:notes">
            <a:extLst>
              <a:ext uri="{FF2B5EF4-FFF2-40B4-BE49-F238E27FC236}">
                <a16:creationId xmlns:a16="http://schemas.microsoft.com/office/drawing/2014/main" id="{E9DFC9F0-6222-DFC4-8C39-D851A983B39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5657823334_0_65:notes">
            <a:extLst>
              <a:ext uri="{FF2B5EF4-FFF2-40B4-BE49-F238E27FC236}">
                <a16:creationId xmlns:a16="http://schemas.microsoft.com/office/drawing/2014/main" id="{F333928E-6EBF-B77F-A8CF-21457DD07AA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161268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5657823334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5657823334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5657823334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5657823334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ltLang="ko-KR" dirty="0">
              <a:sym typeface="Wingdings" pitchFamily="2" charset="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8938EE9C-E08C-5AD8-C03C-01FFFA01833E}"/>
            </a:ext>
          </a:extLst>
        </p:cNvPr>
        <p:cNvGrpSpPr/>
        <p:nvPr/>
      </p:nvGrpSpPr>
      <p:grpSpPr>
        <a:xfrm>
          <a:off x="0" y="0"/>
          <a:ext cx="0" cy="0"/>
          <a:chOff x="0" y="0"/>
          <a:chExt cx="0" cy="0"/>
        </a:xfrm>
      </p:grpSpPr>
      <p:sp>
        <p:nvSpPr>
          <p:cNvPr id="93" name="Google Shape;93;g35657823334_0_8:notes">
            <a:extLst>
              <a:ext uri="{FF2B5EF4-FFF2-40B4-BE49-F238E27FC236}">
                <a16:creationId xmlns:a16="http://schemas.microsoft.com/office/drawing/2014/main" id="{9A6AA0B4-B7A6-4372-4266-E1CBCC5F66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5657823334_0_8:notes">
            <a:extLst>
              <a:ext uri="{FF2B5EF4-FFF2-40B4-BE49-F238E27FC236}">
                <a16:creationId xmlns:a16="http://schemas.microsoft.com/office/drawing/2014/main" id="{C0643F72-31F8-BFAE-14CA-447CCBC584D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ltLang="ko-KR" dirty="0"/>
          </a:p>
        </p:txBody>
      </p:sp>
    </p:spTree>
    <p:extLst>
      <p:ext uri="{BB962C8B-B14F-4D97-AF65-F5344CB8AC3E}">
        <p14:creationId xmlns:p14="http://schemas.microsoft.com/office/powerpoint/2010/main" val="35828147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5657823334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5657823334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ltLang="ko-K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08CBE42-A094-174E-DA1A-26251A6FD166}"/>
            </a:ext>
          </a:extLst>
        </p:cNvPr>
        <p:cNvGrpSpPr/>
        <p:nvPr/>
      </p:nvGrpSpPr>
      <p:grpSpPr>
        <a:xfrm>
          <a:off x="0" y="0"/>
          <a:ext cx="0" cy="0"/>
          <a:chOff x="0" y="0"/>
          <a:chExt cx="0" cy="0"/>
        </a:xfrm>
      </p:grpSpPr>
      <p:sp>
        <p:nvSpPr>
          <p:cNvPr id="102" name="Google Shape;102;g35657823334_0_24:notes">
            <a:extLst>
              <a:ext uri="{FF2B5EF4-FFF2-40B4-BE49-F238E27FC236}">
                <a16:creationId xmlns:a16="http://schemas.microsoft.com/office/drawing/2014/main" id="{AA6F524E-DEAA-AFC2-8349-F883EDFC3D3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5657823334_0_24:notes">
            <a:extLst>
              <a:ext uri="{FF2B5EF4-FFF2-40B4-BE49-F238E27FC236}">
                <a16:creationId xmlns:a16="http://schemas.microsoft.com/office/drawing/2014/main" id="{E83568DB-4DAB-0042-3B48-424FC1AACB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604243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C96937F-9961-0143-092E-FF3040FD92A1}"/>
            </a:ext>
          </a:extLst>
        </p:cNvPr>
        <p:cNvGrpSpPr/>
        <p:nvPr/>
      </p:nvGrpSpPr>
      <p:grpSpPr>
        <a:xfrm>
          <a:off x="0" y="0"/>
          <a:ext cx="0" cy="0"/>
          <a:chOff x="0" y="0"/>
          <a:chExt cx="0" cy="0"/>
        </a:xfrm>
      </p:grpSpPr>
      <p:sp>
        <p:nvSpPr>
          <p:cNvPr id="102" name="Google Shape;102;g35657823334_0_24:notes">
            <a:extLst>
              <a:ext uri="{FF2B5EF4-FFF2-40B4-BE49-F238E27FC236}">
                <a16:creationId xmlns:a16="http://schemas.microsoft.com/office/drawing/2014/main" id="{E8F272D6-E715-DA99-1E2F-F12451F955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5657823334_0_24:notes">
            <a:extLst>
              <a:ext uri="{FF2B5EF4-FFF2-40B4-BE49-F238E27FC236}">
                <a16:creationId xmlns:a16="http://schemas.microsoft.com/office/drawing/2014/main" id="{6FE6E39A-B2D5-E82D-02C5-E167F648229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ltLang="ko-KR" dirty="0"/>
          </a:p>
        </p:txBody>
      </p:sp>
    </p:spTree>
    <p:extLst>
      <p:ext uri="{BB962C8B-B14F-4D97-AF65-F5344CB8AC3E}">
        <p14:creationId xmlns:p14="http://schemas.microsoft.com/office/powerpoint/2010/main" val="28495680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DF962E6-F090-3C64-E01F-A4E605E1B3C3}"/>
            </a:ext>
          </a:extLst>
        </p:cNvPr>
        <p:cNvGrpSpPr/>
        <p:nvPr/>
      </p:nvGrpSpPr>
      <p:grpSpPr>
        <a:xfrm>
          <a:off x="0" y="0"/>
          <a:ext cx="0" cy="0"/>
          <a:chOff x="0" y="0"/>
          <a:chExt cx="0" cy="0"/>
        </a:xfrm>
      </p:grpSpPr>
      <p:sp>
        <p:nvSpPr>
          <p:cNvPr id="102" name="Google Shape;102;g35657823334_0_24:notes">
            <a:extLst>
              <a:ext uri="{FF2B5EF4-FFF2-40B4-BE49-F238E27FC236}">
                <a16:creationId xmlns:a16="http://schemas.microsoft.com/office/drawing/2014/main" id="{21A82A97-EAD4-ABC8-A013-091FB9F9B51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5657823334_0_24:notes">
            <a:extLst>
              <a:ext uri="{FF2B5EF4-FFF2-40B4-BE49-F238E27FC236}">
                <a16:creationId xmlns:a16="http://schemas.microsoft.com/office/drawing/2014/main" id="{D03A428C-B62A-780A-8255-362D288843E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28644559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B3035DC-FAB0-4967-3D66-F0DA4E184D9C}"/>
            </a:ext>
          </a:extLst>
        </p:cNvPr>
        <p:cNvGrpSpPr/>
        <p:nvPr/>
      </p:nvGrpSpPr>
      <p:grpSpPr>
        <a:xfrm>
          <a:off x="0" y="0"/>
          <a:ext cx="0" cy="0"/>
          <a:chOff x="0" y="0"/>
          <a:chExt cx="0" cy="0"/>
        </a:xfrm>
      </p:grpSpPr>
      <p:sp>
        <p:nvSpPr>
          <p:cNvPr id="102" name="Google Shape;102;g35657823334_0_24:notes">
            <a:extLst>
              <a:ext uri="{FF2B5EF4-FFF2-40B4-BE49-F238E27FC236}">
                <a16:creationId xmlns:a16="http://schemas.microsoft.com/office/drawing/2014/main" id="{B7C6D5EF-E5AE-219B-F09B-DE6F6469DE0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5657823334_0_24:notes">
            <a:extLst>
              <a:ext uri="{FF2B5EF4-FFF2-40B4-BE49-F238E27FC236}">
                <a16:creationId xmlns:a16="http://schemas.microsoft.com/office/drawing/2014/main" id="{7043537A-D3FD-03D4-5A02-4F272229119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350536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F21E38C-06CB-DBBA-0403-764703D935CF}"/>
            </a:ext>
          </a:extLst>
        </p:cNvPr>
        <p:cNvGrpSpPr/>
        <p:nvPr/>
      </p:nvGrpSpPr>
      <p:grpSpPr>
        <a:xfrm>
          <a:off x="0" y="0"/>
          <a:ext cx="0" cy="0"/>
          <a:chOff x="0" y="0"/>
          <a:chExt cx="0" cy="0"/>
        </a:xfrm>
      </p:grpSpPr>
      <p:sp>
        <p:nvSpPr>
          <p:cNvPr id="102" name="Google Shape;102;g35657823334_0_24:notes">
            <a:extLst>
              <a:ext uri="{FF2B5EF4-FFF2-40B4-BE49-F238E27FC236}">
                <a16:creationId xmlns:a16="http://schemas.microsoft.com/office/drawing/2014/main" id="{A8F4FC1D-63AB-FA8A-EDE6-C32FF68C17A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5657823334_0_24:notes">
            <a:extLst>
              <a:ext uri="{FF2B5EF4-FFF2-40B4-BE49-F238E27FC236}">
                <a16:creationId xmlns:a16="http://schemas.microsoft.com/office/drawing/2014/main" id="{B3484782-BB90-6E15-3E13-C0244F953EF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586213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35657823334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35657823334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ltLang="ko-KR"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a:extLst>
            <a:ext uri="{FF2B5EF4-FFF2-40B4-BE49-F238E27FC236}">
              <a16:creationId xmlns:a16="http://schemas.microsoft.com/office/drawing/2014/main" id="{A6C57666-A366-3907-9D57-39369B196EE0}"/>
            </a:ext>
          </a:extLst>
        </p:cNvPr>
        <p:cNvGrpSpPr/>
        <p:nvPr/>
      </p:nvGrpSpPr>
      <p:grpSpPr>
        <a:xfrm>
          <a:off x="0" y="0"/>
          <a:ext cx="0" cy="0"/>
          <a:chOff x="0" y="0"/>
          <a:chExt cx="0" cy="0"/>
        </a:xfrm>
      </p:grpSpPr>
      <p:sp>
        <p:nvSpPr>
          <p:cNvPr id="87" name="Google Shape;87;g35657823334_0_65:notes">
            <a:extLst>
              <a:ext uri="{FF2B5EF4-FFF2-40B4-BE49-F238E27FC236}">
                <a16:creationId xmlns:a16="http://schemas.microsoft.com/office/drawing/2014/main" id="{39E59DDE-02BE-F173-B796-6A08C116FC6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5657823334_0_65:notes">
            <a:extLst>
              <a:ext uri="{FF2B5EF4-FFF2-40B4-BE49-F238E27FC236}">
                <a16:creationId xmlns:a16="http://schemas.microsoft.com/office/drawing/2014/main" id="{30217F20-03D7-051B-0E00-615C18577D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328187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FD37C857-F703-5435-02A0-01A20653D1E5}"/>
            </a:ext>
          </a:extLst>
        </p:cNvPr>
        <p:cNvGrpSpPr/>
        <p:nvPr/>
      </p:nvGrpSpPr>
      <p:grpSpPr>
        <a:xfrm>
          <a:off x="0" y="0"/>
          <a:ext cx="0" cy="0"/>
          <a:chOff x="0" y="0"/>
          <a:chExt cx="0" cy="0"/>
        </a:xfrm>
      </p:grpSpPr>
      <p:sp>
        <p:nvSpPr>
          <p:cNvPr id="93" name="Google Shape;93;g35657823334_0_8:notes">
            <a:extLst>
              <a:ext uri="{FF2B5EF4-FFF2-40B4-BE49-F238E27FC236}">
                <a16:creationId xmlns:a16="http://schemas.microsoft.com/office/drawing/2014/main" id="{FBCFEF72-F844-184E-18B9-82EF525066E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5657823334_0_8:notes">
            <a:extLst>
              <a:ext uri="{FF2B5EF4-FFF2-40B4-BE49-F238E27FC236}">
                <a16:creationId xmlns:a16="http://schemas.microsoft.com/office/drawing/2014/main" id="{B6ECB595-95B4-AF4E-F486-E4C5080DCF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709641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01384778-F0D3-1A9D-2FE7-5668A85B90B1}"/>
            </a:ext>
          </a:extLst>
        </p:cNvPr>
        <p:cNvGrpSpPr/>
        <p:nvPr/>
      </p:nvGrpSpPr>
      <p:grpSpPr>
        <a:xfrm>
          <a:off x="0" y="0"/>
          <a:ext cx="0" cy="0"/>
          <a:chOff x="0" y="0"/>
          <a:chExt cx="0" cy="0"/>
        </a:xfrm>
      </p:grpSpPr>
      <p:sp>
        <p:nvSpPr>
          <p:cNvPr id="93" name="Google Shape;93;g35657823334_0_8:notes">
            <a:extLst>
              <a:ext uri="{FF2B5EF4-FFF2-40B4-BE49-F238E27FC236}">
                <a16:creationId xmlns:a16="http://schemas.microsoft.com/office/drawing/2014/main" id="{135FA082-2FFB-B191-869F-B2B992EC8A8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5657823334_0_8:notes">
            <a:extLst>
              <a:ext uri="{FF2B5EF4-FFF2-40B4-BE49-F238E27FC236}">
                <a16:creationId xmlns:a16="http://schemas.microsoft.com/office/drawing/2014/main" id="{E0CD7562-89C5-1FBA-9A85-3290F1C3BF4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50612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D4226D32-AB18-B715-6E59-6E5222C4A2DF}"/>
            </a:ext>
          </a:extLst>
        </p:cNvPr>
        <p:cNvGrpSpPr/>
        <p:nvPr/>
      </p:nvGrpSpPr>
      <p:grpSpPr>
        <a:xfrm>
          <a:off x="0" y="0"/>
          <a:ext cx="0" cy="0"/>
          <a:chOff x="0" y="0"/>
          <a:chExt cx="0" cy="0"/>
        </a:xfrm>
      </p:grpSpPr>
      <p:sp>
        <p:nvSpPr>
          <p:cNvPr id="93" name="Google Shape;93;g35657823334_0_8:notes">
            <a:extLst>
              <a:ext uri="{FF2B5EF4-FFF2-40B4-BE49-F238E27FC236}">
                <a16:creationId xmlns:a16="http://schemas.microsoft.com/office/drawing/2014/main" id="{2F8101CF-BF4D-19F2-16F6-E2BAE581D6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5657823334_0_8:notes">
            <a:extLst>
              <a:ext uri="{FF2B5EF4-FFF2-40B4-BE49-F238E27FC236}">
                <a16:creationId xmlns:a16="http://schemas.microsoft.com/office/drawing/2014/main" id="{43E7B0F6-CF97-B849-4593-0CFB128E510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9016056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BBA46186-2C4E-C72F-B61F-F590C4192563}"/>
            </a:ext>
          </a:extLst>
        </p:cNvPr>
        <p:cNvGrpSpPr/>
        <p:nvPr/>
      </p:nvGrpSpPr>
      <p:grpSpPr>
        <a:xfrm>
          <a:off x="0" y="0"/>
          <a:ext cx="0" cy="0"/>
          <a:chOff x="0" y="0"/>
          <a:chExt cx="0" cy="0"/>
        </a:xfrm>
      </p:grpSpPr>
      <p:sp>
        <p:nvSpPr>
          <p:cNvPr id="93" name="Google Shape;93;g35657823334_0_8:notes">
            <a:extLst>
              <a:ext uri="{FF2B5EF4-FFF2-40B4-BE49-F238E27FC236}">
                <a16:creationId xmlns:a16="http://schemas.microsoft.com/office/drawing/2014/main" id="{7ED26B25-0A56-1F95-4D94-2C774EA6F11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5657823334_0_8:notes">
            <a:extLst>
              <a:ext uri="{FF2B5EF4-FFF2-40B4-BE49-F238E27FC236}">
                <a16:creationId xmlns:a16="http://schemas.microsoft.com/office/drawing/2014/main" id="{7579373F-FA12-67C8-0AE3-4543835A571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dirty="0"/>
          </a:p>
        </p:txBody>
      </p:sp>
    </p:spTree>
    <p:extLst>
      <p:ext uri="{BB962C8B-B14F-4D97-AF65-F5344CB8AC3E}">
        <p14:creationId xmlns:p14="http://schemas.microsoft.com/office/powerpoint/2010/main" val="298521110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141C1ADE-42F5-1756-C9ED-3996DF280E63}"/>
            </a:ext>
          </a:extLst>
        </p:cNvPr>
        <p:cNvGrpSpPr/>
        <p:nvPr/>
      </p:nvGrpSpPr>
      <p:grpSpPr>
        <a:xfrm>
          <a:off x="0" y="0"/>
          <a:ext cx="0" cy="0"/>
          <a:chOff x="0" y="0"/>
          <a:chExt cx="0" cy="0"/>
        </a:xfrm>
      </p:grpSpPr>
      <p:sp>
        <p:nvSpPr>
          <p:cNvPr id="93" name="Google Shape;93;g35657823334_0_8:notes">
            <a:extLst>
              <a:ext uri="{FF2B5EF4-FFF2-40B4-BE49-F238E27FC236}">
                <a16:creationId xmlns:a16="http://schemas.microsoft.com/office/drawing/2014/main" id="{B0BF1B67-119E-0245-C1CB-BA77E13B347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5657823334_0_8:notes">
            <a:extLst>
              <a:ext uri="{FF2B5EF4-FFF2-40B4-BE49-F238E27FC236}">
                <a16:creationId xmlns:a16="http://schemas.microsoft.com/office/drawing/2014/main" id="{FF7A4477-4FE7-9858-305F-989F70071A5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ltLang="ko-KR" dirty="0"/>
          </a:p>
        </p:txBody>
      </p:sp>
    </p:spTree>
    <p:extLst>
      <p:ext uri="{BB962C8B-B14F-4D97-AF65-F5344CB8AC3E}">
        <p14:creationId xmlns:p14="http://schemas.microsoft.com/office/powerpoint/2010/main" val="147447907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D3E2D884-C0B0-A16E-A76A-88C3D38A0EFE}"/>
            </a:ext>
          </a:extLst>
        </p:cNvPr>
        <p:cNvGrpSpPr/>
        <p:nvPr/>
      </p:nvGrpSpPr>
      <p:grpSpPr>
        <a:xfrm>
          <a:off x="0" y="0"/>
          <a:ext cx="0" cy="0"/>
          <a:chOff x="0" y="0"/>
          <a:chExt cx="0" cy="0"/>
        </a:xfrm>
      </p:grpSpPr>
      <p:sp>
        <p:nvSpPr>
          <p:cNvPr id="102" name="Google Shape;102;g35657823334_0_24:notes">
            <a:extLst>
              <a:ext uri="{FF2B5EF4-FFF2-40B4-BE49-F238E27FC236}">
                <a16:creationId xmlns:a16="http://schemas.microsoft.com/office/drawing/2014/main" id="{C289223A-BB77-5447-B7B8-39304E82557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5657823334_0_24:notes">
            <a:extLst>
              <a:ext uri="{FF2B5EF4-FFF2-40B4-BE49-F238E27FC236}">
                <a16:creationId xmlns:a16="http://schemas.microsoft.com/office/drawing/2014/main" id="{B4B7C91F-FAA8-ACB3-B7C6-F0DE91E3296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6761874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BADE695-71AC-694B-E1DC-27361169366E}"/>
            </a:ext>
          </a:extLst>
        </p:cNvPr>
        <p:cNvGrpSpPr/>
        <p:nvPr/>
      </p:nvGrpSpPr>
      <p:grpSpPr>
        <a:xfrm>
          <a:off x="0" y="0"/>
          <a:ext cx="0" cy="0"/>
          <a:chOff x="0" y="0"/>
          <a:chExt cx="0" cy="0"/>
        </a:xfrm>
      </p:grpSpPr>
      <p:sp>
        <p:nvSpPr>
          <p:cNvPr id="102" name="Google Shape;102;g35657823334_0_24:notes">
            <a:extLst>
              <a:ext uri="{FF2B5EF4-FFF2-40B4-BE49-F238E27FC236}">
                <a16:creationId xmlns:a16="http://schemas.microsoft.com/office/drawing/2014/main" id="{2951CCF7-051D-8281-95E1-A146C5527E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5657823334_0_24:notes">
            <a:extLst>
              <a:ext uri="{FF2B5EF4-FFF2-40B4-BE49-F238E27FC236}">
                <a16:creationId xmlns:a16="http://schemas.microsoft.com/office/drawing/2014/main" id="{70AF142C-4AB8-515C-0E61-D28FF3F4037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 typeface="Wingdings" pitchFamily="2" charset="2"/>
              <a:buChar char="à"/>
            </a:pPr>
            <a:endParaRPr lang="en-US" altLang="ko-KR" dirty="0">
              <a:sym typeface="Wingdings" pitchFamily="2" charset="2"/>
            </a:endParaRPr>
          </a:p>
        </p:txBody>
      </p:sp>
    </p:spTree>
    <p:extLst>
      <p:ext uri="{BB962C8B-B14F-4D97-AF65-F5344CB8AC3E}">
        <p14:creationId xmlns:p14="http://schemas.microsoft.com/office/powerpoint/2010/main" val="172353865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a:extLst>
            <a:ext uri="{FF2B5EF4-FFF2-40B4-BE49-F238E27FC236}">
              <a16:creationId xmlns:a16="http://schemas.microsoft.com/office/drawing/2014/main" id="{1FAEF3B3-AE83-9680-80D5-62D42AA4628D}"/>
            </a:ext>
          </a:extLst>
        </p:cNvPr>
        <p:cNvGrpSpPr/>
        <p:nvPr/>
      </p:nvGrpSpPr>
      <p:grpSpPr>
        <a:xfrm>
          <a:off x="0" y="0"/>
          <a:ext cx="0" cy="0"/>
          <a:chOff x="0" y="0"/>
          <a:chExt cx="0" cy="0"/>
        </a:xfrm>
      </p:grpSpPr>
      <p:sp>
        <p:nvSpPr>
          <p:cNvPr id="87" name="Google Shape;87;g35657823334_0_65:notes">
            <a:extLst>
              <a:ext uri="{FF2B5EF4-FFF2-40B4-BE49-F238E27FC236}">
                <a16:creationId xmlns:a16="http://schemas.microsoft.com/office/drawing/2014/main" id="{37946314-638E-2A93-DF82-AFBB7DC4CFB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5657823334_0_65:notes">
            <a:extLst>
              <a:ext uri="{FF2B5EF4-FFF2-40B4-BE49-F238E27FC236}">
                <a16:creationId xmlns:a16="http://schemas.microsoft.com/office/drawing/2014/main" id="{F1840D10-CA3D-CA25-97C5-B171DF88C7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6820321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576d9b7f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3576d9b7f8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5657823334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35657823334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ltLang="ko-KR"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576d9b7f82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576d9b7f82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576d9b7f82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3576d9b7f82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33034489-DB29-261A-C17C-CA85D79AB394}"/>
            </a:ext>
          </a:extLst>
        </p:cNvPr>
        <p:cNvGrpSpPr/>
        <p:nvPr/>
      </p:nvGrpSpPr>
      <p:grpSpPr>
        <a:xfrm>
          <a:off x="0" y="0"/>
          <a:ext cx="0" cy="0"/>
          <a:chOff x="0" y="0"/>
          <a:chExt cx="0" cy="0"/>
        </a:xfrm>
      </p:grpSpPr>
      <p:sp>
        <p:nvSpPr>
          <p:cNvPr id="135" name="Google Shape;135;g3576d9b7f82_0_21:notes">
            <a:extLst>
              <a:ext uri="{FF2B5EF4-FFF2-40B4-BE49-F238E27FC236}">
                <a16:creationId xmlns:a16="http://schemas.microsoft.com/office/drawing/2014/main" id="{AF886213-DF08-B248-19CC-8541BBDC15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3576d9b7f82_0_21:notes">
            <a:extLst>
              <a:ext uri="{FF2B5EF4-FFF2-40B4-BE49-F238E27FC236}">
                <a16:creationId xmlns:a16="http://schemas.microsoft.com/office/drawing/2014/main" id="{1D5F2878-A8CF-6B24-8248-33D0194D555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1478415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0CB0EA97-9D8E-BB44-39B5-FC3EB1CC0DA1}"/>
            </a:ext>
          </a:extLst>
        </p:cNvPr>
        <p:cNvGrpSpPr/>
        <p:nvPr/>
      </p:nvGrpSpPr>
      <p:grpSpPr>
        <a:xfrm>
          <a:off x="0" y="0"/>
          <a:ext cx="0" cy="0"/>
          <a:chOff x="0" y="0"/>
          <a:chExt cx="0" cy="0"/>
        </a:xfrm>
      </p:grpSpPr>
      <p:sp>
        <p:nvSpPr>
          <p:cNvPr id="102" name="Google Shape;102;g35657823334_0_24:notes">
            <a:extLst>
              <a:ext uri="{FF2B5EF4-FFF2-40B4-BE49-F238E27FC236}">
                <a16:creationId xmlns:a16="http://schemas.microsoft.com/office/drawing/2014/main" id="{C53D8106-BF13-03E7-FB72-12AC5959D04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5657823334_0_24:notes">
            <a:extLst>
              <a:ext uri="{FF2B5EF4-FFF2-40B4-BE49-F238E27FC236}">
                <a16:creationId xmlns:a16="http://schemas.microsoft.com/office/drawing/2014/main" id="{ECD3408B-B2A3-1C95-6474-EFBD5E0944E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3571471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D1FB034-FEC7-14F2-27FA-633CBB59D936}"/>
            </a:ext>
          </a:extLst>
        </p:cNvPr>
        <p:cNvGrpSpPr/>
        <p:nvPr/>
      </p:nvGrpSpPr>
      <p:grpSpPr>
        <a:xfrm>
          <a:off x="0" y="0"/>
          <a:ext cx="0" cy="0"/>
          <a:chOff x="0" y="0"/>
          <a:chExt cx="0" cy="0"/>
        </a:xfrm>
      </p:grpSpPr>
      <p:sp>
        <p:nvSpPr>
          <p:cNvPr id="102" name="Google Shape;102;g35657823334_0_24:notes">
            <a:extLst>
              <a:ext uri="{FF2B5EF4-FFF2-40B4-BE49-F238E27FC236}">
                <a16:creationId xmlns:a16="http://schemas.microsoft.com/office/drawing/2014/main" id="{AE046781-1548-32F8-1EEF-4011EF5013E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5657823334_0_24:notes">
            <a:extLst>
              <a:ext uri="{FF2B5EF4-FFF2-40B4-BE49-F238E27FC236}">
                <a16:creationId xmlns:a16="http://schemas.microsoft.com/office/drawing/2014/main" id="{9A034926-3DED-9CBD-9391-2F0756EA0E7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3290874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576d9b7f82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3576d9b7f82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576d9b7f82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3576d9b7f82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576d9b7f82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3576d9b7f82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576d9b7f82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3576d9b7f82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3ADD32F-D88F-5767-C170-699E2FDC55EF}"/>
            </a:ext>
          </a:extLst>
        </p:cNvPr>
        <p:cNvGrpSpPr/>
        <p:nvPr/>
      </p:nvGrpSpPr>
      <p:grpSpPr>
        <a:xfrm>
          <a:off x="0" y="0"/>
          <a:ext cx="0" cy="0"/>
          <a:chOff x="0" y="0"/>
          <a:chExt cx="0" cy="0"/>
        </a:xfrm>
      </p:grpSpPr>
      <p:sp>
        <p:nvSpPr>
          <p:cNvPr id="102" name="Google Shape;102;g35657823334_0_24:notes">
            <a:extLst>
              <a:ext uri="{FF2B5EF4-FFF2-40B4-BE49-F238E27FC236}">
                <a16:creationId xmlns:a16="http://schemas.microsoft.com/office/drawing/2014/main" id="{CCCCF5B3-337A-207B-1360-C24BE4A03E0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5657823334_0_24:notes">
            <a:extLst>
              <a:ext uri="{FF2B5EF4-FFF2-40B4-BE49-F238E27FC236}">
                <a16:creationId xmlns:a16="http://schemas.microsoft.com/office/drawing/2014/main" id="{F0DA0C62-CE46-3D6D-6947-7679FD12FA9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0548685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a:extLst>
            <a:ext uri="{FF2B5EF4-FFF2-40B4-BE49-F238E27FC236}">
              <a16:creationId xmlns:a16="http://schemas.microsoft.com/office/drawing/2014/main" id="{0AF1575E-6548-8BC3-E2D1-F1E97FB23449}"/>
            </a:ext>
          </a:extLst>
        </p:cNvPr>
        <p:cNvGrpSpPr/>
        <p:nvPr/>
      </p:nvGrpSpPr>
      <p:grpSpPr>
        <a:xfrm>
          <a:off x="0" y="0"/>
          <a:ext cx="0" cy="0"/>
          <a:chOff x="0" y="0"/>
          <a:chExt cx="0" cy="0"/>
        </a:xfrm>
      </p:grpSpPr>
      <p:sp>
        <p:nvSpPr>
          <p:cNvPr id="177" name="Google Shape;177;g3576d9b7f82_0_47:notes">
            <a:extLst>
              <a:ext uri="{FF2B5EF4-FFF2-40B4-BE49-F238E27FC236}">
                <a16:creationId xmlns:a16="http://schemas.microsoft.com/office/drawing/2014/main" id="{790E90F6-F2CF-0424-76FD-ED06C969578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3576d9b7f82_0_47:notes">
            <a:extLst>
              <a:ext uri="{FF2B5EF4-FFF2-40B4-BE49-F238E27FC236}">
                <a16:creationId xmlns:a16="http://schemas.microsoft.com/office/drawing/2014/main" id="{2047D3CC-E67F-6DFC-3872-92FE8217F94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4232483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a:extLst>
            <a:ext uri="{FF2B5EF4-FFF2-40B4-BE49-F238E27FC236}">
              <a16:creationId xmlns:a16="http://schemas.microsoft.com/office/drawing/2014/main" id="{1608AE07-F2F1-ACC8-03E8-0FAE613A688E}"/>
            </a:ext>
          </a:extLst>
        </p:cNvPr>
        <p:cNvGrpSpPr/>
        <p:nvPr/>
      </p:nvGrpSpPr>
      <p:grpSpPr>
        <a:xfrm>
          <a:off x="0" y="0"/>
          <a:ext cx="0" cy="0"/>
          <a:chOff x="0" y="0"/>
          <a:chExt cx="0" cy="0"/>
        </a:xfrm>
      </p:grpSpPr>
      <p:sp>
        <p:nvSpPr>
          <p:cNvPr id="150" name="Google Shape;150;g3576d9b7f82_0_37:notes">
            <a:extLst>
              <a:ext uri="{FF2B5EF4-FFF2-40B4-BE49-F238E27FC236}">
                <a16:creationId xmlns:a16="http://schemas.microsoft.com/office/drawing/2014/main" id="{54A12336-C5DD-56FF-7CB0-803D34DA91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3576d9b7f82_0_37:notes">
            <a:extLst>
              <a:ext uri="{FF2B5EF4-FFF2-40B4-BE49-F238E27FC236}">
                <a16:creationId xmlns:a16="http://schemas.microsoft.com/office/drawing/2014/main" id="{8FE1D26F-0B52-BA05-26B8-75354C11783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 typeface="Wingdings" pitchFamily="2" charset="2"/>
              <a:buChar char="è"/>
            </a:pPr>
            <a:endParaRPr dirty="0"/>
          </a:p>
        </p:txBody>
      </p:sp>
    </p:spTree>
    <p:extLst>
      <p:ext uri="{BB962C8B-B14F-4D97-AF65-F5344CB8AC3E}">
        <p14:creationId xmlns:p14="http://schemas.microsoft.com/office/powerpoint/2010/main" val="44622744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a:extLst>
            <a:ext uri="{FF2B5EF4-FFF2-40B4-BE49-F238E27FC236}">
              <a16:creationId xmlns:a16="http://schemas.microsoft.com/office/drawing/2014/main" id="{2353F262-075C-71A8-CA4D-0959D14502A9}"/>
            </a:ext>
          </a:extLst>
        </p:cNvPr>
        <p:cNvGrpSpPr/>
        <p:nvPr/>
      </p:nvGrpSpPr>
      <p:grpSpPr>
        <a:xfrm>
          <a:off x="0" y="0"/>
          <a:ext cx="0" cy="0"/>
          <a:chOff x="0" y="0"/>
          <a:chExt cx="0" cy="0"/>
        </a:xfrm>
      </p:grpSpPr>
      <p:sp>
        <p:nvSpPr>
          <p:cNvPr id="150" name="Google Shape;150;g3576d9b7f82_0_37:notes">
            <a:extLst>
              <a:ext uri="{FF2B5EF4-FFF2-40B4-BE49-F238E27FC236}">
                <a16:creationId xmlns:a16="http://schemas.microsoft.com/office/drawing/2014/main" id="{BEF9F49A-F827-79DF-FB08-A83CA31980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3576d9b7f82_0_37:notes">
            <a:extLst>
              <a:ext uri="{FF2B5EF4-FFF2-40B4-BE49-F238E27FC236}">
                <a16:creationId xmlns:a16="http://schemas.microsoft.com/office/drawing/2014/main" id="{18C0ABFB-4D2E-9148-7BCB-71E195FDB12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ltLang="ko-KR" dirty="0"/>
          </a:p>
        </p:txBody>
      </p:sp>
    </p:spTree>
    <p:extLst>
      <p:ext uri="{BB962C8B-B14F-4D97-AF65-F5344CB8AC3E}">
        <p14:creationId xmlns:p14="http://schemas.microsoft.com/office/powerpoint/2010/main" val="315084907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a:extLst>
            <a:ext uri="{FF2B5EF4-FFF2-40B4-BE49-F238E27FC236}">
              <a16:creationId xmlns:a16="http://schemas.microsoft.com/office/drawing/2014/main" id="{B6F17B89-C14D-0868-AF0A-B5C0596A2F70}"/>
            </a:ext>
          </a:extLst>
        </p:cNvPr>
        <p:cNvGrpSpPr/>
        <p:nvPr/>
      </p:nvGrpSpPr>
      <p:grpSpPr>
        <a:xfrm>
          <a:off x="0" y="0"/>
          <a:ext cx="0" cy="0"/>
          <a:chOff x="0" y="0"/>
          <a:chExt cx="0" cy="0"/>
        </a:xfrm>
      </p:grpSpPr>
      <p:sp>
        <p:nvSpPr>
          <p:cNvPr id="150" name="Google Shape;150;g3576d9b7f82_0_37:notes">
            <a:extLst>
              <a:ext uri="{FF2B5EF4-FFF2-40B4-BE49-F238E27FC236}">
                <a16:creationId xmlns:a16="http://schemas.microsoft.com/office/drawing/2014/main" id="{AD3878DD-203E-AFAD-E5BE-A57C8D4490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3576d9b7f82_0_37:notes">
            <a:extLst>
              <a:ext uri="{FF2B5EF4-FFF2-40B4-BE49-F238E27FC236}">
                <a16:creationId xmlns:a16="http://schemas.microsoft.com/office/drawing/2014/main" id="{8D5672A6-8160-EE0B-8756-D2DAB803B8B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8720908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a:extLst>
            <a:ext uri="{FF2B5EF4-FFF2-40B4-BE49-F238E27FC236}">
              <a16:creationId xmlns:a16="http://schemas.microsoft.com/office/drawing/2014/main" id="{BC26F0A2-FD52-2460-B9E9-6087BB7BF028}"/>
            </a:ext>
          </a:extLst>
        </p:cNvPr>
        <p:cNvGrpSpPr/>
        <p:nvPr/>
      </p:nvGrpSpPr>
      <p:grpSpPr>
        <a:xfrm>
          <a:off x="0" y="0"/>
          <a:ext cx="0" cy="0"/>
          <a:chOff x="0" y="0"/>
          <a:chExt cx="0" cy="0"/>
        </a:xfrm>
      </p:grpSpPr>
      <p:sp>
        <p:nvSpPr>
          <p:cNvPr id="150" name="Google Shape;150;g3576d9b7f82_0_37:notes">
            <a:extLst>
              <a:ext uri="{FF2B5EF4-FFF2-40B4-BE49-F238E27FC236}">
                <a16:creationId xmlns:a16="http://schemas.microsoft.com/office/drawing/2014/main" id="{418F8EC8-895E-5F5A-8B29-3C16FC32486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3576d9b7f82_0_37:notes">
            <a:extLst>
              <a:ext uri="{FF2B5EF4-FFF2-40B4-BE49-F238E27FC236}">
                <a16:creationId xmlns:a16="http://schemas.microsoft.com/office/drawing/2014/main" id="{20FC0AFE-02A4-75C9-3420-3D7CD9CC5A9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4771658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a:extLst>
            <a:ext uri="{FF2B5EF4-FFF2-40B4-BE49-F238E27FC236}">
              <a16:creationId xmlns:a16="http://schemas.microsoft.com/office/drawing/2014/main" id="{988FA239-8EA7-328C-D66F-DB386B30ED2C}"/>
            </a:ext>
          </a:extLst>
        </p:cNvPr>
        <p:cNvGrpSpPr/>
        <p:nvPr/>
      </p:nvGrpSpPr>
      <p:grpSpPr>
        <a:xfrm>
          <a:off x="0" y="0"/>
          <a:ext cx="0" cy="0"/>
          <a:chOff x="0" y="0"/>
          <a:chExt cx="0" cy="0"/>
        </a:xfrm>
      </p:grpSpPr>
      <p:sp>
        <p:nvSpPr>
          <p:cNvPr id="150" name="Google Shape;150;g3576d9b7f82_0_37:notes">
            <a:extLst>
              <a:ext uri="{FF2B5EF4-FFF2-40B4-BE49-F238E27FC236}">
                <a16:creationId xmlns:a16="http://schemas.microsoft.com/office/drawing/2014/main" id="{D164C4A7-4234-B693-AB92-9F44C044404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3576d9b7f82_0_37:notes">
            <a:extLst>
              <a:ext uri="{FF2B5EF4-FFF2-40B4-BE49-F238E27FC236}">
                <a16:creationId xmlns:a16="http://schemas.microsoft.com/office/drawing/2014/main" id="{600B5EC0-4729-4870-AC4E-BC200777C6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8190494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57DC399-3D05-279B-B5D0-6CD9B9620B7F}"/>
            </a:ext>
          </a:extLst>
        </p:cNvPr>
        <p:cNvGrpSpPr/>
        <p:nvPr/>
      </p:nvGrpSpPr>
      <p:grpSpPr>
        <a:xfrm>
          <a:off x="0" y="0"/>
          <a:ext cx="0" cy="0"/>
          <a:chOff x="0" y="0"/>
          <a:chExt cx="0" cy="0"/>
        </a:xfrm>
      </p:grpSpPr>
      <p:sp>
        <p:nvSpPr>
          <p:cNvPr id="102" name="Google Shape;102;g35657823334_0_24:notes">
            <a:extLst>
              <a:ext uri="{FF2B5EF4-FFF2-40B4-BE49-F238E27FC236}">
                <a16:creationId xmlns:a16="http://schemas.microsoft.com/office/drawing/2014/main" id="{A64C921E-8062-71B0-EECF-1C5A1576832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5657823334_0_24:notes">
            <a:extLst>
              <a:ext uri="{FF2B5EF4-FFF2-40B4-BE49-F238E27FC236}">
                <a16:creationId xmlns:a16="http://schemas.microsoft.com/office/drawing/2014/main" id="{D4791352-A5F1-8A5A-BC1A-DE793AD5ACF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4175208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945BAF6-1655-44E9-3C32-BDC7BB80178F}"/>
            </a:ext>
          </a:extLst>
        </p:cNvPr>
        <p:cNvGrpSpPr/>
        <p:nvPr/>
      </p:nvGrpSpPr>
      <p:grpSpPr>
        <a:xfrm>
          <a:off x="0" y="0"/>
          <a:ext cx="0" cy="0"/>
          <a:chOff x="0" y="0"/>
          <a:chExt cx="0" cy="0"/>
        </a:xfrm>
      </p:grpSpPr>
      <p:sp>
        <p:nvSpPr>
          <p:cNvPr id="102" name="Google Shape;102;g35657823334_0_24:notes">
            <a:extLst>
              <a:ext uri="{FF2B5EF4-FFF2-40B4-BE49-F238E27FC236}">
                <a16:creationId xmlns:a16="http://schemas.microsoft.com/office/drawing/2014/main" id="{7D2EB12C-1B19-8CBB-4CCC-0FD6A21B71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5657823334_0_24:notes">
            <a:extLst>
              <a:ext uri="{FF2B5EF4-FFF2-40B4-BE49-F238E27FC236}">
                <a16:creationId xmlns:a16="http://schemas.microsoft.com/office/drawing/2014/main" id="{C1FD3FD5-374B-8405-65E0-8357C62E44C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2155690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576d9b7f82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3576d9b7f82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5657823334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35657823334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marR="0" lvl="0" indent="-171450" algn="l" defTabSz="914400" rtl="0" eaLnBrk="1" fontAlgn="auto" latinLnBrk="0" hangingPunct="1">
              <a:lnSpc>
                <a:spcPct val="100000"/>
              </a:lnSpc>
              <a:spcBef>
                <a:spcPts val="0"/>
              </a:spcBef>
              <a:spcAft>
                <a:spcPts val="0"/>
              </a:spcAft>
              <a:buClr>
                <a:srgbClr val="000000"/>
              </a:buClr>
              <a:buSzPts val="1100"/>
              <a:buFont typeface="Wingdings" pitchFamily="2" charset="2"/>
              <a:buChar char="è"/>
              <a:tabLst/>
              <a:defRPr/>
            </a:pPr>
            <a:endParaRPr lang="ko-KR" alt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57713fe0e2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357713fe0e2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ltLang="ko-KR"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2D2FBC36-0D3D-ED19-58C3-5C05CE92311D}"/>
            </a:ext>
          </a:extLst>
        </p:cNvPr>
        <p:cNvGrpSpPr/>
        <p:nvPr/>
      </p:nvGrpSpPr>
      <p:grpSpPr>
        <a:xfrm>
          <a:off x="0" y="0"/>
          <a:ext cx="0" cy="0"/>
          <a:chOff x="0" y="0"/>
          <a:chExt cx="0" cy="0"/>
        </a:xfrm>
      </p:grpSpPr>
      <p:sp>
        <p:nvSpPr>
          <p:cNvPr id="192" name="Google Shape;192;g357713fe0e2_0_5:notes">
            <a:extLst>
              <a:ext uri="{FF2B5EF4-FFF2-40B4-BE49-F238E27FC236}">
                <a16:creationId xmlns:a16="http://schemas.microsoft.com/office/drawing/2014/main" id="{A1068B94-8605-270A-E0B0-9390B5F4E2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357713fe0e2_0_5:notes">
            <a:extLst>
              <a:ext uri="{FF2B5EF4-FFF2-40B4-BE49-F238E27FC236}">
                <a16:creationId xmlns:a16="http://schemas.microsoft.com/office/drawing/2014/main" id="{5C4E805F-C053-EF36-2366-BB70AB9B481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ltLang="ko-KR" dirty="0"/>
          </a:p>
        </p:txBody>
      </p:sp>
    </p:spTree>
    <p:extLst>
      <p:ext uri="{BB962C8B-B14F-4D97-AF65-F5344CB8AC3E}">
        <p14:creationId xmlns:p14="http://schemas.microsoft.com/office/powerpoint/2010/main" val="411393423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5899b01d61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35899b01d61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a:extLst>
            <a:ext uri="{FF2B5EF4-FFF2-40B4-BE49-F238E27FC236}">
              <a16:creationId xmlns:a16="http://schemas.microsoft.com/office/drawing/2014/main" id="{C51F804C-13F2-7C8B-6D9D-EAEE37E4ECE3}"/>
            </a:ext>
          </a:extLst>
        </p:cNvPr>
        <p:cNvGrpSpPr/>
        <p:nvPr/>
      </p:nvGrpSpPr>
      <p:grpSpPr>
        <a:xfrm>
          <a:off x="0" y="0"/>
          <a:ext cx="0" cy="0"/>
          <a:chOff x="0" y="0"/>
          <a:chExt cx="0" cy="0"/>
        </a:xfrm>
      </p:grpSpPr>
      <p:sp>
        <p:nvSpPr>
          <p:cNvPr id="201" name="Google Shape;201;g35899b01d61_0_1:notes">
            <a:extLst>
              <a:ext uri="{FF2B5EF4-FFF2-40B4-BE49-F238E27FC236}">
                <a16:creationId xmlns:a16="http://schemas.microsoft.com/office/drawing/2014/main" id="{4BAA37BA-E867-DAAB-69BB-1515B45485E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35899b01d61_0_1:notes">
            <a:extLst>
              <a:ext uri="{FF2B5EF4-FFF2-40B4-BE49-F238E27FC236}">
                <a16:creationId xmlns:a16="http://schemas.microsoft.com/office/drawing/2014/main" id="{29728A96-BB53-4679-824C-140B94B6CD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KR" dirty="0"/>
          </a:p>
        </p:txBody>
      </p:sp>
    </p:spTree>
    <p:extLst>
      <p:ext uri="{BB962C8B-B14F-4D97-AF65-F5344CB8AC3E}">
        <p14:creationId xmlns:p14="http://schemas.microsoft.com/office/powerpoint/2010/main" val="138843511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83E3FCA-2452-D5D0-F52F-A202F6A63DEE}"/>
            </a:ext>
          </a:extLst>
        </p:cNvPr>
        <p:cNvGrpSpPr/>
        <p:nvPr/>
      </p:nvGrpSpPr>
      <p:grpSpPr>
        <a:xfrm>
          <a:off x="0" y="0"/>
          <a:ext cx="0" cy="0"/>
          <a:chOff x="0" y="0"/>
          <a:chExt cx="0" cy="0"/>
        </a:xfrm>
      </p:grpSpPr>
      <p:sp>
        <p:nvSpPr>
          <p:cNvPr id="102" name="Google Shape;102;g35657823334_0_24:notes">
            <a:extLst>
              <a:ext uri="{FF2B5EF4-FFF2-40B4-BE49-F238E27FC236}">
                <a16:creationId xmlns:a16="http://schemas.microsoft.com/office/drawing/2014/main" id="{63CAB30C-E63F-DDD0-92D6-9BFC5C78B77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5657823334_0_24:notes">
            <a:extLst>
              <a:ext uri="{FF2B5EF4-FFF2-40B4-BE49-F238E27FC236}">
                <a16:creationId xmlns:a16="http://schemas.microsoft.com/office/drawing/2014/main" id="{0549C3C9-52A7-B245-90EE-2E9AC90372A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9474553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61133757-0FF2-BAC7-4708-C329EA64B4BC}"/>
            </a:ext>
          </a:extLst>
        </p:cNvPr>
        <p:cNvGrpSpPr/>
        <p:nvPr/>
      </p:nvGrpSpPr>
      <p:grpSpPr>
        <a:xfrm>
          <a:off x="0" y="0"/>
          <a:ext cx="0" cy="0"/>
          <a:chOff x="0" y="0"/>
          <a:chExt cx="0" cy="0"/>
        </a:xfrm>
      </p:grpSpPr>
      <p:sp>
        <p:nvSpPr>
          <p:cNvPr id="102" name="Google Shape;102;g35657823334_0_24:notes">
            <a:extLst>
              <a:ext uri="{FF2B5EF4-FFF2-40B4-BE49-F238E27FC236}">
                <a16:creationId xmlns:a16="http://schemas.microsoft.com/office/drawing/2014/main" id="{3FD155D6-8724-9088-BBEF-90323389F2B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5657823334_0_24:notes">
            <a:extLst>
              <a:ext uri="{FF2B5EF4-FFF2-40B4-BE49-F238E27FC236}">
                <a16:creationId xmlns:a16="http://schemas.microsoft.com/office/drawing/2014/main" id="{EE3CF1C2-A99A-B626-64A4-0F20F9CC6C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189544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20"/>
        <p:cNvGrpSpPr/>
        <p:nvPr/>
      </p:nvGrpSpPr>
      <p:grpSpPr>
        <a:xfrm>
          <a:off x="0" y="0"/>
          <a:ext cx="0" cy="0"/>
          <a:chOff x="0" y="0"/>
          <a:chExt cx="0" cy="0"/>
        </a:xfrm>
      </p:grpSpPr>
      <p:sp>
        <p:nvSpPr>
          <p:cNvPr id="21" name="Google Shape;21;p18"/>
          <p:cNvSpPr txBox="1">
            <a:spLocks noGrp="1"/>
          </p:cNvSpPr>
          <p:nvPr>
            <p:ph type="title"/>
          </p:nvPr>
        </p:nvSpPr>
        <p:spPr>
          <a:xfrm>
            <a:off x="417443" y="251482"/>
            <a:ext cx="8304145" cy="5088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485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18"/>
          <p:cNvSpPr txBox="1">
            <a:spLocks noGrp="1"/>
          </p:cNvSpPr>
          <p:nvPr>
            <p:ph type="body" idx="1"/>
          </p:nvPr>
        </p:nvSpPr>
        <p:spPr>
          <a:xfrm>
            <a:off x="417443" y="1036154"/>
            <a:ext cx="8304144" cy="3596568"/>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23" name="Google Shape;23;p18"/>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Calibri"/>
                <a:ea typeface="Calibri"/>
                <a:cs typeface="Calibri"/>
                <a:sym typeface="Calibri"/>
              </a:defRPr>
            </a:lvl9pPr>
          </a:lstStyle>
          <a:p>
            <a:endParaRPr/>
          </a:p>
        </p:txBody>
      </p:sp>
      <p:sp>
        <p:nvSpPr>
          <p:cNvPr id="24" name="Google Shape;24;p18"/>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Calibri"/>
                <a:ea typeface="Calibri"/>
                <a:cs typeface="Calibri"/>
                <a:sym typeface="Calibri"/>
              </a:defRPr>
            </a:lvl9pPr>
          </a:lstStyle>
          <a:p>
            <a:endParaRPr/>
          </a:p>
        </p:txBody>
      </p:sp>
      <p:sp>
        <p:nvSpPr>
          <p:cNvPr id="25" name="Google Shape;25;p18"/>
          <p:cNvSpPr txBox="1">
            <a:spLocks noGrp="1"/>
          </p:cNvSpPr>
          <p:nvPr>
            <p:ph type="sldNum" idx="12"/>
          </p:nvPr>
        </p:nvSpPr>
        <p:spPr>
          <a:xfrm>
            <a:off x="6346136" y="4767263"/>
            <a:ext cx="1667289"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1040251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ko"/>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hyperlink" Target="https://huggingface.co/datasets/openai/gsm8k" TargetMode="External"/><Relationship Id="rId2" Type="http://schemas.openxmlformats.org/officeDocument/2006/relationships/notesSlide" Target="../notesSlides/notesSlide22.xml"/><Relationship Id="rId1" Type="http://schemas.openxmlformats.org/officeDocument/2006/relationships/slideLayout" Target="../slideLayouts/slideLayout3.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hyperlink" Target="https://huggingface.co/datasets/openai/gsm8k" TargetMode="External"/><Relationship Id="rId2" Type="http://schemas.openxmlformats.org/officeDocument/2006/relationships/notesSlide" Target="../notesSlides/notesSlide23.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hyperlink" Target="https://huggingface.co/datasets/openai/gsm8k" TargetMode="External"/><Relationship Id="rId2" Type="http://schemas.openxmlformats.org/officeDocument/2006/relationships/notesSlide" Target="../notesSlides/notesSlide24.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hyperlink" Target="https://huggingface.co/datasets/openai/gsm8k" TargetMode="External"/><Relationship Id="rId2" Type="http://schemas.openxmlformats.org/officeDocument/2006/relationships/notesSlide" Target="../notesSlides/notesSlide25.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3.xml"/><Relationship Id="rId6" Type="http://schemas.openxmlformats.org/officeDocument/2006/relationships/image" Target="../media/image2.png"/><Relationship Id="rId5" Type="http://schemas.openxmlformats.org/officeDocument/2006/relationships/hyperlink" Target="https://openai.com/index/instruction-following/" TargetMode="External"/><Relationship Id="rId4" Type="http://schemas.openxmlformats.org/officeDocument/2006/relationships/image" Target="../media/image20.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3.xml"/><Relationship Id="rId6" Type="http://schemas.openxmlformats.org/officeDocument/2006/relationships/image" Target="../media/image2.png"/><Relationship Id="rId5" Type="http://schemas.openxmlformats.org/officeDocument/2006/relationships/image" Target="../media/image21.png"/><Relationship Id="rId4" Type="http://schemas.openxmlformats.org/officeDocument/2006/relationships/hyperlink" Target="https://openai.com/index/instruction-following/"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22.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23.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7.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1.png"/></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8.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1.png"/></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9.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1.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27.pn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4.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1.png"/></Relationships>
</file>

<file path=ppt/slides/_rels/slide4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5.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1.png"/></Relationships>
</file>

<file path=ppt/slides/_rels/slide4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6.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1.png"/></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31.png"/></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31.png"/></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32.png"/></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33.png"/></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3.xml"/><Relationship Id="rId6" Type="http://schemas.openxmlformats.org/officeDocument/2006/relationships/image" Target="../media/image2.png"/><Relationship Id="rId5" Type="http://schemas.openxmlformats.org/officeDocument/2006/relationships/image" Target="../media/image35.png"/><Relationship Id="rId4" Type="http://schemas.openxmlformats.org/officeDocument/2006/relationships/image" Target="../media/image34.png"/></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5.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34.png"/></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7.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36.png"/></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37.png"/></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9.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37.png"/></Relationships>
</file>

<file path=ppt/slides/_rels/slide6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0.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1.png"/></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1.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39.png"/></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2.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40.png"/></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3.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US" altLang="ko" sz="4000" b="1">
                <a:solidFill>
                  <a:srgbClr val="004856"/>
                </a:solidFill>
              </a:rPr>
              <a:t>Large Language Models:</a:t>
            </a:r>
            <a:br>
              <a:rPr lang="en-US" altLang="ko" sz="4000" b="1">
                <a:solidFill>
                  <a:srgbClr val="004856"/>
                </a:solidFill>
              </a:rPr>
            </a:br>
            <a:r>
              <a:rPr lang="en-US" altLang="ko" sz="4000" b="1">
                <a:solidFill>
                  <a:srgbClr val="004856"/>
                </a:solidFill>
              </a:rPr>
              <a:t>Prompting</a:t>
            </a:r>
            <a:endParaRPr lang="en-US" sz="4000" dirty="0"/>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p>
            <a:pPr marL="0" lvl="0" indent="0" algn="ctr" rtl="0">
              <a:lnSpc>
                <a:spcPct val="90000"/>
              </a:lnSpc>
              <a:spcBef>
                <a:spcPts val="1000"/>
              </a:spcBef>
              <a:spcAft>
                <a:spcPts val="0"/>
              </a:spcAft>
              <a:buClr>
                <a:schemeClr val="dk1"/>
              </a:buClr>
              <a:buSzPts val="1100"/>
              <a:buFont typeface="Arial"/>
              <a:buNone/>
            </a:pPr>
            <a:r>
              <a:rPr lang="en-US" altLang="ko" sz="1800" b="1">
                <a:solidFill>
                  <a:schemeClr val="dk1"/>
                </a:solidFill>
              </a:rPr>
              <a:t>Dongwook Choi</a:t>
            </a:r>
          </a:p>
          <a:p>
            <a:pPr marL="0" lvl="0" indent="0" algn="ctr" rtl="0">
              <a:lnSpc>
                <a:spcPct val="90000"/>
              </a:lnSpc>
              <a:spcBef>
                <a:spcPts val="1000"/>
              </a:spcBef>
              <a:spcAft>
                <a:spcPts val="0"/>
              </a:spcAft>
              <a:buClr>
                <a:schemeClr val="dk1"/>
              </a:buClr>
              <a:buSzPts val="1100"/>
              <a:buFont typeface="Arial"/>
              <a:buNone/>
            </a:pPr>
            <a:r>
              <a:rPr lang="en-US" altLang="ko" sz="1800" b="1">
                <a:solidFill>
                  <a:schemeClr val="dk1"/>
                </a:solidFill>
              </a:rPr>
              <a:t>Language &amp; AGI Lab, Yonsei University</a:t>
            </a:r>
          </a:p>
          <a:p>
            <a:pPr marL="0" lvl="0" indent="0" algn="ctr" rtl="0">
              <a:lnSpc>
                <a:spcPct val="90000"/>
              </a:lnSpc>
              <a:spcBef>
                <a:spcPts val="1000"/>
              </a:spcBef>
              <a:spcAft>
                <a:spcPts val="0"/>
              </a:spcAft>
              <a:buClr>
                <a:schemeClr val="dk1"/>
              </a:buClr>
              <a:buSzPts val="1100"/>
              <a:buFont typeface="Arial"/>
              <a:buNone/>
            </a:pPr>
            <a:r>
              <a:rPr lang="en-US" sz="1800" b="1">
                <a:solidFill>
                  <a:schemeClr val="dk1"/>
                </a:solidFill>
              </a:rPr>
              <a:t>2025.06.18</a:t>
            </a:r>
          </a:p>
          <a:p>
            <a:pPr marL="0" lvl="0" indent="0" algn="ctr" rtl="0">
              <a:spcBef>
                <a:spcPts val="0"/>
              </a:spcBef>
              <a:spcAft>
                <a:spcPts val="0"/>
              </a:spcAft>
              <a:buNone/>
            </a:pPr>
            <a:endParaRPr dirty="0"/>
          </a:p>
        </p:txBody>
      </p:sp>
      <p:pic>
        <p:nvPicPr>
          <p:cNvPr id="56" name="Google Shape;56;p13"/>
          <p:cNvPicPr preferRelativeResize="0"/>
          <p:nvPr/>
        </p:nvPicPr>
        <p:blipFill>
          <a:blip r:embed="rId3"/>
          <a:srcRect/>
          <a:stretch/>
        </p:blipFill>
        <p:spPr>
          <a:xfrm>
            <a:off x="7829550" y="4662460"/>
            <a:ext cx="1314450" cy="438150"/>
          </a:xfrm>
          <a:prstGeom prst="rect">
            <a:avLst/>
          </a:prstGeom>
          <a:noFill/>
          <a:ln>
            <a:noFill/>
          </a:ln>
        </p:spPr>
      </p:pic>
      <p:pic>
        <p:nvPicPr>
          <p:cNvPr id="2" name="그림 8" descr="폰트, 그래픽, 텍스트, 스크린샷이(가) 표시된 사진&#10;&#10;자동 생성된 설명">
            <a:extLst>
              <a:ext uri="{FF2B5EF4-FFF2-40B4-BE49-F238E27FC236}">
                <a16:creationId xmlns:a16="http://schemas.microsoft.com/office/drawing/2014/main" id="{F25E6D1F-95DE-FD35-63B7-0BFA96463B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1">
          <a:extLst>
            <a:ext uri="{FF2B5EF4-FFF2-40B4-BE49-F238E27FC236}">
              <a16:creationId xmlns:a16="http://schemas.microsoft.com/office/drawing/2014/main" id="{9C8D1DC8-0109-01A5-F50C-EE2786637F4F}"/>
            </a:ext>
          </a:extLst>
        </p:cNvPr>
        <p:cNvGrpSpPr/>
        <p:nvPr/>
      </p:nvGrpSpPr>
      <p:grpSpPr>
        <a:xfrm>
          <a:off x="0" y="0"/>
          <a:ext cx="0" cy="0"/>
          <a:chOff x="0" y="0"/>
          <a:chExt cx="0" cy="0"/>
        </a:xfrm>
      </p:grpSpPr>
      <p:sp>
        <p:nvSpPr>
          <p:cNvPr id="82" name="Google Shape;82;p17">
            <a:extLst>
              <a:ext uri="{FF2B5EF4-FFF2-40B4-BE49-F238E27FC236}">
                <a16:creationId xmlns:a16="http://schemas.microsoft.com/office/drawing/2014/main" id="{00B356FE-B812-C2FC-9B24-9DDFFDAB2F13}"/>
              </a:ext>
            </a:extLst>
          </p:cNvPr>
          <p:cNvSpPr txBox="1">
            <a:spLocks noGrp="1"/>
          </p:cNvSpPr>
          <p:nvPr>
            <p:ph type="title"/>
          </p:nvPr>
        </p:nvSpPr>
        <p:spPr>
          <a:xfrm>
            <a:off x="311700" y="2882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altLang="ko" b="1" dirty="0">
                <a:solidFill>
                  <a:srgbClr val="004856"/>
                </a:solidFill>
              </a:rPr>
              <a:t>Contents</a:t>
            </a:r>
            <a:endParaRPr dirty="0"/>
          </a:p>
        </p:txBody>
      </p:sp>
      <p:sp>
        <p:nvSpPr>
          <p:cNvPr id="83" name="Google Shape;83;p17">
            <a:extLst>
              <a:ext uri="{FF2B5EF4-FFF2-40B4-BE49-F238E27FC236}">
                <a16:creationId xmlns:a16="http://schemas.microsoft.com/office/drawing/2014/main" id="{B7C0236E-106E-3A3D-DF84-7A0DC4C692D9}"/>
              </a:ext>
            </a:extLst>
          </p:cNvPr>
          <p:cNvSpPr txBox="1">
            <a:spLocks noGrp="1"/>
          </p:cNvSpPr>
          <p:nvPr>
            <p:ph type="body" idx="1"/>
          </p:nvPr>
        </p:nvSpPr>
        <p:spPr>
          <a:xfrm>
            <a:off x="311700" y="1118750"/>
            <a:ext cx="8520600" cy="3416400"/>
          </a:xfrm>
          <a:prstGeom prst="rect">
            <a:avLst/>
          </a:prstGeom>
        </p:spPr>
        <p:txBody>
          <a:bodyPr spcFirstLastPara="1" wrap="square" lIns="91425" tIns="91425" rIns="91425" bIns="91425" anchor="t" anchorCtr="0">
            <a:normAutofit lnSpcReduction="10000"/>
          </a:bodyPr>
          <a:lstStyle/>
          <a:p>
            <a:pPr marL="482600" lvl="0" algn="l" rtl="0">
              <a:spcBef>
                <a:spcPts val="0"/>
              </a:spcBef>
              <a:spcAft>
                <a:spcPts val="0"/>
              </a:spcAft>
              <a:buSzPts val="1400"/>
              <a:buFont typeface="+mj-lt"/>
              <a:buAutoNum type="arabicPeriod"/>
            </a:pPr>
            <a:r>
              <a:rPr lang="en-US" b="1" dirty="0">
                <a:solidFill>
                  <a:schemeClr val="tx1"/>
                </a:solidFill>
              </a:rPr>
              <a:t>Introduction</a:t>
            </a:r>
          </a:p>
          <a:p>
            <a:pPr marL="482600" lvl="0" algn="l" rtl="0">
              <a:spcBef>
                <a:spcPts val="0"/>
              </a:spcBef>
              <a:spcAft>
                <a:spcPts val="0"/>
              </a:spcAft>
              <a:buSzPts val="1400"/>
              <a:buFont typeface="+mj-lt"/>
              <a:buAutoNum type="arabicPeriod"/>
            </a:pPr>
            <a:endParaRPr lang="en-US" b="1" dirty="0">
              <a:solidFill>
                <a:schemeClr val="tx1"/>
              </a:solidFill>
            </a:endParaRPr>
          </a:p>
          <a:p>
            <a:pPr marL="482600" lvl="0" algn="l" rtl="0">
              <a:spcBef>
                <a:spcPts val="0"/>
              </a:spcBef>
              <a:spcAft>
                <a:spcPts val="0"/>
              </a:spcAft>
              <a:buSzPts val="1400"/>
              <a:buFont typeface="+mj-lt"/>
              <a:buAutoNum type="arabicPeriod"/>
            </a:pPr>
            <a:r>
              <a:rPr lang="en-US" b="1" dirty="0">
                <a:solidFill>
                  <a:schemeClr val="tx1"/>
                </a:solidFill>
              </a:rPr>
              <a:t>Recap</a:t>
            </a:r>
          </a:p>
          <a:p>
            <a:pPr marL="482600" lvl="0" algn="l" rtl="0">
              <a:spcBef>
                <a:spcPts val="0"/>
              </a:spcBef>
              <a:spcAft>
                <a:spcPts val="0"/>
              </a:spcAft>
              <a:buSzPts val="1400"/>
              <a:buFont typeface="+mj-lt"/>
              <a:buAutoNum type="arabicPeriod"/>
            </a:pPr>
            <a:endParaRPr lang="en-US" b="1" dirty="0">
              <a:solidFill>
                <a:schemeClr val="tx1"/>
              </a:solidFill>
            </a:endParaRPr>
          </a:p>
          <a:p>
            <a:pPr marL="482600" lvl="0" algn="l" rtl="0">
              <a:spcBef>
                <a:spcPts val="0"/>
              </a:spcBef>
              <a:spcAft>
                <a:spcPts val="0"/>
              </a:spcAft>
              <a:buSzPts val="1400"/>
              <a:buFont typeface="+mj-lt"/>
              <a:buAutoNum type="arabicPeriod"/>
            </a:pPr>
            <a:r>
              <a:rPr lang="en-US" b="1" dirty="0">
                <a:solidFill>
                  <a:schemeClr val="tx1"/>
                </a:solidFill>
              </a:rPr>
              <a:t>Emergent of Large Language Models</a:t>
            </a:r>
          </a:p>
          <a:p>
            <a:pPr marL="939800" lvl="1">
              <a:buFont typeface="+mj-lt"/>
              <a:buAutoNum type="arabicPeriod"/>
            </a:pPr>
            <a:r>
              <a:rPr lang="en-US" dirty="0">
                <a:solidFill>
                  <a:schemeClr val="tx1"/>
                </a:solidFill>
              </a:rPr>
              <a:t>In-Context Learning</a:t>
            </a:r>
          </a:p>
          <a:p>
            <a:pPr marL="939800" lvl="1">
              <a:buFont typeface="+mj-lt"/>
              <a:buAutoNum type="arabicPeriod"/>
            </a:pPr>
            <a:r>
              <a:rPr lang="en-US" dirty="0">
                <a:solidFill>
                  <a:schemeClr val="tx1"/>
                </a:solidFill>
              </a:rPr>
              <a:t>Instruction Tuning</a:t>
            </a:r>
          </a:p>
          <a:p>
            <a:pPr marL="482600" lvl="0" algn="l" rtl="0">
              <a:spcBef>
                <a:spcPts val="0"/>
              </a:spcBef>
              <a:spcAft>
                <a:spcPts val="0"/>
              </a:spcAft>
              <a:buSzPts val="1400"/>
              <a:buFont typeface="+mj-lt"/>
              <a:buAutoNum type="arabicPeriod"/>
            </a:pPr>
            <a:endParaRPr lang="en-US" dirty="0">
              <a:solidFill>
                <a:schemeClr val="tx1"/>
              </a:solidFill>
            </a:endParaRPr>
          </a:p>
          <a:p>
            <a:pPr marL="482600" lvl="0" algn="l" rtl="0">
              <a:spcBef>
                <a:spcPts val="0"/>
              </a:spcBef>
              <a:spcAft>
                <a:spcPts val="0"/>
              </a:spcAft>
              <a:buSzPts val="1400"/>
              <a:buFont typeface="+mj-lt"/>
              <a:buAutoNum type="arabicPeriod"/>
            </a:pPr>
            <a:r>
              <a:rPr lang="en-US" b="1" dirty="0">
                <a:solidFill>
                  <a:schemeClr val="tx1"/>
                </a:solidFill>
              </a:rPr>
              <a:t>How can we better use LLMs?</a:t>
            </a:r>
          </a:p>
          <a:p>
            <a:pPr marL="939800" lvl="1">
              <a:buFont typeface="+mj-lt"/>
              <a:buAutoNum type="arabicPeriod"/>
            </a:pPr>
            <a:r>
              <a:rPr lang="en-US" dirty="0">
                <a:solidFill>
                  <a:schemeClr val="tx1"/>
                </a:solidFill>
              </a:rPr>
              <a:t>Chain-of-Thoughts</a:t>
            </a:r>
          </a:p>
          <a:p>
            <a:pPr marL="939800" lvl="1">
              <a:buFont typeface="+mj-lt"/>
              <a:buAutoNum type="arabicPeriod"/>
            </a:pPr>
            <a:r>
              <a:rPr lang="en-US" dirty="0">
                <a:solidFill>
                  <a:schemeClr val="tx1"/>
                </a:solidFill>
              </a:rPr>
              <a:t>Self-Consistency</a:t>
            </a:r>
          </a:p>
          <a:p>
            <a:pPr marL="939800" lvl="1">
              <a:buFont typeface="+mj-lt"/>
              <a:buAutoNum type="arabicPeriod"/>
            </a:pPr>
            <a:r>
              <a:rPr lang="en-US" dirty="0" err="1">
                <a:solidFill>
                  <a:schemeClr val="tx1"/>
                </a:solidFill>
              </a:rPr>
              <a:t>ReAct</a:t>
            </a:r>
            <a:endParaRPr dirty="0">
              <a:solidFill>
                <a:schemeClr val="tx1"/>
              </a:solidFill>
            </a:endParaRPr>
          </a:p>
        </p:txBody>
      </p:sp>
      <p:pic>
        <p:nvPicPr>
          <p:cNvPr id="3" name="Google Shape;56;p13">
            <a:extLst>
              <a:ext uri="{FF2B5EF4-FFF2-40B4-BE49-F238E27FC236}">
                <a16:creationId xmlns:a16="http://schemas.microsoft.com/office/drawing/2014/main" id="{807735D1-5C5E-5DA9-E2D2-17AFBF4535A7}"/>
              </a:ext>
            </a:extLst>
          </p:cNvPr>
          <p:cNvPicPr preferRelativeResize="0"/>
          <p:nvPr/>
        </p:nvPicPr>
        <p:blipFill>
          <a:blip r:embed="rId3"/>
          <a:srcRect/>
          <a:stretch/>
        </p:blipFill>
        <p:spPr>
          <a:xfrm>
            <a:off x="7829550" y="4662460"/>
            <a:ext cx="1314450" cy="438150"/>
          </a:xfrm>
          <a:prstGeom prst="rect">
            <a:avLst/>
          </a:prstGeom>
          <a:noFill/>
          <a:ln>
            <a:noFill/>
          </a:ln>
        </p:spPr>
      </p:pic>
      <p:pic>
        <p:nvPicPr>
          <p:cNvPr id="2" name="그림 8" descr="폰트, 그래픽, 텍스트, 스크린샷이(가) 표시된 사진&#10;&#10;자동 생성된 설명">
            <a:extLst>
              <a:ext uri="{FF2B5EF4-FFF2-40B4-BE49-F238E27FC236}">
                <a16:creationId xmlns:a16="http://schemas.microsoft.com/office/drawing/2014/main" id="{332F9859-1A2B-501F-6DC7-400E46F3A8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63689" y="66336"/>
            <a:ext cx="1109973" cy="554987"/>
          </a:xfrm>
          <a:prstGeom prst="rect">
            <a:avLst/>
          </a:prstGeom>
        </p:spPr>
      </p:pic>
    </p:spTree>
    <p:extLst>
      <p:ext uri="{BB962C8B-B14F-4D97-AF65-F5344CB8AC3E}">
        <p14:creationId xmlns:p14="http://schemas.microsoft.com/office/powerpoint/2010/main" val="31789803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ctrTitle"/>
          </p:nvPr>
        </p:nvSpPr>
        <p:spPr>
          <a:xfrm>
            <a:off x="311700" y="2226150"/>
            <a:ext cx="8520600" cy="6912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ko" sz="4000" b="1">
                <a:solidFill>
                  <a:srgbClr val="004856"/>
                </a:solidFill>
              </a:rPr>
              <a:t>Introduction</a:t>
            </a:r>
            <a:endParaRPr sz="4000"/>
          </a:p>
        </p:txBody>
      </p:sp>
      <p:pic>
        <p:nvPicPr>
          <p:cNvPr id="2" name="Google Shape;56;p13">
            <a:extLst>
              <a:ext uri="{FF2B5EF4-FFF2-40B4-BE49-F238E27FC236}">
                <a16:creationId xmlns:a16="http://schemas.microsoft.com/office/drawing/2014/main" id="{C55ED841-A806-3CC2-5257-973EE6ED7C98}"/>
              </a:ext>
            </a:extLst>
          </p:cNvPr>
          <p:cNvPicPr preferRelativeResize="0"/>
          <p:nvPr/>
        </p:nvPicPr>
        <p:blipFill>
          <a:blip r:embed="rId3"/>
          <a:srcRect/>
          <a:stretch/>
        </p:blipFill>
        <p:spPr>
          <a:xfrm>
            <a:off x="7829550" y="4662460"/>
            <a:ext cx="1314450" cy="438150"/>
          </a:xfrm>
          <a:prstGeom prst="rect">
            <a:avLst/>
          </a:prstGeom>
          <a:noFill/>
          <a:ln>
            <a:noFill/>
          </a:ln>
        </p:spPr>
      </p:pic>
      <p:pic>
        <p:nvPicPr>
          <p:cNvPr id="3" name="그림 8" descr="폰트, 그래픽, 텍스트, 스크린샷이(가) 표시된 사진&#10;&#10;자동 생성된 설명">
            <a:extLst>
              <a:ext uri="{FF2B5EF4-FFF2-40B4-BE49-F238E27FC236}">
                <a16:creationId xmlns:a16="http://schemas.microsoft.com/office/drawing/2014/main" id="{199D3EFB-52D5-8D77-B0FA-6192581EF80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pic>
        <p:nvPicPr>
          <p:cNvPr id="68" name="Google Shape;68;p15"/>
          <p:cNvPicPr preferRelativeResize="0"/>
          <p:nvPr/>
        </p:nvPicPr>
        <p:blipFill>
          <a:blip r:embed="rId3">
            <a:alphaModFix/>
          </a:blip>
          <a:stretch>
            <a:fillRect/>
          </a:stretch>
        </p:blipFill>
        <p:spPr>
          <a:xfrm>
            <a:off x="1175261" y="1046463"/>
            <a:ext cx="6793488" cy="3459950"/>
          </a:xfrm>
          <a:prstGeom prst="rect">
            <a:avLst/>
          </a:prstGeom>
          <a:noFill/>
          <a:ln>
            <a:noFill/>
          </a:ln>
        </p:spPr>
      </p:pic>
      <p:sp>
        <p:nvSpPr>
          <p:cNvPr id="2" name="Google Shape;82;p17">
            <a:extLst>
              <a:ext uri="{FF2B5EF4-FFF2-40B4-BE49-F238E27FC236}">
                <a16:creationId xmlns:a16="http://schemas.microsoft.com/office/drawing/2014/main" id="{CBF4D583-F939-A470-D937-5478485E1611}"/>
              </a:ext>
            </a:extLst>
          </p:cNvPr>
          <p:cNvSpPr txBox="1">
            <a:spLocks/>
          </p:cNvSpPr>
          <p:nvPr/>
        </p:nvSpPr>
        <p:spPr>
          <a:xfrm>
            <a:off x="311700" y="288275"/>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b="1" dirty="0">
                <a:solidFill>
                  <a:srgbClr val="004856"/>
                </a:solidFill>
              </a:rPr>
              <a:t>Introduction</a:t>
            </a:r>
            <a:endParaRPr lang="en-US" dirty="0"/>
          </a:p>
        </p:txBody>
      </p:sp>
      <p:pic>
        <p:nvPicPr>
          <p:cNvPr id="5" name="Google Shape;56;p13">
            <a:extLst>
              <a:ext uri="{FF2B5EF4-FFF2-40B4-BE49-F238E27FC236}">
                <a16:creationId xmlns:a16="http://schemas.microsoft.com/office/drawing/2014/main" id="{DF96534E-04D7-2C93-70BF-69E44293D972}"/>
              </a:ext>
            </a:extLst>
          </p:cNvPr>
          <p:cNvPicPr preferRelativeResize="0"/>
          <p:nvPr/>
        </p:nvPicPr>
        <p:blipFill>
          <a:blip r:embed="rId4"/>
          <a:srcRect/>
          <a:stretch/>
        </p:blipFill>
        <p:spPr>
          <a:xfrm>
            <a:off x="7829550" y="4662460"/>
            <a:ext cx="1314450" cy="438150"/>
          </a:xfrm>
          <a:prstGeom prst="rect">
            <a:avLst/>
          </a:prstGeom>
          <a:noFill/>
          <a:ln>
            <a:noFill/>
          </a:ln>
        </p:spPr>
      </p:pic>
      <p:pic>
        <p:nvPicPr>
          <p:cNvPr id="3" name="그림 8" descr="폰트, 그래픽, 텍스트, 스크린샷이(가) 표시된 사진&#10;&#10;자동 생성된 설명">
            <a:extLst>
              <a:ext uri="{FF2B5EF4-FFF2-40B4-BE49-F238E27FC236}">
                <a16:creationId xmlns:a16="http://schemas.microsoft.com/office/drawing/2014/main" id="{48E52EBB-BA12-5BA1-84F9-06488ADDCA4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8" name="Google Shape;118;g2ea9da67292_0_17"/>
          <p:cNvSpPr txBox="1">
            <a:spLocks noGrp="1"/>
          </p:cNvSpPr>
          <p:nvPr>
            <p:ph type="body" idx="1"/>
          </p:nvPr>
        </p:nvSpPr>
        <p:spPr>
          <a:xfrm>
            <a:off x="-175803" y="863349"/>
            <a:ext cx="8304075" cy="3596625"/>
          </a:xfrm>
          <a:prstGeom prst="rect">
            <a:avLst/>
          </a:prstGeom>
          <a:noFill/>
          <a:ln>
            <a:noFill/>
          </a:ln>
        </p:spPr>
        <p:txBody>
          <a:bodyPr spcFirstLastPara="1" wrap="square" lIns="68569" tIns="34275" rIns="68569" bIns="34275" anchor="t" anchorCtr="0">
            <a:normAutofit/>
          </a:bodyPr>
          <a:lstStyle/>
          <a:p>
            <a:pPr marL="900113" indent="-214313">
              <a:lnSpc>
                <a:spcPct val="150000"/>
              </a:lnSpc>
            </a:pPr>
            <a:r>
              <a:rPr lang="en-US" sz="1350" b="1" dirty="0">
                <a:solidFill>
                  <a:schemeClr val="tx1"/>
                </a:solidFill>
              </a:rPr>
              <a:t>Language models can solve computer tasks (Kim et al., 2023)</a:t>
            </a:r>
            <a:endParaRPr sz="1350" b="1" dirty="0">
              <a:solidFill>
                <a:schemeClr val="tx1"/>
              </a:solidFill>
            </a:endParaRPr>
          </a:p>
        </p:txBody>
      </p:sp>
      <p:pic>
        <p:nvPicPr>
          <p:cNvPr id="2" name="Picture 1">
            <a:extLst>
              <a:ext uri="{FF2B5EF4-FFF2-40B4-BE49-F238E27FC236}">
                <a16:creationId xmlns:a16="http://schemas.microsoft.com/office/drawing/2014/main" id="{9BE08415-CDFE-EC24-93D5-76081F652BD3}"/>
              </a:ext>
            </a:extLst>
          </p:cNvPr>
          <p:cNvPicPr>
            <a:picLocks noChangeAspect="1"/>
          </p:cNvPicPr>
          <p:nvPr/>
        </p:nvPicPr>
        <p:blipFill>
          <a:blip r:embed="rId3"/>
          <a:stretch>
            <a:fillRect/>
          </a:stretch>
        </p:blipFill>
        <p:spPr>
          <a:xfrm>
            <a:off x="1214930" y="1265947"/>
            <a:ext cx="6714140" cy="3589278"/>
          </a:xfrm>
          <a:prstGeom prst="rect">
            <a:avLst/>
          </a:prstGeom>
        </p:spPr>
      </p:pic>
      <p:sp>
        <p:nvSpPr>
          <p:cNvPr id="9" name="Google Shape;82;p17">
            <a:extLst>
              <a:ext uri="{FF2B5EF4-FFF2-40B4-BE49-F238E27FC236}">
                <a16:creationId xmlns:a16="http://schemas.microsoft.com/office/drawing/2014/main" id="{D15B695C-445F-8BEF-CC09-3F4EA6CD5ED9}"/>
              </a:ext>
            </a:extLst>
          </p:cNvPr>
          <p:cNvSpPr txBox="1">
            <a:spLocks/>
          </p:cNvSpPr>
          <p:nvPr/>
        </p:nvSpPr>
        <p:spPr>
          <a:xfrm>
            <a:off x="311700" y="288275"/>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b="1" dirty="0">
                <a:solidFill>
                  <a:srgbClr val="004856"/>
                </a:solidFill>
              </a:rPr>
              <a:t>Introduction</a:t>
            </a:r>
            <a:endParaRPr lang="en-US" dirty="0"/>
          </a:p>
        </p:txBody>
      </p:sp>
      <p:pic>
        <p:nvPicPr>
          <p:cNvPr id="11" name="Google Shape;56;p13">
            <a:extLst>
              <a:ext uri="{FF2B5EF4-FFF2-40B4-BE49-F238E27FC236}">
                <a16:creationId xmlns:a16="http://schemas.microsoft.com/office/drawing/2014/main" id="{41DF534E-1E81-F16A-0560-B2CD0024DB13}"/>
              </a:ext>
            </a:extLst>
          </p:cNvPr>
          <p:cNvPicPr preferRelativeResize="0"/>
          <p:nvPr/>
        </p:nvPicPr>
        <p:blipFill>
          <a:blip r:embed="rId4"/>
          <a:srcRect/>
          <a:stretch/>
        </p:blipFill>
        <p:spPr>
          <a:xfrm>
            <a:off x="7829550" y="4662460"/>
            <a:ext cx="1314450" cy="438150"/>
          </a:xfrm>
          <a:prstGeom prst="rect">
            <a:avLst/>
          </a:prstGeom>
          <a:noFill/>
          <a:ln>
            <a:noFill/>
          </a:ln>
        </p:spPr>
      </p:pic>
      <p:pic>
        <p:nvPicPr>
          <p:cNvPr id="3" name="그림 8" descr="폰트, 그래픽, 텍스트, 스크린샷이(가) 표시된 사진&#10;&#10;자동 생성된 설명">
            <a:extLst>
              <a:ext uri="{FF2B5EF4-FFF2-40B4-BE49-F238E27FC236}">
                <a16:creationId xmlns:a16="http://schemas.microsoft.com/office/drawing/2014/main" id="{07120DE3-0CB8-D0AB-40ED-73298EB9FAD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extLst>
      <p:ext uri="{BB962C8B-B14F-4D97-AF65-F5344CB8AC3E}">
        <p14:creationId xmlns:p14="http://schemas.microsoft.com/office/powerpoint/2010/main" val="34883509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6" name="Google Shape;118;g2ea9da67292_0_17">
            <a:extLst>
              <a:ext uri="{FF2B5EF4-FFF2-40B4-BE49-F238E27FC236}">
                <a16:creationId xmlns:a16="http://schemas.microsoft.com/office/drawing/2014/main" id="{A07D644B-1B98-22A4-5803-2E779F35DA8A}"/>
              </a:ext>
            </a:extLst>
          </p:cNvPr>
          <p:cNvSpPr txBox="1">
            <a:spLocks/>
          </p:cNvSpPr>
          <p:nvPr/>
        </p:nvSpPr>
        <p:spPr>
          <a:xfrm>
            <a:off x="-175803" y="863349"/>
            <a:ext cx="8304075" cy="3596625"/>
          </a:xfrm>
          <a:prstGeom prst="rect">
            <a:avLst/>
          </a:prstGeom>
          <a:noFill/>
          <a:ln>
            <a:noFill/>
          </a:ln>
        </p:spPr>
        <p:txBody>
          <a:bodyPr spcFirstLastPara="1" wrap="square" lIns="68569" tIns="34275" rIns="68569" bIns="34275" anchor="t" anchorCtr="0">
            <a:normAutofit/>
          </a:bodyPr>
          <a:lstStyle>
            <a:defPPr marR="0" lvl="0" algn="l" rtl="0">
              <a:lnSpc>
                <a:spcPct val="100000"/>
              </a:lnSpc>
              <a:spcBef>
                <a:spcPts val="0"/>
              </a:spcBef>
              <a:spcAft>
                <a:spcPts val="0"/>
              </a:spcAft>
            </a:defPPr>
            <a:lvl1pPr marL="342900" marR="0" lvl="0" indent="-257175" algn="l" rtl="0">
              <a:lnSpc>
                <a:spcPct val="90000"/>
              </a:lnSpc>
              <a:spcBef>
                <a:spcPts val="750"/>
              </a:spcBef>
              <a:spcAft>
                <a:spcPts val="0"/>
              </a:spcAft>
              <a:buClr>
                <a:schemeClr val="dk1"/>
              </a:buClr>
              <a:buSzPts val="1800"/>
              <a:buFont typeface="Arial"/>
              <a:buChar char="•"/>
              <a:defRPr sz="1800" b="0" i="0" u="none" strike="noStrike" cap="none">
                <a:solidFill>
                  <a:schemeClr val="dk2"/>
                </a:solidFill>
                <a:latin typeface="Arial"/>
                <a:ea typeface="Arial"/>
                <a:cs typeface="Arial"/>
                <a:sym typeface="Arial"/>
              </a:defRPr>
            </a:lvl1pPr>
            <a:lvl2pPr marL="685800" marR="0" lvl="1" indent="-257175" algn="l" rtl="0">
              <a:lnSpc>
                <a:spcPct val="90000"/>
              </a:lnSpc>
              <a:spcBef>
                <a:spcPts val="375"/>
              </a:spcBef>
              <a:spcAft>
                <a:spcPts val="0"/>
              </a:spcAft>
              <a:buClr>
                <a:schemeClr val="dk1"/>
              </a:buClr>
              <a:buSzPts val="1800"/>
              <a:buFont typeface="Arial"/>
              <a:buChar char="✔"/>
              <a:defRPr sz="1400" b="0" i="0" u="none" strike="noStrike" cap="none">
                <a:solidFill>
                  <a:schemeClr val="dk2"/>
                </a:solidFill>
                <a:latin typeface="Arial"/>
                <a:ea typeface="Arial"/>
                <a:cs typeface="Arial"/>
                <a:sym typeface="Arial"/>
              </a:defRPr>
            </a:lvl2pPr>
            <a:lvl3pPr marL="1028700" marR="0" lvl="2" indent="-257175" algn="l" rtl="0">
              <a:lnSpc>
                <a:spcPct val="90000"/>
              </a:lnSpc>
              <a:spcBef>
                <a:spcPts val="375"/>
              </a:spcBef>
              <a:spcAft>
                <a:spcPts val="0"/>
              </a:spcAft>
              <a:buClr>
                <a:schemeClr val="dk1"/>
              </a:buClr>
              <a:buSzPts val="1800"/>
              <a:buFont typeface="Arial"/>
              <a:buChar char="▪"/>
              <a:defRPr sz="1400" b="0" i="0" u="none" strike="noStrike" cap="none">
                <a:solidFill>
                  <a:schemeClr val="dk2"/>
                </a:solidFill>
                <a:latin typeface="Arial"/>
                <a:ea typeface="Arial"/>
                <a:cs typeface="Arial"/>
                <a:sym typeface="Arial"/>
              </a:defRPr>
            </a:lvl3pPr>
            <a:lvl4pPr marL="1371600" marR="0" lvl="3" indent="-257175" algn="l" rtl="0">
              <a:lnSpc>
                <a:spcPct val="90000"/>
              </a:lnSpc>
              <a:spcBef>
                <a:spcPts val="375"/>
              </a:spcBef>
              <a:spcAft>
                <a:spcPts val="0"/>
              </a:spcAft>
              <a:buClr>
                <a:schemeClr val="dk1"/>
              </a:buClr>
              <a:buSzPts val="1800"/>
              <a:buFont typeface="Arial"/>
              <a:buChar char="•"/>
              <a:defRPr sz="1400" b="0" i="0" u="none" strike="noStrike" cap="none">
                <a:solidFill>
                  <a:schemeClr val="dk2"/>
                </a:solidFill>
                <a:latin typeface="Arial"/>
                <a:ea typeface="Arial"/>
                <a:cs typeface="Arial"/>
                <a:sym typeface="Arial"/>
              </a:defRPr>
            </a:lvl4pPr>
            <a:lvl5pPr marL="1714500" marR="0" lvl="4" indent="-257175" algn="l" rtl="0">
              <a:lnSpc>
                <a:spcPct val="90000"/>
              </a:lnSpc>
              <a:spcBef>
                <a:spcPts val="375"/>
              </a:spcBef>
              <a:spcAft>
                <a:spcPts val="0"/>
              </a:spcAft>
              <a:buClr>
                <a:schemeClr val="dk1"/>
              </a:buClr>
              <a:buSzPts val="1800"/>
              <a:buFont typeface="Arial"/>
              <a:buChar char="•"/>
              <a:defRPr sz="1400" b="0" i="0" u="none" strike="noStrike" cap="none">
                <a:solidFill>
                  <a:schemeClr val="dk2"/>
                </a:solidFill>
                <a:latin typeface="Arial"/>
                <a:ea typeface="Arial"/>
                <a:cs typeface="Arial"/>
                <a:sym typeface="Arial"/>
              </a:defRPr>
            </a:lvl5pPr>
            <a:lvl6pPr marL="2057400" marR="0" lvl="5" indent="-257175" algn="l" rtl="0">
              <a:lnSpc>
                <a:spcPct val="90000"/>
              </a:lnSpc>
              <a:spcBef>
                <a:spcPts val="375"/>
              </a:spcBef>
              <a:spcAft>
                <a:spcPts val="0"/>
              </a:spcAft>
              <a:buClr>
                <a:schemeClr val="dk1"/>
              </a:buClr>
              <a:buSzPts val="1800"/>
              <a:buFont typeface="Arial"/>
              <a:buChar char="•"/>
              <a:defRPr sz="1400" b="0" i="0" u="none" strike="noStrike" cap="none">
                <a:solidFill>
                  <a:schemeClr val="dk2"/>
                </a:solidFill>
                <a:latin typeface="Arial"/>
                <a:ea typeface="Arial"/>
                <a:cs typeface="Arial"/>
                <a:sym typeface="Arial"/>
              </a:defRPr>
            </a:lvl6pPr>
            <a:lvl7pPr marL="2400300" marR="0" lvl="6" indent="-257175" algn="l" rtl="0">
              <a:lnSpc>
                <a:spcPct val="90000"/>
              </a:lnSpc>
              <a:spcBef>
                <a:spcPts val="375"/>
              </a:spcBef>
              <a:spcAft>
                <a:spcPts val="0"/>
              </a:spcAft>
              <a:buClr>
                <a:schemeClr val="dk1"/>
              </a:buClr>
              <a:buSzPts val="1800"/>
              <a:buFont typeface="Arial"/>
              <a:buChar char="•"/>
              <a:defRPr sz="1400" b="0" i="0" u="none" strike="noStrike" cap="none">
                <a:solidFill>
                  <a:schemeClr val="dk2"/>
                </a:solidFill>
                <a:latin typeface="Arial"/>
                <a:ea typeface="Arial"/>
                <a:cs typeface="Arial"/>
                <a:sym typeface="Arial"/>
              </a:defRPr>
            </a:lvl7pPr>
            <a:lvl8pPr marL="2743200" marR="0" lvl="7" indent="-257175" algn="l" rtl="0">
              <a:lnSpc>
                <a:spcPct val="90000"/>
              </a:lnSpc>
              <a:spcBef>
                <a:spcPts val="375"/>
              </a:spcBef>
              <a:spcAft>
                <a:spcPts val="0"/>
              </a:spcAft>
              <a:buClr>
                <a:schemeClr val="dk1"/>
              </a:buClr>
              <a:buSzPts val="1800"/>
              <a:buFont typeface="Arial"/>
              <a:buChar char="•"/>
              <a:defRPr sz="1400" b="0" i="0" u="none" strike="noStrike" cap="none">
                <a:solidFill>
                  <a:schemeClr val="dk2"/>
                </a:solidFill>
                <a:latin typeface="Arial"/>
                <a:ea typeface="Arial"/>
                <a:cs typeface="Arial"/>
                <a:sym typeface="Arial"/>
              </a:defRPr>
            </a:lvl8pPr>
            <a:lvl9pPr marL="3086100" marR="0" lvl="8" indent="-257175" algn="l" rtl="0">
              <a:lnSpc>
                <a:spcPct val="90000"/>
              </a:lnSpc>
              <a:spcBef>
                <a:spcPts val="375"/>
              </a:spcBef>
              <a:spcAft>
                <a:spcPts val="0"/>
              </a:spcAft>
              <a:buClr>
                <a:schemeClr val="dk1"/>
              </a:buClr>
              <a:buSzPts val="1800"/>
              <a:buFont typeface="Arial"/>
              <a:buChar char="•"/>
              <a:defRPr sz="1400" b="0" i="0" u="none" strike="noStrike" cap="none">
                <a:solidFill>
                  <a:schemeClr val="dk2"/>
                </a:solidFill>
                <a:latin typeface="Arial"/>
                <a:ea typeface="Arial"/>
                <a:cs typeface="Arial"/>
                <a:sym typeface="Arial"/>
              </a:defRPr>
            </a:lvl9pPr>
          </a:lstStyle>
          <a:p>
            <a:pPr marL="900113" indent="-214313">
              <a:lnSpc>
                <a:spcPct val="150000"/>
              </a:lnSpc>
            </a:pPr>
            <a:r>
              <a:rPr lang="en-US" altLang="ko-KR" sz="1350" b="1" dirty="0">
                <a:solidFill>
                  <a:schemeClr val="tx1"/>
                </a:solidFill>
              </a:rPr>
              <a:t>LLMs can also automate web navigation (Zhou et al., 2023)</a:t>
            </a:r>
          </a:p>
        </p:txBody>
      </p:sp>
      <p:pic>
        <p:nvPicPr>
          <p:cNvPr id="3" name="Picture 2">
            <a:extLst>
              <a:ext uri="{FF2B5EF4-FFF2-40B4-BE49-F238E27FC236}">
                <a16:creationId xmlns:a16="http://schemas.microsoft.com/office/drawing/2014/main" id="{C5315B38-1979-CE68-2AF3-DA7B07B12AB1}"/>
              </a:ext>
            </a:extLst>
          </p:cNvPr>
          <p:cNvPicPr>
            <a:picLocks noChangeAspect="1"/>
          </p:cNvPicPr>
          <p:nvPr/>
        </p:nvPicPr>
        <p:blipFill>
          <a:blip r:embed="rId3"/>
          <a:stretch>
            <a:fillRect/>
          </a:stretch>
        </p:blipFill>
        <p:spPr>
          <a:xfrm>
            <a:off x="1657350" y="1553834"/>
            <a:ext cx="5829300" cy="2981316"/>
          </a:xfrm>
          <a:prstGeom prst="rect">
            <a:avLst/>
          </a:prstGeom>
        </p:spPr>
      </p:pic>
      <p:sp>
        <p:nvSpPr>
          <p:cNvPr id="14" name="Google Shape;82;p17">
            <a:extLst>
              <a:ext uri="{FF2B5EF4-FFF2-40B4-BE49-F238E27FC236}">
                <a16:creationId xmlns:a16="http://schemas.microsoft.com/office/drawing/2014/main" id="{A6D23FEC-FBC8-C91D-AF0C-207EFEA5125B}"/>
              </a:ext>
            </a:extLst>
          </p:cNvPr>
          <p:cNvSpPr txBox="1">
            <a:spLocks/>
          </p:cNvSpPr>
          <p:nvPr/>
        </p:nvSpPr>
        <p:spPr>
          <a:xfrm>
            <a:off x="311700" y="288275"/>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b="1" dirty="0">
                <a:solidFill>
                  <a:srgbClr val="004856"/>
                </a:solidFill>
              </a:rPr>
              <a:t>Introduction</a:t>
            </a:r>
            <a:endParaRPr lang="en-US" dirty="0"/>
          </a:p>
        </p:txBody>
      </p:sp>
      <p:pic>
        <p:nvPicPr>
          <p:cNvPr id="18" name="Google Shape;56;p13">
            <a:extLst>
              <a:ext uri="{FF2B5EF4-FFF2-40B4-BE49-F238E27FC236}">
                <a16:creationId xmlns:a16="http://schemas.microsoft.com/office/drawing/2014/main" id="{F603F738-B331-75F6-79C4-9862865130EC}"/>
              </a:ext>
            </a:extLst>
          </p:cNvPr>
          <p:cNvPicPr preferRelativeResize="0"/>
          <p:nvPr/>
        </p:nvPicPr>
        <p:blipFill>
          <a:blip r:embed="rId4"/>
          <a:srcRect/>
          <a:stretch/>
        </p:blipFill>
        <p:spPr>
          <a:xfrm>
            <a:off x="7829550" y="4662460"/>
            <a:ext cx="1314450" cy="438150"/>
          </a:xfrm>
          <a:prstGeom prst="rect">
            <a:avLst/>
          </a:prstGeom>
          <a:noFill/>
          <a:ln>
            <a:noFill/>
          </a:ln>
        </p:spPr>
      </p:pic>
      <p:pic>
        <p:nvPicPr>
          <p:cNvPr id="2" name="그림 8" descr="폰트, 그래픽, 텍스트, 스크린샷이(가) 표시된 사진&#10;&#10;자동 생성된 설명">
            <a:extLst>
              <a:ext uri="{FF2B5EF4-FFF2-40B4-BE49-F238E27FC236}">
                <a16:creationId xmlns:a16="http://schemas.microsoft.com/office/drawing/2014/main" id="{37DB1680-7C70-0211-589B-3712CFB9FE4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extLst>
      <p:ext uri="{BB962C8B-B14F-4D97-AF65-F5344CB8AC3E}">
        <p14:creationId xmlns:p14="http://schemas.microsoft.com/office/powerpoint/2010/main" val="34341624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6">
          <a:extLst>
            <a:ext uri="{FF2B5EF4-FFF2-40B4-BE49-F238E27FC236}">
              <a16:creationId xmlns:a16="http://schemas.microsoft.com/office/drawing/2014/main" id="{862638EB-F328-1E22-AE63-F493416F24F7}"/>
            </a:ext>
          </a:extLst>
        </p:cNvPr>
        <p:cNvGrpSpPr/>
        <p:nvPr/>
      </p:nvGrpSpPr>
      <p:grpSpPr>
        <a:xfrm>
          <a:off x="0" y="0"/>
          <a:ext cx="0" cy="0"/>
          <a:chOff x="0" y="0"/>
          <a:chExt cx="0" cy="0"/>
        </a:xfrm>
      </p:grpSpPr>
      <p:sp>
        <p:nvSpPr>
          <p:cNvPr id="16" name="Google Shape;118;g2ea9da67292_0_17">
            <a:extLst>
              <a:ext uri="{FF2B5EF4-FFF2-40B4-BE49-F238E27FC236}">
                <a16:creationId xmlns:a16="http://schemas.microsoft.com/office/drawing/2014/main" id="{41B23962-CC28-187B-0203-29DBF86A1C46}"/>
              </a:ext>
            </a:extLst>
          </p:cNvPr>
          <p:cNvSpPr txBox="1">
            <a:spLocks/>
          </p:cNvSpPr>
          <p:nvPr/>
        </p:nvSpPr>
        <p:spPr>
          <a:xfrm>
            <a:off x="-52690" y="860975"/>
            <a:ext cx="8304075" cy="3596625"/>
          </a:xfrm>
          <a:prstGeom prst="rect">
            <a:avLst/>
          </a:prstGeom>
          <a:noFill/>
          <a:ln>
            <a:noFill/>
          </a:ln>
        </p:spPr>
        <p:txBody>
          <a:bodyPr spcFirstLastPara="1" wrap="square" lIns="68569" tIns="34275" rIns="68569" bIns="34275" anchor="t" anchorCtr="0">
            <a:normAutofit/>
          </a:bodyPr>
          <a:lstStyle>
            <a:defPPr marR="0" lvl="0" algn="l" rtl="0">
              <a:lnSpc>
                <a:spcPct val="100000"/>
              </a:lnSpc>
              <a:spcBef>
                <a:spcPts val="0"/>
              </a:spcBef>
              <a:spcAft>
                <a:spcPts val="0"/>
              </a:spcAft>
            </a:defPPr>
            <a:lvl1pPr marL="342900" marR="0" lvl="0" indent="-257175" algn="l" rtl="0">
              <a:lnSpc>
                <a:spcPct val="90000"/>
              </a:lnSpc>
              <a:spcBef>
                <a:spcPts val="750"/>
              </a:spcBef>
              <a:spcAft>
                <a:spcPts val="0"/>
              </a:spcAft>
              <a:buClr>
                <a:schemeClr val="dk1"/>
              </a:buClr>
              <a:buSzPts val="1800"/>
              <a:buFont typeface="Arial"/>
              <a:buChar char="•"/>
              <a:defRPr sz="1800" b="0" i="0" u="none" strike="noStrike" cap="none">
                <a:solidFill>
                  <a:schemeClr val="dk2"/>
                </a:solidFill>
                <a:latin typeface="Arial"/>
                <a:ea typeface="Arial"/>
                <a:cs typeface="Arial"/>
                <a:sym typeface="Arial"/>
              </a:defRPr>
            </a:lvl1pPr>
            <a:lvl2pPr marL="685800" marR="0" lvl="1" indent="-257175" algn="l" rtl="0">
              <a:lnSpc>
                <a:spcPct val="90000"/>
              </a:lnSpc>
              <a:spcBef>
                <a:spcPts val="375"/>
              </a:spcBef>
              <a:spcAft>
                <a:spcPts val="0"/>
              </a:spcAft>
              <a:buClr>
                <a:schemeClr val="dk1"/>
              </a:buClr>
              <a:buSzPts val="1800"/>
              <a:buFont typeface="Arial"/>
              <a:buChar char="✔"/>
              <a:defRPr sz="1400" b="0" i="0" u="none" strike="noStrike" cap="none">
                <a:solidFill>
                  <a:schemeClr val="dk2"/>
                </a:solidFill>
                <a:latin typeface="Arial"/>
                <a:ea typeface="Arial"/>
                <a:cs typeface="Arial"/>
                <a:sym typeface="Arial"/>
              </a:defRPr>
            </a:lvl2pPr>
            <a:lvl3pPr marL="1028700" marR="0" lvl="2" indent="-257175" algn="l" rtl="0">
              <a:lnSpc>
                <a:spcPct val="90000"/>
              </a:lnSpc>
              <a:spcBef>
                <a:spcPts val="375"/>
              </a:spcBef>
              <a:spcAft>
                <a:spcPts val="0"/>
              </a:spcAft>
              <a:buClr>
                <a:schemeClr val="dk1"/>
              </a:buClr>
              <a:buSzPts val="1800"/>
              <a:buFont typeface="Arial"/>
              <a:buChar char="▪"/>
              <a:defRPr sz="1400" b="0" i="0" u="none" strike="noStrike" cap="none">
                <a:solidFill>
                  <a:schemeClr val="dk2"/>
                </a:solidFill>
                <a:latin typeface="Arial"/>
                <a:ea typeface="Arial"/>
                <a:cs typeface="Arial"/>
                <a:sym typeface="Arial"/>
              </a:defRPr>
            </a:lvl3pPr>
            <a:lvl4pPr marL="1371600" marR="0" lvl="3" indent="-257175" algn="l" rtl="0">
              <a:lnSpc>
                <a:spcPct val="90000"/>
              </a:lnSpc>
              <a:spcBef>
                <a:spcPts val="375"/>
              </a:spcBef>
              <a:spcAft>
                <a:spcPts val="0"/>
              </a:spcAft>
              <a:buClr>
                <a:schemeClr val="dk1"/>
              </a:buClr>
              <a:buSzPts val="1800"/>
              <a:buFont typeface="Arial"/>
              <a:buChar char="•"/>
              <a:defRPr sz="1400" b="0" i="0" u="none" strike="noStrike" cap="none">
                <a:solidFill>
                  <a:schemeClr val="dk2"/>
                </a:solidFill>
                <a:latin typeface="Arial"/>
                <a:ea typeface="Arial"/>
                <a:cs typeface="Arial"/>
                <a:sym typeface="Arial"/>
              </a:defRPr>
            </a:lvl4pPr>
            <a:lvl5pPr marL="1714500" marR="0" lvl="4" indent="-257175" algn="l" rtl="0">
              <a:lnSpc>
                <a:spcPct val="90000"/>
              </a:lnSpc>
              <a:spcBef>
                <a:spcPts val="375"/>
              </a:spcBef>
              <a:spcAft>
                <a:spcPts val="0"/>
              </a:spcAft>
              <a:buClr>
                <a:schemeClr val="dk1"/>
              </a:buClr>
              <a:buSzPts val="1800"/>
              <a:buFont typeface="Arial"/>
              <a:buChar char="•"/>
              <a:defRPr sz="1400" b="0" i="0" u="none" strike="noStrike" cap="none">
                <a:solidFill>
                  <a:schemeClr val="dk2"/>
                </a:solidFill>
                <a:latin typeface="Arial"/>
                <a:ea typeface="Arial"/>
                <a:cs typeface="Arial"/>
                <a:sym typeface="Arial"/>
              </a:defRPr>
            </a:lvl5pPr>
            <a:lvl6pPr marL="2057400" marR="0" lvl="5" indent="-257175" algn="l" rtl="0">
              <a:lnSpc>
                <a:spcPct val="90000"/>
              </a:lnSpc>
              <a:spcBef>
                <a:spcPts val="375"/>
              </a:spcBef>
              <a:spcAft>
                <a:spcPts val="0"/>
              </a:spcAft>
              <a:buClr>
                <a:schemeClr val="dk1"/>
              </a:buClr>
              <a:buSzPts val="1800"/>
              <a:buFont typeface="Arial"/>
              <a:buChar char="•"/>
              <a:defRPr sz="1400" b="0" i="0" u="none" strike="noStrike" cap="none">
                <a:solidFill>
                  <a:schemeClr val="dk2"/>
                </a:solidFill>
                <a:latin typeface="Arial"/>
                <a:ea typeface="Arial"/>
                <a:cs typeface="Arial"/>
                <a:sym typeface="Arial"/>
              </a:defRPr>
            </a:lvl6pPr>
            <a:lvl7pPr marL="2400300" marR="0" lvl="6" indent="-257175" algn="l" rtl="0">
              <a:lnSpc>
                <a:spcPct val="90000"/>
              </a:lnSpc>
              <a:spcBef>
                <a:spcPts val="375"/>
              </a:spcBef>
              <a:spcAft>
                <a:spcPts val="0"/>
              </a:spcAft>
              <a:buClr>
                <a:schemeClr val="dk1"/>
              </a:buClr>
              <a:buSzPts val="1800"/>
              <a:buFont typeface="Arial"/>
              <a:buChar char="•"/>
              <a:defRPr sz="1400" b="0" i="0" u="none" strike="noStrike" cap="none">
                <a:solidFill>
                  <a:schemeClr val="dk2"/>
                </a:solidFill>
                <a:latin typeface="Arial"/>
                <a:ea typeface="Arial"/>
                <a:cs typeface="Arial"/>
                <a:sym typeface="Arial"/>
              </a:defRPr>
            </a:lvl7pPr>
            <a:lvl8pPr marL="2743200" marR="0" lvl="7" indent="-257175" algn="l" rtl="0">
              <a:lnSpc>
                <a:spcPct val="90000"/>
              </a:lnSpc>
              <a:spcBef>
                <a:spcPts val="375"/>
              </a:spcBef>
              <a:spcAft>
                <a:spcPts val="0"/>
              </a:spcAft>
              <a:buClr>
                <a:schemeClr val="dk1"/>
              </a:buClr>
              <a:buSzPts val="1800"/>
              <a:buFont typeface="Arial"/>
              <a:buChar char="•"/>
              <a:defRPr sz="1400" b="0" i="0" u="none" strike="noStrike" cap="none">
                <a:solidFill>
                  <a:schemeClr val="dk2"/>
                </a:solidFill>
                <a:latin typeface="Arial"/>
                <a:ea typeface="Arial"/>
                <a:cs typeface="Arial"/>
                <a:sym typeface="Arial"/>
              </a:defRPr>
            </a:lvl8pPr>
            <a:lvl9pPr marL="3086100" marR="0" lvl="8" indent="-257175" algn="l" rtl="0">
              <a:lnSpc>
                <a:spcPct val="90000"/>
              </a:lnSpc>
              <a:spcBef>
                <a:spcPts val="375"/>
              </a:spcBef>
              <a:spcAft>
                <a:spcPts val="0"/>
              </a:spcAft>
              <a:buClr>
                <a:schemeClr val="dk1"/>
              </a:buClr>
              <a:buSzPts val="1800"/>
              <a:buFont typeface="Arial"/>
              <a:buChar char="•"/>
              <a:defRPr sz="1400" b="0" i="0" u="none" strike="noStrike" cap="none">
                <a:solidFill>
                  <a:schemeClr val="dk2"/>
                </a:solidFill>
                <a:latin typeface="Arial"/>
                <a:ea typeface="Arial"/>
                <a:cs typeface="Arial"/>
                <a:sym typeface="Arial"/>
              </a:defRPr>
            </a:lvl9pPr>
          </a:lstStyle>
          <a:p>
            <a:pPr marL="900113" indent="-214313">
              <a:lnSpc>
                <a:spcPct val="150000"/>
              </a:lnSpc>
            </a:pPr>
            <a:r>
              <a:rPr lang="en-US" altLang="ko-KR" sz="1350" b="1" dirty="0">
                <a:solidFill>
                  <a:schemeClr val="tx1"/>
                </a:solidFill>
              </a:rPr>
              <a:t>LLMs can also automate web navigation (Zhou et al., 2023)</a:t>
            </a:r>
          </a:p>
        </p:txBody>
      </p:sp>
      <p:sp>
        <p:nvSpPr>
          <p:cNvPr id="14" name="Google Shape;82;p17">
            <a:extLst>
              <a:ext uri="{FF2B5EF4-FFF2-40B4-BE49-F238E27FC236}">
                <a16:creationId xmlns:a16="http://schemas.microsoft.com/office/drawing/2014/main" id="{55352AAE-EFC1-9D16-27B7-1F0C5FC43510}"/>
              </a:ext>
            </a:extLst>
          </p:cNvPr>
          <p:cNvSpPr txBox="1">
            <a:spLocks/>
          </p:cNvSpPr>
          <p:nvPr/>
        </p:nvSpPr>
        <p:spPr>
          <a:xfrm>
            <a:off x="311700" y="288275"/>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b="1" dirty="0">
                <a:solidFill>
                  <a:srgbClr val="004856"/>
                </a:solidFill>
              </a:rPr>
              <a:t>Introduction</a:t>
            </a:r>
            <a:endParaRPr lang="en-US" dirty="0"/>
          </a:p>
        </p:txBody>
      </p:sp>
      <p:pic>
        <p:nvPicPr>
          <p:cNvPr id="17" name="Picture 1">
            <a:extLst>
              <a:ext uri="{FF2B5EF4-FFF2-40B4-BE49-F238E27FC236}">
                <a16:creationId xmlns:a16="http://schemas.microsoft.com/office/drawing/2014/main" id="{A4F7F647-62FB-5604-5644-3AE9A5AF1295}"/>
              </a:ext>
            </a:extLst>
          </p:cNvPr>
          <p:cNvPicPr>
            <a:picLocks noChangeAspect="1"/>
          </p:cNvPicPr>
          <p:nvPr/>
        </p:nvPicPr>
        <p:blipFill>
          <a:blip r:embed="rId3"/>
          <a:srcRect b="26323"/>
          <a:stretch>
            <a:fillRect/>
          </a:stretch>
        </p:blipFill>
        <p:spPr>
          <a:xfrm>
            <a:off x="706178" y="1454376"/>
            <a:ext cx="7731643" cy="3088441"/>
          </a:xfrm>
          <a:prstGeom prst="rect">
            <a:avLst/>
          </a:prstGeom>
        </p:spPr>
      </p:pic>
      <p:pic>
        <p:nvPicPr>
          <p:cNvPr id="2" name="Google Shape;56;p13">
            <a:extLst>
              <a:ext uri="{FF2B5EF4-FFF2-40B4-BE49-F238E27FC236}">
                <a16:creationId xmlns:a16="http://schemas.microsoft.com/office/drawing/2014/main" id="{40202789-580E-D908-B3D2-1115B3D46D70}"/>
              </a:ext>
            </a:extLst>
          </p:cNvPr>
          <p:cNvPicPr preferRelativeResize="0"/>
          <p:nvPr/>
        </p:nvPicPr>
        <p:blipFill>
          <a:blip r:embed="rId4"/>
          <a:srcRect/>
          <a:stretch/>
        </p:blipFill>
        <p:spPr>
          <a:xfrm>
            <a:off x="7829550" y="4662460"/>
            <a:ext cx="1314450" cy="438150"/>
          </a:xfrm>
          <a:prstGeom prst="rect">
            <a:avLst/>
          </a:prstGeom>
          <a:noFill/>
          <a:ln>
            <a:noFill/>
          </a:ln>
        </p:spPr>
      </p:pic>
      <p:pic>
        <p:nvPicPr>
          <p:cNvPr id="3" name="그림 8" descr="폰트, 그래픽, 텍스트, 스크린샷이(가) 표시된 사진&#10;&#10;자동 생성된 설명">
            <a:extLst>
              <a:ext uri="{FF2B5EF4-FFF2-40B4-BE49-F238E27FC236}">
                <a16:creationId xmlns:a16="http://schemas.microsoft.com/office/drawing/2014/main" id="{3F51E543-17C9-B485-4693-0A212B31719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extLst>
      <p:ext uri="{BB962C8B-B14F-4D97-AF65-F5344CB8AC3E}">
        <p14:creationId xmlns:p14="http://schemas.microsoft.com/office/powerpoint/2010/main" val="19014630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6">
          <a:extLst>
            <a:ext uri="{FF2B5EF4-FFF2-40B4-BE49-F238E27FC236}">
              <a16:creationId xmlns:a16="http://schemas.microsoft.com/office/drawing/2014/main" id="{B185862E-CD60-48A7-5FDD-F9F3D65F95D4}"/>
            </a:ext>
          </a:extLst>
        </p:cNvPr>
        <p:cNvGrpSpPr/>
        <p:nvPr/>
      </p:nvGrpSpPr>
      <p:grpSpPr>
        <a:xfrm>
          <a:off x="0" y="0"/>
          <a:ext cx="0" cy="0"/>
          <a:chOff x="0" y="0"/>
          <a:chExt cx="0" cy="0"/>
        </a:xfrm>
      </p:grpSpPr>
      <p:sp>
        <p:nvSpPr>
          <p:cNvPr id="16" name="Google Shape;118;g2ea9da67292_0_17">
            <a:extLst>
              <a:ext uri="{FF2B5EF4-FFF2-40B4-BE49-F238E27FC236}">
                <a16:creationId xmlns:a16="http://schemas.microsoft.com/office/drawing/2014/main" id="{8A573087-2364-C832-F368-7614B744A51D}"/>
              </a:ext>
            </a:extLst>
          </p:cNvPr>
          <p:cNvSpPr txBox="1">
            <a:spLocks/>
          </p:cNvSpPr>
          <p:nvPr/>
        </p:nvSpPr>
        <p:spPr>
          <a:xfrm>
            <a:off x="-175803" y="863349"/>
            <a:ext cx="8304075" cy="3596625"/>
          </a:xfrm>
          <a:prstGeom prst="rect">
            <a:avLst/>
          </a:prstGeom>
          <a:noFill/>
          <a:ln>
            <a:noFill/>
          </a:ln>
        </p:spPr>
        <p:txBody>
          <a:bodyPr spcFirstLastPara="1" wrap="square" lIns="68569" tIns="34275" rIns="68569" bIns="34275" anchor="t" anchorCtr="0">
            <a:normAutofit/>
          </a:bodyPr>
          <a:lstStyle>
            <a:defPPr marR="0" lvl="0" algn="l" rtl="0">
              <a:lnSpc>
                <a:spcPct val="100000"/>
              </a:lnSpc>
              <a:spcBef>
                <a:spcPts val="0"/>
              </a:spcBef>
              <a:spcAft>
                <a:spcPts val="0"/>
              </a:spcAft>
            </a:defPPr>
            <a:lvl1pPr marL="342900" marR="0" lvl="0" indent="-257175" algn="l" rtl="0">
              <a:lnSpc>
                <a:spcPct val="90000"/>
              </a:lnSpc>
              <a:spcBef>
                <a:spcPts val="750"/>
              </a:spcBef>
              <a:spcAft>
                <a:spcPts val="0"/>
              </a:spcAft>
              <a:buClr>
                <a:schemeClr val="dk1"/>
              </a:buClr>
              <a:buSzPts val="1800"/>
              <a:buFont typeface="Arial"/>
              <a:buChar char="•"/>
              <a:defRPr sz="1800" b="0" i="0" u="none" strike="noStrike" cap="none">
                <a:solidFill>
                  <a:schemeClr val="dk2"/>
                </a:solidFill>
                <a:latin typeface="Arial"/>
                <a:ea typeface="Arial"/>
                <a:cs typeface="Arial"/>
                <a:sym typeface="Arial"/>
              </a:defRPr>
            </a:lvl1pPr>
            <a:lvl2pPr marL="685800" marR="0" lvl="1" indent="-257175" algn="l" rtl="0">
              <a:lnSpc>
                <a:spcPct val="90000"/>
              </a:lnSpc>
              <a:spcBef>
                <a:spcPts val="375"/>
              </a:spcBef>
              <a:spcAft>
                <a:spcPts val="0"/>
              </a:spcAft>
              <a:buClr>
                <a:schemeClr val="dk1"/>
              </a:buClr>
              <a:buSzPts val="1800"/>
              <a:buFont typeface="Arial"/>
              <a:buChar char="✔"/>
              <a:defRPr sz="1400" b="0" i="0" u="none" strike="noStrike" cap="none">
                <a:solidFill>
                  <a:schemeClr val="dk2"/>
                </a:solidFill>
                <a:latin typeface="Arial"/>
                <a:ea typeface="Arial"/>
                <a:cs typeface="Arial"/>
                <a:sym typeface="Arial"/>
              </a:defRPr>
            </a:lvl2pPr>
            <a:lvl3pPr marL="1028700" marR="0" lvl="2" indent="-257175" algn="l" rtl="0">
              <a:lnSpc>
                <a:spcPct val="90000"/>
              </a:lnSpc>
              <a:spcBef>
                <a:spcPts val="375"/>
              </a:spcBef>
              <a:spcAft>
                <a:spcPts val="0"/>
              </a:spcAft>
              <a:buClr>
                <a:schemeClr val="dk1"/>
              </a:buClr>
              <a:buSzPts val="1800"/>
              <a:buFont typeface="Arial"/>
              <a:buChar char="▪"/>
              <a:defRPr sz="1400" b="0" i="0" u="none" strike="noStrike" cap="none">
                <a:solidFill>
                  <a:schemeClr val="dk2"/>
                </a:solidFill>
                <a:latin typeface="Arial"/>
                <a:ea typeface="Arial"/>
                <a:cs typeface="Arial"/>
                <a:sym typeface="Arial"/>
              </a:defRPr>
            </a:lvl3pPr>
            <a:lvl4pPr marL="1371600" marR="0" lvl="3" indent="-257175" algn="l" rtl="0">
              <a:lnSpc>
                <a:spcPct val="90000"/>
              </a:lnSpc>
              <a:spcBef>
                <a:spcPts val="375"/>
              </a:spcBef>
              <a:spcAft>
                <a:spcPts val="0"/>
              </a:spcAft>
              <a:buClr>
                <a:schemeClr val="dk1"/>
              </a:buClr>
              <a:buSzPts val="1800"/>
              <a:buFont typeface="Arial"/>
              <a:buChar char="•"/>
              <a:defRPr sz="1400" b="0" i="0" u="none" strike="noStrike" cap="none">
                <a:solidFill>
                  <a:schemeClr val="dk2"/>
                </a:solidFill>
                <a:latin typeface="Arial"/>
                <a:ea typeface="Arial"/>
                <a:cs typeface="Arial"/>
                <a:sym typeface="Arial"/>
              </a:defRPr>
            </a:lvl4pPr>
            <a:lvl5pPr marL="1714500" marR="0" lvl="4" indent="-257175" algn="l" rtl="0">
              <a:lnSpc>
                <a:spcPct val="90000"/>
              </a:lnSpc>
              <a:spcBef>
                <a:spcPts val="375"/>
              </a:spcBef>
              <a:spcAft>
                <a:spcPts val="0"/>
              </a:spcAft>
              <a:buClr>
                <a:schemeClr val="dk1"/>
              </a:buClr>
              <a:buSzPts val="1800"/>
              <a:buFont typeface="Arial"/>
              <a:buChar char="•"/>
              <a:defRPr sz="1400" b="0" i="0" u="none" strike="noStrike" cap="none">
                <a:solidFill>
                  <a:schemeClr val="dk2"/>
                </a:solidFill>
                <a:latin typeface="Arial"/>
                <a:ea typeface="Arial"/>
                <a:cs typeface="Arial"/>
                <a:sym typeface="Arial"/>
              </a:defRPr>
            </a:lvl5pPr>
            <a:lvl6pPr marL="2057400" marR="0" lvl="5" indent="-257175" algn="l" rtl="0">
              <a:lnSpc>
                <a:spcPct val="90000"/>
              </a:lnSpc>
              <a:spcBef>
                <a:spcPts val="375"/>
              </a:spcBef>
              <a:spcAft>
                <a:spcPts val="0"/>
              </a:spcAft>
              <a:buClr>
                <a:schemeClr val="dk1"/>
              </a:buClr>
              <a:buSzPts val="1800"/>
              <a:buFont typeface="Arial"/>
              <a:buChar char="•"/>
              <a:defRPr sz="1400" b="0" i="0" u="none" strike="noStrike" cap="none">
                <a:solidFill>
                  <a:schemeClr val="dk2"/>
                </a:solidFill>
                <a:latin typeface="Arial"/>
                <a:ea typeface="Arial"/>
                <a:cs typeface="Arial"/>
                <a:sym typeface="Arial"/>
              </a:defRPr>
            </a:lvl6pPr>
            <a:lvl7pPr marL="2400300" marR="0" lvl="6" indent="-257175" algn="l" rtl="0">
              <a:lnSpc>
                <a:spcPct val="90000"/>
              </a:lnSpc>
              <a:spcBef>
                <a:spcPts val="375"/>
              </a:spcBef>
              <a:spcAft>
                <a:spcPts val="0"/>
              </a:spcAft>
              <a:buClr>
                <a:schemeClr val="dk1"/>
              </a:buClr>
              <a:buSzPts val="1800"/>
              <a:buFont typeface="Arial"/>
              <a:buChar char="•"/>
              <a:defRPr sz="1400" b="0" i="0" u="none" strike="noStrike" cap="none">
                <a:solidFill>
                  <a:schemeClr val="dk2"/>
                </a:solidFill>
                <a:latin typeface="Arial"/>
                <a:ea typeface="Arial"/>
                <a:cs typeface="Arial"/>
                <a:sym typeface="Arial"/>
              </a:defRPr>
            </a:lvl7pPr>
            <a:lvl8pPr marL="2743200" marR="0" lvl="7" indent="-257175" algn="l" rtl="0">
              <a:lnSpc>
                <a:spcPct val="90000"/>
              </a:lnSpc>
              <a:spcBef>
                <a:spcPts val="375"/>
              </a:spcBef>
              <a:spcAft>
                <a:spcPts val="0"/>
              </a:spcAft>
              <a:buClr>
                <a:schemeClr val="dk1"/>
              </a:buClr>
              <a:buSzPts val="1800"/>
              <a:buFont typeface="Arial"/>
              <a:buChar char="•"/>
              <a:defRPr sz="1400" b="0" i="0" u="none" strike="noStrike" cap="none">
                <a:solidFill>
                  <a:schemeClr val="dk2"/>
                </a:solidFill>
                <a:latin typeface="Arial"/>
                <a:ea typeface="Arial"/>
                <a:cs typeface="Arial"/>
                <a:sym typeface="Arial"/>
              </a:defRPr>
            </a:lvl8pPr>
            <a:lvl9pPr marL="3086100" marR="0" lvl="8" indent="-257175" algn="l" rtl="0">
              <a:lnSpc>
                <a:spcPct val="90000"/>
              </a:lnSpc>
              <a:spcBef>
                <a:spcPts val="375"/>
              </a:spcBef>
              <a:spcAft>
                <a:spcPts val="0"/>
              </a:spcAft>
              <a:buClr>
                <a:schemeClr val="dk1"/>
              </a:buClr>
              <a:buSzPts val="1800"/>
              <a:buFont typeface="Arial"/>
              <a:buChar char="•"/>
              <a:defRPr sz="1400" b="0" i="0" u="none" strike="noStrike" cap="none">
                <a:solidFill>
                  <a:schemeClr val="dk2"/>
                </a:solidFill>
                <a:latin typeface="Arial"/>
                <a:ea typeface="Arial"/>
                <a:cs typeface="Arial"/>
                <a:sym typeface="Arial"/>
              </a:defRPr>
            </a:lvl9pPr>
          </a:lstStyle>
          <a:p>
            <a:pPr marL="900113" indent="-214313">
              <a:lnSpc>
                <a:spcPct val="150000"/>
              </a:lnSpc>
            </a:pPr>
            <a:r>
              <a:rPr lang="en-US" altLang="ko-KR" sz="1350" b="1" dirty="0">
                <a:solidFill>
                  <a:schemeClr val="tx1"/>
                </a:solidFill>
              </a:rPr>
              <a:t>LLMs can also be clinical reasoners (Kwon et al., 2023)</a:t>
            </a:r>
          </a:p>
        </p:txBody>
      </p:sp>
      <p:sp>
        <p:nvSpPr>
          <p:cNvPr id="14" name="Google Shape;82;p17">
            <a:extLst>
              <a:ext uri="{FF2B5EF4-FFF2-40B4-BE49-F238E27FC236}">
                <a16:creationId xmlns:a16="http://schemas.microsoft.com/office/drawing/2014/main" id="{53D21227-35DA-8ED1-5D96-F61C3CB21263}"/>
              </a:ext>
            </a:extLst>
          </p:cNvPr>
          <p:cNvSpPr txBox="1">
            <a:spLocks/>
          </p:cNvSpPr>
          <p:nvPr/>
        </p:nvSpPr>
        <p:spPr>
          <a:xfrm>
            <a:off x="311700" y="288275"/>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b="1" dirty="0">
                <a:solidFill>
                  <a:srgbClr val="004856"/>
                </a:solidFill>
              </a:rPr>
              <a:t>Introduction</a:t>
            </a:r>
            <a:endParaRPr lang="en-US" dirty="0"/>
          </a:p>
        </p:txBody>
      </p:sp>
      <p:pic>
        <p:nvPicPr>
          <p:cNvPr id="2" name="Google Shape;56;p13">
            <a:extLst>
              <a:ext uri="{FF2B5EF4-FFF2-40B4-BE49-F238E27FC236}">
                <a16:creationId xmlns:a16="http://schemas.microsoft.com/office/drawing/2014/main" id="{1D848EB3-2439-574F-7791-3D4BFDDBBD3A}"/>
              </a:ext>
            </a:extLst>
          </p:cNvPr>
          <p:cNvPicPr preferRelativeResize="0"/>
          <p:nvPr/>
        </p:nvPicPr>
        <p:blipFill>
          <a:blip r:embed="rId3"/>
          <a:srcRect/>
          <a:stretch/>
        </p:blipFill>
        <p:spPr>
          <a:xfrm>
            <a:off x="7829550" y="4662460"/>
            <a:ext cx="1314450" cy="438150"/>
          </a:xfrm>
          <a:prstGeom prst="rect">
            <a:avLst/>
          </a:prstGeom>
          <a:noFill/>
          <a:ln>
            <a:noFill/>
          </a:ln>
        </p:spPr>
      </p:pic>
      <p:pic>
        <p:nvPicPr>
          <p:cNvPr id="3" name="Picture 2">
            <a:extLst>
              <a:ext uri="{FF2B5EF4-FFF2-40B4-BE49-F238E27FC236}">
                <a16:creationId xmlns:a16="http://schemas.microsoft.com/office/drawing/2014/main" id="{C777DCD0-C75F-5EF9-5652-7665DC851692}"/>
              </a:ext>
            </a:extLst>
          </p:cNvPr>
          <p:cNvPicPr>
            <a:picLocks noChangeAspect="1"/>
          </p:cNvPicPr>
          <p:nvPr/>
        </p:nvPicPr>
        <p:blipFill>
          <a:blip r:embed="rId4"/>
          <a:stretch>
            <a:fillRect/>
          </a:stretch>
        </p:blipFill>
        <p:spPr>
          <a:xfrm>
            <a:off x="546639" y="1866772"/>
            <a:ext cx="8391488" cy="2172218"/>
          </a:xfrm>
          <a:prstGeom prst="rect">
            <a:avLst/>
          </a:prstGeom>
        </p:spPr>
      </p:pic>
      <p:pic>
        <p:nvPicPr>
          <p:cNvPr id="4" name="그림 8" descr="폰트, 그래픽, 텍스트, 스크린샷이(가) 표시된 사진&#10;&#10;자동 생성된 설명">
            <a:extLst>
              <a:ext uri="{FF2B5EF4-FFF2-40B4-BE49-F238E27FC236}">
                <a16:creationId xmlns:a16="http://schemas.microsoft.com/office/drawing/2014/main" id="{A9AF41DD-60C2-F43D-0D89-DBDA5CDF4B8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extLst>
      <p:ext uri="{BB962C8B-B14F-4D97-AF65-F5344CB8AC3E}">
        <p14:creationId xmlns:p14="http://schemas.microsoft.com/office/powerpoint/2010/main" val="9176376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6">
          <a:extLst>
            <a:ext uri="{FF2B5EF4-FFF2-40B4-BE49-F238E27FC236}">
              <a16:creationId xmlns:a16="http://schemas.microsoft.com/office/drawing/2014/main" id="{D7620BEE-4FAB-4912-4FF5-B94908FC87D3}"/>
            </a:ext>
          </a:extLst>
        </p:cNvPr>
        <p:cNvGrpSpPr/>
        <p:nvPr/>
      </p:nvGrpSpPr>
      <p:grpSpPr>
        <a:xfrm>
          <a:off x="0" y="0"/>
          <a:ext cx="0" cy="0"/>
          <a:chOff x="0" y="0"/>
          <a:chExt cx="0" cy="0"/>
        </a:xfrm>
      </p:grpSpPr>
      <p:sp>
        <p:nvSpPr>
          <p:cNvPr id="6" name="Google Shape;82;p17">
            <a:extLst>
              <a:ext uri="{FF2B5EF4-FFF2-40B4-BE49-F238E27FC236}">
                <a16:creationId xmlns:a16="http://schemas.microsoft.com/office/drawing/2014/main" id="{B964C682-23A8-7BDF-D018-D536294A2360}"/>
              </a:ext>
            </a:extLst>
          </p:cNvPr>
          <p:cNvSpPr txBox="1">
            <a:spLocks/>
          </p:cNvSpPr>
          <p:nvPr/>
        </p:nvSpPr>
        <p:spPr>
          <a:xfrm>
            <a:off x="311700" y="288275"/>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b="1" dirty="0">
                <a:solidFill>
                  <a:srgbClr val="004856"/>
                </a:solidFill>
              </a:rPr>
              <a:t>Introduction</a:t>
            </a:r>
            <a:endParaRPr lang="en-US" dirty="0"/>
          </a:p>
        </p:txBody>
      </p:sp>
      <p:sp>
        <p:nvSpPr>
          <p:cNvPr id="9" name="Google Shape;118;g2ea9da67292_0_17">
            <a:extLst>
              <a:ext uri="{FF2B5EF4-FFF2-40B4-BE49-F238E27FC236}">
                <a16:creationId xmlns:a16="http://schemas.microsoft.com/office/drawing/2014/main" id="{90F3B1FC-41D9-E05F-B268-3039C7686D2B}"/>
              </a:ext>
            </a:extLst>
          </p:cNvPr>
          <p:cNvSpPr txBox="1">
            <a:spLocks/>
          </p:cNvSpPr>
          <p:nvPr/>
        </p:nvSpPr>
        <p:spPr>
          <a:xfrm>
            <a:off x="-175803" y="863349"/>
            <a:ext cx="8304075" cy="3596625"/>
          </a:xfrm>
          <a:prstGeom prst="rect">
            <a:avLst/>
          </a:prstGeom>
          <a:noFill/>
          <a:ln>
            <a:noFill/>
          </a:ln>
        </p:spPr>
        <p:txBody>
          <a:bodyPr spcFirstLastPara="1" wrap="square" lIns="68569" tIns="34275" rIns="68569" bIns="34275" anchor="t" anchorCtr="0">
            <a:normAutofit/>
          </a:bodyPr>
          <a:lstStyle>
            <a:defPPr marR="0" lvl="0" algn="l" rtl="0">
              <a:lnSpc>
                <a:spcPct val="100000"/>
              </a:lnSpc>
              <a:spcBef>
                <a:spcPts val="0"/>
              </a:spcBef>
              <a:spcAft>
                <a:spcPts val="0"/>
              </a:spcAft>
            </a:defPPr>
            <a:lvl1pPr marL="342900" marR="0" lvl="0" indent="-257175" algn="l" rtl="0">
              <a:lnSpc>
                <a:spcPct val="90000"/>
              </a:lnSpc>
              <a:spcBef>
                <a:spcPts val="750"/>
              </a:spcBef>
              <a:spcAft>
                <a:spcPts val="0"/>
              </a:spcAft>
              <a:buClr>
                <a:schemeClr val="dk1"/>
              </a:buClr>
              <a:buSzPts val="1800"/>
              <a:buFont typeface="Arial"/>
              <a:buChar char="•"/>
              <a:defRPr sz="1800" b="0" i="0" u="none" strike="noStrike" cap="none">
                <a:solidFill>
                  <a:schemeClr val="dk2"/>
                </a:solidFill>
                <a:latin typeface="Arial"/>
                <a:ea typeface="Arial"/>
                <a:cs typeface="Arial"/>
                <a:sym typeface="Arial"/>
              </a:defRPr>
            </a:lvl1pPr>
            <a:lvl2pPr marL="685800" marR="0" lvl="1" indent="-257175" algn="l" rtl="0">
              <a:lnSpc>
                <a:spcPct val="90000"/>
              </a:lnSpc>
              <a:spcBef>
                <a:spcPts val="375"/>
              </a:spcBef>
              <a:spcAft>
                <a:spcPts val="0"/>
              </a:spcAft>
              <a:buClr>
                <a:schemeClr val="dk1"/>
              </a:buClr>
              <a:buSzPts val="1800"/>
              <a:buFont typeface="Arial"/>
              <a:buChar char="✔"/>
              <a:defRPr sz="1400" b="0" i="0" u="none" strike="noStrike" cap="none">
                <a:solidFill>
                  <a:schemeClr val="dk2"/>
                </a:solidFill>
                <a:latin typeface="Arial"/>
                <a:ea typeface="Arial"/>
                <a:cs typeface="Arial"/>
                <a:sym typeface="Arial"/>
              </a:defRPr>
            </a:lvl2pPr>
            <a:lvl3pPr marL="1028700" marR="0" lvl="2" indent="-257175" algn="l" rtl="0">
              <a:lnSpc>
                <a:spcPct val="90000"/>
              </a:lnSpc>
              <a:spcBef>
                <a:spcPts val="375"/>
              </a:spcBef>
              <a:spcAft>
                <a:spcPts val="0"/>
              </a:spcAft>
              <a:buClr>
                <a:schemeClr val="dk1"/>
              </a:buClr>
              <a:buSzPts val="1800"/>
              <a:buFont typeface="Arial"/>
              <a:buChar char="▪"/>
              <a:defRPr sz="1400" b="0" i="0" u="none" strike="noStrike" cap="none">
                <a:solidFill>
                  <a:schemeClr val="dk2"/>
                </a:solidFill>
                <a:latin typeface="Arial"/>
                <a:ea typeface="Arial"/>
                <a:cs typeface="Arial"/>
                <a:sym typeface="Arial"/>
              </a:defRPr>
            </a:lvl3pPr>
            <a:lvl4pPr marL="1371600" marR="0" lvl="3" indent="-257175" algn="l" rtl="0">
              <a:lnSpc>
                <a:spcPct val="90000"/>
              </a:lnSpc>
              <a:spcBef>
                <a:spcPts val="375"/>
              </a:spcBef>
              <a:spcAft>
                <a:spcPts val="0"/>
              </a:spcAft>
              <a:buClr>
                <a:schemeClr val="dk1"/>
              </a:buClr>
              <a:buSzPts val="1800"/>
              <a:buFont typeface="Arial"/>
              <a:buChar char="•"/>
              <a:defRPr sz="1400" b="0" i="0" u="none" strike="noStrike" cap="none">
                <a:solidFill>
                  <a:schemeClr val="dk2"/>
                </a:solidFill>
                <a:latin typeface="Arial"/>
                <a:ea typeface="Arial"/>
                <a:cs typeface="Arial"/>
                <a:sym typeface="Arial"/>
              </a:defRPr>
            </a:lvl4pPr>
            <a:lvl5pPr marL="1714500" marR="0" lvl="4" indent="-257175" algn="l" rtl="0">
              <a:lnSpc>
                <a:spcPct val="90000"/>
              </a:lnSpc>
              <a:spcBef>
                <a:spcPts val="375"/>
              </a:spcBef>
              <a:spcAft>
                <a:spcPts val="0"/>
              </a:spcAft>
              <a:buClr>
                <a:schemeClr val="dk1"/>
              </a:buClr>
              <a:buSzPts val="1800"/>
              <a:buFont typeface="Arial"/>
              <a:buChar char="•"/>
              <a:defRPr sz="1400" b="0" i="0" u="none" strike="noStrike" cap="none">
                <a:solidFill>
                  <a:schemeClr val="dk2"/>
                </a:solidFill>
                <a:latin typeface="Arial"/>
                <a:ea typeface="Arial"/>
                <a:cs typeface="Arial"/>
                <a:sym typeface="Arial"/>
              </a:defRPr>
            </a:lvl5pPr>
            <a:lvl6pPr marL="2057400" marR="0" lvl="5" indent="-257175" algn="l" rtl="0">
              <a:lnSpc>
                <a:spcPct val="90000"/>
              </a:lnSpc>
              <a:spcBef>
                <a:spcPts val="375"/>
              </a:spcBef>
              <a:spcAft>
                <a:spcPts val="0"/>
              </a:spcAft>
              <a:buClr>
                <a:schemeClr val="dk1"/>
              </a:buClr>
              <a:buSzPts val="1800"/>
              <a:buFont typeface="Arial"/>
              <a:buChar char="•"/>
              <a:defRPr sz="1400" b="0" i="0" u="none" strike="noStrike" cap="none">
                <a:solidFill>
                  <a:schemeClr val="dk2"/>
                </a:solidFill>
                <a:latin typeface="Arial"/>
                <a:ea typeface="Arial"/>
                <a:cs typeface="Arial"/>
                <a:sym typeface="Arial"/>
              </a:defRPr>
            </a:lvl6pPr>
            <a:lvl7pPr marL="2400300" marR="0" lvl="6" indent="-257175" algn="l" rtl="0">
              <a:lnSpc>
                <a:spcPct val="90000"/>
              </a:lnSpc>
              <a:spcBef>
                <a:spcPts val="375"/>
              </a:spcBef>
              <a:spcAft>
                <a:spcPts val="0"/>
              </a:spcAft>
              <a:buClr>
                <a:schemeClr val="dk1"/>
              </a:buClr>
              <a:buSzPts val="1800"/>
              <a:buFont typeface="Arial"/>
              <a:buChar char="•"/>
              <a:defRPr sz="1400" b="0" i="0" u="none" strike="noStrike" cap="none">
                <a:solidFill>
                  <a:schemeClr val="dk2"/>
                </a:solidFill>
                <a:latin typeface="Arial"/>
                <a:ea typeface="Arial"/>
                <a:cs typeface="Arial"/>
                <a:sym typeface="Arial"/>
              </a:defRPr>
            </a:lvl7pPr>
            <a:lvl8pPr marL="2743200" marR="0" lvl="7" indent="-257175" algn="l" rtl="0">
              <a:lnSpc>
                <a:spcPct val="90000"/>
              </a:lnSpc>
              <a:spcBef>
                <a:spcPts val="375"/>
              </a:spcBef>
              <a:spcAft>
                <a:spcPts val="0"/>
              </a:spcAft>
              <a:buClr>
                <a:schemeClr val="dk1"/>
              </a:buClr>
              <a:buSzPts val="1800"/>
              <a:buFont typeface="Arial"/>
              <a:buChar char="•"/>
              <a:defRPr sz="1400" b="0" i="0" u="none" strike="noStrike" cap="none">
                <a:solidFill>
                  <a:schemeClr val="dk2"/>
                </a:solidFill>
                <a:latin typeface="Arial"/>
                <a:ea typeface="Arial"/>
                <a:cs typeface="Arial"/>
                <a:sym typeface="Arial"/>
              </a:defRPr>
            </a:lvl8pPr>
            <a:lvl9pPr marL="3086100" marR="0" lvl="8" indent="-257175" algn="l" rtl="0">
              <a:lnSpc>
                <a:spcPct val="90000"/>
              </a:lnSpc>
              <a:spcBef>
                <a:spcPts val="375"/>
              </a:spcBef>
              <a:spcAft>
                <a:spcPts val="0"/>
              </a:spcAft>
              <a:buClr>
                <a:schemeClr val="dk1"/>
              </a:buClr>
              <a:buSzPts val="1800"/>
              <a:buFont typeface="Arial"/>
              <a:buChar char="•"/>
              <a:defRPr sz="1400" b="0" i="0" u="none" strike="noStrike" cap="none">
                <a:solidFill>
                  <a:schemeClr val="dk2"/>
                </a:solidFill>
                <a:latin typeface="Arial"/>
                <a:ea typeface="Arial"/>
                <a:cs typeface="Arial"/>
                <a:sym typeface="Arial"/>
              </a:defRPr>
            </a:lvl9pPr>
          </a:lstStyle>
          <a:p>
            <a:pPr marL="900113" indent="-214313">
              <a:lnSpc>
                <a:spcPct val="150000"/>
              </a:lnSpc>
            </a:pPr>
            <a:r>
              <a:rPr lang="en-US" altLang="ko-KR" sz="1350" b="1" dirty="0">
                <a:solidFill>
                  <a:schemeClr val="tx1"/>
                </a:solidFill>
              </a:rPr>
              <a:t>Let’s see how this progress become possible within just a few years!!!</a:t>
            </a:r>
          </a:p>
        </p:txBody>
      </p:sp>
      <p:pic>
        <p:nvPicPr>
          <p:cNvPr id="10" name="Google Shape;56;p13">
            <a:extLst>
              <a:ext uri="{FF2B5EF4-FFF2-40B4-BE49-F238E27FC236}">
                <a16:creationId xmlns:a16="http://schemas.microsoft.com/office/drawing/2014/main" id="{30805494-1B5C-7AA0-312C-2A6BF2CE8255}"/>
              </a:ext>
            </a:extLst>
          </p:cNvPr>
          <p:cNvPicPr preferRelativeResize="0"/>
          <p:nvPr/>
        </p:nvPicPr>
        <p:blipFill>
          <a:blip r:embed="rId3"/>
          <a:srcRect/>
          <a:stretch/>
        </p:blipFill>
        <p:spPr>
          <a:xfrm>
            <a:off x="7829550" y="4662460"/>
            <a:ext cx="1314450" cy="438150"/>
          </a:xfrm>
          <a:prstGeom prst="rect">
            <a:avLst/>
          </a:prstGeom>
          <a:noFill/>
          <a:ln>
            <a:noFill/>
          </a:ln>
        </p:spPr>
      </p:pic>
      <p:pic>
        <p:nvPicPr>
          <p:cNvPr id="2" name="그림 8" descr="폰트, 그래픽, 텍스트, 스크린샷이(가) 표시된 사진&#10;&#10;자동 생성된 설명">
            <a:extLst>
              <a:ext uri="{FF2B5EF4-FFF2-40B4-BE49-F238E27FC236}">
                <a16:creationId xmlns:a16="http://schemas.microsoft.com/office/drawing/2014/main" id="{5D95CF35-ED7C-C856-890E-D0EA22F55A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extLst>
      <p:ext uri="{BB962C8B-B14F-4D97-AF65-F5344CB8AC3E}">
        <p14:creationId xmlns:p14="http://schemas.microsoft.com/office/powerpoint/2010/main" val="40038766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89479E0A-1604-1BC1-0555-C9CC359D8ED2}"/>
            </a:ext>
          </a:extLst>
        </p:cNvPr>
        <p:cNvGrpSpPr/>
        <p:nvPr/>
      </p:nvGrpSpPr>
      <p:grpSpPr>
        <a:xfrm>
          <a:off x="0" y="0"/>
          <a:ext cx="0" cy="0"/>
          <a:chOff x="0" y="0"/>
          <a:chExt cx="0" cy="0"/>
        </a:xfrm>
      </p:grpSpPr>
      <p:sp>
        <p:nvSpPr>
          <p:cNvPr id="90" name="Google Shape;90;p18">
            <a:extLst>
              <a:ext uri="{FF2B5EF4-FFF2-40B4-BE49-F238E27FC236}">
                <a16:creationId xmlns:a16="http://schemas.microsoft.com/office/drawing/2014/main" id="{B7764CBA-708E-141C-0587-F28B0315E177}"/>
              </a:ext>
            </a:extLst>
          </p:cNvPr>
          <p:cNvSpPr txBox="1">
            <a:spLocks noGrp="1"/>
          </p:cNvSpPr>
          <p:nvPr>
            <p:ph type="ctrTitle"/>
          </p:nvPr>
        </p:nvSpPr>
        <p:spPr>
          <a:xfrm>
            <a:off x="311700" y="2226150"/>
            <a:ext cx="8520600" cy="6912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n-US" altLang="ko" sz="4000" b="1" dirty="0">
                <a:solidFill>
                  <a:srgbClr val="004856"/>
                </a:solidFill>
              </a:rPr>
              <a:t>Recap</a:t>
            </a:r>
            <a:endParaRPr sz="4000" dirty="0"/>
          </a:p>
        </p:txBody>
      </p:sp>
      <p:pic>
        <p:nvPicPr>
          <p:cNvPr id="2" name="Google Shape;56;p13">
            <a:extLst>
              <a:ext uri="{FF2B5EF4-FFF2-40B4-BE49-F238E27FC236}">
                <a16:creationId xmlns:a16="http://schemas.microsoft.com/office/drawing/2014/main" id="{E080472C-0843-93E1-D2DC-25BC945920D5}"/>
              </a:ext>
            </a:extLst>
          </p:cNvPr>
          <p:cNvPicPr preferRelativeResize="0"/>
          <p:nvPr/>
        </p:nvPicPr>
        <p:blipFill>
          <a:blip r:embed="rId3"/>
          <a:srcRect/>
          <a:stretch/>
        </p:blipFill>
        <p:spPr>
          <a:xfrm>
            <a:off x="7829550" y="4662460"/>
            <a:ext cx="1314450" cy="438150"/>
          </a:xfrm>
          <a:prstGeom prst="rect">
            <a:avLst/>
          </a:prstGeom>
          <a:noFill/>
          <a:ln>
            <a:noFill/>
          </a:ln>
        </p:spPr>
      </p:pic>
      <p:pic>
        <p:nvPicPr>
          <p:cNvPr id="3" name="그림 8" descr="폰트, 그래픽, 텍스트, 스크린샷이(가) 표시된 사진&#10;&#10;자동 생성된 설명">
            <a:extLst>
              <a:ext uri="{FF2B5EF4-FFF2-40B4-BE49-F238E27FC236}">
                <a16:creationId xmlns:a16="http://schemas.microsoft.com/office/drawing/2014/main" id="{9BBF4094-D846-CC4C-83B0-C2F82C7619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extLst>
      <p:ext uri="{BB962C8B-B14F-4D97-AF65-F5344CB8AC3E}">
        <p14:creationId xmlns:p14="http://schemas.microsoft.com/office/powerpoint/2010/main" val="14758817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CEF8CCC3-B142-DBB1-99B8-9C331D3B5CAA}"/>
            </a:ext>
          </a:extLst>
        </p:cNvPr>
        <p:cNvGrpSpPr/>
        <p:nvPr/>
      </p:nvGrpSpPr>
      <p:grpSpPr>
        <a:xfrm>
          <a:off x="0" y="0"/>
          <a:ext cx="0" cy="0"/>
          <a:chOff x="0" y="0"/>
          <a:chExt cx="0" cy="0"/>
        </a:xfrm>
      </p:grpSpPr>
      <p:sp>
        <p:nvSpPr>
          <p:cNvPr id="97" name="Google Shape;97;p19">
            <a:extLst>
              <a:ext uri="{FF2B5EF4-FFF2-40B4-BE49-F238E27FC236}">
                <a16:creationId xmlns:a16="http://schemas.microsoft.com/office/drawing/2014/main" id="{A9460A59-8EB6-4FAF-71AE-32A59E8CE1BA}"/>
              </a:ext>
            </a:extLst>
          </p:cNvPr>
          <p:cNvSpPr txBox="1">
            <a:spLocks noGrp="1"/>
          </p:cNvSpPr>
          <p:nvPr>
            <p:ph type="body" idx="1"/>
          </p:nvPr>
        </p:nvSpPr>
        <p:spPr>
          <a:xfrm>
            <a:off x="3530379" y="989862"/>
            <a:ext cx="5301921" cy="3416400"/>
          </a:xfrm>
          <a:prstGeom prst="rect">
            <a:avLst/>
          </a:prstGeom>
        </p:spPr>
        <p:txBody>
          <a:bodyPr spcFirstLastPara="1" wrap="square" lIns="91425" tIns="91425" rIns="91425" bIns="91425" anchor="t" anchorCtr="0">
            <a:normAutofit/>
          </a:bodyPr>
          <a:lstStyle/>
          <a:p>
            <a:pPr>
              <a:buClrTx/>
            </a:pPr>
            <a:r>
              <a:rPr lang="en-US" sz="1600" b="1" dirty="0">
                <a:solidFill>
                  <a:schemeClr val="tx1"/>
                </a:solidFill>
              </a:rPr>
              <a:t>Attention is All you Need (2017)</a:t>
            </a:r>
          </a:p>
          <a:p>
            <a:pPr lvl="0">
              <a:buClrTx/>
            </a:pPr>
            <a:r>
              <a:rPr lang="en-US" sz="1600" b="1" dirty="0">
                <a:solidFill>
                  <a:schemeClr val="tx1"/>
                </a:solidFill>
              </a:rPr>
              <a:t>Why Transformer?</a:t>
            </a:r>
          </a:p>
          <a:p>
            <a:pPr lvl="1">
              <a:lnSpc>
                <a:spcPct val="150000"/>
              </a:lnSpc>
            </a:pPr>
            <a:r>
              <a:rPr lang="en-US" sz="1200" dirty="0">
                <a:solidFill>
                  <a:schemeClr val="tx1"/>
                </a:solidFill>
              </a:rPr>
              <a:t>Self-Attention</a:t>
            </a:r>
          </a:p>
          <a:p>
            <a:pPr lvl="1"/>
            <a:r>
              <a:rPr lang="en-US" sz="1200" dirty="0">
                <a:solidFill>
                  <a:schemeClr val="tx1"/>
                </a:solidFill>
              </a:rPr>
              <a:t>No recurrence</a:t>
            </a:r>
          </a:p>
          <a:p>
            <a:pPr lvl="1"/>
            <a:r>
              <a:rPr lang="en-US" sz="1200" dirty="0">
                <a:solidFill>
                  <a:schemeClr val="tx1"/>
                </a:solidFill>
              </a:rPr>
              <a:t>Scalability</a:t>
            </a:r>
          </a:p>
          <a:p>
            <a:pPr lvl="1"/>
            <a:r>
              <a:rPr lang="en-US" sz="1200" dirty="0">
                <a:solidFill>
                  <a:schemeClr val="tx1"/>
                </a:solidFill>
              </a:rPr>
              <a:t>Parallelizability</a:t>
            </a:r>
          </a:p>
          <a:p>
            <a:pPr marL="596900" lvl="1" indent="0">
              <a:buNone/>
            </a:pPr>
            <a:r>
              <a:rPr lang="en-US" sz="1200" dirty="0">
                <a:solidFill>
                  <a:schemeClr val="tx1"/>
                </a:solidFill>
              </a:rPr>
              <a:t>...</a:t>
            </a:r>
          </a:p>
          <a:p>
            <a:pPr marL="139700" indent="0">
              <a:buNone/>
            </a:pPr>
            <a:r>
              <a:rPr lang="en-US" sz="1600" dirty="0">
                <a:solidFill>
                  <a:schemeClr val="tx1"/>
                </a:solidFill>
                <a:sym typeface="Wingdings" pitchFamily="2" charset="2"/>
              </a:rPr>
              <a:t> </a:t>
            </a:r>
            <a:r>
              <a:rPr lang="en-US" sz="1600" b="1" dirty="0">
                <a:solidFill>
                  <a:schemeClr val="tx1"/>
                </a:solidFill>
                <a:highlight>
                  <a:srgbClr val="FFFF00"/>
                </a:highlight>
                <a:sym typeface="Wingdings" pitchFamily="2" charset="2"/>
              </a:rPr>
              <a:t>T</a:t>
            </a:r>
            <a:r>
              <a:rPr lang="en-US" sz="1600" b="1" dirty="0">
                <a:solidFill>
                  <a:schemeClr val="tx1"/>
                </a:solidFill>
                <a:highlight>
                  <a:srgbClr val="FFFF00"/>
                </a:highlight>
              </a:rPr>
              <a:t>he foundation of nearly all modern DL models</a:t>
            </a:r>
            <a:endParaRPr lang="en-US" sz="1600" dirty="0">
              <a:solidFill>
                <a:schemeClr val="tx1"/>
              </a:solidFill>
              <a:highlight>
                <a:srgbClr val="FFFF00"/>
              </a:highlight>
            </a:endParaRPr>
          </a:p>
        </p:txBody>
      </p:sp>
      <p:sp>
        <p:nvSpPr>
          <p:cNvPr id="99" name="Google Shape;99;p19">
            <a:extLst>
              <a:ext uri="{FF2B5EF4-FFF2-40B4-BE49-F238E27FC236}">
                <a16:creationId xmlns:a16="http://schemas.microsoft.com/office/drawing/2014/main" id="{F19CA9BC-A749-418E-2C5A-BB11FB3BB8E5}"/>
              </a:ext>
            </a:extLst>
          </p:cNvPr>
          <p:cNvSpPr txBox="1"/>
          <p:nvPr/>
        </p:nvSpPr>
        <p:spPr>
          <a:xfrm>
            <a:off x="71200" y="4882475"/>
            <a:ext cx="3547800" cy="177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tLang="ko" sz="700" b="1" dirty="0">
                <a:solidFill>
                  <a:srgbClr val="999999"/>
                </a:solidFill>
              </a:rPr>
              <a:t>Vaswani</a:t>
            </a:r>
            <a:r>
              <a:rPr lang="ko" sz="700" b="1" dirty="0">
                <a:solidFill>
                  <a:srgbClr val="999999"/>
                </a:solidFill>
              </a:rPr>
              <a:t> et al. “</a:t>
            </a:r>
            <a:r>
              <a:rPr lang="en-US" altLang="ko" sz="700" b="1" dirty="0">
                <a:solidFill>
                  <a:srgbClr val="999999"/>
                </a:solidFill>
              </a:rPr>
              <a:t>Attention is All you Need</a:t>
            </a:r>
            <a:r>
              <a:rPr lang="ko" sz="700" b="1" dirty="0">
                <a:solidFill>
                  <a:srgbClr val="999999"/>
                </a:solidFill>
              </a:rPr>
              <a:t>”, NeurIPS 20</a:t>
            </a:r>
            <a:r>
              <a:rPr lang="en-US" altLang="ko" sz="700" b="1" dirty="0">
                <a:solidFill>
                  <a:srgbClr val="999999"/>
                </a:solidFill>
              </a:rPr>
              <a:t>17</a:t>
            </a:r>
            <a:endParaRPr sz="700" b="1" dirty="0">
              <a:solidFill>
                <a:srgbClr val="999999"/>
              </a:solidFill>
            </a:endParaRPr>
          </a:p>
        </p:txBody>
      </p:sp>
      <p:sp>
        <p:nvSpPr>
          <p:cNvPr id="2" name="Google Shape;82;p17">
            <a:extLst>
              <a:ext uri="{FF2B5EF4-FFF2-40B4-BE49-F238E27FC236}">
                <a16:creationId xmlns:a16="http://schemas.microsoft.com/office/drawing/2014/main" id="{C6EBAF7B-58E9-2AC4-8884-5FC2A5A399FD}"/>
              </a:ext>
            </a:extLst>
          </p:cNvPr>
          <p:cNvSpPr txBox="1">
            <a:spLocks/>
          </p:cNvSpPr>
          <p:nvPr/>
        </p:nvSpPr>
        <p:spPr>
          <a:xfrm>
            <a:off x="311700" y="288275"/>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altLang="ko" b="1" dirty="0">
                <a:solidFill>
                  <a:srgbClr val="004856"/>
                </a:solidFill>
              </a:rPr>
              <a:t>Recap – Transformer</a:t>
            </a:r>
            <a:endParaRPr lang="en-US" dirty="0"/>
          </a:p>
        </p:txBody>
      </p:sp>
      <p:pic>
        <p:nvPicPr>
          <p:cNvPr id="5" name="Google Shape;56;p13">
            <a:extLst>
              <a:ext uri="{FF2B5EF4-FFF2-40B4-BE49-F238E27FC236}">
                <a16:creationId xmlns:a16="http://schemas.microsoft.com/office/drawing/2014/main" id="{3511F4F6-4875-5C96-F59E-62039A22EBF4}"/>
              </a:ext>
            </a:extLst>
          </p:cNvPr>
          <p:cNvPicPr preferRelativeResize="0"/>
          <p:nvPr/>
        </p:nvPicPr>
        <p:blipFill>
          <a:blip r:embed="rId3"/>
          <a:srcRect/>
          <a:stretch/>
        </p:blipFill>
        <p:spPr>
          <a:xfrm>
            <a:off x="7829550" y="4662460"/>
            <a:ext cx="1314450" cy="438150"/>
          </a:xfrm>
          <a:prstGeom prst="rect">
            <a:avLst/>
          </a:prstGeom>
          <a:noFill/>
          <a:ln>
            <a:noFill/>
          </a:ln>
        </p:spPr>
      </p:pic>
      <p:pic>
        <p:nvPicPr>
          <p:cNvPr id="4" name="그림 6">
            <a:extLst>
              <a:ext uri="{FF2B5EF4-FFF2-40B4-BE49-F238E27FC236}">
                <a16:creationId xmlns:a16="http://schemas.microsoft.com/office/drawing/2014/main" id="{2B5B6491-EBE9-16E8-DC40-2F36100D5F7B}"/>
              </a:ext>
            </a:extLst>
          </p:cNvPr>
          <p:cNvPicPr>
            <a:picLocks noChangeAspect="1"/>
          </p:cNvPicPr>
          <p:nvPr/>
        </p:nvPicPr>
        <p:blipFill>
          <a:blip r:embed="rId4"/>
          <a:stretch>
            <a:fillRect/>
          </a:stretch>
        </p:blipFill>
        <p:spPr>
          <a:xfrm>
            <a:off x="515053" y="989862"/>
            <a:ext cx="2824495" cy="3717485"/>
          </a:xfrm>
          <a:prstGeom prst="rect">
            <a:avLst/>
          </a:prstGeom>
        </p:spPr>
      </p:pic>
      <p:pic>
        <p:nvPicPr>
          <p:cNvPr id="3" name="그림 8" descr="폰트, 그래픽, 텍스트, 스크린샷이(가) 표시된 사진&#10;&#10;자동 생성된 설명">
            <a:extLst>
              <a:ext uri="{FF2B5EF4-FFF2-40B4-BE49-F238E27FC236}">
                <a16:creationId xmlns:a16="http://schemas.microsoft.com/office/drawing/2014/main" id="{4FCC02BB-5297-3E6C-A728-EA999BCEC51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extLst>
      <p:ext uri="{BB962C8B-B14F-4D97-AF65-F5344CB8AC3E}">
        <p14:creationId xmlns:p14="http://schemas.microsoft.com/office/powerpoint/2010/main" val="36193752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4C96F8BA-5174-8287-AE7D-566802C11B99}"/>
            </a:ext>
          </a:extLst>
        </p:cNvPr>
        <p:cNvGrpSpPr/>
        <p:nvPr/>
      </p:nvGrpSpPr>
      <p:grpSpPr>
        <a:xfrm>
          <a:off x="0" y="0"/>
          <a:ext cx="0" cy="0"/>
          <a:chOff x="0" y="0"/>
          <a:chExt cx="0" cy="0"/>
        </a:xfrm>
      </p:grpSpPr>
      <p:sp>
        <p:nvSpPr>
          <p:cNvPr id="2" name="Google Shape;82;p17">
            <a:extLst>
              <a:ext uri="{FF2B5EF4-FFF2-40B4-BE49-F238E27FC236}">
                <a16:creationId xmlns:a16="http://schemas.microsoft.com/office/drawing/2014/main" id="{F74D7497-0F5B-8264-AEEE-1DA2C3AF8900}"/>
              </a:ext>
            </a:extLst>
          </p:cNvPr>
          <p:cNvSpPr txBox="1">
            <a:spLocks/>
          </p:cNvSpPr>
          <p:nvPr/>
        </p:nvSpPr>
        <p:spPr>
          <a:xfrm>
            <a:off x="311700" y="288275"/>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altLang="ko" b="1" dirty="0">
                <a:solidFill>
                  <a:srgbClr val="004856"/>
                </a:solidFill>
              </a:rPr>
              <a:t>Recap – BERT</a:t>
            </a:r>
            <a:endParaRPr lang="en-US" dirty="0"/>
          </a:p>
        </p:txBody>
      </p:sp>
      <p:pic>
        <p:nvPicPr>
          <p:cNvPr id="5" name="Google Shape;56;p13">
            <a:extLst>
              <a:ext uri="{FF2B5EF4-FFF2-40B4-BE49-F238E27FC236}">
                <a16:creationId xmlns:a16="http://schemas.microsoft.com/office/drawing/2014/main" id="{C6E6E522-2385-B7D6-4FDC-77B2F248ADEE}"/>
              </a:ext>
            </a:extLst>
          </p:cNvPr>
          <p:cNvPicPr preferRelativeResize="0"/>
          <p:nvPr/>
        </p:nvPicPr>
        <p:blipFill>
          <a:blip r:embed="rId3"/>
          <a:srcRect/>
          <a:stretch/>
        </p:blipFill>
        <p:spPr>
          <a:xfrm>
            <a:off x="7829550" y="4662460"/>
            <a:ext cx="1314450" cy="438150"/>
          </a:xfrm>
          <a:prstGeom prst="rect">
            <a:avLst/>
          </a:prstGeom>
          <a:noFill/>
          <a:ln>
            <a:noFill/>
          </a:ln>
        </p:spPr>
      </p:pic>
      <p:grpSp>
        <p:nvGrpSpPr>
          <p:cNvPr id="13" name="Group 12">
            <a:extLst>
              <a:ext uri="{FF2B5EF4-FFF2-40B4-BE49-F238E27FC236}">
                <a16:creationId xmlns:a16="http://schemas.microsoft.com/office/drawing/2014/main" id="{B06DE55E-D1A2-4387-FBBE-CDFDF4CD9F2B}"/>
              </a:ext>
            </a:extLst>
          </p:cNvPr>
          <p:cNvGrpSpPr/>
          <p:nvPr/>
        </p:nvGrpSpPr>
        <p:grpSpPr>
          <a:xfrm>
            <a:off x="5810283" y="810405"/>
            <a:ext cx="2676492" cy="3522689"/>
            <a:chOff x="5153058" y="860975"/>
            <a:chExt cx="2676492" cy="3522689"/>
          </a:xfrm>
        </p:grpSpPr>
        <p:grpSp>
          <p:nvGrpSpPr>
            <p:cNvPr id="3" name="그룹 5">
              <a:extLst>
                <a:ext uri="{FF2B5EF4-FFF2-40B4-BE49-F238E27FC236}">
                  <a16:creationId xmlns:a16="http://schemas.microsoft.com/office/drawing/2014/main" id="{18238C4A-E606-5E74-B764-F4A76CEBCE84}"/>
                </a:ext>
              </a:extLst>
            </p:cNvPr>
            <p:cNvGrpSpPr/>
            <p:nvPr/>
          </p:nvGrpSpPr>
          <p:grpSpPr>
            <a:xfrm>
              <a:off x="5153058" y="860975"/>
              <a:ext cx="2676492" cy="3522689"/>
              <a:chOff x="7648242" y="1102463"/>
              <a:chExt cx="4121493" cy="5424541"/>
            </a:xfrm>
          </p:grpSpPr>
          <p:pic>
            <p:nvPicPr>
              <p:cNvPr id="6" name="그림 6">
                <a:extLst>
                  <a:ext uri="{FF2B5EF4-FFF2-40B4-BE49-F238E27FC236}">
                    <a16:creationId xmlns:a16="http://schemas.microsoft.com/office/drawing/2014/main" id="{A9228CCD-00C7-E6D5-2D14-6E576BEED2D6}"/>
                  </a:ext>
                </a:extLst>
              </p:cNvPr>
              <p:cNvPicPr>
                <a:picLocks noChangeAspect="1"/>
              </p:cNvPicPr>
              <p:nvPr/>
            </p:nvPicPr>
            <p:blipFill>
              <a:blip r:embed="rId4"/>
              <a:stretch>
                <a:fillRect/>
              </a:stretch>
            </p:blipFill>
            <p:spPr>
              <a:xfrm>
                <a:off x="7648242" y="1102463"/>
                <a:ext cx="4121493" cy="5424541"/>
              </a:xfrm>
              <a:prstGeom prst="rect">
                <a:avLst/>
              </a:prstGeom>
              <a:ln>
                <a:noFill/>
              </a:ln>
            </p:spPr>
          </p:pic>
          <p:sp>
            <p:nvSpPr>
              <p:cNvPr id="7" name="사각형: 둥근 모서리 11">
                <a:extLst>
                  <a:ext uri="{FF2B5EF4-FFF2-40B4-BE49-F238E27FC236}">
                    <a16:creationId xmlns:a16="http://schemas.microsoft.com/office/drawing/2014/main" id="{C71A70DA-D9FE-5DEA-9195-44370B8AFB1B}"/>
                  </a:ext>
                </a:extLst>
              </p:cNvPr>
              <p:cNvSpPr/>
              <p:nvPr/>
            </p:nvSpPr>
            <p:spPr>
              <a:xfrm>
                <a:off x="8283361" y="2987040"/>
                <a:ext cx="1412240" cy="2141916"/>
              </a:xfrm>
              <a:prstGeom prst="roundRect">
                <a:avLst/>
              </a:prstGeom>
              <a:noFill/>
              <a:ln w="19050">
                <a:solidFill>
                  <a:srgbClr val="C0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8" name="TextBox 7">
              <a:extLst>
                <a:ext uri="{FF2B5EF4-FFF2-40B4-BE49-F238E27FC236}">
                  <a16:creationId xmlns:a16="http://schemas.microsoft.com/office/drawing/2014/main" id="{5315A240-E38D-9933-B5D7-EA4FBED03D46}"/>
                </a:ext>
              </a:extLst>
            </p:cNvPr>
            <p:cNvSpPr txBox="1"/>
            <p:nvPr/>
          </p:nvSpPr>
          <p:spPr>
            <a:xfrm>
              <a:off x="5437918" y="1689269"/>
              <a:ext cx="1172275" cy="307777"/>
            </a:xfrm>
            <a:prstGeom prst="rect">
              <a:avLst/>
            </a:prstGeom>
            <a:noFill/>
          </p:spPr>
          <p:txBody>
            <a:bodyPr wrap="square" rtlCol="0">
              <a:spAutoFit/>
            </a:bodyPr>
            <a:lstStyle/>
            <a:p>
              <a:pPr algn="ctr"/>
              <a:r>
                <a:rPr lang="en-US" altLang="ko-KR" b="1" dirty="0">
                  <a:solidFill>
                    <a:srgbClr val="C00000"/>
                  </a:solidFill>
                </a:rPr>
                <a:t>Encoder</a:t>
              </a:r>
              <a:endParaRPr lang="ko-KR" altLang="en-US" b="1" dirty="0">
                <a:solidFill>
                  <a:srgbClr val="C00000"/>
                </a:solidFill>
              </a:endParaRPr>
            </a:p>
          </p:txBody>
        </p:sp>
        <p:pic>
          <p:nvPicPr>
            <p:cNvPr id="9" name="Picture 2" descr="Google BERT Update and Why It Matters - SEO Update">
              <a:extLst>
                <a:ext uri="{FF2B5EF4-FFF2-40B4-BE49-F238E27FC236}">
                  <a16:creationId xmlns:a16="http://schemas.microsoft.com/office/drawing/2014/main" id="{7F21D737-639B-EE6C-5FC8-A1BF92953D5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0251" t="25862" r="10645" b="17878"/>
            <a:stretch/>
          </p:blipFill>
          <p:spPr bwMode="auto">
            <a:xfrm>
              <a:off x="5611648" y="1295333"/>
              <a:ext cx="824814" cy="393936"/>
            </a:xfrm>
            <a:prstGeom prst="rect">
              <a:avLst/>
            </a:prstGeom>
            <a:noFill/>
            <a:extLst>
              <a:ext uri="{909E8E84-426E-40DD-AFC4-6F175D3DCCD1}">
                <a14:hiddenFill xmlns:a14="http://schemas.microsoft.com/office/drawing/2010/main">
                  <a:solidFill>
                    <a:srgbClr val="FFFFFF"/>
                  </a:solidFill>
                </a14:hiddenFill>
              </a:ext>
            </a:extLst>
          </p:spPr>
        </p:pic>
      </p:grpSp>
      <p:pic>
        <p:nvPicPr>
          <p:cNvPr id="12" name="Picture 2">
            <a:extLst>
              <a:ext uri="{FF2B5EF4-FFF2-40B4-BE49-F238E27FC236}">
                <a16:creationId xmlns:a16="http://schemas.microsoft.com/office/drawing/2014/main" id="{4EF7AB30-A04E-550C-967C-A210369311B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3561" y="1523542"/>
            <a:ext cx="5270499" cy="2096413"/>
          </a:xfrm>
          <a:prstGeom prst="rect">
            <a:avLst/>
          </a:prstGeom>
          <a:noFill/>
          <a:extLst>
            <a:ext uri="{909E8E84-426E-40DD-AFC4-6F175D3DCCD1}">
              <a14:hiddenFill xmlns:a14="http://schemas.microsoft.com/office/drawing/2010/main">
                <a:solidFill>
                  <a:srgbClr val="FFFFFF"/>
                </a:solidFill>
              </a14:hiddenFill>
            </a:ext>
          </a:extLst>
        </p:spPr>
      </p:pic>
      <p:sp>
        <p:nvSpPr>
          <p:cNvPr id="14" name="Google Shape;99;p19">
            <a:extLst>
              <a:ext uri="{FF2B5EF4-FFF2-40B4-BE49-F238E27FC236}">
                <a16:creationId xmlns:a16="http://schemas.microsoft.com/office/drawing/2014/main" id="{3ABD3752-CDDD-924B-71C8-36EEA5C1CBD1}"/>
              </a:ext>
            </a:extLst>
          </p:cNvPr>
          <p:cNvSpPr txBox="1"/>
          <p:nvPr/>
        </p:nvSpPr>
        <p:spPr>
          <a:xfrm>
            <a:off x="71199" y="4866983"/>
            <a:ext cx="5351193" cy="204306"/>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tLang="ko" sz="700" b="1" dirty="0">
                <a:solidFill>
                  <a:srgbClr val="999999"/>
                </a:solidFill>
              </a:rPr>
              <a:t>Devlin, Jacob</a:t>
            </a:r>
            <a:r>
              <a:rPr lang="ko" sz="700" b="1" dirty="0">
                <a:solidFill>
                  <a:srgbClr val="999999"/>
                </a:solidFill>
              </a:rPr>
              <a:t> et al. “</a:t>
            </a:r>
            <a:r>
              <a:rPr lang="en-US" altLang="ko" sz="700" b="1" dirty="0">
                <a:solidFill>
                  <a:srgbClr val="999999"/>
                </a:solidFill>
              </a:rPr>
              <a:t>BERT: Pre-training of Deep Bidirectional Transformers for Language Understanding</a:t>
            </a:r>
            <a:r>
              <a:rPr lang="ko" sz="700" b="1" dirty="0">
                <a:solidFill>
                  <a:srgbClr val="999999"/>
                </a:solidFill>
              </a:rPr>
              <a:t>”, N</a:t>
            </a:r>
            <a:r>
              <a:rPr lang="en-US" altLang="ko" sz="700" b="1" dirty="0">
                <a:solidFill>
                  <a:srgbClr val="999999"/>
                </a:solidFill>
              </a:rPr>
              <a:t>AACL</a:t>
            </a:r>
            <a:r>
              <a:rPr lang="ko" sz="700" b="1" dirty="0">
                <a:solidFill>
                  <a:srgbClr val="999999"/>
                </a:solidFill>
              </a:rPr>
              <a:t> 20</a:t>
            </a:r>
            <a:r>
              <a:rPr lang="en-US" altLang="ko" sz="700" b="1" dirty="0">
                <a:solidFill>
                  <a:srgbClr val="999999"/>
                </a:solidFill>
              </a:rPr>
              <a:t>19</a:t>
            </a:r>
            <a:endParaRPr sz="700" b="1" dirty="0">
              <a:solidFill>
                <a:srgbClr val="999999"/>
              </a:solidFill>
            </a:endParaRPr>
          </a:p>
        </p:txBody>
      </p:sp>
      <p:pic>
        <p:nvPicPr>
          <p:cNvPr id="4" name="그림 8" descr="폰트, 그래픽, 텍스트, 스크린샷이(가) 표시된 사진&#10;&#10;자동 생성된 설명">
            <a:extLst>
              <a:ext uri="{FF2B5EF4-FFF2-40B4-BE49-F238E27FC236}">
                <a16:creationId xmlns:a16="http://schemas.microsoft.com/office/drawing/2014/main" id="{00EA690D-E514-C21C-792D-544E8A4F335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extLst>
      <p:ext uri="{BB962C8B-B14F-4D97-AF65-F5344CB8AC3E}">
        <p14:creationId xmlns:p14="http://schemas.microsoft.com/office/powerpoint/2010/main" val="27302914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5F8D9C5D-D250-671E-FF9D-57D8F15FAD70}"/>
            </a:ext>
          </a:extLst>
        </p:cNvPr>
        <p:cNvGrpSpPr/>
        <p:nvPr/>
      </p:nvGrpSpPr>
      <p:grpSpPr>
        <a:xfrm>
          <a:off x="0" y="0"/>
          <a:ext cx="0" cy="0"/>
          <a:chOff x="0" y="0"/>
          <a:chExt cx="0" cy="0"/>
        </a:xfrm>
      </p:grpSpPr>
      <p:sp>
        <p:nvSpPr>
          <p:cNvPr id="99" name="Google Shape;99;p19">
            <a:extLst>
              <a:ext uri="{FF2B5EF4-FFF2-40B4-BE49-F238E27FC236}">
                <a16:creationId xmlns:a16="http://schemas.microsoft.com/office/drawing/2014/main" id="{01181D82-EA5A-3270-A559-E950083994AF}"/>
              </a:ext>
            </a:extLst>
          </p:cNvPr>
          <p:cNvSpPr txBox="1"/>
          <p:nvPr/>
        </p:nvSpPr>
        <p:spPr>
          <a:xfrm>
            <a:off x="71199" y="4866983"/>
            <a:ext cx="5351193" cy="204306"/>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tLang="ko" sz="700" b="1" dirty="0">
                <a:solidFill>
                  <a:srgbClr val="999999"/>
                </a:solidFill>
              </a:rPr>
              <a:t>Devlin, Jacob</a:t>
            </a:r>
            <a:r>
              <a:rPr lang="ko" sz="700" b="1" dirty="0">
                <a:solidFill>
                  <a:srgbClr val="999999"/>
                </a:solidFill>
              </a:rPr>
              <a:t> et al. “</a:t>
            </a:r>
            <a:r>
              <a:rPr lang="en-US" altLang="ko" sz="700" b="1" dirty="0">
                <a:solidFill>
                  <a:srgbClr val="999999"/>
                </a:solidFill>
              </a:rPr>
              <a:t>BERT: Pre-training of Deep Bidirectional Transformers for Language Understanding</a:t>
            </a:r>
            <a:r>
              <a:rPr lang="ko" sz="700" b="1" dirty="0">
                <a:solidFill>
                  <a:srgbClr val="999999"/>
                </a:solidFill>
              </a:rPr>
              <a:t>”, N</a:t>
            </a:r>
            <a:r>
              <a:rPr lang="en-US" altLang="ko" sz="700" b="1" dirty="0">
                <a:solidFill>
                  <a:srgbClr val="999999"/>
                </a:solidFill>
              </a:rPr>
              <a:t>AACL</a:t>
            </a:r>
            <a:r>
              <a:rPr lang="ko" sz="700" b="1" dirty="0">
                <a:solidFill>
                  <a:srgbClr val="999999"/>
                </a:solidFill>
              </a:rPr>
              <a:t> 20</a:t>
            </a:r>
            <a:r>
              <a:rPr lang="en-US" altLang="ko" sz="700" b="1" dirty="0">
                <a:solidFill>
                  <a:srgbClr val="999999"/>
                </a:solidFill>
              </a:rPr>
              <a:t>19</a:t>
            </a:r>
            <a:endParaRPr sz="700" b="1" dirty="0">
              <a:solidFill>
                <a:srgbClr val="999999"/>
              </a:solidFill>
            </a:endParaRPr>
          </a:p>
        </p:txBody>
      </p:sp>
      <p:sp>
        <p:nvSpPr>
          <p:cNvPr id="2" name="Google Shape;82;p17">
            <a:extLst>
              <a:ext uri="{FF2B5EF4-FFF2-40B4-BE49-F238E27FC236}">
                <a16:creationId xmlns:a16="http://schemas.microsoft.com/office/drawing/2014/main" id="{3445B1FD-D58E-580D-5CFC-C273075C1CAC}"/>
              </a:ext>
            </a:extLst>
          </p:cNvPr>
          <p:cNvSpPr txBox="1">
            <a:spLocks/>
          </p:cNvSpPr>
          <p:nvPr/>
        </p:nvSpPr>
        <p:spPr>
          <a:xfrm>
            <a:off x="311700" y="288275"/>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altLang="ko" b="1" dirty="0">
                <a:solidFill>
                  <a:srgbClr val="004856"/>
                </a:solidFill>
              </a:rPr>
              <a:t>Recap – BERT</a:t>
            </a:r>
            <a:endParaRPr lang="en-US" dirty="0"/>
          </a:p>
        </p:txBody>
      </p:sp>
      <p:pic>
        <p:nvPicPr>
          <p:cNvPr id="5" name="Google Shape;56;p13">
            <a:extLst>
              <a:ext uri="{FF2B5EF4-FFF2-40B4-BE49-F238E27FC236}">
                <a16:creationId xmlns:a16="http://schemas.microsoft.com/office/drawing/2014/main" id="{D6D339D9-E8D1-D0BD-D385-352085222F87}"/>
              </a:ext>
            </a:extLst>
          </p:cNvPr>
          <p:cNvPicPr preferRelativeResize="0"/>
          <p:nvPr/>
        </p:nvPicPr>
        <p:blipFill>
          <a:blip r:embed="rId3"/>
          <a:srcRect/>
          <a:stretch/>
        </p:blipFill>
        <p:spPr>
          <a:xfrm>
            <a:off x="7829550" y="4662460"/>
            <a:ext cx="1314450" cy="438150"/>
          </a:xfrm>
          <a:prstGeom prst="rect">
            <a:avLst/>
          </a:prstGeom>
          <a:noFill/>
          <a:ln>
            <a:noFill/>
          </a:ln>
        </p:spPr>
      </p:pic>
      <p:sp>
        <p:nvSpPr>
          <p:cNvPr id="4" name="Google Shape;97;p19">
            <a:extLst>
              <a:ext uri="{FF2B5EF4-FFF2-40B4-BE49-F238E27FC236}">
                <a16:creationId xmlns:a16="http://schemas.microsoft.com/office/drawing/2014/main" id="{B838885B-CF62-9E67-6875-95E59A85E830}"/>
              </a:ext>
            </a:extLst>
          </p:cNvPr>
          <p:cNvSpPr txBox="1">
            <a:spLocks noGrp="1"/>
          </p:cNvSpPr>
          <p:nvPr>
            <p:ph type="body" idx="1"/>
          </p:nvPr>
        </p:nvSpPr>
        <p:spPr>
          <a:xfrm>
            <a:off x="311700" y="989862"/>
            <a:ext cx="8520600" cy="3416400"/>
          </a:xfrm>
          <a:prstGeom prst="rect">
            <a:avLst/>
          </a:prstGeom>
        </p:spPr>
        <p:txBody>
          <a:bodyPr spcFirstLastPara="1" wrap="square" lIns="91425" tIns="91425" rIns="91425" bIns="91425" anchor="t" anchorCtr="0">
            <a:normAutofit/>
          </a:bodyPr>
          <a:lstStyle/>
          <a:p>
            <a:pPr lvl="0">
              <a:buClrTx/>
            </a:pPr>
            <a:r>
              <a:rPr lang="en-US" b="1" dirty="0">
                <a:solidFill>
                  <a:schemeClr val="tx1"/>
                </a:solidFill>
              </a:rPr>
              <a:t>BERT is a bidirectional encoder model</a:t>
            </a:r>
            <a:endParaRPr lang="en-US" dirty="0">
              <a:solidFill>
                <a:schemeClr val="tx1"/>
              </a:solidFill>
            </a:endParaRPr>
          </a:p>
          <a:p>
            <a:pPr marL="914400" lvl="1" indent="-317500" algn="l" rtl="0">
              <a:spcBef>
                <a:spcPts val="0"/>
              </a:spcBef>
              <a:spcAft>
                <a:spcPts val="0"/>
              </a:spcAft>
              <a:buSzPts val="1400"/>
              <a:buChar char="○"/>
            </a:pPr>
            <a:r>
              <a:rPr lang="en" altLang="ko" dirty="0">
                <a:solidFill>
                  <a:schemeClr val="tx1"/>
                </a:solidFill>
              </a:rPr>
              <a:t>Trained with </a:t>
            </a:r>
            <a:r>
              <a:rPr lang="en" altLang="ko" b="1" dirty="0">
                <a:solidFill>
                  <a:schemeClr val="tx1"/>
                </a:solidFill>
              </a:rPr>
              <a:t>two objectives</a:t>
            </a:r>
            <a:r>
              <a:rPr lang="en" altLang="ko" dirty="0">
                <a:solidFill>
                  <a:schemeClr val="tx1"/>
                </a:solidFill>
              </a:rPr>
              <a:t>: </a:t>
            </a:r>
          </a:p>
          <a:p>
            <a:pPr lvl="2">
              <a:buChar char="○"/>
            </a:pPr>
            <a:r>
              <a:rPr lang="en" altLang="ko" b="1" dirty="0">
                <a:solidFill>
                  <a:schemeClr val="tx1"/>
                </a:solidFill>
              </a:rPr>
              <a:t>Masked Language Modeling (MLM)</a:t>
            </a:r>
          </a:p>
          <a:p>
            <a:pPr lvl="2">
              <a:buChar char="○"/>
            </a:pPr>
            <a:r>
              <a:rPr lang="en" altLang="ko" b="1" dirty="0">
                <a:solidFill>
                  <a:schemeClr val="tx1"/>
                </a:solidFill>
              </a:rPr>
              <a:t>Next Sentence Prediction (NSP)</a:t>
            </a:r>
          </a:p>
          <a:p>
            <a:pPr lvl="1"/>
            <a:r>
              <a:rPr lang="en-US" dirty="0">
                <a:solidFill>
                  <a:schemeClr val="tx1"/>
                </a:solidFill>
              </a:rPr>
              <a:t>Excels at </a:t>
            </a:r>
            <a:r>
              <a:rPr lang="en-US" dirty="0">
                <a:solidFill>
                  <a:schemeClr val="tx1"/>
                </a:solidFill>
                <a:highlight>
                  <a:srgbClr val="FFFF00"/>
                </a:highlight>
              </a:rPr>
              <a:t>natural language understanding tasks</a:t>
            </a:r>
            <a:r>
              <a:rPr lang="en-US" dirty="0">
                <a:solidFill>
                  <a:schemeClr val="tx1"/>
                </a:solidFill>
              </a:rPr>
              <a:t> with full sentence context </a:t>
            </a:r>
          </a:p>
          <a:p>
            <a:pPr lvl="1"/>
            <a:r>
              <a:rPr lang="en-US" u="sng" dirty="0">
                <a:solidFill>
                  <a:schemeClr val="tx1"/>
                </a:solidFill>
              </a:rPr>
              <a:t>Fine-tuned for each downstream task</a:t>
            </a:r>
            <a:r>
              <a:rPr lang="en-US" dirty="0">
                <a:solidFill>
                  <a:schemeClr val="tx1"/>
                </a:solidFill>
              </a:rPr>
              <a:t> (e.g., QA, classification, NER) </a:t>
            </a:r>
            <a:endParaRPr lang="ko-KR" altLang="en-US" dirty="0">
              <a:solidFill>
                <a:schemeClr val="tx1"/>
              </a:solidFill>
            </a:endParaRPr>
          </a:p>
        </p:txBody>
      </p:sp>
      <p:pic>
        <p:nvPicPr>
          <p:cNvPr id="10" name="Picture 2">
            <a:extLst>
              <a:ext uri="{FF2B5EF4-FFF2-40B4-BE49-F238E27FC236}">
                <a16:creationId xmlns:a16="http://schemas.microsoft.com/office/drawing/2014/main" id="{D7DBDF3B-23D8-3454-6738-399CCBDFCB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36750" y="2698062"/>
            <a:ext cx="5270499" cy="2096413"/>
          </a:xfrm>
          <a:prstGeom prst="rect">
            <a:avLst/>
          </a:prstGeom>
          <a:noFill/>
          <a:extLst>
            <a:ext uri="{909E8E84-426E-40DD-AFC4-6F175D3DCCD1}">
              <a14:hiddenFill xmlns:a14="http://schemas.microsoft.com/office/drawing/2010/main">
                <a:solidFill>
                  <a:srgbClr val="FFFFFF"/>
                </a:solidFill>
              </a14:hiddenFill>
            </a:ext>
          </a:extLst>
        </p:spPr>
      </p:pic>
      <p:pic>
        <p:nvPicPr>
          <p:cNvPr id="3" name="그림 8" descr="폰트, 그래픽, 텍스트, 스크린샷이(가) 표시된 사진&#10;&#10;자동 생성된 설명">
            <a:extLst>
              <a:ext uri="{FF2B5EF4-FFF2-40B4-BE49-F238E27FC236}">
                <a16:creationId xmlns:a16="http://schemas.microsoft.com/office/drawing/2014/main" id="{FE7CA6C9-F216-B957-11E7-7CF97569E69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extLst>
      <p:ext uri="{BB962C8B-B14F-4D97-AF65-F5344CB8AC3E}">
        <p14:creationId xmlns:p14="http://schemas.microsoft.com/office/powerpoint/2010/main" val="31192449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E321A7A5-6EC7-AA2D-E03B-1C4A5CEFB732}"/>
            </a:ext>
          </a:extLst>
        </p:cNvPr>
        <p:cNvGrpSpPr/>
        <p:nvPr/>
      </p:nvGrpSpPr>
      <p:grpSpPr>
        <a:xfrm>
          <a:off x="0" y="0"/>
          <a:ext cx="0" cy="0"/>
          <a:chOff x="0" y="0"/>
          <a:chExt cx="0" cy="0"/>
        </a:xfrm>
      </p:grpSpPr>
      <p:sp>
        <p:nvSpPr>
          <p:cNvPr id="97" name="Google Shape;97;p19">
            <a:extLst>
              <a:ext uri="{FF2B5EF4-FFF2-40B4-BE49-F238E27FC236}">
                <a16:creationId xmlns:a16="http://schemas.microsoft.com/office/drawing/2014/main" id="{53E85E1C-0BAF-1900-6E07-7C4E0AA4FFDA}"/>
              </a:ext>
            </a:extLst>
          </p:cNvPr>
          <p:cNvSpPr txBox="1">
            <a:spLocks noGrp="1"/>
          </p:cNvSpPr>
          <p:nvPr>
            <p:ph type="body" idx="1"/>
          </p:nvPr>
        </p:nvSpPr>
        <p:spPr>
          <a:xfrm>
            <a:off x="311700" y="989862"/>
            <a:ext cx="8520600" cy="3416400"/>
          </a:xfrm>
          <a:prstGeom prst="rect">
            <a:avLst/>
          </a:prstGeom>
        </p:spPr>
        <p:txBody>
          <a:bodyPr spcFirstLastPara="1" wrap="square" lIns="91425" tIns="91425" rIns="91425" bIns="91425" anchor="t" anchorCtr="0">
            <a:normAutofit/>
          </a:bodyPr>
          <a:lstStyle/>
          <a:p>
            <a:pPr lvl="0">
              <a:buClrTx/>
            </a:pPr>
            <a:r>
              <a:rPr lang="en-US" b="1" dirty="0">
                <a:solidFill>
                  <a:schemeClr val="tx1"/>
                </a:solidFill>
              </a:rPr>
              <a:t>GPT is a general-purpose model</a:t>
            </a:r>
            <a:r>
              <a:rPr lang="en-US" dirty="0">
                <a:solidFill>
                  <a:schemeClr val="tx1"/>
                </a:solidFill>
              </a:rPr>
              <a:t> </a:t>
            </a:r>
          </a:p>
          <a:p>
            <a:pPr marL="914400" lvl="1" indent="-317500" algn="l" rtl="0">
              <a:spcBef>
                <a:spcPts val="0"/>
              </a:spcBef>
              <a:spcAft>
                <a:spcPts val="0"/>
              </a:spcAft>
              <a:buSzPts val="1400"/>
              <a:buChar char="○"/>
            </a:pPr>
            <a:r>
              <a:rPr lang="en" altLang="ko" dirty="0">
                <a:solidFill>
                  <a:schemeClr val="tx1"/>
                </a:solidFill>
              </a:rPr>
              <a:t>Trained with </a:t>
            </a:r>
            <a:r>
              <a:rPr lang="en" altLang="ko" b="1" dirty="0">
                <a:solidFill>
                  <a:schemeClr val="tx1"/>
                </a:solidFill>
              </a:rPr>
              <a:t>single objective</a:t>
            </a:r>
            <a:r>
              <a:rPr lang="en" altLang="ko" dirty="0">
                <a:solidFill>
                  <a:schemeClr val="tx1"/>
                </a:solidFill>
              </a:rPr>
              <a:t>: </a:t>
            </a:r>
            <a:r>
              <a:rPr lang="en" altLang="ko" b="1" dirty="0">
                <a:solidFill>
                  <a:schemeClr val="tx1"/>
                </a:solidFill>
                <a:highlight>
                  <a:srgbClr val="FFFF00"/>
                </a:highlight>
              </a:rPr>
              <a:t>next-token prediction</a:t>
            </a:r>
          </a:p>
          <a:p>
            <a:pPr lvl="1"/>
            <a:r>
              <a:rPr lang="en-US" dirty="0">
                <a:solidFill>
                  <a:schemeClr val="tx1"/>
                </a:solidFill>
              </a:rPr>
              <a:t>Performs well on many tasks with </a:t>
            </a:r>
            <a:r>
              <a:rPr lang="en-US" b="1" dirty="0">
                <a:solidFill>
                  <a:schemeClr val="tx1"/>
                </a:solidFill>
              </a:rPr>
              <a:t>zero-shot</a:t>
            </a:r>
            <a:r>
              <a:rPr lang="en-US" dirty="0">
                <a:solidFill>
                  <a:schemeClr val="tx1"/>
                </a:solidFill>
              </a:rPr>
              <a:t> or </a:t>
            </a:r>
            <a:r>
              <a:rPr lang="en-US" b="1" dirty="0">
                <a:solidFill>
                  <a:schemeClr val="tx1"/>
                </a:solidFill>
              </a:rPr>
              <a:t>few-shot prompting</a:t>
            </a:r>
            <a:r>
              <a:rPr lang="en-US" dirty="0">
                <a:solidFill>
                  <a:schemeClr val="tx1"/>
                </a:solidFill>
              </a:rPr>
              <a:t> </a:t>
            </a:r>
            <a:endParaRPr lang="en" dirty="0">
              <a:solidFill>
                <a:schemeClr val="tx1"/>
              </a:solidFill>
            </a:endParaRPr>
          </a:p>
          <a:p>
            <a:pPr marL="0" lvl="0" indent="0" algn="l" rtl="0">
              <a:spcBef>
                <a:spcPts val="1200"/>
              </a:spcBef>
              <a:spcAft>
                <a:spcPts val="1200"/>
              </a:spcAft>
              <a:buNone/>
            </a:pPr>
            <a:endParaRPr lang="ko-KR" altLang="en-US" dirty="0">
              <a:solidFill>
                <a:schemeClr val="tx1"/>
              </a:solidFill>
            </a:endParaRPr>
          </a:p>
        </p:txBody>
      </p:sp>
      <p:sp>
        <p:nvSpPr>
          <p:cNvPr id="99" name="Google Shape;99;p19">
            <a:extLst>
              <a:ext uri="{FF2B5EF4-FFF2-40B4-BE49-F238E27FC236}">
                <a16:creationId xmlns:a16="http://schemas.microsoft.com/office/drawing/2014/main" id="{A4D60B92-C1C2-02EB-9691-6F1EBDBE1AD8}"/>
              </a:ext>
            </a:extLst>
          </p:cNvPr>
          <p:cNvSpPr txBox="1"/>
          <p:nvPr/>
        </p:nvSpPr>
        <p:spPr>
          <a:xfrm>
            <a:off x="71199" y="4882474"/>
            <a:ext cx="4350193" cy="218135"/>
          </a:xfrm>
          <a:prstGeom prst="rect">
            <a:avLst/>
          </a:prstGeom>
          <a:noFill/>
          <a:ln>
            <a:noFill/>
          </a:ln>
        </p:spPr>
        <p:txBody>
          <a:bodyPr spcFirstLastPara="1" wrap="square" lIns="91425" tIns="91425" rIns="91425" bIns="91425" anchor="t" anchorCtr="0">
            <a:noAutofit/>
          </a:bodyPr>
          <a:lstStyle/>
          <a:p>
            <a:pPr lvl="0"/>
            <a:r>
              <a:rPr lang="en-US" altLang="ko" sz="700" b="1" dirty="0">
                <a:solidFill>
                  <a:srgbClr val="999999"/>
                </a:solidFill>
              </a:rPr>
              <a:t>Radford</a:t>
            </a:r>
            <a:r>
              <a:rPr lang="ko" sz="700" b="1" dirty="0">
                <a:solidFill>
                  <a:srgbClr val="999999"/>
                </a:solidFill>
              </a:rPr>
              <a:t> et al. “</a:t>
            </a:r>
            <a:r>
              <a:rPr lang="en-US" sz="700" b="1" dirty="0">
                <a:solidFill>
                  <a:srgbClr val="999999"/>
                </a:solidFill>
              </a:rPr>
              <a:t>Language models are unsupervised multitask learners</a:t>
            </a:r>
            <a:r>
              <a:rPr lang="ko" sz="700" b="1" dirty="0">
                <a:solidFill>
                  <a:srgbClr val="999999"/>
                </a:solidFill>
              </a:rPr>
              <a:t>”, 20</a:t>
            </a:r>
            <a:r>
              <a:rPr lang="en-US" altLang="ko" sz="700" b="1" dirty="0">
                <a:solidFill>
                  <a:srgbClr val="999999"/>
                </a:solidFill>
              </a:rPr>
              <a:t>19</a:t>
            </a:r>
            <a:endParaRPr sz="700" b="1" dirty="0">
              <a:solidFill>
                <a:srgbClr val="999999"/>
              </a:solidFill>
            </a:endParaRPr>
          </a:p>
        </p:txBody>
      </p:sp>
      <p:sp>
        <p:nvSpPr>
          <p:cNvPr id="2" name="Google Shape;82;p17">
            <a:extLst>
              <a:ext uri="{FF2B5EF4-FFF2-40B4-BE49-F238E27FC236}">
                <a16:creationId xmlns:a16="http://schemas.microsoft.com/office/drawing/2014/main" id="{E6A2A63D-4024-8DEB-4668-7ABF89E508B9}"/>
              </a:ext>
            </a:extLst>
          </p:cNvPr>
          <p:cNvSpPr txBox="1">
            <a:spLocks/>
          </p:cNvSpPr>
          <p:nvPr/>
        </p:nvSpPr>
        <p:spPr>
          <a:xfrm>
            <a:off x="311700" y="288275"/>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altLang="ko" b="1" dirty="0">
                <a:solidFill>
                  <a:srgbClr val="004856"/>
                </a:solidFill>
              </a:rPr>
              <a:t>Recap – GPT</a:t>
            </a:r>
            <a:endParaRPr lang="en-US" dirty="0"/>
          </a:p>
        </p:txBody>
      </p:sp>
      <p:pic>
        <p:nvPicPr>
          <p:cNvPr id="5" name="Google Shape;56;p13">
            <a:extLst>
              <a:ext uri="{FF2B5EF4-FFF2-40B4-BE49-F238E27FC236}">
                <a16:creationId xmlns:a16="http://schemas.microsoft.com/office/drawing/2014/main" id="{E9ED83BC-BAC9-009D-6E31-0AA6B0602AD7}"/>
              </a:ext>
            </a:extLst>
          </p:cNvPr>
          <p:cNvPicPr preferRelativeResize="0"/>
          <p:nvPr/>
        </p:nvPicPr>
        <p:blipFill>
          <a:blip r:embed="rId3"/>
          <a:srcRect/>
          <a:stretch/>
        </p:blipFill>
        <p:spPr>
          <a:xfrm>
            <a:off x="7829550" y="4662460"/>
            <a:ext cx="1314450" cy="438150"/>
          </a:xfrm>
          <a:prstGeom prst="rect">
            <a:avLst/>
          </a:prstGeom>
          <a:noFill/>
          <a:ln>
            <a:noFill/>
          </a:ln>
        </p:spPr>
      </p:pic>
      <p:pic>
        <p:nvPicPr>
          <p:cNvPr id="3" name="Picture 4">
            <a:extLst>
              <a:ext uri="{FF2B5EF4-FFF2-40B4-BE49-F238E27FC236}">
                <a16:creationId xmlns:a16="http://schemas.microsoft.com/office/drawing/2014/main" id="{BDE774F6-244E-5014-6287-E40F89D96C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5256" y="2043485"/>
            <a:ext cx="7373488" cy="2600883"/>
          </a:xfrm>
          <a:prstGeom prst="rect">
            <a:avLst/>
          </a:prstGeom>
          <a:noFill/>
          <a:extLst>
            <a:ext uri="{909E8E84-426E-40DD-AFC4-6F175D3DCCD1}">
              <a14:hiddenFill xmlns:a14="http://schemas.microsoft.com/office/drawing/2010/main">
                <a:solidFill>
                  <a:srgbClr val="FFFFFF"/>
                </a:solidFill>
              </a14:hiddenFill>
            </a:ext>
          </a:extLst>
        </p:spPr>
      </p:pic>
      <p:pic>
        <p:nvPicPr>
          <p:cNvPr id="4" name="그림 8" descr="폰트, 그래픽, 텍스트, 스크린샷이(가) 표시된 사진&#10;&#10;자동 생성된 설명">
            <a:extLst>
              <a:ext uri="{FF2B5EF4-FFF2-40B4-BE49-F238E27FC236}">
                <a16:creationId xmlns:a16="http://schemas.microsoft.com/office/drawing/2014/main" id="{349778AC-1128-5256-7EB2-4F77DC0A120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extLst>
      <p:ext uri="{BB962C8B-B14F-4D97-AF65-F5344CB8AC3E}">
        <p14:creationId xmlns:p14="http://schemas.microsoft.com/office/powerpoint/2010/main" val="1536546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57EBA578-019B-1B3D-D6A4-0562761D4CD7}"/>
            </a:ext>
          </a:extLst>
        </p:cNvPr>
        <p:cNvGrpSpPr/>
        <p:nvPr/>
      </p:nvGrpSpPr>
      <p:grpSpPr>
        <a:xfrm>
          <a:off x="0" y="0"/>
          <a:ext cx="0" cy="0"/>
          <a:chOff x="0" y="0"/>
          <a:chExt cx="0" cy="0"/>
        </a:xfrm>
      </p:grpSpPr>
      <p:sp>
        <p:nvSpPr>
          <p:cNvPr id="97" name="Google Shape;97;p19">
            <a:extLst>
              <a:ext uri="{FF2B5EF4-FFF2-40B4-BE49-F238E27FC236}">
                <a16:creationId xmlns:a16="http://schemas.microsoft.com/office/drawing/2014/main" id="{E4863B99-544B-825E-D7A2-60CD6FD5F479}"/>
              </a:ext>
            </a:extLst>
          </p:cNvPr>
          <p:cNvSpPr txBox="1">
            <a:spLocks noGrp="1"/>
          </p:cNvSpPr>
          <p:nvPr>
            <p:ph type="body" idx="1"/>
          </p:nvPr>
        </p:nvSpPr>
        <p:spPr>
          <a:xfrm>
            <a:off x="311700" y="989862"/>
            <a:ext cx="8520600" cy="3416400"/>
          </a:xfrm>
          <a:prstGeom prst="rect">
            <a:avLst/>
          </a:prstGeom>
        </p:spPr>
        <p:txBody>
          <a:bodyPr spcFirstLastPara="1" wrap="square" lIns="91425" tIns="91425" rIns="91425" bIns="91425" anchor="t" anchorCtr="0">
            <a:normAutofit/>
          </a:bodyPr>
          <a:lstStyle/>
          <a:p>
            <a:pPr lvl="0">
              <a:buClrTx/>
            </a:pPr>
            <a:r>
              <a:rPr lang="en-US" b="1" dirty="0">
                <a:solidFill>
                  <a:schemeClr val="tx1"/>
                </a:solidFill>
              </a:rPr>
              <a:t>Input = Task + Context</a:t>
            </a:r>
          </a:p>
          <a:p>
            <a:pPr lvl="1">
              <a:buClrTx/>
            </a:pPr>
            <a:r>
              <a:rPr lang="en-US" dirty="0">
                <a:solidFill>
                  <a:schemeClr val="tx1"/>
                </a:solidFill>
              </a:rPr>
              <a:t>Output </a:t>
            </a:r>
            <a:r>
              <a:rPr lang="en-US" altLang="ko-KR" dirty="0">
                <a:solidFill>
                  <a:schemeClr val="tx1"/>
                </a:solidFill>
                <a:sym typeface="Wingdings" pitchFamily="2" charset="2"/>
              </a:rPr>
              <a:t></a:t>
            </a:r>
            <a:r>
              <a:rPr lang="en-US" dirty="0">
                <a:solidFill>
                  <a:schemeClr val="tx1"/>
                </a:solidFill>
              </a:rPr>
              <a:t> predict the most probable next token </a:t>
            </a:r>
          </a:p>
          <a:p>
            <a:pPr>
              <a:lnSpc>
                <a:spcPct val="150000"/>
              </a:lnSpc>
              <a:buClrTx/>
            </a:pPr>
            <a:r>
              <a:rPr lang="en-US" b="1" dirty="0">
                <a:solidFill>
                  <a:schemeClr val="tx1"/>
                </a:solidFill>
              </a:rPr>
              <a:t>GPT-2’s improved performance enables it to handle multiple tasks without fine-tuning — </a:t>
            </a:r>
            <a:r>
              <a:rPr lang="en-US" b="1" dirty="0">
                <a:solidFill>
                  <a:schemeClr val="tx1"/>
                </a:solidFill>
                <a:highlight>
                  <a:srgbClr val="FFFF00"/>
                </a:highlight>
              </a:rPr>
              <a:t>using just prompts</a:t>
            </a:r>
            <a:r>
              <a:rPr lang="en-US" b="1" dirty="0">
                <a:solidFill>
                  <a:schemeClr val="tx1"/>
                </a:solidFill>
              </a:rPr>
              <a:t>.</a:t>
            </a:r>
            <a:r>
              <a:rPr lang="en-US" dirty="0">
                <a:solidFill>
                  <a:schemeClr val="tx1"/>
                </a:solidFill>
              </a:rPr>
              <a:t> </a:t>
            </a:r>
            <a:endParaRPr lang="ko-KR" altLang="en-US" dirty="0">
              <a:solidFill>
                <a:schemeClr val="tx1"/>
              </a:solidFill>
            </a:endParaRPr>
          </a:p>
        </p:txBody>
      </p:sp>
      <p:sp>
        <p:nvSpPr>
          <p:cNvPr id="2" name="Google Shape;82;p17">
            <a:extLst>
              <a:ext uri="{FF2B5EF4-FFF2-40B4-BE49-F238E27FC236}">
                <a16:creationId xmlns:a16="http://schemas.microsoft.com/office/drawing/2014/main" id="{BA72EA73-64D1-24B4-B691-2049F70F6C35}"/>
              </a:ext>
            </a:extLst>
          </p:cNvPr>
          <p:cNvSpPr txBox="1">
            <a:spLocks/>
          </p:cNvSpPr>
          <p:nvPr/>
        </p:nvSpPr>
        <p:spPr>
          <a:xfrm>
            <a:off x="311700" y="288275"/>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altLang="ko" b="1" dirty="0">
                <a:solidFill>
                  <a:srgbClr val="004856"/>
                </a:solidFill>
              </a:rPr>
              <a:t>Recap – GPT</a:t>
            </a:r>
            <a:endParaRPr lang="en-US" dirty="0"/>
          </a:p>
        </p:txBody>
      </p:sp>
      <p:pic>
        <p:nvPicPr>
          <p:cNvPr id="5" name="Google Shape;56;p13">
            <a:extLst>
              <a:ext uri="{FF2B5EF4-FFF2-40B4-BE49-F238E27FC236}">
                <a16:creationId xmlns:a16="http://schemas.microsoft.com/office/drawing/2014/main" id="{20BF30D7-DE34-FD1A-B2E1-C78D6D2C7FBB}"/>
              </a:ext>
            </a:extLst>
          </p:cNvPr>
          <p:cNvPicPr preferRelativeResize="0"/>
          <p:nvPr/>
        </p:nvPicPr>
        <p:blipFill>
          <a:blip r:embed="rId3"/>
          <a:srcRect/>
          <a:stretch/>
        </p:blipFill>
        <p:spPr>
          <a:xfrm>
            <a:off x="7829550" y="4662460"/>
            <a:ext cx="1314450" cy="438150"/>
          </a:xfrm>
          <a:prstGeom prst="rect">
            <a:avLst/>
          </a:prstGeom>
          <a:noFill/>
          <a:ln>
            <a:noFill/>
          </a:ln>
        </p:spPr>
      </p:pic>
      <p:grpSp>
        <p:nvGrpSpPr>
          <p:cNvPr id="19" name="Group 18">
            <a:extLst>
              <a:ext uri="{FF2B5EF4-FFF2-40B4-BE49-F238E27FC236}">
                <a16:creationId xmlns:a16="http://schemas.microsoft.com/office/drawing/2014/main" id="{48A7E4F2-4DCC-5041-6DE8-05A02FF86EBD}"/>
              </a:ext>
            </a:extLst>
          </p:cNvPr>
          <p:cNvGrpSpPr/>
          <p:nvPr/>
        </p:nvGrpSpPr>
        <p:grpSpPr>
          <a:xfrm>
            <a:off x="393996" y="3388066"/>
            <a:ext cx="7937089" cy="765572"/>
            <a:chOff x="311700" y="2649303"/>
            <a:chExt cx="7937089" cy="765572"/>
          </a:xfrm>
        </p:grpSpPr>
        <p:pic>
          <p:nvPicPr>
            <p:cNvPr id="7" name="그림 20">
              <a:extLst>
                <a:ext uri="{FF2B5EF4-FFF2-40B4-BE49-F238E27FC236}">
                  <a16:creationId xmlns:a16="http://schemas.microsoft.com/office/drawing/2014/main" id="{1C424B03-ABC4-DC12-E1CF-F1EC59770A3C}"/>
                </a:ext>
              </a:extLst>
            </p:cNvPr>
            <p:cNvPicPr>
              <a:picLocks noChangeAspect="1"/>
            </p:cNvPicPr>
            <p:nvPr/>
          </p:nvPicPr>
          <p:blipFill>
            <a:blip r:embed="rId4"/>
            <a:stretch>
              <a:fillRect/>
            </a:stretch>
          </p:blipFill>
          <p:spPr>
            <a:xfrm>
              <a:off x="311700" y="2896406"/>
              <a:ext cx="3547800" cy="350873"/>
            </a:xfrm>
            <a:prstGeom prst="rect">
              <a:avLst/>
            </a:prstGeom>
          </p:spPr>
        </p:pic>
        <p:grpSp>
          <p:nvGrpSpPr>
            <p:cNvPr id="18" name="Group 17">
              <a:extLst>
                <a:ext uri="{FF2B5EF4-FFF2-40B4-BE49-F238E27FC236}">
                  <a16:creationId xmlns:a16="http://schemas.microsoft.com/office/drawing/2014/main" id="{2AC570B0-CE64-B78C-E464-4DC29C71A61A}"/>
                </a:ext>
              </a:extLst>
            </p:cNvPr>
            <p:cNvGrpSpPr/>
            <p:nvPr/>
          </p:nvGrpSpPr>
          <p:grpSpPr>
            <a:xfrm>
              <a:off x="919723" y="2649303"/>
              <a:ext cx="7329066" cy="765572"/>
              <a:chOff x="919723" y="2649303"/>
              <a:chExt cx="7329066" cy="765572"/>
            </a:xfrm>
          </p:grpSpPr>
          <p:pic>
            <p:nvPicPr>
              <p:cNvPr id="4" name="그림 21">
                <a:extLst>
                  <a:ext uri="{FF2B5EF4-FFF2-40B4-BE49-F238E27FC236}">
                    <a16:creationId xmlns:a16="http://schemas.microsoft.com/office/drawing/2014/main" id="{9455D4C6-A1E9-CA98-72D3-08C9C67AE4A0}"/>
                  </a:ext>
                </a:extLst>
              </p:cNvPr>
              <p:cNvPicPr>
                <a:picLocks noChangeAspect="1"/>
              </p:cNvPicPr>
              <p:nvPr/>
            </p:nvPicPr>
            <p:blipFill rotWithShape="1">
              <a:blip r:embed="rId4"/>
              <a:srcRect l="16636" t="56640" r="11141" b="-3837"/>
              <a:stretch/>
            </p:blipFill>
            <p:spPr>
              <a:xfrm>
                <a:off x="5238020" y="2934795"/>
                <a:ext cx="3010769" cy="194587"/>
              </a:xfrm>
              <a:prstGeom prst="rect">
                <a:avLst/>
              </a:prstGeom>
            </p:spPr>
          </p:pic>
          <p:sp>
            <p:nvSpPr>
              <p:cNvPr id="8" name="직사각형 26">
                <a:extLst>
                  <a:ext uri="{FF2B5EF4-FFF2-40B4-BE49-F238E27FC236}">
                    <a16:creationId xmlns:a16="http://schemas.microsoft.com/office/drawing/2014/main" id="{D4194141-E9C5-C6A2-FE52-7D8E3810BA64}"/>
                  </a:ext>
                </a:extLst>
              </p:cNvPr>
              <p:cNvSpPr/>
              <p:nvPr/>
            </p:nvSpPr>
            <p:spPr>
              <a:xfrm>
                <a:off x="919723" y="3083798"/>
                <a:ext cx="2469780" cy="22445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타원 27">
                <a:extLst>
                  <a:ext uri="{FF2B5EF4-FFF2-40B4-BE49-F238E27FC236}">
                    <a16:creationId xmlns:a16="http://schemas.microsoft.com/office/drawing/2014/main" id="{6E0C92D9-3A00-0C66-41B2-E6741F89FFDD}"/>
                  </a:ext>
                </a:extLst>
              </p:cNvPr>
              <p:cNvSpPr/>
              <p:nvPr/>
            </p:nvSpPr>
            <p:spPr>
              <a:xfrm>
                <a:off x="4118552" y="2649303"/>
                <a:ext cx="795010" cy="765572"/>
              </a:xfrm>
              <a:prstGeom prst="ellipse">
                <a:avLst/>
              </a:prstGeom>
              <a:solidFill>
                <a:srgbClr val="F0861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b="1" dirty="0"/>
                  <a:t>GPT</a:t>
                </a:r>
                <a:endParaRPr lang="ko-KR" altLang="en-US" b="1" dirty="0"/>
              </a:p>
            </p:txBody>
          </p:sp>
          <p:cxnSp>
            <p:nvCxnSpPr>
              <p:cNvPr id="10" name="직선 화살표 연결선 29">
                <a:extLst>
                  <a:ext uri="{FF2B5EF4-FFF2-40B4-BE49-F238E27FC236}">
                    <a16:creationId xmlns:a16="http://schemas.microsoft.com/office/drawing/2014/main" id="{B945706A-7DAE-7BDF-7799-A3C20FD408F0}"/>
                  </a:ext>
                </a:extLst>
              </p:cNvPr>
              <p:cNvCxnSpPr>
                <a:cxnSpLocks/>
                <a:endCxn id="9" idx="2"/>
              </p:cNvCxnSpPr>
              <p:nvPr/>
            </p:nvCxnSpPr>
            <p:spPr>
              <a:xfrm>
                <a:off x="3821723" y="3032089"/>
                <a:ext cx="29682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1" name="직선 화살표 연결선 32">
                <a:extLst>
                  <a:ext uri="{FF2B5EF4-FFF2-40B4-BE49-F238E27FC236}">
                    <a16:creationId xmlns:a16="http://schemas.microsoft.com/office/drawing/2014/main" id="{D6C0A347-5988-EF91-1510-D58C191C64DF}"/>
                  </a:ext>
                </a:extLst>
              </p:cNvPr>
              <p:cNvCxnSpPr>
                <a:cxnSpLocks/>
              </p:cNvCxnSpPr>
              <p:nvPr/>
            </p:nvCxnSpPr>
            <p:spPr>
              <a:xfrm>
                <a:off x="4914460" y="3046688"/>
                <a:ext cx="25815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grpSp>
      <p:pic>
        <p:nvPicPr>
          <p:cNvPr id="20" name="그림 5">
            <a:extLst>
              <a:ext uri="{FF2B5EF4-FFF2-40B4-BE49-F238E27FC236}">
                <a16:creationId xmlns:a16="http://schemas.microsoft.com/office/drawing/2014/main" id="{5203A774-1586-A0F0-BBED-44333033F236}"/>
              </a:ext>
            </a:extLst>
          </p:cNvPr>
          <p:cNvPicPr>
            <a:picLocks noChangeAspect="1"/>
          </p:cNvPicPr>
          <p:nvPr/>
        </p:nvPicPr>
        <p:blipFill>
          <a:blip r:embed="rId5"/>
          <a:stretch>
            <a:fillRect/>
          </a:stretch>
        </p:blipFill>
        <p:spPr>
          <a:xfrm>
            <a:off x="1649349" y="2917351"/>
            <a:ext cx="2189247" cy="424582"/>
          </a:xfrm>
          <a:prstGeom prst="rect">
            <a:avLst/>
          </a:prstGeom>
        </p:spPr>
      </p:pic>
      <p:pic>
        <p:nvPicPr>
          <p:cNvPr id="21" name="그림 10">
            <a:extLst>
              <a:ext uri="{FF2B5EF4-FFF2-40B4-BE49-F238E27FC236}">
                <a16:creationId xmlns:a16="http://schemas.microsoft.com/office/drawing/2014/main" id="{FDA2505A-6C30-C35A-4C10-B070C7B2A6BC}"/>
              </a:ext>
            </a:extLst>
          </p:cNvPr>
          <p:cNvPicPr>
            <a:picLocks noChangeAspect="1"/>
          </p:cNvPicPr>
          <p:nvPr/>
        </p:nvPicPr>
        <p:blipFill>
          <a:blip r:embed="rId6"/>
          <a:stretch>
            <a:fillRect/>
          </a:stretch>
        </p:blipFill>
        <p:spPr>
          <a:xfrm>
            <a:off x="4765463" y="2944976"/>
            <a:ext cx="3064087" cy="369332"/>
          </a:xfrm>
          <a:prstGeom prst="rect">
            <a:avLst/>
          </a:prstGeom>
        </p:spPr>
      </p:pic>
      <p:cxnSp>
        <p:nvCxnSpPr>
          <p:cNvPr id="22" name="직선 화살표 연결선 12">
            <a:extLst>
              <a:ext uri="{FF2B5EF4-FFF2-40B4-BE49-F238E27FC236}">
                <a16:creationId xmlns:a16="http://schemas.microsoft.com/office/drawing/2014/main" id="{DAB94EF5-97E2-DFC5-3233-FD9F7A1ED670}"/>
              </a:ext>
            </a:extLst>
          </p:cNvPr>
          <p:cNvCxnSpPr>
            <a:cxnSpLocks/>
          </p:cNvCxnSpPr>
          <p:nvPr/>
        </p:nvCxnSpPr>
        <p:spPr>
          <a:xfrm>
            <a:off x="3983293" y="3129642"/>
            <a:ext cx="74153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3" name="Google Shape;99;p19">
            <a:extLst>
              <a:ext uri="{FF2B5EF4-FFF2-40B4-BE49-F238E27FC236}">
                <a16:creationId xmlns:a16="http://schemas.microsoft.com/office/drawing/2014/main" id="{7E293146-5C0A-494E-A136-24EC973E1F45}"/>
              </a:ext>
            </a:extLst>
          </p:cNvPr>
          <p:cNvSpPr txBox="1"/>
          <p:nvPr/>
        </p:nvSpPr>
        <p:spPr>
          <a:xfrm>
            <a:off x="71199" y="4882474"/>
            <a:ext cx="4350193" cy="218135"/>
          </a:xfrm>
          <a:prstGeom prst="rect">
            <a:avLst/>
          </a:prstGeom>
          <a:noFill/>
          <a:ln>
            <a:noFill/>
          </a:ln>
        </p:spPr>
        <p:txBody>
          <a:bodyPr spcFirstLastPara="1" wrap="square" lIns="91425" tIns="91425" rIns="91425" bIns="91425" anchor="t" anchorCtr="0">
            <a:noAutofit/>
          </a:bodyPr>
          <a:lstStyle/>
          <a:p>
            <a:pPr lvl="0"/>
            <a:r>
              <a:rPr lang="en-US" altLang="ko" sz="700" b="1" dirty="0">
                <a:solidFill>
                  <a:srgbClr val="999999"/>
                </a:solidFill>
              </a:rPr>
              <a:t>Radford</a:t>
            </a:r>
            <a:r>
              <a:rPr lang="ko" sz="700" b="1" dirty="0">
                <a:solidFill>
                  <a:srgbClr val="999999"/>
                </a:solidFill>
              </a:rPr>
              <a:t> et al. “</a:t>
            </a:r>
            <a:r>
              <a:rPr lang="en-US" sz="700" b="1" dirty="0">
                <a:solidFill>
                  <a:srgbClr val="999999"/>
                </a:solidFill>
              </a:rPr>
              <a:t>Language models are unsupervised multitask learners</a:t>
            </a:r>
            <a:r>
              <a:rPr lang="ko" sz="700" b="1" dirty="0">
                <a:solidFill>
                  <a:srgbClr val="999999"/>
                </a:solidFill>
              </a:rPr>
              <a:t>”, 20</a:t>
            </a:r>
            <a:r>
              <a:rPr lang="en-US" altLang="ko" sz="700" b="1" dirty="0">
                <a:solidFill>
                  <a:srgbClr val="999999"/>
                </a:solidFill>
              </a:rPr>
              <a:t>19</a:t>
            </a:r>
            <a:endParaRPr sz="700" b="1" dirty="0">
              <a:solidFill>
                <a:srgbClr val="999999"/>
              </a:solidFill>
            </a:endParaRPr>
          </a:p>
        </p:txBody>
      </p:sp>
      <p:pic>
        <p:nvPicPr>
          <p:cNvPr id="3" name="그림 8" descr="폰트, 그래픽, 텍스트, 스크린샷이(가) 표시된 사진&#10;&#10;자동 생성된 설명">
            <a:extLst>
              <a:ext uri="{FF2B5EF4-FFF2-40B4-BE49-F238E27FC236}">
                <a16:creationId xmlns:a16="http://schemas.microsoft.com/office/drawing/2014/main" id="{503C5F95-F333-7DD7-647A-AF65CD20BF3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extLst>
      <p:ext uri="{BB962C8B-B14F-4D97-AF65-F5344CB8AC3E}">
        <p14:creationId xmlns:p14="http://schemas.microsoft.com/office/powerpoint/2010/main" val="21064324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ECFF91F9-D972-A5A6-5BAA-15E9358DBE2E}"/>
            </a:ext>
          </a:extLst>
        </p:cNvPr>
        <p:cNvGrpSpPr/>
        <p:nvPr/>
      </p:nvGrpSpPr>
      <p:grpSpPr>
        <a:xfrm>
          <a:off x="0" y="0"/>
          <a:ext cx="0" cy="0"/>
          <a:chOff x="0" y="0"/>
          <a:chExt cx="0" cy="0"/>
        </a:xfrm>
      </p:grpSpPr>
      <p:sp>
        <p:nvSpPr>
          <p:cNvPr id="90" name="Google Shape;90;p18">
            <a:extLst>
              <a:ext uri="{FF2B5EF4-FFF2-40B4-BE49-F238E27FC236}">
                <a16:creationId xmlns:a16="http://schemas.microsoft.com/office/drawing/2014/main" id="{F86CF454-E24F-E83A-79CF-2A7F44FDA135}"/>
              </a:ext>
            </a:extLst>
          </p:cNvPr>
          <p:cNvSpPr txBox="1">
            <a:spLocks noGrp="1"/>
          </p:cNvSpPr>
          <p:nvPr>
            <p:ph type="ctrTitle"/>
          </p:nvPr>
        </p:nvSpPr>
        <p:spPr>
          <a:xfrm>
            <a:off x="311700" y="2226150"/>
            <a:ext cx="8520600" cy="6912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n-US" altLang="ko" sz="4000" b="1" dirty="0">
                <a:solidFill>
                  <a:srgbClr val="004856"/>
                </a:solidFill>
              </a:rPr>
              <a:t>Emergent of Large Language Models</a:t>
            </a:r>
            <a:endParaRPr sz="4000" dirty="0"/>
          </a:p>
        </p:txBody>
      </p:sp>
      <p:pic>
        <p:nvPicPr>
          <p:cNvPr id="2" name="Google Shape;56;p13">
            <a:extLst>
              <a:ext uri="{FF2B5EF4-FFF2-40B4-BE49-F238E27FC236}">
                <a16:creationId xmlns:a16="http://schemas.microsoft.com/office/drawing/2014/main" id="{52462D0D-5948-7095-9F6A-3E591B216BE9}"/>
              </a:ext>
            </a:extLst>
          </p:cNvPr>
          <p:cNvPicPr preferRelativeResize="0"/>
          <p:nvPr/>
        </p:nvPicPr>
        <p:blipFill>
          <a:blip r:embed="rId3"/>
          <a:srcRect/>
          <a:stretch/>
        </p:blipFill>
        <p:spPr>
          <a:xfrm>
            <a:off x="7829550" y="4662460"/>
            <a:ext cx="1314450" cy="438150"/>
          </a:xfrm>
          <a:prstGeom prst="rect">
            <a:avLst/>
          </a:prstGeom>
          <a:noFill/>
          <a:ln>
            <a:noFill/>
          </a:ln>
        </p:spPr>
      </p:pic>
      <p:pic>
        <p:nvPicPr>
          <p:cNvPr id="3" name="그림 8" descr="폰트, 그래픽, 텍스트, 스크린샷이(가) 표시된 사진&#10;&#10;자동 생성된 설명">
            <a:extLst>
              <a:ext uri="{FF2B5EF4-FFF2-40B4-BE49-F238E27FC236}">
                <a16:creationId xmlns:a16="http://schemas.microsoft.com/office/drawing/2014/main" id="{3DFC2D24-CCBA-E96B-4034-D8B225BBEC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extLst>
      <p:ext uri="{BB962C8B-B14F-4D97-AF65-F5344CB8AC3E}">
        <p14:creationId xmlns:p14="http://schemas.microsoft.com/office/powerpoint/2010/main" val="2016226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8"/>
          <p:cNvSpPr txBox="1">
            <a:spLocks noGrp="1"/>
          </p:cNvSpPr>
          <p:nvPr>
            <p:ph type="ctrTitle"/>
          </p:nvPr>
        </p:nvSpPr>
        <p:spPr>
          <a:xfrm>
            <a:off x="311700" y="2226150"/>
            <a:ext cx="8520600" cy="6912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ko" sz="4000" b="1" dirty="0">
                <a:solidFill>
                  <a:srgbClr val="004856"/>
                </a:solidFill>
              </a:rPr>
              <a:t>In-Context Learning</a:t>
            </a:r>
            <a:endParaRPr sz="4000" dirty="0"/>
          </a:p>
        </p:txBody>
      </p:sp>
      <p:pic>
        <p:nvPicPr>
          <p:cNvPr id="2" name="Google Shape;56;p13">
            <a:extLst>
              <a:ext uri="{FF2B5EF4-FFF2-40B4-BE49-F238E27FC236}">
                <a16:creationId xmlns:a16="http://schemas.microsoft.com/office/drawing/2014/main" id="{F317807D-5B36-7A0F-93F3-BD5239A64911}"/>
              </a:ext>
            </a:extLst>
          </p:cNvPr>
          <p:cNvPicPr preferRelativeResize="0"/>
          <p:nvPr/>
        </p:nvPicPr>
        <p:blipFill>
          <a:blip r:embed="rId3"/>
          <a:srcRect/>
          <a:stretch/>
        </p:blipFill>
        <p:spPr>
          <a:xfrm>
            <a:off x="7829550" y="4662460"/>
            <a:ext cx="1314450" cy="438150"/>
          </a:xfrm>
          <a:prstGeom prst="rect">
            <a:avLst/>
          </a:prstGeom>
          <a:noFill/>
          <a:ln>
            <a:noFill/>
          </a:ln>
        </p:spPr>
      </p:pic>
      <p:pic>
        <p:nvPicPr>
          <p:cNvPr id="3" name="그림 8" descr="폰트, 그래픽, 텍스트, 스크린샷이(가) 표시된 사진&#10;&#10;자동 생성된 설명">
            <a:extLst>
              <a:ext uri="{FF2B5EF4-FFF2-40B4-BE49-F238E27FC236}">
                <a16:creationId xmlns:a16="http://schemas.microsoft.com/office/drawing/2014/main" id="{79B534B6-065B-78E8-B0F4-07C1566E54E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7" name="Google Shape;97;p19"/>
          <p:cNvSpPr txBox="1">
            <a:spLocks noGrp="1"/>
          </p:cNvSpPr>
          <p:nvPr>
            <p:ph type="body" idx="1"/>
          </p:nvPr>
        </p:nvSpPr>
        <p:spPr>
          <a:xfrm>
            <a:off x="311700" y="989862"/>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US" altLang="ko" b="1" dirty="0">
                <a:solidFill>
                  <a:schemeClr val="tx1"/>
                </a:solidFill>
              </a:rPr>
              <a:t>Task </a:t>
            </a:r>
            <a:r>
              <a:rPr lang="ko" b="1" dirty="0">
                <a:solidFill>
                  <a:schemeClr val="tx1"/>
                </a:solidFill>
              </a:rPr>
              <a:t>Learning </a:t>
            </a:r>
            <a:r>
              <a:rPr lang="en-US" altLang="ko" b="1" dirty="0">
                <a:solidFill>
                  <a:schemeClr val="tx1"/>
                </a:solidFill>
              </a:rPr>
              <a:t>via Context, not Parameters</a:t>
            </a:r>
            <a:endParaRPr lang="en-US" b="1" dirty="0">
              <a:solidFill>
                <a:schemeClr val="tx1"/>
              </a:solidFill>
            </a:endParaRPr>
          </a:p>
          <a:p>
            <a:pPr marL="914400" lvl="1" indent="-317500" algn="l" rtl="0">
              <a:spcBef>
                <a:spcPts val="0"/>
              </a:spcBef>
              <a:spcAft>
                <a:spcPts val="0"/>
              </a:spcAft>
              <a:buSzPts val="1400"/>
              <a:buChar char="○"/>
            </a:pPr>
            <a:r>
              <a:rPr lang="en-US" altLang="ko" dirty="0">
                <a:solidFill>
                  <a:schemeClr val="tx1"/>
                </a:solidFill>
              </a:rPr>
              <a:t>Language models can learn from few-shot demonstrations (</a:t>
            </a:r>
            <a:r>
              <a:rPr lang="en-US" altLang="ko" b="1" dirty="0">
                <a:solidFill>
                  <a:schemeClr val="tx1"/>
                </a:solidFill>
                <a:highlight>
                  <a:srgbClr val="FFFF00"/>
                </a:highlight>
              </a:rPr>
              <a:t>Without parameter update</a:t>
            </a:r>
            <a:r>
              <a:rPr lang="en-US" altLang="ko" dirty="0">
                <a:solidFill>
                  <a:schemeClr val="tx1"/>
                </a:solidFill>
              </a:rPr>
              <a:t>)</a:t>
            </a:r>
          </a:p>
          <a:p>
            <a:pPr marL="914400" lvl="1" indent="-317500" algn="l" rtl="0">
              <a:spcBef>
                <a:spcPts val="0"/>
              </a:spcBef>
              <a:spcAft>
                <a:spcPts val="0"/>
              </a:spcAft>
              <a:buSzPts val="1400"/>
              <a:buChar char="○"/>
            </a:pPr>
            <a:r>
              <a:rPr lang="en" altLang="ko" dirty="0">
                <a:solidFill>
                  <a:schemeClr val="tx1"/>
                </a:solidFill>
              </a:rPr>
              <a:t>Previous: Fine-tuning (</a:t>
            </a:r>
            <a:r>
              <a:rPr lang="en" altLang="ko" b="1" dirty="0">
                <a:solidFill>
                  <a:schemeClr val="tx1"/>
                </a:solidFill>
                <a:highlight>
                  <a:srgbClr val="FFFF00"/>
                </a:highlight>
              </a:rPr>
              <a:t>Difficult and expensive</a:t>
            </a:r>
            <a:r>
              <a:rPr lang="en" altLang="ko" b="1" dirty="0">
                <a:solidFill>
                  <a:schemeClr val="tx1"/>
                </a:solidFill>
              </a:rPr>
              <a:t> </a:t>
            </a:r>
            <a:r>
              <a:rPr lang="en" altLang="ko" dirty="0">
                <a:solidFill>
                  <a:schemeClr val="tx1"/>
                </a:solidFill>
              </a:rPr>
              <a:t>to collect training datasets)</a:t>
            </a:r>
            <a:endParaRPr lang="en" dirty="0">
              <a:solidFill>
                <a:schemeClr val="tx1"/>
              </a:solidFill>
            </a:endParaRPr>
          </a:p>
          <a:p>
            <a:pPr marL="914400" lvl="1" indent="-317500" algn="l" rtl="0">
              <a:spcBef>
                <a:spcPts val="0"/>
              </a:spcBef>
              <a:spcAft>
                <a:spcPts val="0"/>
              </a:spcAft>
              <a:buSzPts val="1400"/>
              <a:buChar char="○"/>
            </a:pPr>
            <a:r>
              <a:rPr lang="en" altLang="ko" dirty="0">
                <a:solidFill>
                  <a:schemeClr val="tx1"/>
                </a:solidFill>
              </a:rPr>
              <a:t>Emergent phenomenon in LLMs</a:t>
            </a:r>
            <a:endParaRPr lang="en" dirty="0">
              <a:solidFill>
                <a:schemeClr val="tx1"/>
              </a:solidFill>
            </a:endParaRPr>
          </a:p>
          <a:p>
            <a:pPr marL="0" lvl="0" indent="0" algn="l" rtl="0">
              <a:spcBef>
                <a:spcPts val="1200"/>
              </a:spcBef>
              <a:spcAft>
                <a:spcPts val="1200"/>
              </a:spcAft>
              <a:buNone/>
            </a:pPr>
            <a:endParaRPr lang="ko-KR" altLang="en-US" dirty="0">
              <a:solidFill>
                <a:schemeClr val="tx1"/>
              </a:solidFill>
            </a:endParaRPr>
          </a:p>
        </p:txBody>
      </p:sp>
      <p:pic>
        <p:nvPicPr>
          <p:cNvPr id="98" name="Google Shape;98;p19"/>
          <p:cNvPicPr preferRelativeResize="0"/>
          <p:nvPr/>
        </p:nvPicPr>
        <p:blipFill>
          <a:blip r:embed="rId3">
            <a:alphaModFix/>
          </a:blip>
          <a:stretch>
            <a:fillRect/>
          </a:stretch>
        </p:blipFill>
        <p:spPr>
          <a:xfrm>
            <a:off x="1876363" y="2122059"/>
            <a:ext cx="5391274" cy="2662000"/>
          </a:xfrm>
          <a:prstGeom prst="rect">
            <a:avLst/>
          </a:prstGeom>
          <a:noFill/>
          <a:ln>
            <a:noFill/>
          </a:ln>
        </p:spPr>
      </p:pic>
      <p:sp>
        <p:nvSpPr>
          <p:cNvPr id="99" name="Google Shape;99;p19"/>
          <p:cNvSpPr txBox="1"/>
          <p:nvPr/>
        </p:nvSpPr>
        <p:spPr>
          <a:xfrm>
            <a:off x="71200" y="4882475"/>
            <a:ext cx="3547800" cy="177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ko" sz="700" b="1" dirty="0">
                <a:solidFill>
                  <a:srgbClr val="999999"/>
                </a:solidFill>
              </a:rPr>
              <a:t>Brown et al. “Language Models are Few-Shot Learners”, NeurIPS 2020</a:t>
            </a:r>
            <a:endParaRPr sz="700" b="1" dirty="0">
              <a:solidFill>
                <a:srgbClr val="999999"/>
              </a:solidFill>
            </a:endParaRPr>
          </a:p>
        </p:txBody>
      </p:sp>
      <p:sp>
        <p:nvSpPr>
          <p:cNvPr id="2" name="Google Shape;82;p17">
            <a:extLst>
              <a:ext uri="{FF2B5EF4-FFF2-40B4-BE49-F238E27FC236}">
                <a16:creationId xmlns:a16="http://schemas.microsoft.com/office/drawing/2014/main" id="{F77A65A8-414D-F32D-FEA8-C88AA90F23DB}"/>
              </a:ext>
            </a:extLst>
          </p:cNvPr>
          <p:cNvSpPr txBox="1">
            <a:spLocks/>
          </p:cNvSpPr>
          <p:nvPr/>
        </p:nvSpPr>
        <p:spPr>
          <a:xfrm>
            <a:off x="311700" y="288275"/>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ko" altLang="ko-KR" b="1" dirty="0">
                <a:solidFill>
                  <a:srgbClr val="004856"/>
                </a:solidFill>
              </a:rPr>
              <a:t>In-Context Learning</a:t>
            </a:r>
            <a:endParaRPr lang="en-US" dirty="0"/>
          </a:p>
        </p:txBody>
      </p:sp>
      <p:pic>
        <p:nvPicPr>
          <p:cNvPr id="5" name="Google Shape;56;p13">
            <a:extLst>
              <a:ext uri="{FF2B5EF4-FFF2-40B4-BE49-F238E27FC236}">
                <a16:creationId xmlns:a16="http://schemas.microsoft.com/office/drawing/2014/main" id="{91A33CBF-1B35-8DA6-8935-6365EAC655C1}"/>
              </a:ext>
            </a:extLst>
          </p:cNvPr>
          <p:cNvPicPr preferRelativeResize="0"/>
          <p:nvPr/>
        </p:nvPicPr>
        <p:blipFill>
          <a:blip r:embed="rId4"/>
          <a:srcRect/>
          <a:stretch/>
        </p:blipFill>
        <p:spPr>
          <a:xfrm>
            <a:off x="7829550" y="4662460"/>
            <a:ext cx="1314450" cy="438150"/>
          </a:xfrm>
          <a:prstGeom prst="rect">
            <a:avLst/>
          </a:prstGeom>
          <a:noFill/>
          <a:ln>
            <a:noFill/>
          </a:ln>
        </p:spPr>
      </p:pic>
      <p:pic>
        <p:nvPicPr>
          <p:cNvPr id="3" name="그림 8" descr="폰트, 그래픽, 텍스트, 스크린샷이(가) 표시된 사진&#10;&#10;자동 생성된 설명">
            <a:extLst>
              <a:ext uri="{FF2B5EF4-FFF2-40B4-BE49-F238E27FC236}">
                <a16:creationId xmlns:a16="http://schemas.microsoft.com/office/drawing/2014/main" id="{28AC335B-C887-FB27-6D68-E82C707893F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88199876-ABCD-3B7B-4EDA-32EE1F465C75}"/>
            </a:ext>
          </a:extLst>
        </p:cNvPr>
        <p:cNvGrpSpPr/>
        <p:nvPr/>
      </p:nvGrpSpPr>
      <p:grpSpPr>
        <a:xfrm>
          <a:off x="0" y="0"/>
          <a:ext cx="0" cy="0"/>
          <a:chOff x="0" y="0"/>
          <a:chExt cx="0" cy="0"/>
        </a:xfrm>
      </p:grpSpPr>
      <p:sp>
        <p:nvSpPr>
          <p:cNvPr id="97" name="Google Shape;97;p19">
            <a:extLst>
              <a:ext uri="{FF2B5EF4-FFF2-40B4-BE49-F238E27FC236}">
                <a16:creationId xmlns:a16="http://schemas.microsoft.com/office/drawing/2014/main" id="{BEECCB02-987F-47C2-6D40-32E5E8108283}"/>
              </a:ext>
            </a:extLst>
          </p:cNvPr>
          <p:cNvSpPr txBox="1">
            <a:spLocks noGrp="1"/>
          </p:cNvSpPr>
          <p:nvPr>
            <p:ph type="body" idx="1"/>
          </p:nvPr>
        </p:nvSpPr>
        <p:spPr>
          <a:xfrm>
            <a:off x="311700" y="989862"/>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ko" b="1" dirty="0">
                <a:solidFill>
                  <a:schemeClr val="tx1"/>
                </a:solidFill>
              </a:rPr>
              <a:t>Learning “how to learn”</a:t>
            </a:r>
            <a:endParaRPr b="1" dirty="0">
              <a:solidFill>
                <a:schemeClr val="tx1"/>
              </a:solidFill>
            </a:endParaRPr>
          </a:p>
          <a:p>
            <a:pPr marL="0" lvl="0" indent="0" algn="l" rtl="0">
              <a:spcBef>
                <a:spcPts val="1200"/>
              </a:spcBef>
              <a:spcAft>
                <a:spcPts val="1200"/>
              </a:spcAft>
              <a:buNone/>
            </a:pPr>
            <a:endParaRPr lang="ko-KR" altLang="en-US" dirty="0">
              <a:solidFill>
                <a:schemeClr val="tx1"/>
              </a:solidFill>
            </a:endParaRPr>
          </a:p>
        </p:txBody>
      </p:sp>
      <p:sp>
        <p:nvSpPr>
          <p:cNvPr id="99" name="Google Shape;99;p19">
            <a:extLst>
              <a:ext uri="{FF2B5EF4-FFF2-40B4-BE49-F238E27FC236}">
                <a16:creationId xmlns:a16="http://schemas.microsoft.com/office/drawing/2014/main" id="{EECD22A9-4B73-3822-9384-18B1564E8A06}"/>
              </a:ext>
            </a:extLst>
          </p:cNvPr>
          <p:cNvSpPr txBox="1"/>
          <p:nvPr/>
        </p:nvSpPr>
        <p:spPr>
          <a:xfrm>
            <a:off x="71200" y="4882475"/>
            <a:ext cx="3547800" cy="177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ko" sz="700" b="1" dirty="0">
                <a:solidFill>
                  <a:srgbClr val="999999"/>
                </a:solidFill>
              </a:rPr>
              <a:t>Brown et al. “Language Models are Few-Shot Learners”, NeurIPS 2020</a:t>
            </a:r>
            <a:endParaRPr sz="700" b="1" dirty="0">
              <a:solidFill>
                <a:srgbClr val="999999"/>
              </a:solidFill>
            </a:endParaRPr>
          </a:p>
        </p:txBody>
      </p:sp>
      <p:sp>
        <p:nvSpPr>
          <p:cNvPr id="2" name="Google Shape;82;p17">
            <a:extLst>
              <a:ext uri="{FF2B5EF4-FFF2-40B4-BE49-F238E27FC236}">
                <a16:creationId xmlns:a16="http://schemas.microsoft.com/office/drawing/2014/main" id="{DC464F23-DBC9-7980-FC89-050EECC4C3FF}"/>
              </a:ext>
            </a:extLst>
          </p:cNvPr>
          <p:cNvSpPr txBox="1">
            <a:spLocks/>
          </p:cNvSpPr>
          <p:nvPr/>
        </p:nvSpPr>
        <p:spPr>
          <a:xfrm>
            <a:off x="311700" y="288275"/>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ko" altLang="ko-KR" b="1" dirty="0">
                <a:solidFill>
                  <a:srgbClr val="004856"/>
                </a:solidFill>
              </a:rPr>
              <a:t>In-Context Learning</a:t>
            </a:r>
            <a:endParaRPr lang="en-US" dirty="0"/>
          </a:p>
        </p:txBody>
      </p:sp>
      <p:pic>
        <p:nvPicPr>
          <p:cNvPr id="3" name="그림 2">
            <a:extLst>
              <a:ext uri="{FF2B5EF4-FFF2-40B4-BE49-F238E27FC236}">
                <a16:creationId xmlns:a16="http://schemas.microsoft.com/office/drawing/2014/main" id="{9146D22D-2442-A16A-AFB0-AB3459F752D5}"/>
              </a:ext>
            </a:extLst>
          </p:cNvPr>
          <p:cNvPicPr>
            <a:picLocks noChangeAspect="1"/>
          </p:cNvPicPr>
          <p:nvPr/>
        </p:nvPicPr>
        <p:blipFill>
          <a:blip r:embed="rId3"/>
          <a:stretch>
            <a:fillRect/>
          </a:stretch>
        </p:blipFill>
        <p:spPr>
          <a:xfrm>
            <a:off x="2613815" y="1486546"/>
            <a:ext cx="3916370" cy="3305779"/>
          </a:xfrm>
          <a:prstGeom prst="rect">
            <a:avLst/>
          </a:prstGeom>
        </p:spPr>
      </p:pic>
      <p:pic>
        <p:nvPicPr>
          <p:cNvPr id="4" name="Google Shape;56;p13">
            <a:extLst>
              <a:ext uri="{FF2B5EF4-FFF2-40B4-BE49-F238E27FC236}">
                <a16:creationId xmlns:a16="http://schemas.microsoft.com/office/drawing/2014/main" id="{2C604E05-DA23-9A6C-8A1F-5E7A960EE14C}"/>
              </a:ext>
            </a:extLst>
          </p:cNvPr>
          <p:cNvPicPr preferRelativeResize="0"/>
          <p:nvPr/>
        </p:nvPicPr>
        <p:blipFill>
          <a:blip r:embed="rId4"/>
          <a:srcRect/>
          <a:stretch/>
        </p:blipFill>
        <p:spPr>
          <a:xfrm>
            <a:off x="7829550" y="4662460"/>
            <a:ext cx="1314450" cy="438150"/>
          </a:xfrm>
          <a:prstGeom prst="rect">
            <a:avLst/>
          </a:prstGeom>
          <a:noFill/>
          <a:ln>
            <a:noFill/>
          </a:ln>
        </p:spPr>
      </p:pic>
      <p:pic>
        <p:nvPicPr>
          <p:cNvPr id="5" name="그림 8" descr="폰트, 그래픽, 텍스트, 스크린샷이(가) 표시된 사진&#10;&#10;자동 생성된 설명">
            <a:extLst>
              <a:ext uri="{FF2B5EF4-FFF2-40B4-BE49-F238E27FC236}">
                <a16:creationId xmlns:a16="http://schemas.microsoft.com/office/drawing/2014/main" id="{C26B4628-0710-5BE2-B9D6-43FBE2EDBEE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extLst>
      <p:ext uri="{BB962C8B-B14F-4D97-AF65-F5344CB8AC3E}">
        <p14:creationId xmlns:p14="http://schemas.microsoft.com/office/powerpoint/2010/main" val="7322060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5" name="Google Shape;97;p19">
            <a:extLst>
              <a:ext uri="{FF2B5EF4-FFF2-40B4-BE49-F238E27FC236}">
                <a16:creationId xmlns:a16="http://schemas.microsoft.com/office/drawing/2014/main" id="{83DF4848-781C-00AF-C638-06DF03B0FE4E}"/>
              </a:ext>
            </a:extLst>
          </p:cNvPr>
          <p:cNvSpPr txBox="1">
            <a:spLocks/>
          </p:cNvSpPr>
          <p:nvPr/>
        </p:nvSpPr>
        <p:spPr>
          <a:xfrm>
            <a:off x="311700" y="989862"/>
            <a:ext cx="8520600" cy="34164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lvl="0"/>
            <a:r>
              <a:rPr lang="en" altLang="ko" b="1" dirty="0">
                <a:solidFill>
                  <a:schemeClr val="tx1"/>
                </a:solidFill>
              </a:rPr>
              <a:t>The larger the model is, the better the accuracy is</a:t>
            </a:r>
            <a:endParaRPr lang="en" altLang="ko-KR" b="1" dirty="0">
              <a:solidFill>
                <a:schemeClr val="tx1"/>
              </a:solidFill>
            </a:endParaRPr>
          </a:p>
        </p:txBody>
      </p:sp>
      <p:pic>
        <p:nvPicPr>
          <p:cNvPr id="107" name="Google Shape;107;p20"/>
          <p:cNvPicPr preferRelativeResize="0"/>
          <p:nvPr/>
        </p:nvPicPr>
        <p:blipFill>
          <a:blip r:embed="rId3">
            <a:alphaModFix/>
          </a:blip>
          <a:stretch>
            <a:fillRect/>
          </a:stretch>
        </p:blipFill>
        <p:spPr>
          <a:xfrm>
            <a:off x="1852576" y="1584181"/>
            <a:ext cx="5438848" cy="2886525"/>
          </a:xfrm>
          <a:prstGeom prst="rect">
            <a:avLst/>
          </a:prstGeom>
          <a:noFill/>
          <a:ln>
            <a:noFill/>
          </a:ln>
        </p:spPr>
      </p:pic>
      <p:sp>
        <p:nvSpPr>
          <p:cNvPr id="108" name="Google Shape;108;p20"/>
          <p:cNvSpPr txBox="1"/>
          <p:nvPr/>
        </p:nvSpPr>
        <p:spPr>
          <a:xfrm>
            <a:off x="71200" y="4882475"/>
            <a:ext cx="3547800" cy="177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ko" sz="700" b="1">
                <a:solidFill>
                  <a:srgbClr val="999999"/>
                </a:solidFill>
              </a:rPr>
              <a:t>Brown et al. “Language Models are Few-Shot Learners”, NeurIPS 2020</a:t>
            </a:r>
            <a:endParaRPr sz="700" b="1">
              <a:solidFill>
                <a:srgbClr val="999999"/>
              </a:solidFill>
            </a:endParaRPr>
          </a:p>
        </p:txBody>
      </p:sp>
      <p:sp>
        <p:nvSpPr>
          <p:cNvPr id="4" name="Google Shape;82;p17">
            <a:extLst>
              <a:ext uri="{FF2B5EF4-FFF2-40B4-BE49-F238E27FC236}">
                <a16:creationId xmlns:a16="http://schemas.microsoft.com/office/drawing/2014/main" id="{693DD469-E5FA-5B59-EA77-7149C0C6A083}"/>
              </a:ext>
            </a:extLst>
          </p:cNvPr>
          <p:cNvSpPr txBox="1">
            <a:spLocks/>
          </p:cNvSpPr>
          <p:nvPr/>
        </p:nvSpPr>
        <p:spPr>
          <a:xfrm>
            <a:off x="311700" y="288275"/>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ko" altLang="ko-KR" b="1" dirty="0">
                <a:solidFill>
                  <a:srgbClr val="004856"/>
                </a:solidFill>
              </a:rPr>
              <a:t>In-Context Learning</a:t>
            </a:r>
            <a:endParaRPr lang="en-US" dirty="0"/>
          </a:p>
        </p:txBody>
      </p:sp>
      <p:pic>
        <p:nvPicPr>
          <p:cNvPr id="6" name="Google Shape;56;p13">
            <a:extLst>
              <a:ext uri="{FF2B5EF4-FFF2-40B4-BE49-F238E27FC236}">
                <a16:creationId xmlns:a16="http://schemas.microsoft.com/office/drawing/2014/main" id="{520338E0-C9F7-D011-5598-1D9CA716AEBB}"/>
              </a:ext>
            </a:extLst>
          </p:cNvPr>
          <p:cNvPicPr preferRelativeResize="0"/>
          <p:nvPr/>
        </p:nvPicPr>
        <p:blipFill>
          <a:blip r:embed="rId4"/>
          <a:srcRect/>
          <a:stretch/>
        </p:blipFill>
        <p:spPr>
          <a:xfrm>
            <a:off x="7829550" y="4662460"/>
            <a:ext cx="1314450" cy="438150"/>
          </a:xfrm>
          <a:prstGeom prst="rect">
            <a:avLst/>
          </a:prstGeom>
          <a:noFill/>
          <a:ln>
            <a:noFill/>
          </a:ln>
        </p:spPr>
      </p:pic>
      <p:pic>
        <p:nvPicPr>
          <p:cNvPr id="2" name="그림 8" descr="폰트, 그래픽, 텍스트, 스크린샷이(가) 표시된 사진&#10;&#10;자동 생성된 설명">
            <a:extLst>
              <a:ext uri="{FF2B5EF4-FFF2-40B4-BE49-F238E27FC236}">
                <a16:creationId xmlns:a16="http://schemas.microsoft.com/office/drawing/2014/main" id="{899FA63F-C53C-F14C-3EB9-FAF563895E9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DF5C9B78-7E92-E7DD-6747-C9D2EAE9929F}"/>
            </a:ext>
          </a:extLst>
        </p:cNvPr>
        <p:cNvGrpSpPr/>
        <p:nvPr/>
      </p:nvGrpSpPr>
      <p:grpSpPr>
        <a:xfrm>
          <a:off x="0" y="0"/>
          <a:ext cx="0" cy="0"/>
          <a:chOff x="0" y="0"/>
          <a:chExt cx="0" cy="0"/>
        </a:xfrm>
      </p:grpSpPr>
      <p:sp>
        <p:nvSpPr>
          <p:cNvPr id="5" name="Google Shape;97;p19">
            <a:extLst>
              <a:ext uri="{FF2B5EF4-FFF2-40B4-BE49-F238E27FC236}">
                <a16:creationId xmlns:a16="http://schemas.microsoft.com/office/drawing/2014/main" id="{C3D5675E-C648-19D6-C6E0-303689B36B97}"/>
              </a:ext>
            </a:extLst>
          </p:cNvPr>
          <p:cNvSpPr txBox="1">
            <a:spLocks/>
          </p:cNvSpPr>
          <p:nvPr/>
        </p:nvSpPr>
        <p:spPr>
          <a:xfrm>
            <a:off x="311700" y="989862"/>
            <a:ext cx="8520600" cy="34164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lvl="0"/>
            <a:r>
              <a:rPr lang="en" altLang="ko" b="1" dirty="0">
                <a:solidFill>
                  <a:schemeClr val="tx1"/>
                </a:solidFill>
              </a:rPr>
              <a:t>Few-shot &gt; One-shot &gt; Zero-shot</a:t>
            </a:r>
            <a:endParaRPr lang="en" altLang="ko-KR" b="1" dirty="0">
              <a:solidFill>
                <a:schemeClr val="tx1"/>
              </a:solidFill>
            </a:endParaRPr>
          </a:p>
        </p:txBody>
      </p:sp>
      <p:sp>
        <p:nvSpPr>
          <p:cNvPr id="108" name="Google Shape;108;p20">
            <a:extLst>
              <a:ext uri="{FF2B5EF4-FFF2-40B4-BE49-F238E27FC236}">
                <a16:creationId xmlns:a16="http://schemas.microsoft.com/office/drawing/2014/main" id="{F102180B-2B47-C6B7-6B97-5772B7DDC76D}"/>
              </a:ext>
            </a:extLst>
          </p:cNvPr>
          <p:cNvSpPr txBox="1"/>
          <p:nvPr/>
        </p:nvSpPr>
        <p:spPr>
          <a:xfrm>
            <a:off x="71200" y="4882475"/>
            <a:ext cx="3547800" cy="177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ko" sz="700" b="1">
                <a:solidFill>
                  <a:srgbClr val="999999"/>
                </a:solidFill>
              </a:rPr>
              <a:t>Brown et al. “Language Models are Few-Shot Learners”, NeurIPS 2020</a:t>
            </a:r>
            <a:endParaRPr sz="700" b="1">
              <a:solidFill>
                <a:srgbClr val="999999"/>
              </a:solidFill>
            </a:endParaRPr>
          </a:p>
        </p:txBody>
      </p:sp>
      <p:sp>
        <p:nvSpPr>
          <p:cNvPr id="4" name="Google Shape;82;p17">
            <a:extLst>
              <a:ext uri="{FF2B5EF4-FFF2-40B4-BE49-F238E27FC236}">
                <a16:creationId xmlns:a16="http://schemas.microsoft.com/office/drawing/2014/main" id="{F34155E9-45F2-6263-B776-0EB212A97681}"/>
              </a:ext>
            </a:extLst>
          </p:cNvPr>
          <p:cNvSpPr txBox="1">
            <a:spLocks/>
          </p:cNvSpPr>
          <p:nvPr/>
        </p:nvSpPr>
        <p:spPr>
          <a:xfrm>
            <a:off x="311700" y="288275"/>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ko" altLang="ko-KR" b="1" dirty="0">
                <a:solidFill>
                  <a:srgbClr val="004856"/>
                </a:solidFill>
              </a:rPr>
              <a:t>In-Context Learning</a:t>
            </a:r>
            <a:endParaRPr lang="en-US" dirty="0"/>
          </a:p>
        </p:txBody>
      </p:sp>
      <p:pic>
        <p:nvPicPr>
          <p:cNvPr id="2" name="그림 1">
            <a:extLst>
              <a:ext uri="{FF2B5EF4-FFF2-40B4-BE49-F238E27FC236}">
                <a16:creationId xmlns:a16="http://schemas.microsoft.com/office/drawing/2014/main" id="{F09DED64-210C-320C-F629-460D9D8BC0FA}"/>
              </a:ext>
            </a:extLst>
          </p:cNvPr>
          <p:cNvPicPr>
            <a:picLocks noChangeAspect="1"/>
          </p:cNvPicPr>
          <p:nvPr/>
        </p:nvPicPr>
        <p:blipFill>
          <a:blip r:embed="rId3"/>
          <a:stretch>
            <a:fillRect/>
          </a:stretch>
        </p:blipFill>
        <p:spPr>
          <a:xfrm>
            <a:off x="2308309" y="1585446"/>
            <a:ext cx="4527381" cy="2820816"/>
          </a:xfrm>
          <a:prstGeom prst="rect">
            <a:avLst/>
          </a:prstGeom>
        </p:spPr>
      </p:pic>
      <p:pic>
        <p:nvPicPr>
          <p:cNvPr id="3" name="Google Shape;56;p13">
            <a:extLst>
              <a:ext uri="{FF2B5EF4-FFF2-40B4-BE49-F238E27FC236}">
                <a16:creationId xmlns:a16="http://schemas.microsoft.com/office/drawing/2014/main" id="{617A79C8-5C94-F8AF-C220-5BF48685BCB3}"/>
              </a:ext>
            </a:extLst>
          </p:cNvPr>
          <p:cNvPicPr preferRelativeResize="0"/>
          <p:nvPr/>
        </p:nvPicPr>
        <p:blipFill>
          <a:blip r:embed="rId4"/>
          <a:srcRect/>
          <a:stretch/>
        </p:blipFill>
        <p:spPr>
          <a:xfrm>
            <a:off x="7829550" y="4662460"/>
            <a:ext cx="1314450" cy="438150"/>
          </a:xfrm>
          <a:prstGeom prst="rect">
            <a:avLst/>
          </a:prstGeom>
          <a:noFill/>
          <a:ln>
            <a:noFill/>
          </a:ln>
        </p:spPr>
      </p:pic>
      <p:pic>
        <p:nvPicPr>
          <p:cNvPr id="6" name="그림 8" descr="폰트, 그래픽, 텍스트, 스크린샷이(가) 표시된 사진&#10;&#10;자동 생성된 설명">
            <a:extLst>
              <a:ext uri="{FF2B5EF4-FFF2-40B4-BE49-F238E27FC236}">
                <a16:creationId xmlns:a16="http://schemas.microsoft.com/office/drawing/2014/main" id="{99865B08-11A1-9E91-8FCB-C02957CF5B5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extLst>
      <p:ext uri="{BB962C8B-B14F-4D97-AF65-F5344CB8AC3E}">
        <p14:creationId xmlns:p14="http://schemas.microsoft.com/office/powerpoint/2010/main" val="7879657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9CAF85E6-641E-CA7F-0E01-F2B3DEC75611}"/>
            </a:ext>
          </a:extLst>
        </p:cNvPr>
        <p:cNvGrpSpPr/>
        <p:nvPr/>
      </p:nvGrpSpPr>
      <p:grpSpPr>
        <a:xfrm>
          <a:off x="0" y="0"/>
          <a:ext cx="0" cy="0"/>
          <a:chOff x="0" y="0"/>
          <a:chExt cx="0" cy="0"/>
        </a:xfrm>
      </p:grpSpPr>
      <p:sp>
        <p:nvSpPr>
          <p:cNvPr id="5" name="Google Shape;97;p19">
            <a:extLst>
              <a:ext uri="{FF2B5EF4-FFF2-40B4-BE49-F238E27FC236}">
                <a16:creationId xmlns:a16="http://schemas.microsoft.com/office/drawing/2014/main" id="{7BBA463D-359D-175A-C456-79BFEB1C2EFE}"/>
              </a:ext>
            </a:extLst>
          </p:cNvPr>
          <p:cNvSpPr txBox="1">
            <a:spLocks/>
          </p:cNvSpPr>
          <p:nvPr/>
        </p:nvSpPr>
        <p:spPr>
          <a:xfrm>
            <a:off x="311700" y="989862"/>
            <a:ext cx="8520600" cy="34164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lvl="0"/>
            <a:r>
              <a:rPr lang="en" altLang="ko" b="1" dirty="0">
                <a:solidFill>
                  <a:schemeClr val="tx1"/>
                </a:solidFill>
              </a:rPr>
              <a:t>Task: Mathematical Reasoning (GSM8K)</a:t>
            </a:r>
            <a:endParaRPr lang="en" altLang="ko-KR" b="1" dirty="0">
              <a:solidFill>
                <a:schemeClr val="tx1"/>
              </a:solidFill>
            </a:endParaRPr>
          </a:p>
        </p:txBody>
      </p:sp>
      <p:sp>
        <p:nvSpPr>
          <p:cNvPr id="108" name="Google Shape;108;p20">
            <a:extLst>
              <a:ext uri="{FF2B5EF4-FFF2-40B4-BE49-F238E27FC236}">
                <a16:creationId xmlns:a16="http://schemas.microsoft.com/office/drawing/2014/main" id="{4131AA9A-6998-F674-E77C-4FABA32B6558}"/>
              </a:ext>
            </a:extLst>
          </p:cNvPr>
          <p:cNvSpPr txBox="1"/>
          <p:nvPr/>
        </p:nvSpPr>
        <p:spPr>
          <a:xfrm>
            <a:off x="71200" y="4882475"/>
            <a:ext cx="3547800" cy="177900"/>
          </a:xfrm>
          <a:prstGeom prst="rect">
            <a:avLst/>
          </a:prstGeom>
          <a:noFill/>
          <a:ln>
            <a:noFill/>
          </a:ln>
        </p:spPr>
        <p:txBody>
          <a:bodyPr spcFirstLastPara="1" wrap="square" lIns="91425" tIns="91425" rIns="91425" bIns="91425" anchor="t" anchorCtr="0">
            <a:noAutofit/>
          </a:bodyPr>
          <a:lstStyle/>
          <a:p>
            <a:r>
              <a:rPr lang="en-US" altLang="ko-KR" sz="800" dirty="0">
                <a:hlinkClick r:id="rId3"/>
              </a:rPr>
              <a:t>https://huggingface.co/datasets/openai/gsm8k</a:t>
            </a:r>
            <a:endParaRPr lang="en-KR" altLang="ko-KR" sz="800" dirty="0"/>
          </a:p>
        </p:txBody>
      </p:sp>
      <p:sp>
        <p:nvSpPr>
          <p:cNvPr id="4" name="Google Shape;82;p17">
            <a:extLst>
              <a:ext uri="{FF2B5EF4-FFF2-40B4-BE49-F238E27FC236}">
                <a16:creationId xmlns:a16="http://schemas.microsoft.com/office/drawing/2014/main" id="{1955FE18-D3C2-52A8-7973-BF0AEB9F603F}"/>
              </a:ext>
            </a:extLst>
          </p:cNvPr>
          <p:cNvSpPr txBox="1">
            <a:spLocks/>
          </p:cNvSpPr>
          <p:nvPr/>
        </p:nvSpPr>
        <p:spPr>
          <a:xfrm>
            <a:off x="311700" y="288275"/>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b="1" dirty="0">
                <a:solidFill>
                  <a:srgbClr val="004856"/>
                </a:solidFill>
              </a:rPr>
              <a:t>Task 1-1: In-Context Learning</a:t>
            </a:r>
            <a:endParaRPr lang="en-US" dirty="0"/>
          </a:p>
        </p:txBody>
      </p:sp>
      <p:pic>
        <p:nvPicPr>
          <p:cNvPr id="3" name="Picture 4">
            <a:extLst>
              <a:ext uri="{FF2B5EF4-FFF2-40B4-BE49-F238E27FC236}">
                <a16:creationId xmlns:a16="http://schemas.microsoft.com/office/drawing/2014/main" id="{27A12D96-7C97-7D3E-81B1-B948B220C372}"/>
              </a:ext>
            </a:extLst>
          </p:cNvPr>
          <p:cNvPicPr>
            <a:picLocks noChangeAspect="1"/>
          </p:cNvPicPr>
          <p:nvPr/>
        </p:nvPicPr>
        <p:blipFill>
          <a:blip r:embed="rId4"/>
          <a:stretch>
            <a:fillRect/>
          </a:stretch>
        </p:blipFill>
        <p:spPr>
          <a:xfrm>
            <a:off x="2102509" y="1462360"/>
            <a:ext cx="4938982" cy="3329965"/>
          </a:xfrm>
          <a:prstGeom prst="rect">
            <a:avLst/>
          </a:prstGeom>
        </p:spPr>
      </p:pic>
      <p:pic>
        <p:nvPicPr>
          <p:cNvPr id="6" name="Google Shape;56;p13">
            <a:extLst>
              <a:ext uri="{FF2B5EF4-FFF2-40B4-BE49-F238E27FC236}">
                <a16:creationId xmlns:a16="http://schemas.microsoft.com/office/drawing/2014/main" id="{48B755E5-48BC-F2C7-738C-CBE79BCB6DF0}"/>
              </a:ext>
            </a:extLst>
          </p:cNvPr>
          <p:cNvPicPr preferRelativeResize="0"/>
          <p:nvPr/>
        </p:nvPicPr>
        <p:blipFill>
          <a:blip r:embed="rId5"/>
          <a:srcRect/>
          <a:stretch/>
        </p:blipFill>
        <p:spPr>
          <a:xfrm>
            <a:off x="7829550" y="4662460"/>
            <a:ext cx="1314450" cy="438150"/>
          </a:xfrm>
          <a:prstGeom prst="rect">
            <a:avLst/>
          </a:prstGeom>
          <a:noFill/>
          <a:ln>
            <a:noFill/>
          </a:ln>
        </p:spPr>
      </p:pic>
      <p:pic>
        <p:nvPicPr>
          <p:cNvPr id="2" name="그림 8" descr="폰트, 그래픽, 텍스트, 스크린샷이(가) 표시된 사진&#10;&#10;자동 생성된 설명">
            <a:extLst>
              <a:ext uri="{FF2B5EF4-FFF2-40B4-BE49-F238E27FC236}">
                <a16:creationId xmlns:a16="http://schemas.microsoft.com/office/drawing/2014/main" id="{7427143E-6827-BA46-5193-B945A117332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extLst>
      <p:ext uri="{BB962C8B-B14F-4D97-AF65-F5344CB8AC3E}">
        <p14:creationId xmlns:p14="http://schemas.microsoft.com/office/powerpoint/2010/main" val="5549017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36301C9-BB79-5498-EEBA-73BC4161F33A}"/>
            </a:ext>
          </a:extLst>
        </p:cNvPr>
        <p:cNvGrpSpPr/>
        <p:nvPr/>
      </p:nvGrpSpPr>
      <p:grpSpPr>
        <a:xfrm>
          <a:off x="0" y="0"/>
          <a:ext cx="0" cy="0"/>
          <a:chOff x="0" y="0"/>
          <a:chExt cx="0" cy="0"/>
        </a:xfrm>
      </p:grpSpPr>
      <p:sp>
        <p:nvSpPr>
          <p:cNvPr id="5" name="Google Shape;97;p19">
            <a:extLst>
              <a:ext uri="{FF2B5EF4-FFF2-40B4-BE49-F238E27FC236}">
                <a16:creationId xmlns:a16="http://schemas.microsoft.com/office/drawing/2014/main" id="{96DBAE41-CF68-4BED-189D-71FF3B734622}"/>
              </a:ext>
            </a:extLst>
          </p:cNvPr>
          <p:cNvSpPr txBox="1">
            <a:spLocks/>
          </p:cNvSpPr>
          <p:nvPr/>
        </p:nvSpPr>
        <p:spPr>
          <a:xfrm>
            <a:off x="311700" y="989862"/>
            <a:ext cx="8520600" cy="34164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lvl="0"/>
            <a:r>
              <a:rPr lang="en-US" altLang="ko-KR" b="1" dirty="0">
                <a:solidFill>
                  <a:schemeClr val="tx1"/>
                </a:solidFill>
              </a:rPr>
              <a:t>Examples</a:t>
            </a:r>
            <a:endParaRPr lang="en" altLang="ko-KR" b="1" dirty="0">
              <a:solidFill>
                <a:schemeClr val="tx1"/>
              </a:solidFill>
            </a:endParaRPr>
          </a:p>
        </p:txBody>
      </p:sp>
      <p:sp>
        <p:nvSpPr>
          <p:cNvPr id="108" name="Google Shape;108;p20">
            <a:extLst>
              <a:ext uri="{FF2B5EF4-FFF2-40B4-BE49-F238E27FC236}">
                <a16:creationId xmlns:a16="http://schemas.microsoft.com/office/drawing/2014/main" id="{280189B3-E474-6629-274D-6EE7303D89C8}"/>
              </a:ext>
            </a:extLst>
          </p:cNvPr>
          <p:cNvSpPr txBox="1"/>
          <p:nvPr/>
        </p:nvSpPr>
        <p:spPr>
          <a:xfrm>
            <a:off x="71200" y="4882475"/>
            <a:ext cx="3547800" cy="177900"/>
          </a:xfrm>
          <a:prstGeom prst="rect">
            <a:avLst/>
          </a:prstGeom>
          <a:noFill/>
          <a:ln>
            <a:noFill/>
          </a:ln>
        </p:spPr>
        <p:txBody>
          <a:bodyPr spcFirstLastPara="1" wrap="square" lIns="91425" tIns="91425" rIns="91425" bIns="91425" anchor="t" anchorCtr="0">
            <a:noAutofit/>
          </a:bodyPr>
          <a:lstStyle/>
          <a:p>
            <a:r>
              <a:rPr lang="en-US" altLang="ko-KR" sz="800" dirty="0">
                <a:hlinkClick r:id="rId3"/>
              </a:rPr>
              <a:t>https://huggingface.co/datasets/openai/gsm8k</a:t>
            </a:r>
            <a:endParaRPr lang="en-KR" altLang="ko-KR" sz="800" dirty="0"/>
          </a:p>
        </p:txBody>
      </p:sp>
      <p:sp>
        <p:nvSpPr>
          <p:cNvPr id="4" name="Google Shape;82;p17">
            <a:extLst>
              <a:ext uri="{FF2B5EF4-FFF2-40B4-BE49-F238E27FC236}">
                <a16:creationId xmlns:a16="http://schemas.microsoft.com/office/drawing/2014/main" id="{5E94A76A-96AC-1783-6423-C41AAD0D54AF}"/>
              </a:ext>
            </a:extLst>
          </p:cNvPr>
          <p:cNvSpPr txBox="1">
            <a:spLocks/>
          </p:cNvSpPr>
          <p:nvPr/>
        </p:nvSpPr>
        <p:spPr>
          <a:xfrm>
            <a:off x="311700" y="288275"/>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b="1" dirty="0">
                <a:solidFill>
                  <a:srgbClr val="004856"/>
                </a:solidFill>
              </a:rPr>
              <a:t>Task 1-1: In-Context Learning</a:t>
            </a:r>
            <a:endParaRPr lang="en-US" dirty="0"/>
          </a:p>
        </p:txBody>
      </p:sp>
      <p:pic>
        <p:nvPicPr>
          <p:cNvPr id="6" name="Google Shape;56;p13">
            <a:extLst>
              <a:ext uri="{FF2B5EF4-FFF2-40B4-BE49-F238E27FC236}">
                <a16:creationId xmlns:a16="http://schemas.microsoft.com/office/drawing/2014/main" id="{FA5A0B6C-D464-829F-BE2D-CC211F8131FA}"/>
              </a:ext>
            </a:extLst>
          </p:cNvPr>
          <p:cNvPicPr preferRelativeResize="0"/>
          <p:nvPr/>
        </p:nvPicPr>
        <p:blipFill>
          <a:blip r:embed="rId4"/>
          <a:srcRect/>
          <a:stretch/>
        </p:blipFill>
        <p:spPr>
          <a:xfrm>
            <a:off x="7829550" y="4662460"/>
            <a:ext cx="1314450" cy="438150"/>
          </a:xfrm>
          <a:prstGeom prst="rect">
            <a:avLst/>
          </a:prstGeom>
          <a:noFill/>
          <a:ln>
            <a:noFill/>
          </a:ln>
        </p:spPr>
      </p:pic>
      <p:sp>
        <p:nvSpPr>
          <p:cNvPr id="2" name="모서리가 둥근 직사각형 1">
            <a:extLst>
              <a:ext uri="{FF2B5EF4-FFF2-40B4-BE49-F238E27FC236}">
                <a16:creationId xmlns:a16="http://schemas.microsoft.com/office/drawing/2014/main" id="{7813EEEE-0860-E989-3890-E303D2A26A45}"/>
              </a:ext>
            </a:extLst>
          </p:cNvPr>
          <p:cNvSpPr/>
          <p:nvPr/>
        </p:nvSpPr>
        <p:spPr>
          <a:xfrm>
            <a:off x="1730669" y="1561171"/>
            <a:ext cx="5722806" cy="3101289"/>
          </a:xfrm>
          <a:prstGeom prst="roundRect">
            <a:avLst/>
          </a:prstGeom>
          <a:noFill/>
          <a:ln w="5715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ko-KR" sz="1600" b="1" dirty="0">
                <a:solidFill>
                  <a:schemeClr val="accent1">
                    <a:lumMod val="75000"/>
                  </a:schemeClr>
                </a:solidFill>
              </a:rPr>
              <a:t>Question</a:t>
            </a:r>
            <a:r>
              <a:rPr kumimoji="1" lang="en-US" altLang="ko-KR" sz="1600" dirty="0">
                <a:solidFill>
                  <a:schemeClr val="tx1"/>
                </a:solidFill>
              </a:rPr>
              <a:t>: </a:t>
            </a:r>
            <a:r>
              <a:rPr lang="en" altLang="ko-KR" sz="1600" dirty="0">
                <a:solidFill>
                  <a:schemeClr val="tx1"/>
                </a:solidFill>
              </a:rPr>
              <a:t>Natalia sold clips to 48 of her friends in April, and then she sold half as many clips in May. How many clips did Natalia sell altogether in April and May?</a:t>
            </a:r>
            <a:endParaRPr kumimoji="1" lang="en-US" altLang="ko-KR" sz="1600" dirty="0">
              <a:solidFill>
                <a:schemeClr val="tx1"/>
              </a:solidFill>
            </a:endParaRPr>
          </a:p>
          <a:p>
            <a:endParaRPr kumimoji="1" lang="en-US" altLang="ko-KR" dirty="0">
              <a:solidFill>
                <a:schemeClr val="tx1"/>
              </a:solidFill>
            </a:endParaRPr>
          </a:p>
          <a:p>
            <a:endParaRPr kumimoji="1" lang="en-US" altLang="ko-KR" dirty="0">
              <a:solidFill>
                <a:schemeClr val="tx1"/>
              </a:solidFill>
            </a:endParaRPr>
          </a:p>
          <a:p>
            <a:r>
              <a:rPr kumimoji="1" lang="en-US" altLang="ko-KR" sz="1600" b="1" dirty="0">
                <a:solidFill>
                  <a:schemeClr val="accent1">
                    <a:lumMod val="75000"/>
                  </a:schemeClr>
                </a:solidFill>
              </a:rPr>
              <a:t>Answer</a:t>
            </a:r>
            <a:r>
              <a:rPr kumimoji="1" lang="en-US" altLang="ko-KR" sz="1600" dirty="0">
                <a:solidFill>
                  <a:schemeClr val="tx1"/>
                </a:solidFill>
              </a:rPr>
              <a:t>: </a:t>
            </a:r>
            <a:r>
              <a:rPr lang="en" altLang="ko-KR" sz="1600" dirty="0">
                <a:solidFill>
                  <a:schemeClr val="tx1"/>
                </a:solidFill>
              </a:rPr>
              <a:t>Natalia sold 48/2 = &lt;&lt;48/2=24&gt;&gt;24 clips in May. Natalia sold 48+24 = &lt;&lt;48+24=72&gt;&gt;72 clips altogether in April and May. #### 72</a:t>
            </a:r>
            <a:endParaRPr kumimoji="1" lang="en-US" altLang="ko-KR" sz="1600" dirty="0">
              <a:solidFill>
                <a:schemeClr val="tx1"/>
              </a:solidFill>
            </a:endParaRPr>
          </a:p>
        </p:txBody>
      </p:sp>
      <p:pic>
        <p:nvPicPr>
          <p:cNvPr id="3" name="그림 8" descr="폰트, 그래픽, 텍스트, 스크린샷이(가) 표시된 사진&#10;&#10;자동 생성된 설명">
            <a:extLst>
              <a:ext uri="{FF2B5EF4-FFF2-40B4-BE49-F238E27FC236}">
                <a16:creationId xmlns:a16="http://schemas.microsoft.com/office/drawing/2014/main" id="{7DD1A2C8-4E8A-8432-E6AA-60487915E05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extLst>
      <p:ext uri="{BB962C8B-B14F-4D97-AF65-F5344CB8AC3E}">
        <p14:creationId xmlns:p14="http://schemas.microsoft.com/office/powerpoint/2010/main" val="2579690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9A4CD27B-91AE-B289-1A47-B1018BDE835A}"/>
            </a:ext>
          </a:extLst>
        </p:cNvPr>
        <p:cNvGrpSpPr/>
        <p:nvPr/>
      </p:nvGrpSpPr>
      <p:grpSpPr>
        <a:xfrm>
          <a:off x="0" y="0"/>
          <a:ext cx="0" cy="0"/>
          <a:chOff x="0" y="0"/>
          <a:chExt cx="0" cy="0"/>
        </a:xfrm>
      </p:grpSpPr>
      <p:sp>
        <p:nvSpPr>
          <p:cNvPr id="5" name="Google Shape;97;p19">
            <a:extLst>
              <a:ext uri="{FF2B5EF4-FFF2-40B4-BE49-F238E27FC236}">
                <a16:creationId xmlns:a16="http://schemas.microsoft.com/office/drawing/2014/main" id="{C1F15633-27F0-B4E0-6048-7F764FA2ADFA}"/>
              </a:ext>
            </a:extLst>
          </p:cNvPr>
          <p:cNvSpPr txBox="1">
            <a:spLocks/>
          </p:cNvSpPr>
          <p:nvPr/>
        </p:nvSpPr>
        <p:spPr>
          <a:xfrm>
            <a:off x="311700" y="989862"/>
            <a:ext cx="8520600" cy="34164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lvl="0"/>
            <a:r>
              <a:rPr lang="en-US" altLang="ko-KR" b="1" dirty="0">
                <a:solidFill>
                  <a:schemeClr val="tx1"/>
                </a:solidFill>
              </a:rPr>
              <a:t>In-context demonstration construction</a:t>
            </a:r>
            <a:endParaRPr lang="en" altLang="ko-KR" b="1" dirty="0">
              <a:solidFill>
                <a:schemeClr val="tx1"/>
              </a:solidFill>
            </a:endParaRPr>
          </a:p>
        </p:txBody>
      </p:sp>
      <p:sp>
        <p:nvSpPr>
          <p:cNvPr id="108" name="Google Shape;108;p20">
            <a:extLst>
              <a:ext uri="{FF2B5EF4-FFF2-40B4-BE49-F238E27FC236}">
                <a16:creationId xmlns:a16="http://schemas.microsoft.com/office/drawing/2014/main" id="{57CD0BB3-F69E-7CBA-49F9-880FF109E775}"/>
              </a:ext>
            </a:extLst>
          </p:cNvPr>
          <p:cNvSpPr txBox="1"/>
          <p:nvPr/>
        </p:nvSpPr>
        <p:spPr>
          <a:xfrm>
            <a:off x="71200" y="4882475"/>
            <a:ext cx="3547800" cy="177900"/>
          </a:xfrm>
          <a:prstGeom prst="rect">
            <a:avLst/>
          </a:prstGeom>
          <a:noFill/>
          <a:ln>
            <a:noFill/>
          </a:ln>
        </p:spPr>
        <p:txBody>
          <a:bodyPr spcFirstLastPara="1" wrap="square" lIns="91425" tIns="91425" rIns="91425" bIns="91425" anchor="t" anchorCtr="0">
            <a:noAutofit/>
          </a:bodyPr>
          <a:lstStyle/>
          <a:p>
            <a:r>
              <a:rPr lang="en-US" altLang="ko-KR" sz="800" dirty="0">
                <a:hlinkClick r:id="rId3"/>
              </a:rPr>
              <a:t>https://huggingface.co/datasets/openai/gsm8k</a:t>
            </a:r>
            <a:endParaRPr lang="en-KR" altLang="ko-KR" sz="800" dirty="0"/>
          </a:p>
        </p:txBody>
      </p:sp>
      <p:sp>
        <p:nvSpPr>
          <p:cNvPr id="4" name="Google Shape;82;p17">
            <a:extLst>
              <a:ext uri="{FF2B5EF4-FFF2-40B4-BE49-F238E27FC236}">
                <a16:creationId xmlns:a16="http://schemas.microsoft.com/office/drawing/2014/main" id="{1EB56950-06AE-7926-062F-382D07C0A330}"/>
              </a:ext>
            </a:extLst>
          </p:cNvPr>
          <p:cNvSpPr txBox="1">
            <a:spLocks/>
          </p:cNvSpPr>
          <p:nvPr/>
        </p:nvSpPr>
        <p:spPr>
          <a:xfrm>
            <a:off x="311700" y="288275"/>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b="1" dirty="0">
                <a:solidFill>
                  <a:srgbClr val="004856"/>
                </a:solidFill>
              </a:rPr>
              <a:t>Task 1-1: In-Context Learning</a:t>
            </a:r>
            <a:endParaRPr lang="en-US" dirty="0"/>
          </a:p>
        </p:txBody>
      </p:sp>
      <p:pic>
        <p:nvPicPr>
          <p:cNvPr id="6" name="Google Shape;56;p13">
            <a:extLst>
              <a:ext uri="{FF2B5EF4-FFF2-40B4-BE49-F238E27FC236}">
                <a16:creationId xmlns:a16="http://schemas.microsoft.com/office/drawing/2014/main" id="{D805F69D-C5EE-34CB-B84C-BF564D57A7A3}"/>
              </a:ext>
            </a:extLst>
          </p:cNvPr>
          <p:cNvPicPr preferRelativeResize="0"/>
          <p:nvPr/>
        </p:nvPicPr>
        <p:blipFill>
          <a:blip r:embed="rId4"/>
          <a:srcRect/>
          <a:stretch/>
        </p:blipFill>
        <p:spPr>
          <a:xfrm>
            <a:off x="7829550" y="4662460"/>
            <a:ext cx="1314450" cy="438150"/>
          </a:xfrm>
          <a:prstGeom prst="rect">
            <a:avLst/>
          </a:prstGeom>
          <a:noFill/>
          <a:ln>
            <a:noFill/>
          </a:ln>
        </p:spPr>
      </p:pic>
      <p:sp>
        <p:nvSpPr>
          <p:cNvPr id="2" name="모서리가 둥근 직사각형 1">
            <a:extLst>
              <a:ext uri="{FF2B5EF4-FFF2-40B4-BE49-F238E27FC236}">
                <a16:creationId xmlns:a16="http://schemas.microsoft.com/office/drawing/2014/main" id="{06F90945-47AF-F4BA-7919-37703C954257}"/>
              </a:ext>
            </a:extLst>
          </p:cNvPr>
          <p:cNvSpPr/>
          <p:nvPr/>
        </p:nvSpPr>
        <p:spPr>
          <a:xfrm>
            <a:off x="1730669" y="1561171"/>
            <a:ext cx="5722806" cy="3101289"/>
          </a:xfrm>
          <a:prstGeom prst="roundRect">
            <a:avLst/>
          </a:prstGeom>
          <a:noFill/>
          <a:ln w="5715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ko-KR" b="1" dirty="0">
                <a:solidFill>
                  <a:schemeClr val="accent1">
                    <a:lumMod val="75000"/>
                  </a:schemeClr>
                </a:solidFill>
              </a:rPr>
              <a:t>[Example 1]</a:t>
            </a:r>
          </a:p>
          <a:p>
            <a:r>
              <a:rPr lang="en" altLang="ko-KR" dirty="0">
                <a:solidFill>
                  <a:schemeClr val="tx1"/>
                </a:solidFill>
              </a:rPr>
              <a:t>Input:</a:t>
            </a:r>
          </a:p>
          <a:p>
            <a:r>
              <a:rPr kumimoji="1" lang="en" altLang="ko-KR" dirty="0">
                <a:solidFill>
                  <a:schemeClr val="tx1"/>
                </a:solidFill>
              </a:rPr>
              <a:t>~~~</a:t>
            </a:r>
          </a:p>
          <a:p>
            <a:r>
              <a:rPr kumimoji="1" lang="en" altLang="ko-KR" dirty="0">
                <a:solidFill>
                  <a:schemeClr val="tx1"/>
                </a:solidFill>
              </a:rPr>
              <a:t>Output:</a:t>
            </a:r>
          </a:p>
          <a:p>
            <a:r>
              <a:rPr kumimoji="1" lang="en" altLang="ko-KR" dirty="0">
                <a:solidFill>
                  <a:schemeClr val="tx1"/>
                </a:solidFill>
              </a:rPr>
              <a:t>~~~</a:t>
            </a:r>
            <a:endParaRPr kumimoji="1" lang="en-US" altLang="ko-KR" dirty="0">
              <a:solidFill>
                <a:schemeClr val="tx1"/>
              </a:solidFill>
            </a:endParaRPr>
          </a:p>
          <a:p>
            <a:r>
              <a:rPr kumimoji="1" lang="en-US" altLang="ko-KR" dirty="0">
                <a:solidFill>
                  <a:schemeClr val="tx1"/>
                </a:solidFill>
              </a:rPr>
              <a:t>…</a:t>
            </a:r>
          </a:p>
          <a:p>
            <a:endParaRPr kumimoji="1" lang="en-US" altLang="ko-KR" dirty="0">
              <a:solidFill>
                <a:schemeClr val="tx1"/>
              </a:solidFill>
            </a:endParaRPr>
          </a:p>
          <a:p>
            <a:r>
              <a:rPr kumimoji="1" lang="en-US" altLang="ko-KR" b="1" dirty="0">
                <a:solidFill>
                  <a:schemeClr val="accent1">
                    <a:lumMod val="75000"/>
                  </a:schemeClr>
                </a:solidFill>
              </a:rPr>
              <a:t>[Example 4]</a:t>
            </a:r>
          </a:p>
          <a:p>
            <a:r>
              <a:rPr lang="en" altLang="ko-KR" dirty="0">
                <a:solidFill>
                  <a:schemeClr val="tx1"/>
                </a:solidFill>
              </a:rPr>
              <a:t>Input:</a:t>
            </a:r>
          </a:p>
          <a:p>
            <a:r>
              <a:rPr kumimoji="1" lang="en" altLang="ko-KR" dirty="0">
                <a:solidFill>
                  <a:schemeClr val="tx1"/>
                </a:solidFill>
              </a:rPr>
              <a:t>~~~</a:t>
            </a:r>
          </a:p>
          <a:p>
            <a:r>
              <a:rPr kumimoji="1" lang="en" altLang="ko-KR" dirty="0">
                <a:solidFill>
                  <a:schemeClr val="tx1"/>
                </a:solidFill>
              </a:rPr>
              <a:t>Output:</a:t>
            </a:r>
          </a:p>
        </p:txBody>
      </p:sp>
      <p:pic>
        <p:nvPicPr>
          <p:cNvPr id="3" name="그림 8" descr="폰트, 그래픽, 텍스트, 스크린샷이(가) 표시된 사진&#10;&#10;자동 생성된 설명">
            <a:extLst>
              <a:ext uri="{FF2B5EF4-FFF2-40B4-BE49-F238E27FC236}">
                <a16:creationId xmlns:a16="http://schemas.microsoft.com/office/drawing/2014/main" id="{0E8140BE-909D-2181-68F5-B0C7D880A78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extLst>
      <p:ext uri="{BB962C8B-B14F-4D97-AF65-F5344CB8AC3E}">
        <p14:creationId xmlns:p14="http://schemas.microsoft.com/office/powerpoint/2010/main" val="40989378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EB96502D-2FDB-4924-6869-B1DC3A997FFF}"/>
            </a:ext>
          </a:extLst>
        </p:cNvPr>
        <p:cNvGrpSpPr/>
        <p:nvPr/>
      </p:nvGrpSpPr>
      <p:grpSpPr>
        <a:xfrm>
          <a:off x="0" y="0"/>
          <a:ext cx="0" cy="0"/>
          <a:chOff x="0" y="0"/>
          <a:chExt cx="0" cy="0"/>
        </a:xfrm>
      </p:grpSpPr>
      <p:sp>
        <p:nvSpPr>
          <p:cNvPr id="5" name="Google Shape;97;p19">
            <a:extLst>
              <a:ext uri="{FF2B5EF4-FFF2-40B4-BE49-F238E27FC236}">
                <a16:creationId xmlns:a16="http://schemas.microsoft.com/office/drawing/2014/main" id="{6708E529-AAA0-B32D-3EEF-6C859D1FB721}"/>
              </a:ext>
            </a:extLst>
          </p:cNvPr>
          <p:cNvSpPr txBox="1">
            <a:spLocks/>
          </p:cNvSpPr>
          <p:nvPr/>
        </p:nvSpPr>
        <p:spPr>
          <a:xfrm>
            <a:off x="311700" y="989862"/>
            <a:ext cx="8520600" cy="34164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lvl="0"/>
            <a:r>
              <a:rPr lang="en-US" altLang="ko-KR" b="1" dirty="0">
                <a:solidFill>
                  <a:schemeClr val="tx1"/>
                </a:solidFill>
              </a:rPr>
              <a:t>In-context demonstration construction</a:t>
            </a:r>
            <a:endParaRPr lang="en" altLang="ko-KR" b="1" dirty="0">
              <a:solidFill>
                <a:schemeClr val="tx1"/>
              </a:solidFill>
            </a:endParaRPr>
          </a:p>
        </p:txBody>
      </p:sp>
      <p:sp>
        <p:nvSpPr>
          <p:cNvPr id="108" name="Google Shape;108;p20">
            <a:extLst>
              <a:ext uri="{FF2B5EF4-FFF2-40B4-BE49-F238E27FC236}">
                <a16:creationId xmlns:a16="http://schemas.microsoft.com/office/drawing/2014/main" id="{5976C417-9C51-B867-E63A-8AB5E90C15AA}"/>
              </a:ext>
            </a:extLst>
          </p:cNvPr>
          <p:cNvSpPr txBox="1"/>
          <p:nvPr/>
        </p:nvSpPr>
        <p:spPr>
          <a:xfrm>
            <a:off x="71200" y="4882475"/>
            <a:ext cx="3547800" cy="177900"/>
          </a:xfrm>
          <a:prstGeom prst="rect">
            <a:avLst/>
          </a:prstGeom>
          <a:noFill/>
          <a:ln>
            <a:noFill/>
          </a:ln>
        </p:spPr>
        <p:txBody>
          <a:bodyPr spcFirstLastPara="1" wrap="square" lIns="91425" tIns="91425" rIns="91425" bIns="91425" anchor="t" anchorCtr="0">
            <a:noAutofit/>
          </a:bodyPr>
          <a:lstStyle/>
          <a:p>
            <a:r>
              <a:rPr lang="en-US" altLang="ko-KR" sz="800" dirty="0">
                <a:hlinkClick r:id="rId3"/>
              </a:rPr>
              <a:t>https://huggingface.co/datasets/openai/gsm8k</a:t>
            </a:r>
            <a:endParaRPr lang="en-KR" altLang="ko-KR" sz="800" dirty="0"/>
          </a:p>
        </p:txBody>
      </p:sp>
      <p:sp>
        <p:nvSpPr>
          <p:cNvPr id="4" name="Google Shape;82;p17">
            <a:extLst>
              <a:ext uri="{FF2B5EF4-FFF2-40B4-BE49-F238E27FC236}">
                <a16:creationId xmlns:a16="http://schemas.microsoft.com/office/drawing/2014/main" id="{4909BF56-2E09-2965-BF06-3E0B84A04ACF}"/>
              </a:ext>
            </a:extLst>
          </p:cNvPr>
          <p:cNvSpPr txBox="1">
            <a:spLocks/>
          </p:cNvSpPr>
          <p:nvPr/>
        </p:nvSpPr>
        <p:spPr>
          <a:xfrm>
            <a:off x="311700" y="288275"/>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b="1" dirty="0">
                <a:solidFill>
                  <a:srgbClr val="004856"/>
                </a:solidFill>
              </a:rPr>
              <a:t>Task 1-1: In-Context Learning</a:t>
            </a:r>
            <a:endParaRPr lang="en-US" dirty="0"/>
          </a:p>
        </p:txBody>
      </p:sp>
      <p:pic>
        <p:nvPicPr>
          <p:cNvPr id="6" name="Google Shape;56;p13">
            <a:extLst>
              <a:ext uri="{FF2B5EF4-FFF2-40B4-BE49-F238E27FC236}">
                <a16:creationId xmlns:a16="http://schemas.microsoft.com/office/drawing/2014/main" id="{3E5F8C5D-0B78-BA75-E854-C8A348FD9E19}"/>
              </a:ext>
            </a:extLst>
          </p:cNvPr>
          <p:cNvPicPr preferRelativeResize="0"/>
          <p:nvPr/>
        </p:nvPicPr>
        <p:blipFill>
          <a:blip r:embed="rId4"/>
          <a:srcRect/>
          <a:stretch/>
        </p:blipFill>
        <p:spPr>
          <a:xfrm>
            <a:off x="7829550" y="4662460"/>
            <a:ext cx="1314450" cy="438150"/>
          </a:xfrm>
          <a:prstGeom prst="rect">
            <a:avLst/>
          </a:prstGeom>
          <a:noFill/>
          <a:ln>
            <a:noFill/>
          </a:ln>
        </p:spPr>
      </p:pic>
      <p:sp>
        <p:nvSpPr>
          <p:cNvPr id="2" name="모서리가 둥근 직사각형 1">
            <a:extLst>
              <a:ext uri="{FF2B5EF4-FFF2-40B4-BE49-F238E27FC236}">
                <a16:creationId xmlns:a16="http://schemas.microsoft.com/office/drawing/2014/main" id="{3FCA3BA0-99A0-2946-CC15-C290CED397D3}"/>
              </a:ext>
            </a:extLst>
          </p:cNvPr>
          <p:cNvSpPr/>
          <p:nvPr/>
        </p:nvSpPr>
        <p:spPr>
          <a:xfrm>
            <a:off x="1730669" y="1561171"/>
            <a:ext cx="5722806" cy="3101289"/>
          </a:xfrm>
          <a:prstGeom prst="roundRect">
            <a:avLst/>
          </a:prstGeom>
          <a:noFill/>
          <a:ln w="5715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ko-KR" b="1" dirty="0">
                <a:solidFill>
                  <a:schemeClr val="accent1">
                    <a:lumMod val="75000"/>
                  </a:schemeClr>
                </a:solidFill>
              </a:rPr>
              <a:t>[Example 1]</a:t>
            </a:r>
          </a:p>
          <a:p>
            <a:r>
              <a:rPr lang="en" altLang="ko-KR" dirty="0">
                <a:solidFill>
                  <a:schemeClr val="tx1"/>
                </a:solidFill>
              </a:rPr>
              <a:t>Input:</a:t>
            </a:r>
          </a:p>
          <a:p>
            <a:r>
              <a:rPr kumimoji="1" lang="en" altLang="ko-KR" dirty="0">
                <a:solidFill>
                  <a:schemeClr val="tx1"/>
                </a:solidFill>
              </a:rPr>
              <a:t>~~~</a:t>
            </a:r>
          </a:p>
          <a:p>
            <a:r>
              <a:rPr kumimoji="1" lang="en" altLang="ko-KR" dirty="0">
                <a:solidFill>
                  <a:schemeClr val="tx1"/>
                </a:solidFill>
              </a:rPr>
              <a:t>Output:</a:t>
            </a:r>
          </a:p>
          <a:p>
            <a:r>
              <a:rPr kumimoji="1" lang="en" altLang="ko-KR" dirty="0">
                <a:solidFill>
                  <a:schemeClr val="tx1"/>
                </a:solidFill>
              </a:rPr>
              <a:t>~~~</a:t>
            </a:r>
            <a:endParaRPr kumimoji="1" lang="en-US" altLang="ko-KR" dirty="0">
              <a:solidFill>
                <a:schemeClr val="tx1"/>
              </a:solidFill>
            </a:endParaRPr>
          </a:p>
          <a:p>
            <a:r>
              <a:rPr kumimoji="1" lang="en-US" altLang="ko-KR" dirty="0">
                <a:solidFill>
                  <a:schemeClr val="tx1"/>
                </a:solidFill>
              </a:rPr>
              <a:t>…</a:t>
            </a:r>
          </a:p>
          <a:p>
            <a:endParaRPr kumimoji="1" lang="en-US" altLang="ko-KR" dirty="0">
              <a:solidFill>
                <a:schemeClr val="tx1"/>
              </a:solidFill>
            </a:endParaRPr>
          </a:p>
          <a:p>
            <a:r>
              <a:rPr kumimoji="1" lang="en-US" altLang="ko-KR" b="1" dirty="0">
                <a:solidFill>
                  <a:schemeClr val="accent1">
                    <a:lumMod val="75000"/>
                  </a:schemeClr>
                </a:solidFill>
              </a:rPr>
              <a:t>[Example 4]</a:t>
            </a:r>
          </a:p>
          <a:p>
            <a:r>
              <a:rPr lang="en" altLang="ko-KR" dirty="0">
                <a:solidFill>
                  <a:schemeClr val="tx1"/>
                </a:solidFill>
              </a:rPr>
              <a:t>Input:</a:t>
            </a:r>
          </a:p>
          <a:p>
            <a:r>
              <a:rPr kumimoji="1" lang="en" altLang="ko-KR" dirty="0">
                <a:solidFill>
                  <a:schemeClr val="tx1"/>
                </a:solidFill>
              </a:rPr>
              <a:t>~~~</a:t>
            </a:r>
          </a:p>
          <a:p>
            <a:r>
              <a:rPr kumimoji="1" lang="en" altLang="ko-KR" dirty="0">
                <a:solidFill>
                  <a:schemeClr val="tx1"/>
                </a:solidFill>
              </a:rPr>
              <a:t>Output:                   </a:t>
            </a:r>
            <a:r>
              <a:rPr kumimoji="1" lang="en" altLang="ko-KR" b="1" dirty="0">
                <a:solidFill>
                  <a:schemeClr val="accent1">
                    <a:lumMod val="75000"/>
                  </a:schemeClr>
                </a:solidFill>
              </a:rPr>
              <a:t>LLM will generate output after this identifier!</a:t>
            </a:r>
          </a:p>
        </p:txBody>
      </p:sp>
      <p:sp>
        <p:nvSpPr>
          <p:cNvPr id="3" name="Right Arrow 2">
            <a:extLst>
              <a:ext uri="{FF2B5EF4-FFF2-40B4-BE49-F238E27FC236}">
                <a16:creationId xmlns:a16="http://schemas.microsoft.com/office/drawing/2014/main" id="{9E3911E3-367D-03B1-5D3D-6915C5415E59}"/>
              </a:ext>
            </a:extLst>
          </p:cNvPr>
          <p:cNvSpPr/>
          <p:nvPr/>
        </p:nvSpPr>
        <p:spPr>
          <a:xfrm>
            <a:off x="2612848" y="4069895"/>
            <a:ext cx="638848" cy="240187"/>
          </a:xfrm>
          <a:prstGeom prst="rightArrow">
            <a:avLst/>
          </a:prstGeom>
          <a:ln/>
        </p:spPr>
        <p:style>
          <a:lnRef idx="2">
            <a:schemeClr val="accent1"/>
          </a:lnRef>
          <a:fillRef idx="1">
            <a:schemeClr val="lt1"/>
          </a:fillRef>
          <a:effectRef idx="0">
            <a:schemeClr val="accent1"/>
          </a:effectRef>
          <a:fontRef idx="minor">
            <a:schemeClr val="dk1"/>
          </a:fontRef>
        </p:style>
        <p:txBody>
          <a:bodyPr rtlCol="0" anchor="ctr"/>
          <a:lstStyle/>
          <a:p>
            <a:pPr algn="ctr"/>
            <a:endParaRPr lang="en-KR" b="1">
              <a:ln w="22225">
                <a:solidFill>
                  <a:schemeClr val="accent2"/>
                </a:solidFill>
                <a:prstDash val="solid"/>
              </a:ln>
              <a:solidFill>
                <a:schemeClr val="accent2">
                  <a:lumMod val="40000"/>
                  <a:lumOff val="60000"/>
                </a:schemeClr>
              </a:solidFill>
            </a:endParaRPr>
          </a:p>
        </p:txBody>
      </p:sp>
      <p:pic>
        <p:nvPicPr>
          <p:cNvPr id="7" name="그림 8" descr="폰트, 그래픽, 텍스트, 스크린샷이(가) 표시된 사진&#10;&#10;자동 생성된 설명">
            <a:extLst>
              <a:ext uri="{FF2B5EF4-FFF2-40B4-BE49-F238E27FC236}">
                <a16:creationId xmlns:a16="http://schemas.microsoft.com/office/drawing/2014/main" id="{774ABD94-CAE3-B9D6-FCC9-7A0C2593434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extLst>
      <p:ext uri="{BB962C8B-B14F-4D97-AF65-F5344CB8AC3E}">
        <p14:creationId xmlns:p14="http://schemas.microsoft.com/office/powerpoint/2010/main" val="42836050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pic>
        <p:nvPicPr>
          <p:cNvPr id="2" name="Google Shape;56;p13">
            <a:extLst>
              <a:ext uri="{FF2B5EF4-FFF2-40B4-BE49-F238E27FC236}">
                <a16:creationId xmlns:a16="http://schemas.microsoft.com/office/drawing/2014/main" id="{6AB5967F-D67D-FE63-5E16-4DA1F4D55A77}"/>
              </a:ext>
            </a:extLst>
          </p:cNvPr>
          <p:cNvPicPr preferRelativeResize="0"/>
          <p:nvPr/>
        </p:nvPicPr>
        <p:blipFill>
          <a:blip r:embed="rId3"/>
          <a:srcRect/>
          <a:stretch/>
        </p:blipFill>
        <p:spPr>
          <a:xfrm>
            <a:off x="7829550" y="4662460"/>
            <a:ext cx="1314450" cy="438150"/>
          </a:xfrm>
          <a:prstGeom prst="rect">
            <a:avLst/>
          </a:prstGeom>
          <a:noFill/>
          <a:ln>
            <a:noFill/>
          </a:ln>
        </p:spPr>
      </p:pic>
      <p:sp>
        <p:nvSpPr>
          <p:cNvPr id="3" name="Google Shape;82;p17">
            <a:extLst>
              <a:ext uri="{FF2B5EF4-FFF2-40B4-BE49-F238E27FC236}">
                <a16:creationId xmlns:a16="http://schemas.microsoft.com/office/drawing/2014/main" id="{E65B64A2-D02E-C1EC-1985-8B9AED7AC11C}"/>
              </a:ext>
            </a:extLst>
          </p:cNvPr>
          <p:cNvSpPr txBox="1">
            <a:spLocks/>
          </p:cNvSpPr>
          <p:nvPr/>
        </p:nvSpPr>
        <p:spPr>
          <a:xfrm>
            <a:off x="311700" y="288275"/>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b="1" dirty="0">
                <a:solidFill>
                  <a:srgbClr val="004856"/>
                </a:solidFill>
              </a:rPr>
              <a:t>Grok API</a:t>
            </a:r>
            <a:endParaRPr lang="en-US" dirty="0"/>
          </a:p>
        </p:txBody>
      </p:sp>
      <p:sp>
        <p:nvSpPr>
          <p:cNvPr id="6" name="Google Shape;97;p19">
            <a:extLst>
              <a:ext uri="{FF2B5EF4-FFF2-40B4-BE49-F238E27FC236}">
                <a16:creationId xmlns:a16="http://schemas.microsoft.com/office/drawing/2014/main" id="{29118971-CABB-9BA4-C8DB-0D2A8001A811}"/>
              </a:ext>
            </a:extLst>
          </p:cNvPr>
          <p:cNvSpPr txBox="1">
            <a:spLocks/>
          </p:cNvSpPr>
          <p:nvPr/>
        </p:nvSpPr>
        <p:spPr>
          <a:xfrm>
            <a:off x="311700" y="989861"/>
            <a:ext cx="8520600" cy="832013"/>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lvl="0" indent="-317500">
              <a:buSzPts val="1400"/>
            </a:pPr>
            <a:r>
              <a:rPr lang="en" altLang="ko" sz="1600" b="1" dirty="0">
                <a:solidFill>
                  <a:schemeClr val="tx1"/>
                </a:solidFill>
              </a:rPr>
              <a:t>Through Grok API, you can get generation results of </a:t>
            </a:r>
            <a:r>
              <a:rPr lang="en" altLang="ko" sz="1600" b="1" dirty="0" err="1">
                <a:solidFill>
                  <a:schemeClr val="tx1"/>
                </a:solidFill>
              </a:rPr>
              <a:t>vario</a:t>
            </a:r>
            <a:r>
              <a:rPr lang="en-US" altLang="ko" sz="1600" b="1" dirty="0">
                <a:solidFill>
                  <a:schemeClr val="tx1"/>
                </a:solidFill>
              </a:rPr>
              <a:t>us</a:t>
            </a:r>
            <a:r>
              <a:rPr lang="en" altLang="ko" sz="1600" b="1" dirty="0">
                <a:solidFill>
                  <a:schemeClr val="tx1"/>
                </a:solidFill>
              </a:rPr>
              <a:t> chat models.</a:t>
            </a:r>
            <a:r>
              <a:rPr lang="en" altLang="ko" sz="1600" b="1" dirty="0"/>
              <a:t> </a:t>
            </a:r>
            <a:endParaRPr lang="en" altLang="ko-KR" sz="1600" b="1" dirty="0"/>
          </a:p>
        </p:txBody>
      </p:sp>
      <p:pic>
        <p:nvPicPr>
          <p:cNvPr id="4" name="그림 8" descr="폰트, 그래픽, 텍스트, 스크린샷이(가) 표시된 사진&#10;&#10;자동 생성된 설명">
            <a:extLst>
              <a:ext uri="{FF2B5EF4-FFF2-40B4-BE49-F238E27FC236}">
                <a16:creationId xmlns:a16="http://schemas.microsoft.com/office/drawing/2014/main" id="{F2824C61-A080-805D-9258-65BBDF7F26A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A88BAE8F-0109-FACF-A330-581C6ADCB22A}"/>
            </a:ext>
          </a:extLst>
        </p:cNvPr>
        <p:cNvGrpSpPr/>
        <p:nvPr/>
      </p:nvGrpSpPr>
      <p:grpSpPr>
        <a:xfrm>
          <a:off x="0" y="0"/>
          <a:ext cx="0" cy="0"/>
          <a:chOff x="0" y="0"/>
          <a:chExt cx="0" cy="0"/>
        </a:xfrm>
      </p:grpSpPr>
      <p:sp>
        <p:nvSpPr>
          <p:cNvPr id="90" name="Google Shape;90;p18">
            <a:extLst>
              <a:ext uri="{FF2B5EF4-FFF2-40B4-BE49-F238E27FC236}">
                <a16:creationId xmlns:a16="http://schemas.microsoft.com/office/drawing/2014/main" id="{46F81792-CB48-3441-07FF-40664473FB41}"/>
              </a:ext>
            </a:extLst>
          </p:cNvPr>
          <p:cNvSpPr txBox="1">
            <a:spLocks noGrp="1"/>
          </p:cNvSpPr>
          <p:nvPr>
            <p:ph type="ctrTitle"/>
          </p:nvPr>
        </p:nvSpPr>
        <p:spPr>
          <a:xfrm>
            <a:off x="311700" y="2226150"/>
            <a:ext cx="8520600" cy="6912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n-US" altLang="ko" sz="4000" b="1" dirty="0">
                <a:solidFill>
                  <a:srgbClr val="004856"/>
                </a:solidFill>
              </a:rPr>
              <a:t>Instruction Tuning</a:t>
            </a:r>
            <a:endParaRPr sz="4000" dirty="0"/>
          </a:p>
        </p:txBody>
      </p:sp>
      <p:pic>
        <p:nvPicPr>
          <p:cNvPr id="2" name="Google Shape;56;p13">
            <a:extLst>
              <a:ext uri="{FF2B5EF4-FFF2-40B4-BE49-F238E27FC236}">
                <a16:creationId xmlns:a16="http://schemas.microsoft.com/office/drawing/2014/main" id="{72168E85-6BE4-761C-424D-1B9EA649705B}"/>
              </a:ext>
            </a:extLst>
          </p:cNvPr>
          <p:cNvPicPr preferRelativeResize="0"/>
          <p:nvPr/>
        </p:nvPicPr>
        <p:blipFill>
          <a:blip r:embed="rId3"/>
          <a:srcRect/>
          <a:stretch/>
        </p:blipFill>
        <p:spPr>
          <a:xfrm>
            <a:off x="7829550" y="4662460"/>
            <a:ext cx="1314450" cy="438150"/>
          </a:xfrm>
          <a:prstGeom prst="rect">
            <a:avLst/>
          </a:prstGeom>
          <a:noFill/>
          <a:ln>
            <a:noFill/>
          </a:ln>
        </p:spPr>
      </p:pic>
      <p:pic>
        <p:nvPicPr>
          <p:cNvPr id="3" name="그림 8" descr="폰트, 그래픽, 텍스트, 스크린샷이(가) 표시된 사진&#10;&#10;자동 생성된 설명">
            <a:extLst>
              <a:ext uri="{FF2B5EF4-FFF2-40B4-BE49-F238E27FC236}">
                <a16:creationId xmlns:a16="http://schemas.microsoft.com/office/drawing/2014/main" id="{355E2508-A1AE-9063-D527-357DBFA5410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extLst>
      <p:ext uri="{BB962C8B-B14F-4D97-AF65-F5344CB8AC3E}">
        <p14:creationId xmlns:p14="http://schemas.microsoft.com/office/powerpoint/2010/main" val="10713304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D1011E07-EF0A-9A52-7AB2-CFD9A0EAF888}"/>
            </a:ext>
          </a:extLst>
        </p:cNvPr>
        <p:cNvGrpSpPr/>
        <p:nvPr/>
      </p:nvGrpSpPr>
      <p:grpSpPr>
        <a:xfrm>
          <a:off x="0" y="0"/>
          <a:ext cx="0" cy="0"/>
          <a:chOff x="0" y="0"/>
          <a:chExt cx="0" cy="0"/>
        </a:xfrm>
      </p:grpSpPr>
      <p:sp>
        <p:nvSpPr>
          <p:cNvPr id="97" name="Google Shape;97;p19">
            <a:extLst>
              <a:ext uri="{FF2B5EF4-FFF2-40B4-BE49-F238E27FC236}">
                <a16:creationId xmlns:a16="http://schemas.microsoft.com/office/drawing/2014/main" id="{F3B08F7A-5419-1A4F-D333-CC2D69723011}"/>
              </a:ext>
            </a:extLst>
          </p:cNvPr>
          <p:cNvSpPr txBox="1">
            <a:spLocks noGrp="1"/>
          </p:cNvSpPr>
          <p:nvPr>
            <p:ph type="body" idx="1"/>
          </p:nvPr>
        </p:nvSpPr>
        <p:spPr>
          <a:xfrm>
            <a:off x="311700" y="989862"/>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US" altLang="ko" b="1" dirty="0">
                <a:solidFill>
                  <a:schemeClr val="tx1"/>
                </a:solidFill>
              </a:rPr>
              <a:t>Even LLMs suffer to understand human’s intention and value</a:t>
            </a:r>
            <a:endParaRPr b="1" dirty="0">
              <a:solidFill>
                <a:schemeClr val="tx1"/>
              </a:solidFill>
            </a:endParaRPr>
          </a:p>
          <a:p>
            <a:pPr marL="914400" lvl="1" indent="-317500" algn="l" rtl="0">
              <a:spcBef>
                <a:spcPts val="0"/>
              </a:spcBef>
              <a:spcAft>
                <a:spcPts val="0"/>
              </a:spcAft>
              <a:buSzPts val="1400"/>
              <a:buChar char="○"/>
            </a:pPr>
            <a:r>
              <a:rPr lang="en-US" altLang="ko" dirty="0">
                <a:solidFill>
                  <a:schemeClr val="tx1"/>
                </a:solidFill>
              </a:rPr>
              <a:t>LLM’s are trained to predict next token</a:t>
            </a:r>
          </a:p>
          <a:p>
            <a:pPr marL="914400" lvl="1" indent="-317500" algn="l" rtl="0">
              <a:spcBef>
                <a:spcPts val="0"/>
              </a:spcBef>
              <a:spcAft>
                <a:spcPts val="0"/>
              </a:spcAft>
              <a:buSzPts val="1400"/>
              <a:buChar char="○"/>
            </a:pPr>
            <a:r>
              <a:rPr lang="en-US" dirty="0">
                <a:solidFill>
                  <a:schemeClr val="tx1"/>
                </a:solidFill>
              </a:rPr>
              <a:t>Low-quality data in web</a:t>
            </a:r>
            <a:endParaRPr lang="en" dirty="0">
              <a:solidFill>
                <a:schemeClr val="tx1"/>
              </a:solidFill>
            </a:endParaRPr>
          </a:p>
          <a:p>
            <a:pPr marL="0" lvl="0" indent="0" algn="l" rtl="0">
              <a:spcBef>
                <a:spcPts val="1200"/>
              </a:spcBef>
              <a:spcAft>
                <a:spcPts val="1200"/>
              </a:spcAft>
              <a:buNone/>
            </a:pPr>
            <a:endParaRPr lang="ko-KR" altLang="en-US" dirty="0">
              <a:solidFill>
                <a:schemeClr val="tx1"/>
              </a:solidFill>
            </a:endParaRPr>
          </a:p>
        </p:txBody>
      </p:sp>
      <p:sp>
        <p:nvSpPr>
          <p:cNvPr id="99" name="Google Shape;99;p19">
            <a:extLst>
              <a:ext uri="{FF2B5EF4-FFF2-40B4-BE49-F238E27FC236}">
                <a16:creationId xmlns:a16="http://schemas.microsoft.com/office/drawing/2014/main" id="{62261A4B-02A9-370B-F344-52D3CB71D23A}"/>
              </a:ext>
            </a:extLst>
          </p:cNvPr>
          <p:cNvSpPr txBox="1"/>
          <p:nvPr/>
        </p:nvSpPr>
        <p:spPr>
          <a:xfrm>
            <a:off x="66740" y="4766275"/>
            <a:ext cx="4647996" cy="177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tLang="ko" sz="700" b="1" dirty="0">
                <a:solidFill>
                  <a:srgbClr val="999999"/>
                </a:solidFill>
              </a:rPr>
              <a:t>Ouyang et al., “Training Language Models to Follow Instructions with Human Feedback”, </a:t>
            </a:r>
            <a:r>
              <a:rPr lang="en-US" altLang="ko" sz="700" b="1" dirty="0" err="1">
                <a:solidFill>
                  <a:srgbClr val="999999"/>
                </a:solidFill>
              </a:rPr>
              <a:t>NeurIPS</a:t>
            </a:r>
            <a:r>
              <a:rPr lang="en-US" altLang="ko" sz="700" b="1" dirty="0">
                <a:solidFill>
                  <a:srgbClr val="999999"/>
                </a:solidFill>
              </a:rPr>
              <a:t> 2022</a:t>
            </a:r>
            <a:endParaRPr sz="700" b="1" dirty="0">
              <a:solidFill>
                <a:srgbClr val="999999"/>
              </a:solidFill>
            </a:endParaRPr>
          </a:p>
        </p:txBody>
      </p:sp>
      <p:sp>
        <p:nvSpPr>
          <p:cNvPr id="2" name="Google Shape;82;p17">
            <a:extLst>
              <a:ext uri="{FF2B5EF4-FFF2-40B4-BE49-F238E27FC236}">
                <a16:creationId xmlns:a16="http://schemas.microsoft.com/office/drawing/2014/main" id="{C82700D0-8373-415A-F687-99BC3DA0E9EE}"/>
              </a:ext>
            </a:extLst>
          </p:cNvPr>
          <p:cNvSpPr txBox="1">
            <a:spLocks/>
          </p:cNvSpPr>
          <p:nvPr/>
        </p:nvSpPr>
        <p:spPr>
          <a:xfrm>
            <a:off x="311700" y="288275"/>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altLang="ko" b="1" dirty="0">
                <a:solidFill>
                  <a:srgbClr val="004856"/>
                </a:solidFill>
              </a:rPr>
              <a:t>Challenges of Pre-trained LLMs</a:t>
            </a:r>
            <a:endParaRPr lang="en-US" dirty="0"/>
          </a:p>
        </p:txBody>
      </p:sp>
      <p:pic>
        <p:nvPicPr>
          <p:cNvPr id="5" name="Google Shape;56;p13">
            <a:extLst>
              <a:ext uri="{FF2B5EF4-FFF2-40B4-BE49-F238E27FC236}">
                <a16:creationId xmlns:a16="http://schemas.microsoft.com/office/drawing/2014/main" id="{9692FC0A-A677-D77C-7599-6411D0DD48E5}"/>
              </a:ext>
            </a:extLst>
          </p:cNvPr>
          <p:cNvPicPr preferRelativeResize="0"/>
          <p:nvPr/>
        </p:nvPicPr>
        <p:blipFill>
          <a:blip r:embed="rId3"/>
          <a:srcRect/>
          <a:stretch/>
        </p:blipFill>
        <p:spPr>
          <a:xfrm>
            <a:off x="7829550" y="4662460"/>
            <a:ext cx="1314450" cy="438150"/>
          </a:xfrm>
          <a:prstGeom prst="rect">
            <a:avLst/>
          </a:prstGeom>
          <a:noFill/>
          <a:ln>
            <a:noFill/>
          </a:ln>
        </p:spPr>
      </p:pic>
      <p:pic>
        <p:nvPicPr>
          <p:cNvPr id="3" name="그림 2">
            <a:extLst>
              <a:ext uri="{FF2B5EF4-FFF2-40B4-BE49-F238E27FC236}">
                <a16:creationId xmlns:a16="http://schemas.microsoft.com/office/drawing/2014/main" id="{1C005792-F609-0ECE-4376-026536EC9B6E}"/>
              </a:ext>
            </a:extLst>
          </p:cNvPr>
          <p:cNvPicPr>
            <a:picLocks noChangeAspect="1"/>
          </p:cNvPicPr>
          <p:nvPr/>
        </p:nvPicPr>
        <p:blipFill>
          <a:blip r:embed="rId4"/>
          <a:stretch>
            <a:fillRect/>
          </a:stretch>
        </p:blipFill>
        <p:spPr>
          <a:xfrm>
            <a:off x="2187311" y="2014171"/>
            <a:ext cx="4769378" cy="2139467"/>
          </a:xfrm>
          <a:prstGeom prst="rect">
            <a:avLst/>
          </a:prstGeom>
        </p:spPr>
      </p:pic>
      <p:sp>
        <p:nvSpPr>
          <p:cNvPr id="4" name="Google Shape;99;p19">
            <a:extLst>
              <a:ext uri="{FF2B5EF4-FFF2-40B4-BE49-F238E27FC236}">
                <a16:creationId xmlns:a16="http://schemas.microsoft.com/office/drawing/2014/main" id="{57D8D57B-5C1E-410E-8F60-D3FC193A2186}"/>
              </a:ext>
            </a:extLst>
          </p:cNvPr>
          <p:cNvSpPr txBox="1"/>
          <p:nvPr/>
        </p:nvSpPr>
        <p:spPr>
          <a:xfrm>
            <a:off x="66740" y="4922710"/>
            <a:ext cx="4647996" cy="177900"/>
          </a:xfrm>
          <a:prstGeom prst="rect">
            <a:avLst/>
          </a:prstGeom>
          <a:noFill/>
          <a:ln>
            <a:noFill/>
          </a:ln>
        </p:spPr>
        <p:txBody>
          <a:bodyPr spcFirstLastPara="1" wrap="square" lIns="91425" tIns="91425" rIns="91425" bIns="91425" anchor="t" anchorCtr="0">
            <a:noAutofit/>
          </a:bodyPr>
          <a:lstStyle/>
          <a:p>
            <a:pPr lvl="0"/>
            <a:r>
              <a:rPr lang="en-US" altLang="ko" sz="700" b="1" dirty="0">
                <a:solidFill>
                  <a:srgbClr val="999999"/>
                </a:solidFill>
                <a:hlinkClick r:id="rId5"/>
              </a:rPr>
              <a:t>https://openai.com/index/instruction-following/</a:t>
            </a:r>
            <a:endParaRPr sz="700" b="1" dirty="0">
              <a:solidFill>
                <a:srgbClr val="999999"/>
              </a:solidFill>
            </a:endParaRPr>
          </a:p>
        </p:txBody>
      </p:sp>
      <p:pic>
        <p:nvPicPr>
          <p:cNvPr id="6" name="그림 8" descr="폰트, 그래픽, 텍스트, 스크린샷이(가) 표시된 사진&#10;&#10;자동 생성된 설명">
            <a:extLst>
              <a:ext uri="{FF2B5EF4-FFF2-40B4-BE49-F238E27FC236}">
                <a16:creationId xmlns:a16="http://schemas.microsoft.com/office/drawing/2014/main" id="{EF1BA8F1-2937-4104-37DA-AFF335DFC59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extLst>
      <p:ext uri="{BB962C8B-B14F-4D97-AF65-F5344CB8AC3E}">
        <p14:creationId xmlns:p14="http://schemas.microsoft.com/office/powerpoint/2010/main" val="24330832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8D01E4E4-09A9-3A0E-09E7-640E94EA04D4}"/>
            </a:ext>
          </a:extLst>
        </p:cNvPr>
        <p:cNvGrpSpPr/>
        <p:nvPr/>
      </p:nvGrpSpPr>
      <p:grpSpPr>
        <a:xfrm>
          <a:off x="0" y="0"/>
          <a:ext cx="0" cy="0"/>
          <a:chOff x="0" y="0"/>
          <a:chExt cx="0" cy="0"/>
        </a:xfrm>
      </p:grpSpPr>
      <p:sp>
        <p:nvSpPr>
          <p:cNvPr id="2" name="Google Shape;82;p17">
            <a:extLst>
              <a:ext uri="{FF2B5EF4-FFF2-40B4-BE49-F238E27FC236}">
                <a16:creationId xmlns:a16="http://schemas.microsoft.com/office/drawing/2014/main" id="{37707BD4-4689-5610-942F-55E9464C8FDB}"/>
              </a:ext>
            </a:extLst>
          </p:cNvPr>
          <p:cNvSpPr txBox="1">
            <a:spLocks/>
          </p:cNvSpPr>
          <p:nvPr/>
        </p:nvSpPr>
        <p:spPr>
          <a:xfrm>
            <a:off x="311700" y="288275"/>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altLang="ko" b="1" dirty="0">
                <a:solidFill>
                  <a:srgbClr val="004856"/>
                </a:solidFill>
              </a:rPr>
              <a:t>Challenges of Pre-trained LLMs</a:t>
            </a:r>
            <a:endParaRPr lang="en-US" dirty="0"/>
          </a:p>
        </p:txBody>
      </p:sp>
      <p:pic>
        <p:nvPicPr>
          <p:cNvPr id="5" name="Google Shape;56;p13">
            <a:extLst>
              <a:ext uri="{FF2B5EF4-FFF2-40B4-BE49-F238E27FC236}">
                <a16:creationId xmlns:a16="http://schemas.microsoft.com/office/drawing/2014/main" id="{BDE855C9-37FA-8816-28A0-59E6B6E05021}"/>
              </a:ext>
            </a:extLst>
          </p:cNvPr>
          <p:cNvPicPr preferRelativeResize="0"/>
          <p:nvPr/>
        </p:nvPicPr>
        <p:blipFill>
          <a:blip r:embed="rId3"/>
          <a:srcRect/>
          <a:stretch/>
        </p:blipFill>
        <p:spPr>
          <a:xfrm>
            <a:off x="7829550" y="4662460"/>
            <a:ext cx="1314450" cy="438150"/>
          </a:xfrm>
          <a:prstGeom prst="rect">
            <a:avLst/>
          </a:prstGeom>
          <a:noFill/>
          <a:ln>
            <a:noFill/>
          </a:ln>
        </p:spPr>
      </p:pic>
      <p:sp>
        <p:nvSpPr>
          <p:cNvPr id="4" name="Google Shape;99;p19">
            <a:extLst>
              <a:ext uri="{FF2B5EF4-FFF2-40B4-BE49-F238E27FC236}">
                <a16:creationId xmlns:a16="http://schemas.microsoft.com/office/drawing/2014/main" id="{C6A420E6-D8F2-51C0-13B2-702197094419}"/>
              </a:ext>
            </a:extLst>
          </p:cNvPr>
          <p:cNvSpPr txBox="1"/>
          <p:nvPr/>
        </p:nvSpPr>
        <p:spPr>
          <a:xfrm>
            <a:off x="66740" y="4922710"/>
            <a:ext cx="4647996" cy="177900"/>
          </a:xfrm>
          <a:prstGeom prst="rect">
            <a:avLst/>
          </a:prstGeom>
          <a:noFill/>
          <a:ln>
            <a:noFill/>
          </a:ln>
        </p:spPr>
        <p:txBody>
          <a:bodyPr spcFirstLastPara="1" wrap="square" lIns="91425" tIns="91425" rIns="91425" bIns="91425" anchor="t" anchorCtr="0">
            <a:noAutofit/>
          </a:bodyPr>
          <a:lstStyle/>
          <a:p>
            <a:pPr lvl="0"/>
            <a:r>
              <a:rPr lang="en-US" altLang="ko" sz="700" b="1" dirty="0">
                <a:solidFill>
                  <a:srgbClr val="999999"/>
                </a:solidFill>
                <a:hlinkClick r:id="rId4"/>
              </a:rPr>
              <a:t>https://openai.com/index/instruction-following/</a:t>
            </a:r>
            <a:endParaRPr sz="700" b="1" dirty="0">
              <a:solidFill>
                <a:srgbClr val="999999"/>
              </a:solidFill>
            </a:endParaRPr>
          </a:p>
        </p:txBody>
      </p:sp>
      <p:pic>
        <p:nvPicPr>
          <p:cNvPr id="6" name="Picture 5">
            <a:extLst>
              <a:ext uri="{FF2B5EF4-FFF2-40B4-BE49-F238E27FC236}">
                <a16:creationId xmlns:a16="http://schemas.microsoft.com/office/drawing/2014/main" id="{A497D805-AF01-1B65-7354-C37EDF09B2D9}"/>
              </a:ext>
            </a:extLst>
          </p:cNvPr>
          <p:cNvPicPr>
            <a:picLocks noChangeAspect="1"/>
          </p:cNvPicPr>
          <p:nvPr/>
        </p:nvPicPr>
        <p:blipFill>
          <a:blip r:embed="rId5"/>
          <a:stretch>
            <a:fillRect/>
          </a:stretch>
        </p:blipFill>
        <p:spPr>
          <a:xfrm>
            <a:off x="2149201" y="880377"/>
            <a:ext cx="4845598" cy="4022930"/>
          </a:xfrm>
          <a:prstGeom prst="rect">
            <a:avLst/>
          </a:prstGeom>
        </p:spPr>
      </p:pic>
      <p:pic>
        <p:nvPicPr>
          <p:cNvPr id="3" name="그림 8" descr="폰트, 그래픽, 텍스트, 스크린샷이(가) 표시된 사진&#10;&#10;자동 생성된 설명">
            <a:extLst>
              <a:ext uri="{FF2B5EF4-FFF2-40B4-BE49-F238E27FC236}">
                <a16:creationId xmlns:a16="http://schemas.microsoft.com/office/drawing/2014/main" id="{F22528B6-14F0-FECE-580A-E8F1892C6BF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extLst>
      <p:ext uri="{BB962C8B-B14F-4D97-AF65-F5344CB8AC3E}">
        <p14:creationId xmlns:p14="http://schemas.microsoft.com/office/powerpoint/2010/main" val="15852091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A99209CE-CB6F-B737-6203-52541BD09BEA}"/>
            </a:ext>
          </a:extLst>
        </p:cNvPr>
        <p:cNvGrpSpPr/>
        <p:nvPr/>
      </p:nvGrpSpPr>
      <p:grpSpPr>
        <a:xfrm>
          <a:off x="0" y="0"/>
          <a:ext cx="0" cy="0"/>
          <a:chOff x="0" y="0"/>
          <a:chExt cx="0" cy="0"/>
        </a:xfrm>
      </p:grpSpPr>
      <p:sp>
        <p:nvSpPr>
          <p:cNvPr id="97" name="Google Shape;97;p19">
            <a:extLst>
              <a:ext uri="{FF2B5EF4-FFF2-40B4-BE49-F238E27FC236}">
                <a16:creationId xmlns:a16="http://schemas.microsoft.com/office/drawing/2014/main" id="{78639826-B089-5732-E0B8-DB900A6601D1}"/>
              </a:ext>
            </a:extLst>
          </p:cNvPr>
          <p:cNvSpPr txBox="1">
            <a:spLocks noGrp="1"/>
          </p:cNvSpPr>
          <p:nvPr>
            <p:ph type="body" idx="1"/>
          </p:nvPr>
        </p:nvSpPr>
        <p:spPr>
          <a:xfrm>
            <a:off x="311700" y="989862"/>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US" altLang="ko" b="1" dirty="0">
                <a:solidFill>
                  <a:schemeClr val="tx1"/>
                </a:solidFill>
              </a:rPr>
              <a:t>Previous: Learning mapping from input to output without instruction</a:t>
            </a:r>
          </a:p>
        </p:txBody>
      </p:sp>
      <p:sp>
        <p:nvSpPr>
          <p:cNvPr id="2" name="Google Shape;82;p17">
            <a:extLst>
              <a:ext uri="{FF2B5EF4-FFF2-40B4-BE49-F238E27FC236}">
                <a16:creationId xmlns:a16="http://schemas.microsoft.com/office/drawing/2014/main" id="{59CA04AC-EE4D-0561-4E56-1E0EA838B7E3}"/>
              </a:ext>
            </a:extLst>
          </p:cNvPr>
          <p:cNvSpPr txBox="1">
            <a:spLocks/>
          </p:cNvSpPr>
          <p:nvPr/>
        </p:nvSpPr>
        <p:spPr>
          <a:xfrm>
            <a:off x="311700" y="288275"/>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altLang="ko" b="1" dirty="0">
                <a:solidFill>
                  <a:srgbClr val="004856"/>
                </a:solidFill>
              </a:rPr>
              <a:t>Instruction Tuning</a:t>
            </a:r>
            <a:endParaRPr lang="en-US" dirty="0"/>
          </a:p>
        </p:txBody>
      </p:sp>
      <p:pic>
        <p:nvPicPr>
          <p:cNvPr id="5" name="Google Shape;56;p13">
            <a:extLst>
              <a:ext uri="{FF2B5EF4-FFF2-40B4-BE49-F238E27FC236}">
                <a16:creationId xmlns:a16="http://schemas.microsoft.com/office/drawing/2014/main" id="{8C7117D5-9AFE-5230-1B00-BF534ECF8876}"/>
              </a:ext>
            </a:extLst>
          </p:cNvPr>
          <p:cNvPicPr preferRelativeResize="0"/>
          <p:nvPr/>
        </p:nvPicPr>
        <p:blipFill>
          <a:blip r:embed="rId3"/>
          <a:srcRect/>
          <a:stretch/>
        </p:blipFill>
        <p:spPr>
          <a:xfrm>
            <a:off x="7829550" y="4662460"/>
            <a:ext cx="1314450" cy="438150"/>
          </a:xfrm>
          <a:prstGeom prst="rect">
            <a:avLst/>
          </a:prstGeom>
          <a:noFill/>
          <a:ln>
            <a:noFill/>
          </a:ln>
        </p:spPr>
      </p:pic>
      <p:pic>
        <p:nvPicPr>
          <p:cNvPr id="3" name="그림 8" descr="폰트, 그래픽, 텍스트, 스크린샷이(가) 표시된 사진&#10;&#10;자동 생성된 설명">
            <a:extLst>
              <a:ext uri="{FF2B5EF4-FFF2-40B4-BE49-F238E27FC236}">
                <a16:creationId xmlns:a16="http://schemas.microsoft.com/office/drawing/2014/main" id="{EE1EAD48-5A6D-9C98-FB07-6D3F592D1B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extLst>
      <p:ext uri="{BB962C8B-B14F-4D97-AF65-F5344CB8AC3E}">
        <p14:creationId xmlns:p14="http://schemas.microsoft.com/office/powerpoint/2010/main" val="31425405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3F6B1D68-ADCE-1314-8CBD-4653E55F426F}"/>
            </a:ext>
          </a:extLst>
        </p:cNvPr>
        <p:cNvGrpSpPr/>
        <p:nvPr/>
      </p:nvGrpSpPr>
      <p:grpSpPr>
        <a:xfrm>
          <a:off x="0" y="0"/>
          <a:ext cx="0" cy="0"/>
          <a:chOff x="0" y="0"/>
          <a:chExt cx="0" cy="0"/>
        </a:xfrm>
      </p:grpSpPr>
      <p:sp>
        <p:nvSpPr>
          <p:cNvPr id="97" name="Google Shape;97;p19">
            <a:extLst>
              <a:ext uri="{FF2B5EF4-FFF2-40B4-BE49-F238E27FC236}">
                <a16:creationId xmlns:a16="http://schemas.microsoft.com/office/drawing/2014/main" id="{1F9EFFB6-2BBF-0FC7-0773-DED874BD9C2B}"/>
              </a:ext>
            </a:extLst>
          </p:cNvPr>
          <p:cNvSpPr txBox="1">
            <a:spLocks noGrp="1"/>
          </p:cNvSpPr>
          <p:nvPr>
            <p:ph type="body" idx="1"/>
          </p:nvPr>
        </p:nvSpPr>
        <p:spPr>
          <a:xfrm>
            <a:off x="311700" y="989862"/>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US" altLang="ko" b="1" dirty="0">
                <a:solidFill>
                  <a:schemeClr val="tx2">
                    <a:lumMod val="75000"/>
                  </a:schemeClr>
                </a:solidFill>
              </a:rPr>
              <a:t>Previous: Learning mapping from input to output without instruction</a:t>
            </a:r>
          </a:p>
          <a:p>
            <a:pPr lvl="0"/>
            <a:r>
              <a:rPr lang="en-US" b="1" dirty="0">
                <a:solidFill>
                  <a:schemeClr val="tx1"/>
                </a:solidFill>
              </a:rPr>
              <a:t>Now: </a:t>
            </a:r>
            <a:r>
              <a:rPr lang="en-US" altLang="ko-KR" b="1" dirty="0">
                <a:solidFill>
                  <a:schemeClr val="tx1"/>
                </a:solidFill>
              </a:rPr>
              <a:t>Training LMs to follow instructions that describe the tasks asked for LMs to complete</a:t>
            </a:r>
            <a:endParaRPr b="1" dirty="0">
              <a:solidFill>
                <a:schemeClr val="tx1"/>
              </a:solidFill>
            </a:endParaRPr>
          </a:p>
        </p:txBody>
      </p:sp>
      <p:sp>
        <p:nvSpPr>
          <p:cNvPr id="2" name="Google Shape;82;p17">
            <a:extLst>
              <a:ext uri="{FF2B5EF4-FFF2-40B4-BE49-F238E27FC236}">
                <a16:creationId xmlns:a16="http://schemas.microsoft.com/office/drawing/2014/main" id="{C1F3DEE1-12BF-47E2-D0B3-6D68F49FF8FB}"/>
              </a:ext>
            </a:extLst>
          </p:cNvPr>
          <p:cNvSpPr txBox="1">
            <a:spLocks/>
          </p:cNvSpPr>
          <p:nvPr/>
        </p:nvSpPr>
        <p:spPr>
          <a:xfrm>
            <a:off x="311700" y="288275"/>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altLang="ko" b="1" dirty="0">
                <a:solidFill>
                  <a:srgbClr val="004856"/>
                </a:solidFill>
              </a:rPr>
              <a:t>Instruction Tuning</a:t>
            </a:r>
            <a:endParaRPr lang="en-US" dirty="0"/>
          </a:p>
        </p:txBody>
      </p:sp>
      <p:pic>
        <p:nvPicPr>
          <p:cNvPr id="5" name="Google Shape;56;p13">
            <a:extLst>
              <a:ext uri="{FF2B5EF4-FFF2-40B4-BE49-F238E27FC236}">
                <a16:creationId xmlns:a16="http://schemas.microsoft.com/office/drawing/2014/main" id="{06F0EF45-7220-E26B-9C40-D2FF39BF8D8E}"/>
              </a:ext>
            </a:extLst>
          </p:cNvPr>
          <p:cNvPicPr preferRelativeResize="0"/>
          <p:nvPr/>
        </p:nvPicPr>
        <p:blipFill>
          <a:blip r:embed="rId3"/>
          <a:srcRect/>
          <a:stretch/>
        </p:blipFill>
        <p:spPr>
          <a:xfrm>
            <a:off x="7829550" y="4662460"/>
            <a:ext cx="1314450" cy="438150"/>
          </a:xfrm>
          <a:prstGeom prst="rect">
            <a:avLst/>
          </a:prstGeom>
          <a:noFill/>
          <a:ln>
            <a:noFill/>
          </a:ln>
        </p:spPr>
      </p:pic>
      <p:sp>
        <p:nvSpPr>
          <p:cNvPr id="6" name="Google Shape;123;p22">
            <a:extLst>
              <a:ext uri="{FF2B5EF4-FFF2-40B4-BE49-F238E27FC236}">
                <a16:creationId xmlns:a16="http://schemas.microsoft.com/office/drawing/2014/main" id="{8B6542CC-58C6-1C0F-E23E-23DD4A8B229F}"/>
              </a:ext>
            </a:extLst>
          </p:cNvPr>
          <p:cNvSpPr txBox="1"/>
          <p:nvPr/>
        </p:nvSpPr>
        <p:spPr>
          <a:xfrm>
            <a:off x="71200" y="4882475"/>
            <a:ext cx="5406900" cy="177900"/>
          </a:xfrm>
          <a:prstGeom prst="rect">
            <a:avLst/>
          </a:prstGeom>
          <a:noFill/>
          <a:ln>
            <a:noFill/>
          </a:ln>
        </p:spPr>
        <p:txBody>
          <a:bodyPr spcFirstLastPara="1" wrap="square" lIns="91425" tIns="91425" rIns="91425" bIns="91425" anchor="t" anchorCtr="0">
            <a:noAutofit/>
          </a:bodyPr>
          <a:lstStyle/>
          <a:p>
            <a:pPr lvl="0"/>
            <a:r>
              <a:rPr lang="en-US" altLang="ko" sz="700" b="1" dirty="0">
                <a:solidFill>
                  <a:srgbClr val="999999"/>
                </a:solidFill>
              </a:rPr>
              <a:t>Wei et al., “Finetuned Language Models are Zero-shot Learners”, ICLR 2022</a:t>
            </a:r>
            <a:endParaRPr lang="en-US" altLang="ko-KR" sz="700" b="1" dirty="0">
              <a:solidFill>
                <a:srgbClr val="999999"/>
              </a:solidFill>
            </a:endParaRPr>
          </a:p>
        </p:txBody>
      </p:sp>
      <p:pic>
        <p:nvPicPr>
          <p:cNvPr id="7" name="그림 6">
            <a:extLst>
              <a:ext uri="{FF2B5EF4-FFF2-40B4-BE49-F238E27FC236}">
                <a16:creationId xmlns:a16="http://schemas.microsoft.com/office/drawing/2014/main" id="{2B0DE699-B2B6-07B9-7494-BD36F1416669}"/>
              </a:ext>
            </a:extLst>
          </p:cNvPr>
          <p:cNvPicPr>
            <a:picLocks noChangeAspect="1"/>
          </p:cNvPicPr>
          <p:nvPr/>
        </p:nvPicPr>
        <p:blipFill>
          <a:blip r:embed="rId4"/>
          <a:stretch>
            <a:fillRect/>
          </a:stretch>
        </p:blipFill>
        <p:spPr>
          <a:xfrm>
            <a:off x="1403350" y="2272662"/>
            <a:ext cx="6337300" cy="2133600"/>
          </a:xfrm>
          <a:prstGeom prst="rect">
            <a:avLst/>
          </a:prstGeom>
        </p:spPr>
      </p:pic>
      <p:pic>
        <p:nvPicPr>
          <p:cNvPr id="3" name="그림 8" descr="폰트, 그래픽, 텍스트, 스크린샷이(가) 표시된 사진&#10;&#10;자동 생성된 설명">
            <a:extLst>
              <a:ext uri="{FF2B5EF4-FFF2-40B4-BE49-F238E27FC236}">
                <a16:creationId xmlns:a16="http://schemas.microsoft.com/office/drawing/2014/main" id="{CD452C0D-3F8B-DFA7-BC69-8488E0517FB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extLst>
      <p:ext uri="{BB962C8B-B14F-4D97-AF65-F5344CB8AC3E}">
        <p14:creationId xmlns:p14="http://schemas.microsoft.com/office/powerpoint/2010/main" val="28382330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A80AF752-4ED6-FDCF-202E-E5DDE64806FD}"/>
            </a:ext>
          </a:extLst>
        </p:cNvPr>
        <p:cNvGrpSpPr/>
        <p:nvPr/>
      </p:nvGrpSpPr>
      <p:grpSpPr>
        <a:xfrm>
          <a:off x="0" y="0"/>
          <a:ext cx="0" cy="0"/>
          <a:chOff x="0" y="0"/>
          <a:chExt cx="0" cy="0"/>
        </a:xfrm>
      </p:grpSpPr>
      <p:sp>
        <p:nvSpPr>
          <p:cNvPr id="97" name="Google Shape;97;p19">
            <a:extLst>
              <a:ext uri="{FF2B5EF4-FFF2-40B4-BE49-F238E27FC236}">
                <a16:creationId xmlns:a16="http://schemas.microsoft.com/office/drawing/2014/main" id="{6B67796D-EF74-8F53-3926-86F70CA1276B}"/>
              </a:ext>
            </a:extLst>
          </p:cNvPr>
          <p:cNvSpPr txBox="1">
            <a:spLocks noGrp="1"/>
          </p:cNvSpPr>
          <p:nvPr>
            <p:ph type="body" idx="1"/>
          </p:nvPr>
        </p:nvSpPr>
        <p:spPr>
          <a:xfrm>
            <a:off x="311700" y="989862"/>
            <a:ext cx="8520600" cy="3416400"/>
          </a:xfrm>
          <a:prstGeom prst="rect">
            <a:avLst/>
          </a:prstGeom>
        </p:spPr>
        <p:txBody>
          <a:bodyPr spcFirstLastPara="1" wrap="square" lIns="91425" tIns="91425" rIns="91425" bIns="91425" anchor="t" anchorCtr="0">
            <a:normAutofit/>
          </a:bodyPr>
          <a:lstStyle/>
          <a:p>
            <a:pPr lvl="0"/>
            <a:r>
              <a:rPr lang="en-US" b="1" dirty="0">
                <a:solidFill>
                  <a:schemeClr val="tx1"/>
                </a:solidFill>
              </a:rPr>
              <a:t>Instruction following capabilities are generalized to unseen tasks</a:t>
            </a:r>
          </a:p>
        </p:txBody>
      </p:sp>
      <p:sp>
        <p:nvSpPr>
          <p:cNvPr id="2" name="Google Shape;82;p17">
            <a:extLst>
              <a:ext uri="{FF2B5EF4-FFF2-40B4-BE49-F238E27FC236}">
                <a16:creationId xmlns:a16="http://schemas.microsoft.com/office/drawing/2014/main" id="{CB284665-26DC-7E2D-BF04-577C23B09DE7}"/>
              </a:ext>
            </a:extLst>
          </p:cNvPr>
          <p:cNvSpPr txBox="1">
            <a:spLocks/>
          </p:cNvSpPr>
          <p:nvPr/>
        </p:nvSpPr>
        <p:spPr>
          <a:xfrm>
            <a:off x="311700" y="288275"/>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altLang="ko" b="1" dirty="0">
                <a:solidFill>
                  <a:srgbClr val="004856"/>
                </a:solidFill>
              </a:rPr>
              <a:t>Instruction Tuning</a:t>
            </a:r>
            <a:endParaRPr lang="en-US" dirty="0"/>
          </a:p>
        </p:txBody>
      </p:sp>
      <p:pic>
        <p:nvPicPr>
          <p:cNvPr id="5" name="Google Shape;56;p13">
            <a:extLst>
              <a:ext uri="{FF2B5EF4-FFF2-40B4-BE49-F238E27FC236}">
                <a16:creationId xmlns:a16="http://schemas.microsoft.com/office/drawing/2014/main" id="{B8B18577-4F89-F2F5-6FA4-9781AB688E01}"/>
              </a:ext>
            </a:extLst>
          </p:cNvPr>
          <p:cNvPicPr preferRelativeResize="0"/>
          <p:nvPr/>
        </p:nvPicPr>
        <p:blipFill>
          <a:blip r:embed="rId3"/>
          <a:srcRect/>
          <a:stretch/>
        </p:blipFill>
        <p:spPr>
          <a:xfrm>
            <a:off x="7829550" y="4662460"/>
            <a:ext cx="1314450" cy="438150"/>
          </a:xfrm>
          <a:prstGeom prst="rect">
            <a:avLst/>
          </a:prstGeom>
          <a:noFill/>
          <a:ln>
            <a:noFill/>
          </a:ln>
        </p:spPr>
      </p:pic>
      <p:sp>
        <p:nvSpPr>
          <p:cNvPr id="6" name="Google Shape;123;p22">
            <a:extLst>
              <a:ext uri="{FF2B5EF4-FFF2-40B4-BE49-F238E27FC236}">
                <a16:creationId xmlns:a16="http://schemas.microsoft.com/office/drawing/2014/main" id="{2D83C256-9ED6-B0B8-6215-8F9F02DB749A}"/>
              </a:ext>
            </a:extLst>
          </p:cNvPr>
          <p:cNvSpPr txBox="1"/>
          <p:nvPr/>
        </p:nvSpPr>
        <p:spPr>
          <a:xfrm>
            <a:off x="71200" y="4882475"/>
            <a:ext cx="5406900" cy="177900"/>
          </a:xfrm>
          <a:prstGeom prst="rect">
            <a:avLst/>
          </a:prstGeom>
          <a:noFill/>
          <a:ln>
            <a:noFill/>
          </a:ln>
        </p:spPr>
        <p:txBody>
          <a:bodyPr spcFirstLastPara="1" wrap="square" lIns="91425" tIns="91425" rIns="91425" bIns="91425" anchor="t" anchorCtr="0">
            <a:noAutofit/>
          </a:bodyPr>
          <a:lstStyle/>
          <a:p>
            <a:pPr lvl="0"/>
            <a:r>
              <a:rPr lang="en-US" altLang="ko" sz="700" b="1" dirty="0">
                <a:solidFill>
                  <a:srgbClr val="999999"/>
                </a:solidFill>
              </a:rPr>
              <a:t>Wang et al., “Super-</a:t>
            </a:r>
            <a:r>
              <a:rPr lang="en-US" altLang="ko" sz="700" b="1" dirty="0" err="1">
                <a:solidFill>
                  <a:srgbClr val="999999"/>
                </a:solidFill>
              </a:rPr>
              <a:t>NaturalInstructions</a:t>
            </a:r>
            <a:r>
              <a:rPr lang="en-US" altLang="ko" sz="700" b="1" dirty="0">
                <a:solidFill>
                  <a:srgbClr val="999999"/>
                </a:solidFill>
              </a:rPr>
              <a:t>: Generalization via Declarative Instructions on 1600+ NLP Tasks”, EMNLP 2022</a:t>
            </a:r>
            <a:endParaRPr lang="en-US" altLang="ko-KR" sz="700" b="1" dirty="0">
              <a:solidFill>
                <a:srgbClr val="999999"/>
              </a:solidFill>
            </a:endParaRPr>
          </a:p>
        </p:txBody>
      </p:sp>
      <p:pic>
        <p:nvPicPr>
          <p:cNvPr id="3" name="그림 2">
            <a:extLst>
              <a:ext uri="{FF2B5EF4-FFF2-40B4-BE49-F238E27FC236}">
                <a16:creationId xmlns:a16="http://schemas.microsoft.com/office/drawing/2014/main" id="{7939A4EC-1AB8-5498-F414-ACB46FD852EA}"/>
              </a:ext>
            </a:extLst>
          </p:cNvPr>
          <p:cNvPicPr>
            <a:picLocks noChangeAspect="1"/>
          </p:cNvPicPr>
          <p:nvPr/>
        </p:nvPicPr>
        <p:blipFill>
          <a:blip r:embed="rId4"/>
          <a:stretch>
            <a:fillRect/>
          </a:stretch>
        </p:blipFill>
        <p:spPr>
          <a:xfrm>
            <a:off x="2058818" y="1534408"/>
            <a:ext cx="5026363" cy="2960642"/>
          </a:xfrm>
          <a:prstGeom prst="rect">
            <a:avLst/>
          </a:prstGeom>
        </p:spPr>
      </p:pic>
      <p:pic>
        <p:nvPicPr>
          <p:cNvPr id="4" name="그림 8" descr="폰트, 그래픽, 텍스트, 스크린샷이(가) 표시된 사진&#10;&#10;자동 생성된 설명">
            <a:extLst>
              <a:ext uri="{FF2B5EF4-FFF2-40B4-BE49-F238E27FC236}">
                <a16:creationId xmlns:a16="http://schemas.microsoft.com/office/drawing/2014/main" id="{AA3265BB-D242-2AB0-0F26-2409B9C6370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extLst>
      <p:ext uri="{BB962C8B-B14F-4D97-AF65-F5344CB8AC3E}">
        <p14:creationId xmlns:p14="http://schemas.microsoft.com/office/powerpoint/2010/main" val="22299818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51AE013D-9D5D-4428-A199-F33CFE5A34AF}"/>
            </a:ext>
          </a:extLst>
        </p:cNvPr>
        <p:cNvGrpSpPr/>
        <p:nvPr/>
      </p:nvGrpSpPr>
      <p:grpSpPr>
        <a:xfrm>
          <a:off x="0" y="0"/>
          <a:ext cx="0" cy="0"/>
          <a:chOff x="0" y="0"/>
          <a:chExt cx="0" cy="0"/>
        </a:xfrm>
      </p:grpSpPr>
      <p:sp>
        <p:nvSpPr>
          <p:cNvPr id="5" name="Google Shape;97;p19">
            <a:extLst>
              <a:ext uri="{FF2B5EF4-FFF2-40B4-BE49-F238E27FC236}">
                <a16:creationId xmlns:a16="http://schemas.microsoft.com/office/drawing/2014/main" id="{7567A6FB-680D-92D2-28B9-38C14CAEED68}"/>
              </a:ext>
            </a:extLst>
          </p:cNvPr>
          <p:cNvSpPr txBox="1">
            <a:spLocks/>
          </p:cNvSpPr>
          <p:nvPr/>
        </p:nvSpPr>
        <p:spPr>
          <a:xfrm>
            <a:off x="311700" y="989862"/>
            <a:ext cx="8520600" cy="34164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lvl="0"/>
            <a:r>
              <a:rPr lang="en" altLang="ko-KR" b="1" dirty="0">
                <a:solidFill>
                  <a:schemeClr val="tx1"/>
                </a:solidFill>
              </a:rPr>
              <a:t>Task: Add instruction and also see the zero-shot performance!</a:t>
            </a:r>
          </a:p>
        </p:txBody>
      </p:sp>
      <p:sp>
        <p:nvSpPr>
          <p:cNvPr id="4" name="Google Shape;82;p17">
            <a:extLst>
              <a:ext uri="{FF2B5EF4-FFF2-40B4-BE49-F238E27FC236}">
                <a16:creationId xmlns:a16="http://schemas.microsoft.com/office/drawing/2014/main" id="{CECF9515-C0E9-4D20-0F67-2C0C954C11F2}"/>
              </a:ext>
            </a:extLst>
          </p:cNvPr>
          <p:cNvSpPr txBox="1">
            <a:spLocks/>
          </p:cNvSpPr>
          <p:nvPr/>
        </p:nvSpPr>
        <p:spPr>
          <a:xfrm>
            <a:off x="311700" y="288275"/>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b="1" dirty="0">
                <a:solidFill>
                  <a:srgbClr val="004856"/>
                </a:solidFill>
              </a:rPr>
              <a:t>Task 1-2: Instruction following LMs </a:t>
            </a:r>
            <a:endParaRPr lang="en-US" dirty="0"/>
          </a:p>
        </p:txBody>
      </p:sp>
      <p:pic>
        <p:nvPicPr>
          <p:cNvPr id="6" name="Google Shape;56;p13">
            <a:extLst>
              <a:ext uri="{FF2B5EF4-FFF2-40B4-BE49-F238E27FC236}">
                <a16:creationId xmlns:a16="http://schemas.microsoft.com/office/drawing/2014/main" id="{34938D1D-080E-660C-D042-4720A0BADB57}"/>
              </a:ext>
            </a:extLst>
          </p:cNvPr>
          <p:cNvPicPr preferRelativeResize="0"/>
          <p:nvPr/>
        </p:nvPicPr>
        <p:blipFill>
          <a:blip r:embed="rId3"/>
          <a:srcRect/>
          <a:stretch/>
        </p:blipFill>
        <p:spPr>
          <a:xfrm>
            <a:off x="7829550" y="4662460"/>
            <a:ext cx="1314450" cy="438150"/>
          </a:xfrm>
          <a:prstGeom prst="rect">
            <a:avLst/>
          </a:prstGeom>
          <a:noFill/>
          <a:ln>
            <a:noFill/>
          </a:ln>
        </p:spPr>
      </p:pic>
      <p:sp>
        <p:nvSpPr>
          <p:cNvPr id="2" name="모서리가 둥근 직사각형 1">
            <a:extLst>
              <a:ext uri="{FF2B5EF4-FFF2-40B4-BE49-F238E27FC236}">
                <a16:creationId xmlns:a16="http://schemas.microsoft.com/office/drawing/2014/main" id="{3292682E-11A1-448F-F0A9-BF1F74F4C7F2}"/>
              </a:ext>
            </a:extLst>
          </p:cNvPr>
          <p:cNvSpPr/>
          <p:nvPr/>
        </p:nvSpPr>
        <p:spPr>
          <a:xfrm>
            <a:off x="1730669" y="1561171"/>
            <a:ext cx="5722806" cy="3101289"/>
          </a:xfrm>
          <a:prstGeom prst="roundRect">
            <a:avLst/>
          </a:prstGeom>
          <a:noFill/>
          <a:ln w="5715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ko-KR" b="1" dirty="0">
                <a:solidFill>
                  <a:schemeClr val="tx1"/>
                </a:solidFill>
                <a:highlight>
                  <a:srgbClr val="FFFF00"/>
                </a:highlight>
              </a:rPr>
              <a:t>### Instruction: ~~~</a:t>
            </a:r>
          </a:p>
          <a:p>
            <a:endParaRPr kumimoji="1" lang="en-US" altLang="ko-KR" b="1" dirty="0">
              <a:solidFill>
                <a:schemeClr val="accent1">
                  <a:lumMod val="75000"/>
                </a:schemeClr>
              </a:solidFill>
            </a:endParaRPr>
          </a:p>
          <a:p>
            <a:r>
              <a:rPr kumimoji="1" lang="en-US" altLang="ko-KR" b="1" dirty="0">
                <a:solidFill>
                  <a:schemeClr val="accent1">
                    <a:lumMod val="75000"/>
                  </a:schemeClr>
                </a:solidFill>
              </a:rPr>
              <a:t>[Example 1]</a:t>
            </a:r>
          </a:p>
          <a:p>
            <a:r>
              <a:rPr lang="en" altLang="ko-KR" dirty="0">
                <a:solidFill>
                  <a:schemeClr val="tx1"/>
                </a:solidFill>
              </a:rPr>
              <a:t>Input:</a:t>
            </a:r>
          </a:p>
          <a:p>
            <a:r>
              <a:rPr kumimoji="1" lang="en" altLang="ko-KR" dirty="0">
                <a:solidFill>
                  <a:schemeClr val="tx1"/>
                </a:solidFill>
              </a:rPr>
              <a:t>~~~</a:t>
            </a:r>
          </a:p>
          <a:p>
            <a:r>
              <a:rPr kumimoji="1" lang="en" altLang="ko-KR" dirty="0">
                <a:solidFill>
                  <a:schemeClr val="tx1"/>
                </a:solidFill>
              </a:rPr>
              <a:t>Output:</a:t>
            </a:r>
          </a:p>
          <a:p>
            <a:r>
              <a:rPr kumimoji="1" lang="en" altLang="ko-KR" dirty="0">
                <a:solidFill>
                  <a:schemeClr val="tx1"/>
                </a:solidFill>
              </a:rPr>
              <a:t>~~~</a:t>
            </a:r>
            <a:endParaRPr kumimoji="1" lang="en-US" altLang="ko-KR" dirty="0">
              <a:solidFill>
                <a:schemeClr val="tx1"/>
              </a:solidFill>
            </a:endParaRPr>
          </a:p>
          <a:p>
            <a:r>
              <a:rPr kumimoji="1" lang="en-US" altLang="ko-KR" dirty="0">
                <a:solidFill>
                  <a:schemeClr val="tx1"/>
                </a:solidFill>
              </a:rPr>
              <a:t>…</a:t>
            </a:r>
          </a:p>
          <a:p>
            <a:endParaRPr kumimoji="1" lang="en-US" altLang="ko-KR" dirty="0">
              <a:solidFill>
                <a:schemeClr val="tx1"/>
              </a:solidFill>
            </a:endParaRPr>
          </a:p>
          <a:p>
            <a:r>
              <a:rPr kumimoji="1" lang="en-US" altLang="ko-KR" b="1" dirty="0">
                <a:solidFill>
                  <a:schemeClr val="accent1">
                    <a:lumMod val="75000"/>
                  </a:schemeClr>
                </a:solidFill>
              </a:rPr>
              <a:t>[Example 4]</a:t>
            </a:r>
          </a:p>
          <a:p>
            <a:r>
              <a:rPr lang="en" altLang="ko-KR" dirty="0">
                <a:solidFill>
                  <a:schemeClr val="tx1"/>
                </a:solidFill>
              </a:rPr>
              <a:t>Input:</a:t>
            </a:r>
          </a:p>
          <a:p>
            <a:r>
              <a:rPr kumimoji="1" lang="en" altLang="ko-KR" dirty="0">
                <a:solidFill>
                  <a:schemeClr val="tx1"/>
                </a:solidFill>
              </a:rPr>
              <a:t>~~~</a:t>
            </a:r>
          </a:p>
          <a:p>
            <a:r>
              <a:rPr kumimoji="1" lang="en" altLang="ko-KR" dirty="0">
                <a:solidFill>
                  <a:schemeClr val="tx1"/>
                </a:solidFill>
              </a:rPr>
              <a:t>Output:</a:t>
            </a:r>
          </a:p>
        </p:txBody>
      </p:sp>
      <p:pic>
        <p:nvPicPr>
          <p:cNvPr id="3" name="그림 8" descr="폰트, 그래픽, 텍스트, 스크린샷이(가) 표시된 사진&#10;&#10;자동 생성된 설명">
            <a:extLst>
              <a:ext uri="{FF2B5EF4-FFF2-40B4-BE49-F238E27FC236}">
                <a16:creationId xmlns:a16="http://schemas.microsoft.com/office/drawing/2014/main" id="{7D0A71AC-7C8F-6113-6641-682AB097CB0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extLst>
      <p:ext uri="{BB962C8B-B14F-4D97-AF65-F5344CB8AC3E}">
        <p14:creationId xmlns:p14="http://schemas.microsoft.com/office/powerpoint/2010/main" val="2608258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9F03A931-67AB-78A4-C6EB-C9C5F8C3EC67}"/>
            </a:ext>
          </a:extLst>
        </p:cNvPr>
        <p:cNvGrpSpPr/>
        <p:nvPr/>
      </p:nvGrpSpPr>
      <p:grpSpPr>
        <a:xfrm>
          <a:off x="0" y="0"/>
          <a:ext cx="0" cy="0"/>
          <a:chOff x="0" y="0"/>
          <a:chExt cx="0" cy="0"/>
        </a:xfrm>
      </p:grpSpPr>
      <p:sp>
        <p:nvSpPr>
          <p:cNvPr id="5" name="Google Shape;97;p19">
            <a:extLst>
              <a:ext uri="{FF2B5EF4-FFF2-40B4-BE49-F238E27FC236}">
                <a16:creationId xmlns:a16="http://schemas.microsoft.com/office/drawing/2014/main" id="{8DD6B0D9-0B8F-89BE-F190-3850C074BB52}"/>
              </a:ext>
            </a:extLst>
          </p:cNvPr>
          <p:cNvSpPr txBox="1">
            <a:spLocks/>
          </p:cNvSpPr>
          <p:nvPr/>
        </p:nvSpPr>
        <p:spPr>
          <a:xfrm>
            <a:off x="311700" y="989862"/>
            <a:ext cx="8520600" cy="34164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lvl="0"/>
            <a:r>
              <a:rPr lang="en" altLang="ko-KR" b="1" dirty="0">
                <a:solidFill>
                  <a:schemeClr val="tx1"/>
                </a:solidFill>
              </a:rPr>
              <a:t>Task: Add instruction and also see the zero-shot performance!</a:t>
            </a:r>
          </a:p>
        </p:txBody>
      </p:sp>
      <p:sp>
        <p:nvSpPr>
          <p:cNvPr id="4" name="Google Shape;82;p17">
            <a:extLst>
              <a:ext uri="{FF2B5EF4-FFF2-40B4-BE49-F238E27FC236}">
                <a16:creationId xmlns:a16="http://schemas.microsoft.com/office/drawing/2014/main" id="{48AC96E8-6647-2D77-A7FD-081E8C2F4DFB}"/>
              </a:ext>
            </a:extLst>
          </p:cNvPr>
          <p:cNvSpPr txBox="1">
            <a:spLocks/>
          </p:cNvSpPr>
          <p:nvPr/>
        </p:nvSpPr>
        <p:spPr>
          <a:xfrm>
            <a:off x="311700" y="288275"/>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b="1" dirty="0">
                <a:solidFill>
                  <a:srgbClr val="004856"/>
                </a:solidFill>
              </a:rPr>
              <a:t>Task 1-2: Instruction following LMs </a:t>
            </a:r>
            <a:endParaRPr lang="en-US" dirty="0"/>
          </a:p>
        </p:txBody>
      </p:sp>
      <p:pic>
        <p:nvPicPr>
          <p:cNvPr id="6" name="Google Shape;56;p13">
            <a:extLst>
              <a:ext uri="{FF2B5EF4-FFF2-40B4-BE49-F238E27FC236}">
                <a16:creationId xmlns:a16="http://schemas.microsoft.com/office/drawing/2014/main" id="{1469018D-E712-B428-7874-025303848115}"/>
              </a:ext>
            </a:extLst>
          </p:cNvPr>
          <p:cNvPicPr preferRelativeResize="0"/>
          <p:nvPr/>
        </p:nvPicPr>
        <p:blipFill>
          <a:blip r:embed="rId3"/>
          <a:srcRect/>
          <a:stretch/>
        </p:blipFill>
        <p:spPr>
          <a:xfrm>
            <a:off x="7829550" y="4662460"/>
            <a:ext cx="1314450" cy="438150"/>
          </a:xfrm>
          <a:prstGeom prst="rect">
            <a:avLst/>
          </a:prstGeom>
          <a:noFill/>
          <a:ln>
            <a:noFill/>
          </a:ln>
        </p:spPr>
      </p:pic>
      <p:sp>
        <p:nvSpPr>
          <p:cNvPr id="2" name="모서리가 둥근 직사각형 1">
            <a:extLst>
              <a:ext uri="{FF2B5EF4-FFF2-40B4-BE49-F238E27FC236}">
                <a16:creationId xmlns:a16="http://schemas.microsoft.com/office/drawing/2014/main" id="{D33E5A7B-CF48-AFA3-8B5A-D3ECE1AA8687}"/>
              </a:ext>
            </a:extLst>
          </p:cNvPr>
          <p:cNvSpPr/>
          <p:nvPr/>
        </p:nvSpPr>
        <p:spPr>
          <a:xfrm>
            <a:off x="1730669" y="1561171"/>
            <a:ext cx="5722806" cy="3101289"/>
          </a:xfrm>
          <a:prstGeom prst="roundRect">
            <a:avLst/>
          </a:prstGeom>
          <a:noFill/>
          <a:ln w="5715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ko-KR" b="1" dirty="0">
                <a:solidFill>
                  <a:schemeClr val="tx1"/>
                </a:solidFill>
              </a:rPr>
              <a:t>### Instruction: ~~~</a:t>
            </a:r>
          </a:p>
          <a:p>
            <a:endParaRPr kumimoji="1" lang="en-US" altLang="ko-KR" b="1" dirty="0">
              <a:solidFill>
                <a:schemeClr val="accent1">
                  <a:lumMod val="75000"/>
                </a:schemeClr>
              </a:solidFill>
            </a:endParaRPr>
          </a:p>
          <a:p>
            <a:r>
              <a:rPr kumimoji="1" lang="en-US" altLang="ko-KR" b="1" dirty="0">
                <a:solidFill>
                  <a:schemeClr val="accent1">
                    <a:lumMod val="75000"/>
                  </a:schemeClr>
                </a:solidFill>
              </a:rPr>
              <a:t>[Example 1]</a:t>
            </a:r>
          </a:p>
          <a:p>
            <a:r>
              <a:rPr lang="en" altLang="ko-KR" dirty="0">
                <a:solidFill>
                  <a:schemeClr val="tx1"/>
                </a:solidFill>
              </a:rPr>
              <a:t>Input:</a:t>
            </a:r>
          </a:p>
          <a:p>
            <a:r>
              <a:rPr kumimoji="1" lang="en" altLang="ko-KR" dirty="0">
                <a:solidFill>
                  <a:schemeClr val="tx1"/>
                </a:solidFill>
              </a:rPr>
              <a:t>~~~</a:t>
            </a:r>
          </a:p>
          <a:p>
            <a:r>
              <a:rPr kumimoji="1" lang="en" altLang="ko-KR" dirty="0">
                <a:solidFill>
                  <a:schemeClr val="tx1"/>
                </a:solidFill>
              </a:rPr>
              <a:t>Output:</a:t>
            </a:r>
          </a:p>
        </p:txBody>
      </p:sp>
      <p:sp>
        <p:nvSpPr>
          <p:cNvPr id="3" name="Right Arrow 2">
            <a:extLst>
              <a:ext uri="{FF2B5EF4-FFF2-40B4-BE49-F238E27FC236}">
                <a16:creationId xmlns:a16="http://schemas.microsoft.com/office/drawing/2014/main" id="{FDA6F7C9-D965-3CAB-1CAD-FB46BCCD73C0}"/>
              </a:ext>
            </a:extLst>
          </p:cNvPr>
          <p:cNvSpPr/>
          <p:nvPr/>
        </p:nvSpPr>
        <p:spPr>
          <a:xfrm rot="10800000">
            <a:off x="3415736" y="3217942"/>
            <a:ext cx="638848" cy="240187"/>
          </a:xfrm>
          <a:prstGeom prst="rightArrow">
            <a:avLst/>
          </a:prstGeom>
          <a:ln/>
        </p:spPr>
        <p:style>
          <a:lnRef idx="2">
            <a:schemeClr val="accent1"/>
          </a:lnRef>
          <a:fillRef idx="1">
            <a:schemeClr val="lt1"/>
          </a:fillRef>
          <a:effectRef idx="0">
            <a:schemeClr val="accent1"/>
          </a:effectRef>
          <a:fontRef idx="minor">
            <a:schemeClr val="dk1"/>
          </a:fontRef>
        </p:style>
        <p:txBody>
          <a:bodyPr rtlCol="0" anchor="ctr"/>
          <a:lstStyle/>
          <a:p>
            <a:pPr algn="ctr"/>
            <a:endParaRPr lang="en-KR" b="1">
              <a:ln w="22225">
                <a:solidFill>
                  <a:schemeClr val="accent2"/>
                </a:solidFill>
                <a:prstDash val="solid"/>
              </a:ln>
              <a:solidFill>
                <a:schemeClr val="accent2">
                  <a:lumMod val="40000"/>
                  <a:lumOff val="60000"/>
                </a:schemeClr>
              </a:solidFill>
            </a:endParaRPr>
          </a:p>
        </p:txBody>
      </p:sp>
      <p:sp>
        <p:nvSpPr>
          <p:cNvPr id="7" name="TextBox 6">
            <a:extLst>
              <a:ext uri="{FF2B5EF4-FFF2-40B4-BE49-F238E27FC236}">
                <a16:creationId xmlns:a16="http://schemas.microsoft.com/office/drawing/2014/main" id="{2008001E-8A12-35EF-4B54-B1E63FD28061}"/>
              </a:ext>
            </a:extLst>
          </p:cNvPr>
          <p:cNvSpPr txBox="1"/>
          <p:nvPr/>
        </p:nvSpPr>
        <p:spPr>
          <a:xfrm>
            <a:off x="4172787" y="3074525"/>
            <a:ext cx="1833261" cy="461665"/>
          </a:xfrm>
          <a:prstGeom prst="rect">
            <a:avLst/>
          </a:prstGeom>
          <a:noFill/>
        </p:spPr>
        <p:txBody>
          <a:bodyPr wrap="square" rtlCol="0">
            <a:spAutoFit/>
          </a:bodyPr>
          <a:lstStyle/>
          <a:p>
            <a:r>
              <a:rPr kumimoji="1" lang="en-US" altLang="ko-KR" sz="2400" b="1" dirty="0">
                <a:solidFill>
                  <a:schemeClr val="accent1">
                    <a:lumMod val="75000"/>
                  </a:schemeClr>
                </a:solidFill>
              </a:rPr>
              <a:t>Zero shot!</a:t>
            </a:r>
            <a:endParaRPr kumimoji="1" lang="ko-KR" altLang="en-US" sz="2400" b="1" dirty="0">
              <a:solidFill>
                <a:schemeClr val="accent1">
                  <a:lumMod val="75000"/>
                </a:schemeClr>
              </a:solidFill>
            </a:endParaRPr>
          </a:p>
        </p:txBody>
      </p:sp>
      <p:pic>
        <p:nvPicPr>
          <p:cNvPr id="8" name="그림 8" descr="폰트, 그래픽, 텍스트, 스크린샷이(가) 표시된 사진&#10;&#10;자동 생성된 설명">
            <a:extLst>
              <a:ext uri="{FF2B5EF4-FFF2-40B4-BE49-F238E27FC236}">
                <a16:creationId xmlns:a16="http://schemas.microsoft.com/office/drawing/2014/main" id="{3BF9EB12-9623-8DBA-A5BB-63F0E787BE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extLst>
      <p:ext uri="{BB962C8B-B14F-4D97-AF65-F5344CB8AC3E}">
        <p14:creationId xmlns:p14="http://schemas.microsoft.com/office/powerpoint/2010/main" val="38593230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EBB517AE-9297-8D03-7F88-8BAD62ED3C7C}"/>
            </a:ext>
          </a:extLst>
        </p:cNvPr>
        <p:cNvGrpSpPr/>
        <p:nvPr/>
      </p:nvGrpSpPr>
      <p:grpSpPr>
        <a:xfrm>
          <a:off x="0" y="0"/>
          <a:ext cx="0" cy="0"/>
          <a:chOff x="0" y="0"/>
          <a:chExt cx="0" cy="0"/>
        </a:xfrm>
      </p:grpSpPr>
      <p:sp>
        <p:nvSpPr>
          <p:cNvPr id="90" name="Google Shape;90;p18">
            <a:extLst>
              <a:ext uri="{FF2B5EF4-FFF2-40B4-BE49-F238E27FC236}">
                <a16:creationId xmlns:a16="http://schemas.microsoft.com/office/drawing/2014/main" id="{532CE6C0-6BE7-C215-BF69-DCFFF348A39A}"/>
              </a:ext>
            </a:extLst>
          </p:cNvPr>
          <p:cNvSpPr txBox="1">
            <a:spLocks noGrp="1"/>
          </p:cNvSpPr>
          <p:nvPr>
            <p:ph type="ctrTitle"/>
          </p:nvPr>
        </p:nvSpPr>
        <p:spPr>
          <a:xfrm>
            <a:off x="311700" y="2226150"/>
            <a:ext cx="8520600" cy="6912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n-US" altLang="ko" sz="4000" b="1" dirty="0">
                <a:solidFill>
                  <a:srgbClr val="004856"/>
                </a:solidFill>
              </a:rPr>
              <a:t>How can we better use LLMs?</a:t>
            </a:r>
            <a:endParaRPr sz="4000" dirty="0"/>
          </a:p>
        </p:txBody>
      </p:sp>
      <p:pic>
        <p:nvPicPr>
          <p:cNvPr id="2" name="Google Shape;56;p13">
            <a:extLst>
              <a:ext uri="{FF2B5EF4-FFF2-40B4-BE49-F238E27FC236}">
                <a16:creationId xmlns:a16="http://schemas.microsoft.com/office/drawing/2014/main" id="{DCD952DC-6515-A3F3-AED4-56DA54FD07EC}"/>
              </a:ext>
            </a:extLst>
          </p:cNvPr>
          <p:cNvPicPr preferRelativeResize="0"/>
          <p:nvPr/>
        </p:nvPicPr>
        <p:blipFill>
          <a:blip r:embed="rId3"/>
          <a:srcRect/>
          <a:stretch/>
        </p:blipFill>
        <p:spPr>
          <a:xfrm>
            <a:off x="7829550" y="4662460"/>
            <a:ext cx="1314450" cy="438150"/>
          </a:xfrm>
          <a:prstGeom prst="rect">
            <a:avLst/>
          </a:prstGeom>
          <a:noFill/>
          <a:ln>
            <a:noFill/>
          </a:ln>
        </p:spPr>
      </p:pic>
      <p:pic>
        <p:nvPicPr>
          <p:cNvPr id="3" name="그림 8" descr="폰트, 그래픽, 텍스트, 스크린샷이(가) 표시된 사진&#10;&#10;자동 생성된 설명">
            <a:extLst>
              <a:ext uri="{FF2B5EF4-FFF2-40B4-BE49-F238E27FC236}">
                <a16:creationId xmlns:a16="http://schemas.microsoft.com/office/drawing/2014/main" id="{17871C06-4FE9-CEDB-FCFF-24210A69904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extLst>
      <p:ext uri="{BB962C8B-B14F-4D97-AF65-F5344CB8AC3E}">
        <p14:creationId xmlns:p14="http://schemas.microsoft.com/office/powerpoint/2010/main" val="21453108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1"/>
          <p:cNvSpPr txBox="1">
            <a:spLocks noGrp="1"/>
          </p:cNvSpPr>
          <p:nvPr>
            <p:ph type="ctrTitle"/>
          </p:nvPr>
        </p:nvSpPr>
        <p:spPr>
          <a:xfrm>
            <a:off x="311700" y="2226150"/>
            <a:ext cx="8520600" cy="6912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ko" sz="4000" b="1" dirty="0">
                <a:solidFill>
                  <a:srgbClr val="004856"/>
                </a:solidFill>
              </a:rPr>
              <a:t>Chain-of-Thought Prompting</a:t>
            </a:r>
            <a:endParaRPr sz="4000" dirty="0"/>
          </a:p>
        </p:txBody>
      </p:sp>
      <p:pic>
        <p:nvPicPr>
          <p:cNvPr id="2" name="Google Shape;56;p13">
            <a:extLst>
              <a:ext uri="{FF2B5EF4-FFF2-40B4-BE49-F238E27FC236}">
                <a16:creationId xmlns:a16="http://schemas.microsoft.com/office/drawing/2014/main" id="{06612A3E-4A4F-3557-CE7E-AC25171D89D0}"/>
              </a:ext>
            </a:extLst>
          </p:cNvPr>
          <p:cNvPicPr preferRelativeResize="0"/>
          <p:nvPr/>
        </p:nvPicPr>
        <p:blipFill>
          <a:blip r:embed="rId3"/>
          <a:srcRect/>
          <a:stretch/>
        </p:blipFill>
        <p:spPr>
          <a:xfrm>
            <a:off x="7829550" y="4662460"/>
            <a:ext cx="1314450" cy="438150"/>
          </a:xfrm>
          <a:prstGeom prst="rect">
            <a:avLst/>
          </a:prstGeom>
          <a:noFill/>
          <a:ln>
            <a:noFill/>
          </a:ln>
        </p:spPr>
      </p:pic>
      <p:pic>
        <p:nvPicPr>
          <p:cNvPr id="3" name="그림 8" descr="폰트, 그래픽, 텍스트, 스크린샷이(가) 표시된 사진&#10;&#10;자동 생성된 설명">
            <a:extLst>
              <a:ext uri="{FF2B5EF4-FFF2-40B4-BE49-F238E27FC236}">
                <a16:creationId xmlns:a16="http://schemas.microsoft.com/office/drawing/2014/main" id="{F5AC7521-3B5B-AF07-A916-D6D399C2121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3" name="Google Shape;123;p22"/>
          <p:cNvSpPr txBox="1"/>
          <p:nvPr/>
        </p:nvSpPr>
        <p:spPr>
          <a:xfrm>
            <a:off x="71200" y="4882475"/>
            <a:ext cx="5406900" cy="177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ko" sz="700" b="1" dirty="0">
                <a:solidFill>
                  <a:srgbClr val="999999"/>
                </a:solidFill>
              </a:rPr>
              <a:t>Wei et al. “Chain-of-Thought Prompting Elicits Reasoning in Large Language Models”, NeurIPS 2022</a:t>
            </a:r>
            <a:endParaRPr sz="700" b="1" dirty="0">
              <a:solidFill>
                <a:srgbClr val="999999"/>
              </a:solidFill>
            </a:endParaRPr>
          </a:p>
        </p:txBody>
      </p:sp>
      <p:pic>
        <p:nvPicPr>
          <p:cNvPr id="124" name="Google Shape;124;p22"/>
          <p:cNvPicPr preferRelativeResize="0"/>
          <p:nvPr/>
        </p:nvPicPr>
        <p:blipFill>
          <a:blip r:embed="rId3">
            <a:alphaModFix/>
          </a:blip>
          <a:stretch>
            <a:fillRect/>
          </a:stretch>
        </p:blipFill>
        <p:spPr>
          <a:xfrm>
            <a:off x="1801712" y="2103479"/>
            <a:ext cx="5540576" cy="2685325"/>
          </a:xfrm>
          <a:prstGeom prst="rect">
            <a:avLst/>
          </a:prstGeom>
          <a:noFill/>
          <a:ln>
            <a:noFill/>
          </a:ln>
        </p:spPr>
      </p:pic>
      <p:pic>
        <p:nvPicPr>
          <p:cNvPr id="2" name="Google Shape;56;p13">
            <a:extLst>
              <a:ext uri="{FF2B5EF4-FFF2-40B4-BE49-F238E27FC236}">
                <a16:creationId xmlns:a16="http://schemas.microsoft.com/office/drawing/2014/main" id="{20547F59-083F-0C4D-80B8-D50F45DE7B84}"/>
              </a:ext>
            </a:extLst>
          </p:cNvPr>
          <p:cNvPicPr preferRelativeResize="0"/>
          <p:nvPr/>
        </p:nvPicPr>
        <p:blipFill>
          <a:blip r:embed="rId4"/>
          <a:srcRect/>
          <a:stretch/>
        </p:blipFill>
        <p:spPr>
          <a:xfrm>
            <a:off x="7829550" y="4662460"/>
            <a:ext cx="1314450" cy="438150"/>
          </a:xfrm>
          <a:prstGeom prst="rect">
            <a:avLst/>
          </a:prstGeom>
          <a:noFill/>
          <a:ln>
            <a:noFill/>
          </a:ln>
        </p:spPr>
      </p:pic>
      <p:sp>
        <p:nvSpPr>
          <p:cNvPr id="3" name="Google Shape;82;p17">
            <a:extLst>
              <a:ext uri="{FF2B5EF4-FFF2-40B4-BE49-F238E27FC236}">
                <a16:creationId xmlns:a16="http://schemas.microsoft.com/office/drawing/2014/main" id="{19CE9905-DBA5-9D6C-35D3-4914402CAD29}"/>
              </a:ext>
            </a:extLst>
          </p:cNvPr>
          <p:cNvSpPr txBox="1">
            <a:spLocks/>
          </p:cNvSpPr>
          <p:nvPr/>
        </p:nvSpPr>
        <p:spPr>
          <a:xfrm>
            <a:off x="311700" y="289063"/>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ko" altLang="ko-KR" b="1" dirty="0">
                <a:solidFill>
                  <a:srgbClr val="004856"/>
                </a:solidFill>
              </a:rPr>
              <a:t>Chain-of-Thought Prompting</a:t>
            </a:r>
            <a:endParaRPr lang="en-US" dirty="0"/>
          </a:p>
        </p:txBody>
      </p:sp>
      <p:sp>
        <p:nvSpPr>
          <p:cNvPr id="4" name="Google Shape;97;p19">
            <a:extLst>
              <a:ext uri="{FF2B5EF4-FFF2-40B4-BE49-F238E27FC236}">
                <a16:creationId xmlns:a16="http://schemas.microsoft.com/office/drawing/2014/main" id="{CAAE5BC6-30BF-3536-F01F-683F69242E1D}"/>
              </a:ext>
            </a:extLst>
          </p:cNvPr>
          <p:cNvSpPr txBox="1">
            <a:spLocks/>
          </p:cNvSpPr>
          <p:nvPr/>
        </p:nvSpPr>
        <p:spPr>
          <a:xfrm>
            <a:off x="311700" y="989862"/>
            <a:ext cx="8520600" cy="34164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lvl="0"/>
            <a:r>
              <a:rPr lang="en" altLang="ko" b="1" dirty="0">
                <a:solidFill>
                  <a:schemeClr val="tx1"/>
                </a:solidFill>
              </a:rPr>
              <a:t>LLMs can improve their reasoning capabilities through intermediate natural language reasoning steps before generating answer</a:t>
            </a:r>
            <a:endParaRPr lang="en" altLang="ko-KR" b="1" dirty="0">
              <a:solidFill>
                <a:schemeClr val="tx1"/>
              </a:solidFill>
            </a:endParaRPr>
          </a:p>
          <a:p>
            <a:pPr lvl="1"/>
            <a:r>
              <a:rPr lang="en" altLang="ko" dirty="0">
                <a:solidFill>
                  <a:schemeClr val="tx1"/>
                </a:solidFill>
              </a:rPr>
              <a:t>Emergent phenomenon in LLMs</a:t>
            </a:r>
            <a:endParaRPr lang="en" altLang="ko-KR" dirty="0">
              <a:solidFill>
                <a:schemeClr val="tx1"/>
              </a:solidFill>
            </a:endParaRPr>
          </a:p>
        </p:txBody>
      </p:sp>
      <p:pic>
        <p:nvPicPr>
          <p:cNvPr id="5" name="그림 8" descr="폰트, 그래픽, 텍스트, 스크린샷이(가) 표시된 사진&#10;&#10;자동 생성된 설명">
            <a:extLst>
              <a:ext uri="{FF2B5EF4-FFF2-40B4-BE49-F238E27FC236}">
                <a16:creationId xmlns:a16="http://schemas.microsoft.com/office/drawing/2014/main" id="{2857A74E-72B6-3A5D-4EB0-146F6260926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32" name="Google Shape;132;p23"/>
          <p:cNvSpPr txBox="1"/>
          <p:nvPr/>
        </p:nvSpPr>
        <p:spPr>
          <a:xfrm>
            <a:off x="71200" y="4882475"/>
            <a:ext cx="5406900" cy="177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ko" sz="700" b="1">
                <a:solidFill>
                  <a:srgbClr val="999999"/>
                </a:solidFill>
              </a:rPr>
              <a:t>Wei et al. “Chain-of-Thought Prompting Elicits Reasoning in Large Language Models”, NeurIPS 2022</a:t>
            </a:r>
            <a:endParaRPr sz="700" b="1">
              <a:solidFill>
                <a:srgbClr val="999999"/>
              </a:solidFill>
            </a:endParaRPr>
          </a:p>
        </p:txBody>
      </p:sp>
      <p:pic>
        <p:nvPicPr>
          <p:cNvPr id="133" name="Google Shape;133;p23"/>
          <p:cNvPicPr preferRelativeResize="0"/>
          <p:nvPr/>
        </p:nvPicPr>
        <p:blipFill>
          <a:blip r:embed="rId3">
            <a:alphaModFix/>
          </a:blip>
          <a:stretch>
            <a:fillRect/>
          </a:stretch>
        </p:blipFill>
        <p:spPr>
          <a:xfrm>
            <a:off x="3293417" y="2231050"/>
            <a:ext cx="2557175" cy="2526826"/>
          </a:xfrm>
          <a:prstGeom prst="rect">
            <a:avLst/>
          </a:prstGeom>
          <a:noFill/>
          <a:ln>
            <a:noFill/>
          </a:ln>
        </p:spPr>
      </p:pic>
      <p:pic>
        <p:nvPicPr>
          <p:cNvPr id="2" name="Google Shape;56;p13">
            <a:extLst>
              <a:ext uri="{FF2B5EF4-FFF2-40B4-BE49-F238E27FC236}">
                <a16:creationId xmlns:a16="http://schemas.microsoft.com/office/drawing/2014/main" id="{D68DD8DC-60B1-7D24-AC9D-05B4BE691D81}"/>
              </a:ext>
            </a:extLst>
          </p:cNvPr>
          <p:cNvPicPr preferRelativeResize="0"/>
          <p:nvPr/>
        </p:nvPicPr>
        <p:blipFill>
          <a:blip r:embed="rId4"/>
          <a:srcRect/>
          <a:stretch/>
        </p:blipFill>
        <p:spPr>
          <a:xfrm>
            <a:off x="7829550" y="4662460"/>
            <a:ext cx="1314450" cy="438150"/>
          </a:xfrm>
          <a:prstGeom prst="rect">
            <a:avLst/>
          </a:prstGeom>
          <a:noFill/>
          <a:ln>
            <a:noFill/>
          </a:ln>
        </p:spPr>
      </p:pic>
      <p:sp>
        <p:nvSpPr>
          <p:cNvPr id="5" name="Google Shape;82;p17">
            <a:extLst>
              <a:ext uri="{FF2B5EF4-FFF2-40B4-BE49-F238E27FC236}">
                <a16:creationId xmlns:a16="http://schemas.microsoft.com/office/drawing/2014/main" id="{F682D6B5-9379-83B5-E612-FBAD6FD4C6E8}"/>
              </a:ext>
            </a:extLst>
          </p:cNvPr>
          <p:cNvSpPr txBox="1">
            <a:spLocks/>
          </p:cNvSpPr>
          <p:nvPr/>
        </p:nvSpPr>
        <p:spPr>
          <a:xfrm>
            <a:off x="311700" y="289063"/>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ko" altLang="ko-KR" b="1" dirty="0">
                <a:solidFill>
                  <a:srgbClr val="004856"/>
                </a:solidFill>
              </a:rPr>
              <a:t>Chain-of-Thought Prompting</a:t>
            </a:r>
            <a:endParaRPr lang="en-US" dirty="0"/>
          </a:p>
        </p:txBody>
      </p:sp>
      <p:sp>
        <p:nvSpPr>
          <p:cNvPr id="8" name="Google Shape;97;p19">
            <a:extLst>
              <a:ext uri="{FF2B5EF4-FFF2-40B4-BE49-F238E27FC236}">
                <a16:creationId xmlns:a16="http://schemas.microsoft.com/office/drawing/2014/main" id="{89ABC11B-1A18-53EB-B95D-9FEBAA0B5A1A}"/>
              </a:ext>
            </a:extLst>
          </p:cNvPr>
          <p:cNvSpPr txBox="1">
            <a:spLocks/>
          </p:cNvSpPr>
          <p:nvPr/>
        </p:nvSpPr>
        <p:spPr>
          <a:xfrm>
            <a:off x="311700" y="989862"/>
            <a:ext cx="8520600" cy="34164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lvl="0"/>
            <a:r>
              <a:rPr lang="en" altLang="ko" b="1" dirty="0" err="1">
                <a:solidFill>
                  <a:schemeClr val="tx1"/>
                </a:solidFill>
              </a:rPr>
              <a:t>CoT</a:t>
            </a:r>
            <a:r>
              <a:rPr lang="en" altLang="ko" b="1" dirty="0">
                <a:solidFill>
                  <a:schemeClr val="tx1"/>
                </a:solidFill>
              </a:rPr>
              <a:t> outperforms standard prompting by a large margin and achieves new state-of-the-art performance.</a:t>
            </a:r>
            <a:endParaRPr lang="en" altLang="ko-KR" b="1" dirty="0">
              <a:solidFill>
                <a:schemeClr val="tx1"/>
              </a:solidFill>
            </a:endParaRPr>
          </a:p>
          <a:p>
            <a:pPr lvl="1"/>
            <a:r>
              <a:rPr lang="en" altLang="ko" dirty="0">
                <a:solidFill>
                  <a:schemeClr val="tx1"/>
                </a:solidFill>
              </a:rPr>
              <a:t>Even better performance than fine-tuned LLMs.</a:t>
            </a:r>
            <a:endParaRPr lang="en" altLang="ko-KR" dirty="0">
              <a:solidFill>
                <a:schemeClr val="tx1"/>
              </a:solidFill>
            </a:endParaRPr>
          </a:p>
        </p:txBody>
      </p:sp>
      <p:pic>
        <p:nvPicPr>
          <p:cNvPr id="3" name="그림 8" descr="폰트, 그래픽, 텍스트, 스크린샷이(가) 표시된 사진&#10;&#10;자동 생성된 설명">
            <a:extLst>
              <a:ext uri="{FF2B5EF4-FFF2-40B4-BE49-F238E27FC236}">
                <a16:creationId xmlns:a16="http://schemas.microsoft.com/office/drawing/2014/main" id="{025EE267-EAB2-9CCA-105A-460D0E704C2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41" name="Google Shape;141;p24"/>
          <p:cNvSpPr txBox="1"/>
          <p:nvPr/>
        </p:nvSpPr>
        <p:spPr>
          <a:xfrm>
            <a:off x="71200" y="4882475"/>
            <a:ext cx="5406900" cy="177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ko" sz="700" b="1">
                <a:solidFill>
                  <a:srgbClr val="999999"/>
                </a:solidFill>
              </a:rPr>
              <a:t>Wei et al. “Chain-of-Thought Prompting Elicits Reasoning in Large Language Models”, NeurIPS 2022</a:t>
            </a:r>
            <a:endParaRPr sz="700" b="1">
              <a:solidFill>
                <a:srgbClr val="999999"/>
              </a:solidFill>
            </a:endParaRPr>
          </a:p>
        </p:txBody>
      </p:sp>
      <p:pic>
        <p:nvPicPr>
          <p:cNvPr id="142" name="Google Shape;142;p24"/>
          <p:cNvPicPr preferRelativeResize="0"/>
          <p:nvPr/>
        </p:nvPicPr>
        <p:blipFill>
          <a:blip r:embed="rId3">
            <a:alphaModFix/>
          </a:blip>
          <a:stretch>
            <a:fillRect/>
          </a:stretch>
        </p:blipFill>
        <p:spPr>
          <a:xfrm>
            <a:off x="3519475" y="1634700"/>
            <a:ext cx="2105051" cy="3247776"/>
          </a:xfrm>
          <a:prstGeom prst="rect">
            <a:avLst/>
          </a:prstGeom>
          <a:noFill/>
          <a:ln>
            <a:noFill/>
          </a:ln>
        </p:spPr>
      </p:pic>
      <p:pic>
        <p:nvPicPr>
          <p:cNvPr id="2" name="Google Shape;56;p13">
            <a:extLst>
              <a:ext uri="{FF2B5EF4-FFF2-40B4-BE49-F238E27FC236}">
                <a16:creationId xmlns:a16="http://schemas.microsoft.com/office/drawing/2014/main" id="{9E61C06F-F537-2617-5A2D-EB2069EF074D}"/>
              </a:ext>
            </a:extLst>
          </p:cNvPr>
          <p:cNvPicPr preferRelativeResize="0"/>
          <p:nvPr/>
        </p:nvPicPr>
        <p:blipFill>
          <a:blip r:embed="rId4"/>
          <a:srcRect/>
          <a:stretch/>
        </p:blipFill>
        <p:spPr>
          <a:xfrm>
            <a:off x="7829550" y="4662460"/>
            <a:ext cx="1314450" cy="438150"/>
          </a:xfrm>
          <a:prstGeom prst="rect">
            <a:avLst/>
          </a:prstGeom>
          <a:noFill/>
          <a:ln>
            <a:noFill/>
          </a:ln>
        </p:spPr>
      </p:pic>
      <p:sp>
        <p:nvSpPr>
          <p:cNvPr id="5" name="Google Shape;82;p17">
            <a:extLst>
              <a:ext uri="{FF2B5EF4-FFF2-40B4-BE49-F238E27FC236}">
                <a16:creationId xmlns:a16="http://schemas.microsoft.com/office/drawing/2014/main" id="{8594B0D2-98A4-7199-5501-7D379768EF73}"/>
              </a:ext>
            </a:extLst>
          </p:cNvPr>
          <p:cNvSpPr txBox="1">
            <a:spLocks/>
          </p:cNvSpPr>
          <p:nvPr/>
        </p:nvSpPr>
        <p:spPr>
          <a:xfrm>
            <a:off x="311700" y="289063"/>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ko" altLang="ko-KR" b="1" dirty="0">
                <a:solidFill>
                  <a:srgbClr val="004856"/>
                </a:solidFill>
              </a:rPr>
              <a:t>Chain-of-Thought Prompting</a:t>
            </a:r>
            <a:endParaRPr lang="en-US" dirty="0"/>
          </a:p>
        </p:txBody>
      </p:sp>
      <p:sp>
        <p:nvSpPr>
          <p:cNvPr id="6" name="Google Shape;97;p19">
            <a:extLst>
              <a:ext uri="{FF2B5EF4-FFF2-40B4-BE49-F238E27FC236}">
                <a16:creationId xmlns:a16="http://schemas.microsoft.com/office/drawing/2014/main" id="{84B7E937-76F3-A514-9BC9-C0B653196A97}"/>
              </a:ext>
            </a:extLst>
          </p:cNvPr>
          <p:cNvSpPr txBox="1">
            <a:spLocks/>
          </p:cNvSpPr>
          <p:nvPr/>
        </p:nvSpPr>
        <p:spPr>
          <a:xfrm>
            <a:off x="311700" y="989862"/>
            <a:ext cx="8520600" cy="34164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lvl="0"/>
            <a:r>
              <a:rPr lang="en" altLang="ko" b="1" dirty="0" err="1">
                <a:solidFill>
                  <a:schemeClr val="tx1"/>
                </a:solidFill>
              </a:rPr>
              <a:t>CoT</a:t>
            </a:r>
            <a:r>
              <a:rPr lang="en" altLang="ko" b="1" dirty="0">
                <a:solidFill>
                  <a:schemeClr val="tx1"/>
                </a:solidFill>
              </a:rPr>
              <a:t> is an emergent phenomenon of the LLMs</a:t>
            </a:r>
            <a:endParaRPr lang="en" altLang="ko-KR" b="1" dirty="0">
              <a:solidFill>
                <a:schemeClr val="tx1"/>
              </a:solidFill>
            </a:endParaRPr>
          </a:p>
          <a:p>
            <a:pPr lvl="1"/>
            <a:r>
              <a:rPr lang="en" altLang="ko" dirty="0">
                <a:solidFill>
                  <a:schemeClr val="tx1"/>
                </a:solidFill>
              </a:rPr>
              <a:t>Model scale</a:t>
            </a:r>
            <a:endParaRPr lang="en" altLang="ko-KR" dirty="0">
              <a:solidFill>
                <a:schemeClr val="tx1"/>
              </a:solidFill>
            </a:endParaRPr>
          </a:p>
        </p:txBody>
      </p:sp>
      <p:pic>
        <p:nvPicPr>
          <p:cNvPr id="3" name="그림 8" descr="폰트, 그래픽, 텍스트, 스크린샷이(가) 표시된 사진&#10;&#10;자동 생성된 설명">
            <a:extLst>
              <a:ext uri="{FF2B5EF4-FFF2-40B4-BE49-F238E27FC236}">
                <a16:creationId xmlns:a16="http://schemas.microsoft.com/office/drawing/2014/main" id="{F2FE7DF6-203F-8119-BCBD-26DEBC7A8AB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37">
          <a:extLst>
            <a:ext uri="{FF2B5EF4-FFF2-40B4-BE49-F238E27FC236}">
              <a16:creationId xmlns:a16="http://schemas.microsoft.com/office/drawing/2014/main" id="{585F14D3-C843-B58F-AAC5-03FB17C84EA6}"/>
            </a:ext>
          </a:extLst>
        </p:cNvPr>
        <p:cNvGrpSpPr/>
        <p:nvPr/>
      </p:nvGrpSpPr>
      <p:grpSpPr>
        <a:xfrm>
          <a:off x="0" y="0"/>
          <a:ext cx="0" cy="0"/>
          <a:chOff x="0" y="0"/>
          <a:chExt cx="0" cy="0"/>
        </a:xfrm>
      </p:grpSpPr>
      <p:sp>
        <p:nvSpPr>
          <p:cNvPr id="141" name="Google Shape;141;p24">
            <a:extLst>
              <a:ext uri="{FF2B5EF4-FFF2-40B4-BE49-F238E27FC236}">
                <a16:creationId xmlns:a16="http://schemas.microsoft.com/office/drawing/2014/main" id="{EE0D6AE2-D5BF-A92C-F383-32F20039099D}"/>
              </a:ext>
            </a:extLst>
          </p:cNvPr>
          <p:cNvSpPr txBox="1"/>
          <p:nvPr/>
        </p:nvSpPr>
        <p:spPr>
          <a:xfrm>
            <a:off x="71200" y="4882475"/>
            <a:ext cx="5406900" cy="177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ko" sz="700" b="1">
                <a:solidFill>
                  <a:srgbClr val="999999"/>
                </a:solidFill>
              </a:rPr>
              <a:t>Wei et al. “Chain-of-Thought Prompting Elicits Reasoning in Large Language Models”, NeurIPS 2022</a:t>
            </a:r>
            <a:endParaRPr sz="700" b="1">
              <a:solidFill>
                <a:srgbClr val="999999"/>
              </a:solidFill>
            </a:endParaRPr>
          </a:p>
        </p:txBody>
      </p:sp>
      <p:pic>
        <p:nvPicPr>
          <p:cNvPr id="2" name="Google Shape;56;p13">
            <a:extLst>
              <a:ext uri="{FF2B5EF4-FFF2-40B4-BE49-F238E27FC236}">
                <a16:creationId xmlns:a16="http://schemas.microsoft.com/office/drawing/2014/main" id="{9B639CEC-E4FF-B0E1-CF34-E4FFC350D7A3}"/>
              </a:ext>
            </a:extLst>
          </p:cNvPr>
          <p:cNvPicPr preferRelativeResize="0"/>
          <p:nvPr/>
        </p:nvPicPr>
        <p:blipFill>
          <a:blip r:embed="rId3"/>
          <a:srcRect/>
          <a:stretch/>
        </p:blipFill>
        <p:spPr>
          <a:xfrm>
            <a:off x="7829550" y="4662460"/>
            <a:ext cx="1314450" cy="438150"/>
          </a:xfrm>
          <a:prstGeom prst="rect">
            <a:avLst/>
          </a:prstGeom>
          <a:noFill/>
          <a:ln>
            <a:noFill/>
          </a:ln>
        </p:spPr>
      </p:pic>
      <p:sp>
        <p:nvSpPr>
          <p:cNvPr id="5" name="Google Shape;82;p17">
            <a:extLst>
              <a:ext uri="{FF2B5EF4-FFF2-40B4-BE49-F238E27FC236}">
                <a16:creationId xmlns:a16="http://schemas.microsoft.com/office/drawing/2014/main" id="{EB364879-A6D2-C784-6432-D57BAAB645A6}"/>
              </a:ext>
            </a:extLst>
          </p:cNvPr>
          <p:cNvSpPr txBox="1">
            <a:spLocks/>
          </p:cNvSpPr>
          <p:nvPr/>
        </p:nvSpPr>
        <p:spPr>
          <a:xfrm>
            <a:off x="311700" y="289063"/>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ko" altLang="ko-KR" b="1" dirty="0">
                <a:solidFill>
                  <a:srgbClr val="004856"/>
                </a:solidFill>
              </a:rPr>
              <a:t>Chain-of-Thought Prompting</a:t>
            </a:r>
            <a:endParaRPr lang="en-US" dirty="0"/>
          </a:p>
        </p:txBody>
      </p:sp>
      <p:sp>
        <p:nvSpPr>
          <p:cNvPr id="6" name="Google Shape;97;p19">
            <a:extLst>
              <a:ext uri="{FF2B5EF4-FFF2-40B4-BE49-F238E27FC236}">
                <a16:creationId xmlns:a16="http://schemas.microsoft.com/office/drawing/2014/main" id="{FADDAF90-016A-138D-A7EA-1A59832484CA}"/>
              </a:ext>
            </a:extLst>
          </p:cNvPr>
          <p:cNvSpPr txBox="1">
            <a:spLocks/>
          </p:cNvSpPr>
          <p:nvPr/>
        </p:nvSpPr>
        <p:spPr>
          <a:xfrm>
            <a:off x="311700" y="989862"/>
            <a:ext cx="8520600" cy="34164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lvl="0"/>
            <a:r>
              <a:rPr lang="en" altLang="ko" b="1" dirty="0">
                <a:solidFill>
                  <a:schemeClr val="tx1"/>
                </a:solidFill>
              </a:rPr>
              <a:t>How to generate intermediate reasoning steps?</a:t>
            </a:r>
            <a:endParaRPr lang="en" altLang="ko-KR" b="1" dirty="0">
              <a:solidFill>
                <a:schemeClr val="tx1"/>
              </a:solidFill>
            </a:endParaRPr>
          </a:p>
          <a:p>
            <a:pPr lvl="1"/>
            <a:r>
              <a:rPr lang="en" altLang="ko" dirty="0">
                <a:solidFill>
                  <a:schemeClr val="tx1"/>
                </a:solidFill>
              </a:rPr>
              <a:t>Few shot demonstrations!!!</a:t>
            </a:r>
            <a:endParaRPr lang="en" altLang="ko-KR" dirty="0">
              <a:solidFill>
                <a:schemeClr val="tx1"/>
              </a:solidFill>
            </a:endParaRPr>
          </a:p>
        </p:txBody>
      </p:sp>
      <p:pic>
        <p:nvPicPr>
          <p:cNvPr id="3" name="그림 2">
            <a:extLst>
              <a:ext uri="{FF2B5EF4-FFF2-40B4-BE49-F238E27FC236}">
                <a16:creationId xmlns:a16="http://schemas.microsoft.com/office/drawing/2014/main" id="{CF79B3FC-F87A-BBA1-E161-D8F2579E48CA}"/>
              </a:ext>
            </a:extLst>
          </p:cNvPr>
          <p:cNvPicPr>
            <a:picLocks noChangeAspect="1"/>
          </p:cNvPicPr>
          <p:nvPr/>
        </p:nvPicPr>
        <p:blipFill>
          <a:blip r:embed="rId4"/>
          <a:stretch>
            <a:fillRect/>
          </a:stretch>
        </p:blipFill>
        <p:spPr>
          <a:xfrm>
            <a:off x="2024429" y="1828799"/>
            <a:ext cx="5095141" cy="2833661"/>
          </a:xfrm>
          <a:prstGeom prst="rect">
            <a:avLst/>
          </a:prstGeom>
        </p:spPr>
      </p:pic>
      <p:pic>
        <p:nvPicPr>
          <p:cNvPr id="4" name="그림 8" descr="폰트, 그래픽, 텍스트, 스크린샷이(가) 표시된 사진&#10;&#10;자동 생성된 설명">
            <a:extLst>
              <a:ext uri="{FF2B5EF4-FFF2-40B4-BE49-F238E27FC236}">
                <a16:creationId xmlns:a16="http://schemas.microsoft.com/office/drawing/2014/main" id="{8B2FE367-179A-C40F-4093-D1411DA8C8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extLst>
      <p:ext uri="{BB962C8B-B14F-4D97-AF65-F5344CB8AC3E}">
        <p14:creationId xmlns:p14="http://schemas.microsoft.com/office/powerpoint/2010/main" val="37476200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026D9013-8332-E78D-855E-1C625E409941}"/>
            </a:ext>
          </a:extLst>
        </p:cNvPr>
        <p:cNvGrpSpPr/>
        <p:nvPr/>
      </p:nvGrpSpPr>
      <p:grpSpPr>
        <a:xfrm>
          <a:off x="0" y="0"/>
          <a:ext cx="0" cy="0"/>
          <a:chOff x="0" y="0"/>
          <a:chExt cx="0" cy="0"/>
        </a:xfrm>
      </p:grpSpPr>
      <p:sp>
        <p:nvSpPr>
          <p:cNvPr id="5" name="Google Shape;97;p19">
            <a:extLst>
              <a:ext uri="{FF2B5EF4-FFF2-40B4-BE49-F238E27FC236}">
                <a16:creationId xmlns:a16="http://schemas.microsoft.com/office/drawing/2014/main" id="{EA51A93A-E1D6-BB08-2C4B-03BEB03D260E}"/>
              </a:ext>
            </a:extLst>
          </p:cNvPr>
          <p:cNvSpPr txBox="1">
            <a:spLocks/>
          </p:cNvSpPr>
          <p:nvPr/>
        </p:nvSpPr>
        <p:spPr>
          <a:xfrm>
            <a:off x="311700" y="989862"/>
            <a:ext cx="8520600" cy="34164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lvl="0"/>
            <a:r>
              <a:rPr lang="en-US" altLang="ko-KR" b="1" dirty="0">
                <a:solidFill>
                  <a:schemeClr val="tx1"/>
                </a:solidFill>
              </a:rPr>
              <a:t>Solve GSM8K with Chain-of-Thought!!</a:t>
            </a:r>
          </a:p>
          <a:p>
            <a:pPr lvl="1"/>
            <a:r>
              <a:rPr lang="en-US" altLang="ko-KR" dirty="0">
                <a:solidFill>
                  <a:schemeClr val="tx1"/>
                </a:solidFill>
              </a:rPr>
              <a:t>Better with instruction??</a:t>
            </a:r>
            <a:endParaRPr lang="en" altLang="ko-KR" dirty="0">
              <a:solidFill>
                <a:schemeClr val="tx1"/>
              </a:solidFill>
            </a:endParaRPr>
          </a:p>
        </p:txBody>
      </p:sp>
      <p:sp>
        <p:nvSpPr>
          <p:cNvPr id="4" name="Google Shape;82;p17">
            <a:extLst>
              <a:ext uri="{FF2B5EF4-FFF2-40B4-BE49-F238E27FC236}">
                <a16:creationId xmlns:a16="http://schemas.microsoft.com/office/drawing/2014/main" id="{58FA454D-85AC-3E27-EBEA-ADF04C4DA27C}"/>
              </a:ext>
            </a:extLst>
          </p:cNvPr>
          <p:cNvSpPr txBox="1">
            <a:spLocks/>
          </p:cNvSpPr>
          <p:nvPr/>
        </p:nvSpPr>
        <p:spPr>
          <a:xfrm>
            <a:off x="311700" y="288275"/>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b="1" dirty="0">
                <a:solidFill>
                  <a:srgbClr val="004856"/>
                </a:solidFill>
              </a:rPr>
              <a:t>Task 2-1: </a:t>
            </a:r>
            <a:r>
              <a:rPr lang="en-US" b="1" dirty="0" err="1">
                <a:solidFill>
                  <a:srgbClr val="004856"/>
                </a:solidFill>
              </a:rPr>
              <a:t>CoT</a:t>
            </a:r>
            <a:r>
              <a:rPr lang="en-US" b="1" dirty="0">
                <a:solidFill>
                  <a:srgbClr val="004856"/>
                </a:solidFill>
              </a:rPr>
              <a:t> Prompting</a:t>
            </a:r>
            <a:endParaRPr lang="en-US" dirty="0"/>
          </a:p>
        </p:txBody>
      </p:sp>
      <p:pic>
        <p:nvPicPr>
          <p:cNvPr id="6" name="Google Shape;56;p13">
            <a:extLst>
              <a:ext uri="{FF2B5EF4-FFF2-40B4-BE49-F238E27FC236}">
                <a16:creationId xmlns:a16="http://schemas.microsoft.com/office/drawing/2014/main" id="{49DD568B-6E24-C878-6250-C741E628F2A2}"/>
              </a:ext>
            </a:extLst>
          </p:cNvPr>
          <p:cNvPicPr preferRelativeResize="0"/>
          <p:nvPr/>
        </p:nvPicPr>
        <p:blipFill>
          <a:blip r:embed="rId3"/>
          <a:srcRect/>
          <a:stretch/>
        </p:blipFill>
        <p:spPr>
          <a:xfrm>
            <a:off x="7829550" y="4662460"/>
            <a:ext cx="1314450" cy="438150"/>
          </a:xfrm>
          <a:prstGeom prst="rect">
            <a:avLst/>
          </a:prstGeom>
          <a:noFill/>
          <a:ln>
            <a:noFill/>
          </a:ln>
        </p:spPr>
      </p:pic>
      <p:sp>
        <p:nvSpPr>
          <p:cNvPr id="7" name="모서리가 둥근 직사각형 6">
            <a:extLst>
              <a:ext uri="{FF2B5EF4-FFF2-40B4-BE49-F238E27FC236}">
                <a16:creationId xmlns:a16="http://schemas.microsoft.com/office/drawing/2014/main" id="{2429EF34-1CD4-9361-A4F9-90E8C55BDE02}"/>
              </a:ext>
            </a:extLst>
          </p:cNvPr>
          <p:cNvSpPr/>
          <p:nvPr/>
        </p:nvSpPr>
        <p:spPr>
          <a:xfrm>
            <a:off x="1744050" y="1712827"/>
            <a:ext cx="5722806" cy="3101289"/>
          </a:xfrm>
          <a:prstGeom prst="roundRect">
            <a:avLst/>
          </a:prstGeom>
          <a:noFill/>
          <a:ln w="5715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ko-KR" b="1" dirty="0">
                <a:solidFill>
                  <a:schemeClr val="accent1">
                    <a:lumMod val="75000"/>
                  </a:schemeClr>
                </a:solidFill>
              </a:rPr>
              <a:t>[Example 1]</a:t>
            </a:r>
          </a:p>
          <a:p>
            <a:r>
              <a:rPr lang="en" altLang="ko-KR" dirty="0">
                <a:solidFill>
                  <a:schemeClr val="tx1"/>
                </a:solidFill>
              </a:rPr>
              <a:t>Input:</a:t>
            </a:r>
          </a:p>
          <a:p>
            <a:r>
              <a:rPr kumimoji="1" lang="en" altLang="ko-KR" dirty="0">
                <a:solidFill>
                  <a:schemeClr val="tx1"/>
                </a:solidFill>
              </a:rPr>
              <a:t>~~~</a:t>
            </a:r>
          </a:p>
          <a:p>
            <a:r>
              <a:rPr kumimoji="1" lang="en" altLang="ko-KR" dirty="0">
                <a:solidFill>
                  <a:schemeClr val="tx1"/>
                </a:solidFill>
              </a:rPr>
              <a:t>Output:</a:t>
            </a:r>
          </a:p>
          <a:p>
            <a:r>
              <a:rPr lang="en" altLang="ko-KR" sz="1100" dirty="0">
                <a:solidFill>
                  <a:schemeClr val="tx1"/>
                </a:solidFill>
              </a:rPr>
              <a:t>In the beginning, Betty has only 100 / 2 = $&lt;&lt;100/2=50&gt;&gt;50.</a:t>
            </a:r>
          </a:p>
          <a:p>
            <a:r>
              <a:rPr lang="en" altLang="ko-KR" sz="1100" dirty="0">
                <a:solidFill>
                  <a:schemeClr val="tx1"/>
                </a:solidFill>
              </a:rPr>
              <a:t>Betty's grandparents gave her 15 * 2 = $&lt;&lt;15*2=30&gt;&gt;30.</a:t>
            </a:r>
          </a:p>
          <a:p>
            <a:r>
              <a:rPr lang="en" altLang="ko-KR" sz="1100" dirty="0">
                <a:solidFill>
                  <a:schemeClr val="tx1"/>
                </a:solidFill>
              </a:rPr>
              <a:t>This means, Betty needs 100 - 50 - 30 - 15 = $&lt;&lt;100-50-30-15=5&gt;&gt;5 more.</a:t>
            </a:r>
          </a:p>
          <a:p>
            <a:r>
              <a:rPr lang="en" altLang="ko-KR" sz="1100" dirty="0">
                <a:solidFill>
                  <a:schemeClr val="tx1"/>
                </a:solidFill>
              </a:rPr>
              <a:t>#### 5</a:t>
            </a:r>
            <a:endParaRPr kumimoji="1" lang="en-US" altLang="ko-KR" dirty="0">
              <a:solidFill>
                <a:schemeClr val="tx1"/>
              </a:solidFill>
            </a:endParaRPr>
          </a:p>
          <a:p>
            <a:r>
              <a:rPr kumimoji="1" lang="en-US" altLang="ko-KR" dirty="0">
                <a:solidFill>
                  <a:schemeClr val="tx1"/>
                </a:solidFill>
              </a:rPr>
              <a:t>…</a:t>
            </a:r>
          </a:p>
          <a:p>
            <a:endParaRPr kumimoji="1" lang="en-US" altLang="ko-KR" dirty="0">
              <a:solidFill>
                <a:schemeClr val="tx1"/>
              </a:solidFill>
            </a:endParaRPr>
          </a:p>
          <a:p>
            <a:r>
              <a:rPr kumimoji="1" lang="en-US" altLang="ko-KR" b="1" dirty="0">
                <a:solidFill>
                  <a:schemeClr val="accent1">
                    <a:lumMod val="75000"/>
                  </a:schemeClr>
                </a:solidFill>
              </a:rPr>
              <a:t>[Example 4]</a:t>
            </a:r>
          </a:p>
          <a:p>
            <a:r>
              <a:rPr lang="en" altLang="ko-KR" dirty="0">
                <a:solidFill>
                  <a:schemeClr val="tx1"/>
                </a:solidFill>
              </a:rPr>
              <a:t>Input:</a:t>
            </a:r>
          </a:p>
          <a:p>
            <a:r>
              <a:rPr kumimoji="1" lang="en" altLang="ko-KR" dirty="0">
                <a:solidFill>
                  <a:schemeClr val="tx1"/>
                </a:solidFill>
              </a:rPr>
              <a:t>~~~</a:t>
            </a:r>
          </a:p>
          <a:p>
            <a:r>
              <a:rPr kumimoji="1" lang="en" altLang="ko-KR" dirty="0">
                <a:solidFill>
                  <a:schemeClr val="tx1"/>
                </a:solidFill>
              </a:rPr>
              <a:t>Output:</a:t>
            </a:r>
          </a:p>
        </p:txBody>
      </p:sp>
      <p:pic>
        <p:nvPicPr>
          <p:cNvPr id="2" name="그림 8" descr="폰트, 그래픽, 텍스트, 스크린샷이(가) 표시된 사진&#10;&#10;자동 생성된 설명">
            <a:extLst>
              <a:ext uri="{FF2B5EF4-FFF2-40B4-BE49-F238E27FC236}">
                <a16:creationId xmlns:a16="http://schemas.microsoft.com/office/drawing/2014/main" id="{8BAE7788-8EEC-6BF8-699C-A00B0E6E549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extLst>
      <p:ext uri="{BB962C8B-B14F-4D97-AF65-F5344CB8AC3E}">
        <p14:creationId xmlns:p14="http://schemas.microsoft.com/office/powerpoint/2010/main" val="41587776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39CAED3-9164-45FA-F9E8-896DB9A967AA}"/>
            </a:ext>
          </a:extLst>
        </p:cNvPr>
        <p:cNvGrpSpPr/>
        <p:nvPr/>
      </p:nvGrpSpPr>
      <p:grpSpPr>
        <a:xfrm>
          <a:off x="0" y="0"/>
          <a:ext cx="0" cy="0"/>
          <a:chOff x="0" y="0"/>
          <a:chExt cx="0" cy="0"/>
        </a:xfrm>
      </p:grpSpPr>
      <p:sp>
        <p:nvSpPr>
          <p:cNvPr id="5" name="Google Shape;97;p19">
            <a:extLst>
              <a:ext uri="{FF2B5EF4-FFF2-40B4-BE49-F238E27FC236}">
                <a16:creationId xmlns:a16="http://schemas.microsoft.com/office/drawing/2014/main" id="{C9557D46-8EA0-368B-EDEB-E7B85C6D4F73}"/>
              </a:ext>
            </a:extLst>
          </p:cNvPr>
          <p:cNvSpPr txBox="1">
            <a:spLocks/>
          </p:cNvSpPr>
          <p:nvPr/>
        </p:nvSpPr>
        <p:spPr>
          <a:xfrm>
            <a:off x="311700" y="989862"/>
            <a:ext cx="8520600" cy="34164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lvl="0"/>
            <a:r>
              <a:rPr lang="en-US" altLang="ko-KR" b="1" dirty="0">
                <a:solidFill>
                  <a:schemeClr val="tx1"/>
                </a:solidFill>
              </a:rPr>
              <a:t>How about Zero-shot </a:t>
            </a:r>
            <a:r>
              <a:rPr lang="en-US" altLang="ko-KR" b="1" dirty="0" err="1">
                <a:solidFill>
                  <a:schemeClr val="tx1"/>
                </a:solidFill>
              </a:rPr>
              <a:t>CoT</a:t>
            </a:r>
            <a:r>
              <a:rPr lang="en-US" altLang="ko-KR" b="1" dirty="0">
                <a:solidFill>
                  <a:schemeClr val="tx1"/>
                </a:solidFill>
              </a:rPr>
              <a:t>??</a:t>
            </a:r>
          </a:p>
          <a:p>
            <a:pPr lvl="1"/>
            <a:r>
              <a:rPr lang="en-US" altLang="ko-KR" dirty="0">
                <a:solidFill>
                  <a:schemeClr val="tx1"/>
                </a:solidFill>
              </a:rPr>
              <a:t>Add the instruction?</a:t>
            </a:r>
            <a:endParaRPr lang="en" altLang="ko-KR" dirty="0">
              <a:solidFill>
                <a:schemeClr val="tx1"/>
              </a:solidFill>
            </a:endParaRPr>
          </a:p>
        </p:txBody>
      </p:sp>
      <p:sp>
        <p:nvSpPr>
          <p:cNvPr id="4" name="Google Shape;82;p17">
            <a:extLst>
              <a:ext uri="{FF2B5EF4-FFF2-40B4-BE49-F238E27FC236}">
                <a16:creationId xmlns:a16="http://schemas.microsoft.com/office/drawing/2014/main" id="{DD91D6DA-9B49-667F-BD9B-9E6FE56BC1DA}"/>
              </a:ext>
            </a:extLst>
          </p:cNvPr>
          <p:cNvSpPr txBox="1">
            <a:spLocks/>
          </p:cNvSpPr>
          <p:nvPr/>
        </p:nvSpPr>
        <p:spPr>
          <a:xfrm>
            <a:off x="311700" y="288275"/>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b="1" dirty="0">
                <a:solidFill>
                  <a:srgbClr val="004856"/>
                </a:solidFill>
              </a:rPr>
              <a:t>Task 2-1: </a:t>
            </a:r>
            <a:r>
              <a:rPr lang="en-US" b="1" dirty="0" err="1">
                <a:solidFill>
                  <a:srgbClr val="004856"/>
                </a:solidFill>
              </a:rPr>
              <a:t>CoT</a:t>
            </a:r>
            <a:r>
              <a:rPr lang="en-US" b="1" dirty="0">
                <a:solidFill>
                  <a:srgbClr val="004856"/>
                </a:solidFill>
              </a:rPr>
              <a:t> Prompting</a:t>
            </a:r>
            <a:endParaRPr lang="en-US" dirty="0"/>
          </a:p>
        </p:txBody>
      </p:sp>
      <p:pic>
        <p:nvPicPr>
          <p:cNvPr id="6" name="Google Shape;56;p13">
            <a:extLst>
              <a:ext uri="{FF2B5EF4-FFF2-40B4-BE49-F238E27FC236}">
                <a16:creationId xmlns:a16="http://schemas.microsoft.com/office/drawing/2014/main" id="{4241600C-DF1B-C02F-C7BC-BCDDC766B340}"/>
              </a:ext>
            </a:extLst>
          </p:cNvPr>
          <p:cNvPicPr preferRelativeResize="0"/>
          <p:nvPr/>
        </p:nvPicPr>
        <p:blipFill>
          <a:blip r:embed="rId3"/>
          <a:srcRect/>
          <a:stretch/>
        </p:blipFill>
        <p:spPr>
          <a:xfrm>
            <a:off x="7829550" y="4662460"/>
            <a:ext cx="1314450" cy="438150"/>
          </a:xfrm>
          <a:prstGeom prst="rect">
            <a:avLst/>
          </a:prstGeom>
          <a:noFill/>
          <a:ln>
            <a:noFill/>
          </a:ln>
        </p:spPr>
      </p:pic>
      <p:sp>
        <p:nvSpPr>
          <p:cNvPr id="2" name="모서리가 둥근 직사각형 1">
            <a:extLst>
              <a:ext uri="{FF2B5EF4-FFF2-40B4-BE49-F238E27FC236}">
                <a16:creationId xmlns:a16="http://schemas.microsoft.com/office/drawing/2014/main" id="{B99DC969-2F43-4D0E-3B93-80C58F1BB1F6}"/>
              </a:ext>
            </a:extLst>
          </p:cNvPr>
          <p:cNvSpPr/>
          <p:nvPr/>
        </p:nvSpPr>
        <p:spPr>
          <a:xfrm>
            <a:off x="1744050" y="1712827"/>
            <a:ext cx="5722806" cy="3101289"/>
          </a:xfrm>
          <a:prstGeom prst="roundRect">
            <a:avLst/>
          </a:prstGeom>
          <a:noFill/>
          <a:ln w="5715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ko-KR" b="1" dirty="0">
                <a:solidFill>
                  <a:schemeClr val="tx1"/>
                </a:solidFill>
              </a:rPr>
              <a:t>### Instruction: Generate the answer with rationale~~~</a:t>
            </a:r>
          </a:p>
          <a:p>
            <a:endParaRPr kumimoji="1" lang="en-US" altLang="ko-KR" b="1" dirty="0">
              <a:solidFill>
                <a:schemeClr val="accent1">
                  <a:lumMod val="75000"/>
                </a:schemeClr>
              </a:solidFill>
            </a:endParaRPr>
          </a:p>
          <a:p>
            <a:r>
              <a:rPr kumimoji="1" lang="en-US" altLang="ko-KR" b="1" dirty="0">
                <a:solidFill>
                  <a:schemeClr val="accent1">
                    <a:lumMod val="75000"/>
                  </a:schemeClr>
                </a:solidFill>
              </a:rPr>
              <a:t>[Example 1]</a:t>
            </a:r>
          </a:p>
          <a:p>
            <a:r>
              <a:rPr lang="en" altLang="ko-KR" dirty="0">
                <a:solidFill>
                  <a:schemeClr val="tx1"/>
                </a:solidFill>
              </a:rPr>
              <a:t>Input:</a:t>
            </a:r>
          </a:p>
          <a:p>
            <a:r>
              <a:rPr kumimoji="1" lang="en" altLang="ko-KR" dirty="0">
                <a:solidFill>
                  <a:schemeClr val="tx1"/>
                </a:solidFill>
              </a:rPr>
              <a:t>~~~</a:t>
            </a:r>
          </a:p>
          <a:p>
            <a:r>
              <a:rPr kumimoji="1" lang="en" altLang="ko-KR" dirty="0">
                <a:solidFill>
                  <a:schemeClr val="tx1"/>
                </a:solidFill>
              </a:rPr>
              <a:t>Output:</a:t>
            </a:r>
          </a:p>
        </p:txBody>
      </p:sp>
      <p:pic>
        <p:nvPicPr>
          <p:cNvPr id="3" name="그림 8" descr="폰트, 그래픽, 텍스트, 스크린샷이(가) 표시된 사진&#10;&#10;자동 생성된 설명">
            <a:extLst>
              <a:ext uri="{FF2B5EF4-FFF2-40B4-BE49-F238E27FC236}">
                <a16:creationId xmlns:a16="http://schemas.microsoft.com/office/drawing/2014/main" id="{07AD3D9F-0B6C-FDD8-4688-F41436FC74E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extLst>
      <p:ext uri="{BB962C8B-B14F-4D97-AF65-F5344CB8AC3E}">
        <p14:creationId xmlns:p14="http://schemas.microsoft.com/office/powerpoint/2010/main" val="30445410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5"/>
          <p:cNvSpPr txBox="1">
            <a:spLocks noGrp="1"/>
          </p:cNvSpPr>
          <p:nvPr>
            <p:ph type="ctrTitle"/>
          </p:nvPr>
        </p:nvSpPr>
        <p:spPr>
          <a:xfrm>
            <a:off x="311700" y="2226150"/>
            <a:ext cx="8520600" cy="6912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endParaRPr sz="4000" b="1">
              <a:solidFill>
                <a:srgbClr val="004856"/>
              </a:solidFill>
            </a:endParaRPr>
          </a:p>
          <a:p>
            <a:pPr marL="0" lvl="0" indent="0" algn="ctr" rtl="0">
              <a:spcBef>
                <a:spcPts val="0"/>
              </a:spcBef>
              <a:spcAft>
                <a:spcPts val="0"/>
              </a:spcAft>
              <a:buNone/>
            </a:pPr>
            <a:r>
              <a:rPr lang="ko" sz="4000" b="1">
                <a:solidFill>
                  <a:srgbClr val="004856"/>
                </a:solidFill>
              </a:rPr>
              <a:t>Zero-shot</a:t>
            </a:r>
            <a:endParaRPr sz="4000" b="1">
              <a:solidFill>
                <a:srgbClr val="004856"/>
              </a:solidFill>
            </a:endParaRPr>
          </a:p>
          <a:p>
            <a:pPr marL="0" lvl="0" indent="0" algn="ctr" rtl="0">
              <a:spcBef>
                <a:spcPts val="0"/>
              </a:spcBef>
              <a:spcAft>
                <a:spcPts val="0"/>
              </a:spcAft>
              <a:buNone/>
            </a:pPr>
            <a:r>
              <a:rPr lang="ko" sz="4000" b="1">
                <a:solidFill>
                  <a:srgbClr val="004856"/>
                </a:solidFill>
              </a:rPr>
              <a:t>Chain-of-Thought Prompting</a:t>
            </a:r>
            <a:endParaRPr sz="4000"/>
          </a:p>
        </p:txBody>
      </p:sp>
      <p:pic>
        <p:nvPicPr>
          <p:cNvPr id="2" name="Google Shape;56;p13">
            <a:extLst>
              <a:ext uri="{FF2B5EF4-FFF2-40B4-BE49-F238E27FC236}">
                <a16:creationId xmlns:a16="http://schemas.microsoft.com/office/drawing/2014/main" id="{D8C2B61E-1DE0-DA47-5324-7FD8B3E116AF}"/>
              </a:ext>
            </a:extLst>
          </p:cNvPr>
          <p:cNvPicPr preferRelativeResize="0"/>
          <p:nvPr/>
        </p:nvPicPr>
        <p:blipFill>
          <a:blip r:embed="rId3"/>
          <a:srcRect/>
          <a:stretch/>
        </p:blipFill>
        <p:spPr>
          <a:xfrm>
            <a:off x="7829550" y="4662460"/>
            <a:ext cx="1314450" cy="438150"/>
          </a:xfrm>
          <a:prstGeom prst="rect">
            <a:avLst/>
          </a:prstGeom>
          <a:noFill/>
          <a:ln>
            <a:noFill/>
          </a:ln>
        </p:spPr>
      </p:pic>
      <p:pic>
        <p:nvPicPr>
          <p:cNvPr id="3" name="그림 8" descr="폰트, 그래픽, 텍스트, 스크린샷이(가) 표시된 사진&#10;&#10;자동 생성된 설명">
            <a:extLst>
              <a:ext uri="{FF2B5EF4-FFF2-40B4-BE49-F238E27FC236}">
                <a16:creationId xmlns:a16="http://schemas.microsoft.com/office/drawing/2014/main" id="{78C35841-C9F4-BFC9-EEE2-244188F6C5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6" name="Google Shape;156;p26"/>
          <p:cNvSpPr txBox="1"/>
          <p:nvPr/>
        </p:nvSpPr>
        <p:spPr>
          <a:xfrm>
            <a:off x="71200" y="4882475"/>
            <a:ext cx="5406900" cy="177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ko" sz="700" b="1">
                <a:solidFill>
                  <a:srgbClr val="999999"/>
                </a:solidFill>
              </a:rPr>
              <a:t>Kojima et al. “Large language models are zero-shot reasoners.”, NeurIPS 2022</a:t>
            </a:r>
            <a:endParaRPr sz="700" b="1">
              <a:solidFill>
                <a:srgbClr val="999999"/>
              </a:solidFill>
            </a:endParaRPr>
          </a:p>
        </p:txBody>
      </p:sp>
      <p:pic>
        <p:nvPicPr>
          <p:cNvPr id="157" name="Google Shape;157;p26"/>
          <p:cNvPicPr preferRelativeResize="0"/>
          <p:nvPr/>
        </p:nvPicPr>
        <p:blipFill>
          <a:blip r:embed="rId3">
            <a:alphaModFix/>
          </a:blip>
          <a:stretch>
            <a:fillRect/>
          </a:stretch>
        </p:blipFill>
        <p:spPr>
          <a:xfrm>
            <a:off x="1806188" y="1741378"/>
            <a:ext cx="5531624" cy="2900150"/>
          </a:xfrm>
          <a:prstGeom prst="rect">
            <a:avLst/>
          </a:prstGeom>
          <a:noFill/>
          <a:ln>
            <a:noFill/>
          </a:ln>
        </p:spPr>
      </p:pic>
      <p:pic>
        <p:nvPicPr>
          <p:cNvPr id="2" name="Google Shape;56;p13">
            <a:extLst>
              <a:ext uri="{FF2B5EF4-FFF2-40B4-BE49-F238E27FC236}">
                <a16:creationId xmlns:a16="http://schemas.microsoft.com/office/drawing/2014/main" id="{91DB790F-D9BB-2DEA-9914-923B579A6EFA}"/>
              </a:ext>
            </a:extLst>
          </p:cNvPr>
          <p:cNvPicPr preferRelativeResize="0"/>
          <p:nvPr/>
        </p:nvPicPr>
        <p:blipFill>
          <a:blip r:embed="rId4"/>
          <a:srcRect/>
          <a:stretch/>
        </p:blipFill>
        <p:spPr>
          <a:xfrm>
            <a:off x="7829550" y="4662460"/>
            <a:ext cx="1314450" cy="438150"/>
          </a:xfrm>
          <a:prstGeom prst="rect">
            <a:avLst/>
          </a:prstGeom>
          <a:noFill/>
          <a:ln>
            <a:noFill/>
          </a:ln>
        </p:spPr>
      </p:pic>
      <p:sp>
        <p:nvSpPr>
          <p:cNvPr id="3" name="Google Shape;82;p17">
            <a:extLst>
              <a:ext uri="{FF2B5EF4-FFF2-40B4-BE49-F238E27FC236}">
                <a16:creationId xmlns:a16="http://schemas.microsoft.com/office/drawing/2014/main" id="{99E71FCF-80D8-A7BE-414B-82279E859857}"/>
              </a:ext>
            </a:extLst>
          </p:cNvPr>
          <p:cNvSpPr txBox="1">
            <a:spLocks/>
          </p:cNvSpPr>
          <p:nvPr/>
        </p:nvSpPr>
        <p:spPr>
          <a:xfrm>
            <a:off x="311700" y="289063"/>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b="1" dirty="0">
                <a:solidFill>
                  <a:srgbClr val="004856"/>
                </a:solidFill>
              </a:rPr>
              <a:t>Zero-shot </a:t>
            </a:r>
            <a:r>
              <a:rPr lang="en-US" b="1" dirty="0" err="1">
                <a:solidFill>
                  <a:srgbClr val="004856"/>
                </a:solidFill>
              </a:rPr>
              <a:t>CoT</a:t>
            </a:r>
            <a:endParaRPr lang="en-US" dirty="0"/>
          </a:p>
        </p:txBody>
      </p:sp>
      <p:sp>
        <p:nvSpPr>
          <p:cNvPr id="6" name="Google Shape;97;p19">
            <a:extLst>
              <a:ext uri="{FF2B5EF4-FFF2-40B4-BE49-F238E27FC236}">
                <a16:creationId xmlns:a16="http://schemas.microsoft.com/office/drawing/2014/main" id="{7776DB47-E551-3BA2-9151-7C0F4ED15C2C}"/>
              </a:ext>
            </a:extLst>
          </p:cNvPr>
          <p:cNvSpPr txBox="1">
            <a:spLocks/>
          </p:cNvSpPr>
          <p:nvPr/>
        </p:nvSpPr>
        <p:spPr>
          <a:xfrm>
            <a:off x="311700" y="989862"/>
            <a:ext cx="8520600" cy="34164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lvl="0"/>
            <a:r>
              <a:rPr lang="en" altLang="ko" b="1" dirty="0">
                <a:solidFill>
                  <a:schemeClr val="tx1"/>
                </a:solidFill>
              </a:rPr>
              <a:t>How can we generate reasoning steps without any demonstrations?</a:t>
            </a:r>
            <a:endParaRPr lang="en" altLang="ko-KR" dirty="0">
              <a:solidFill>
                <a:schemeClr val="tx1"/>
              </a:solidFill>
            </a:endParaRPr>
          </a:p>
        </p:txBody>
      </p:sp>
      <p:pic>
        <p:nvPicPr>
          <p:cNvPr id="4" name="그림 8" descr="폰트, 그래픽, 텍스트, 스크린샷이(가) 표시된 사진&#10;&#10;자동 생성된 설명">
            <a:extLst>
              <a:ext uri="{FF2B5EF4-FFF2-40B4-BE49-F238E27FC236}">
                <a16:creationId xmlns:a16="http://schemas.microsoft.com/office/drawing/2014/main" id="{8BCD2AE3-3F60-D8E6-76FC-7E584C16FED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5" name="Google Shape;165;p27"/>
          <p:cNvSpPr txBox="1"/>
          <p:nvPr/>
        </p:nvSpPr>
        <p:spPr>
          <a:xfrm>
            <a:off x="71200" y="4882475"/>
            <a:ext cx="5406900" cy="177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ko" sz="700" b="1">
                <a:solidFill>
                  <a:srgbClr val="999999"/>
                </a:solidFill>
              </a:rPr>
              <a:t>Kojima et al. “Large language models are zero-shot reasoners.”, NeurIPS 2022</a:t>
            </a:r>
            <a:endParaRPr sz="700" b="1">
              <a:solidFill>
                <a:srgbClr val="999999"/>
              </a:solidFill>
            </a:endParaRPr>
          </a:p>
        </p:txBody>
      </p:sp>
      <p:pic>
        <p:nvPicPr>
          <p:cNvPr id="166" name="Google Shape;166;p27"/>
          <p:cNvPicPr preferRelativeResize="0"/>
          <p:nvPr/>
        </p:nvPicPr>
        <p:blipFill>
          <a:blip r:embed="rId3">
            <a:alphaModFix/>
          </a:blip>
          <a:stretch>
            <a:fillRect/>
          </a:stretch>
        </p:blipFill>
        <p:spPr>
          <a:xfrm>
            <a:off x="1534538" y="1975122"/>
            <a:ext cx="6074923" cy="2411625"/>
          </a:xfrm>
          <a:prstGeom prst="rect">
            <a:avLst/>
          </a:prstGeom>
          <a:noFill/>
          <a:ln>
            <a:noFill/>
          </a:ln>
        </p:spPr>
      </p:pic>
      <p:pic>
        <p:nvPicPr>
          <p:cNvPr id="2" name="Google Shape;56;p13">
            <a:extLst>
              <a:ext uri="{FF2B5EF4-FFF2-40B4-BE49-F238E27FC236}">
                <a16:creationId xmlns:a16="http://schemas.microsoft.com/office/drawing/2014/main" id="{3358123E-51F6-C347-BB8D-198B876B2ECC}"/>
              </a:ext>
            </a:extLst>
          </p:cNvPr>
          <p:cNvPicPr preferRelativeResize="0"/>
          <p:nvPr/>
        </p:nvPicPr>
        <p:blipFill>
          <a:blip r:embed="rId4"/>
          <a:srcRect/>
          <a:stretch/>
        </p:blipFill>
        <p:spPr>
          <a:xfrm>
            <a:off x="7829550" y="4662460"/>
            <a:ext cx="1314450" cy="438150"/>
          </a:xfrm>
          <a:prstGeom prst="rect">
            <a:avLst/>
          </a:prstGeom>
          <a:noFill/>
          <a:ln>
            <a:noFill/>
          </a:ln>
        </p:spPr>
      </p:pic>
      <p:sp>
        <p:nvSpPr>
          <p:cNvPr id="3" name="Google Shape;97;p19">
            <a:extLst>
              <a:ext uri="{FF2B5EF4-FFF2-40B4-BE49-F238E27FC236}">
                <a16:creationId xmlns:a16="http://schemas.microsoft.com/office/drawing/2014/main" id="{38584A63-4ABD-C6BE-D858-3468014EAC2C}"/>
              </a:ext>
            </a:extLst>
          </p:cNvPr>
          <p:cNvSpPr txBox="1">
            <a:spLocks/>
          </p:cNvSpPr>
          <p:nvPr/>
        </p:nvSpPr>
        <p:spPr>
          <a:xfrm>
            <a:off x="311700" y="989861"/>
            <a:ext cx="8520600" cy="3472071"/>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lvl="0"/>
            <a:r>
              <a:rPr lang="en" altLang="ko" b="1" dirty="0">
                <a:solidFill>
                  <a:schemeClr val="tx1"/>
                </a:solidFill>
              </a:rPr>
              <a:t>Two stage prompting</a:t>
            </a:r>
            <a:endParaRPr lang="en" altLang="ko-KR" b="1" dirty="0">
              <a:solidFill>
                <a:schemeClr val="tx1"/>
              </a:solidFill>
            </a:endParaRPr>
          </a:p>
          <a:p>
            <a:pPr lvl="1"/>
            <a:r>
              <a:rPr lang="en" altLang="ko" dirty="0">
                <a:solidFill>
                  <a:schemeClr val="tx1"/>
                </a:solidFill>
              </a:rPr>
              <a:t>Reasoning extraction and answer extraction</a:t>
            </a:r>
            <a:endParaRPr lang="en" altLang="ko-KR" dirty="0">
              <a:solidFill>
                <a:schemeClr val="tx1"/>
              </a:solidFill>
            </a:endParaRPr>
          </a:p>
        </p:txBody>
      </p:sp>
      <p:sp>
        <p:nvSpPr>
          <p:cNvPr id="6" name="Google Shape;82;p17">
            <a:extLst>
              <a:ext uri="{FF2B5EF4-FFF2-40B4-BE49-F238E27FC236}">
                <a16:creationId xmlns:a16="http://schemas.microsoft.com/office/drawing/2014/main" id="{3863AE20-EFDD-84D7-5724-A3C63F63BC7B}"/>
              </a:ext>
            </a:extLst>
          </p:cNvPr>
          <p:cNvSpPr txBox="1">
            <a:spLocks/>
          </p:cNvSpPr>
          <p:nvPr/>
        </p:nvSpPr>
        <p:spPr>
          <a:xfrm>
            <a:off x="311700" y="289063"/>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b="1" dirty="0">
                <a:solidFill>
                  <a:srgbClr val="004856"/>
                </a:solidFill>
              </a:rPr>
              <a:t>Zero-shot </a:t>
            </a:r>
            <a:r>
              <a:rPr lang="en-US" b="1" dirty="0" err="1">
                <a:solidFill>
                  <a:srgbClr val="004856"/>
                </a:solidFill>
              </a:rPr>
              <a:t>CoT</a:t>
            </a:r>
            <a:endParaRPr lang="en-US" dirty="0"/>
          </a:p>
        </p:txBody>
      </p:sp>
      <p:pic>
        <p:nvPicPr>
          <p:cNvPr id="4" name="그림 8" descr="폰트, 그래픽, 텍스트, 스크린샷이(가) 표시된 사진&#10;&#10;자동 생성된 설명">
            <a:extLst>
              <a:ext uri="{FF2B5EF4-FFF2-40B4-BE49-F238E27FC236}">
                <a16:creationId xmlns:a16="http://schemas.microsoft.com/office/drawing/2014/main" id="{A5278E7E-F4D4-2CA1-FB33-05A16B661FB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pic>
        <p:nvPicPr>
          <p:cNvPr id="174" name="Google Shape;174;p28"/>
          <p:cNvPicPr preferRelativeResize="0"/>
          <p:nvPr/>
        </p:nvPicPr>
        <p:blipFill>
          <a:blip r:embed="rId3">
            <a:alphaModFix/>
          </a:blip>
          <a:stretch>
            <a:fillRect/>
          </a:stretch>
        </p:blipFill>
        <p:spPr>
          <a:xfrm>
            <a:off x="2208423" y="1995275"/>
            <a:ext cx="4727150" cy="2764925"/>
          </a:xfrm>
          <a:prstGeom prst="rect">
            <a:avLst/>
          </a:prstGeom>
          <a:noFill/>
          <a:ln>
            <a:noFill/>
          </a:ln>
        </p:spPr>
      </p:pic>
      <p:sp>
        <p:nvSpPr>
          <p:cNvPr id="175" name="Google Shape;175;p28"/>
          <p:cNvSpPr txBox="1"/>
          <p:nvPr/>
        </p:nvSpPr>
        <p:spPr>
          <a:xfrm>
            <a:off x="71200" y="4882475"/>
            <a:ext cx="5406900" cy="177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ko" sz="700" b="1">
                <a:solidFill>
                  <a:srgbClr val="999999"/>
                </a:solidFill>
              </a:rPr>
              <a:t>Kojima et al. “Large language models are zero-shot reasoners.”, NeurIPS 2022</a:t>
            </a:r>
            <a:endParaRPr sz="700" b="1">
              <a:solidFill>
                <a:srgbClr val="999999"/>
              </a:solidFill>
            </a:endParaRPr>
          </a:p>
        </p:txBody>
      </p:sp>
      <p:pic>
        <p:nvPicPr>
          <p:cNvPr id="2" name="Google Shape;56;p13">
            <a:extLst>
              <a:ext uri="{FF2B5EF4-FFF2-40B4-BE49-F238E27FC236}">
                <a16:creationId xmlns:a16="http://schemas.microsoft.com/office/drawing/2014/main" id="{AC941E3F-338F-0C62-C12A-B5FE92817C56}"/>
              </a:ext>
            </a:extLst>
          </p:cNvPr>
          <p:cNvPicPr preferRelativeResize="0"/>
          <p:nvPr/>
        </p:nvPicPr>
        <p:blipFill>
          <a:blip r:embed="rId4"/>
          <a:srcRect/>
          <a:stretch/>
        </p:blipFill>
        <p:spPr>
          <a:xfrm>
            <a:off x="7829550" y="4662460"/>
            <a:ext cx="1314450" cy="438150"/>
          </a:xfrm>
          <a:prstGeom prst="rect">
            <a:avLst/>
          </a:prstGeom>
          <a:noFill/>
          <a:ln>
            <a:noFill/>
          </a:ln>
        </p:spPr>
      </p:pic>
      <p:sp>
        <p:nvSpPr>
          <p:cNvPr id="7" name="Google Shape;97;p19">
            <a:extLst>
              <a:ext uri="{FF2B5EF4-FFF2-40B4-BE49-F238E27FC236}">
                <a16:creationId xmlns:a16="http://schemas.microsoft.com/office/drawing/2014/main" id="{93671F28-BB1E-6C73-569F-21B889AB4DBE}"/>
              </a:ext>
            </a:extLst>
          </p:cNvPr>
          <p:cNvSpPr txBox="1">
            <a:spLocks/>
          </p:cNvSpPr>
          <p:nvPr/>
        </p:nvSpPr>
        <p:spPr>
          <a:xfrm>
            <a:off x="311700" y="989862"/>
            <a:ext cx="8520600" cy="34164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lvl="0"/>
            <a:r>
              <a:rPr lang="en" altLang="ko" b="1" dirty="0">
                <a:solidFill>
                  <a:schemeClr val="tx1"/>
                </a:solidFill>
              </a:rPr>
              <a:t>Two stage prompting</a:t>
            </a:r>
            <a:endParaRPr lang="en" altLang="ko-KR" b="1" dirty="0">
              <a:solidFill>
                <a:schemeClr val="tx1"/>
              </a:solidFill>
            </a:endParaRPr>
          </a:p>
          <a:p>
            <a:pPr lvl="1"/>
            <a:r>
              <a:rPr lang="en" altLang="ko" dirty="0">
                <a:solidFill>
                  <a:schemeClr val="tx1"/>
                </a:solidFill>
              </a:rPr>
              <a:t>Reasoning extraction and answer extraction</a:t>
            </a:r>
            <a:endParaRPr lang="en" altLang="ko-KR" dirty="0">
              <a:solidFill>
                <a:schemeClr val="tx1"/>
              </a:solidFill>
            </a:endParaRPr>
          </a:p>
        </p:txBody>
      </p:sp>
      <p:sp>
        <p:nvSpPr>
          <p:cNvPr id="5" name="Google Shape;82;p17">
            <a:extLst>
              <a:ext uri="{FF2B5EF4-FFF2-40B4-BE49-F238E27FC236}">
                <a16:creationId xmlns:a16="http://schemas.microsoft.com/office/drawing/2014/main" id="{8AE83626-E971-8C4A-AABA-B90DF09FD29D}"/>
              </a:ext>
            </a:extLst>
          </p:cNvPr>
          <p:cNvSpPr txBox="1">
            <a:spLocks/>
          </p:cNvSpPr>
          <p:nvPr/>
        </p:nvSpPr>
        <p:spPr>
          <a:xfrm>
            <a:off x="311700" y="289063"/>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b="1" dirty="0">
                <a:solidFill>
                  <a:srgbClr val="004856"/>
                </a:solidFill>
              </a:rPr>
              <a:t>Zero-shot </a:t>
            </a:r>
            <a:r>
              <a:rPr lang="en-US" b="1" dirty="0" err="1">
                <a:solidFill>
                  <a:srgbClr val="004856"/>
                </a:solidFill>
              </a:rPr>
              <a:t>CoT</a:t>
            </a:r>
            <a:endParaRPr lang="en-US" dirty="0"/>
          </a:p>
        </p:txBody>
      </p:sp>
      <p:pic>
        <p:nvPicPr>
          <p:cNvPr id="3" name="그림 8" descr="폰트, 그래픽, 텍스트, 스크린샷이(가) 표시된 사진&#10;&#10;자동 생성된 설명">
            <a:extLst>
              <a:ext uri="{FF2B5EF4-FFF2-40B4-BE49-F238E27FC236}">
                <a16:creationId xmlns:a16="http://schemas.microsoft.com/office/drawing/2014/main" id="{78755819-5E58-E598-7812-B4FBD091FAE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AF544E1-7057-A3D8-3C2D-DBE35C4BA2BA}"/>
            </a:ext>
          </a:extLst>
        </p:cNvPr>
        <p:cNvGrpSpPr/>
        <p:nvPr/>
      </p:nvGrpSpPr>
      <p:grpSpPr>
        <a:xfrm>
          <a:off x="0" y="0"/>
          <a:ext cx="0" cy="0"/>
          <a:chOff x="0" y="0"/>
          <a:chExt cx="0" cy="0"/>
        </a:xfrm>
      </p:grpSpPr>
      <p:sp>
        <p:nvSpPr>
          <p:cNvPr id="5" name="Google Shape;97;p19">
            <a:extLst>
              <a:ext uri="{FF2B5EF4-FFF2-40B4-BE49-F238E27FC236}">
                <a16:creationId xmlns:a16="http://schemas.microsoft.com/office/drawing/2014/main" id="{58A63F40-FC04-9D22-C57B-9A591B1C03E3}"/>
              </a:ext>
            </a:extLst>
          </p:cNvPr>
          <p:cNvSpPr txBox="1">
            <a:spLocks/>
          </p:cNvSpPr>
          <p:nvPr/>
        </p:nvSpPr>
        <p:spPr>
          <a:xfrm>
            <a:off x="311700" y="989862"/>
            <a:ext cx="8520600" cy="34164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lvl="0"/>
            <a:r>
              <a:rPr lang="en-US" altLang="ko-KR" b="1" dirty="0">
                <a:solidFill>
                  <a:schemeClr val="tx1"/>
                </a:solidFill>
              </a:rPr>
              <a:t>Zero-shot </a:t>
            </a:r>
            <a:r>
              <a:rPr lang="en-US" altLang="ko-KR" b="1" dirty="0" err="1">
                <a:solidFill>
                  <a:schemeClr val="tx1"/>
                </a:solidFill>
              </a:rPr>
              <a:t>CoT</a:t>
            </a:r>
            <a:r>
              <a:rPr lang="en-US" altLang="ko-KR" b="1" dirty="0">
                <a:solidFill>
                  <a:schemeClr val="tx1"/>
                </a:solidFill>
              </a:rPr>
              <a:t> with reasoning extraction!</a:t>
            </a:r>
          </a:p>
        </p:txBody>
      </p:sp>
      <p:sp>
        <p:nvSpPr>
          <p:cNvPr id="4" name="Google Shape;82;p17">
            <a:extLst>
              <a:ext uri="{FF2B5EF4-FFF2-40B4-BE49-F238E27FC236}">
                <a16:creationId xmlns:a16="http://schemas.microsoft.com/office/drawing/2014/main" id="{F7F36F0F-70D4-E063-731E-9EB41021139A}"/>
              </a:ext>
            </a:extLst>
          </p:cNvPr>
          <p:cNvSpPr txBox="1">
            <a:spLocks/>
          </p:cNvSpPr>
          <p:nvPr/>
        </p:nvSpPr>
        <p:spPr>
          <a:xfrm>
            <a:off x="311700" y="288275"/>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b="1" dirty="0">
                <a:solidFill>
                  <a:srgbClr val="004856"/>
                </a:solidFill>
              </a:rPr>
              <a:t>Task 2-1: </a:t>
            </a:r>
            <a:r>
              <a:rPr lang="en-US" b="1" dirty="0" err="1">
                <a:solidFill>
                  <a:srgbClr val="004856"/>
                </a:solidFill>
              </a:rPr>
              <a:t>CoT</a:t>
            </a:r>
            <a:r>
              <a:rPr lang="en-US" b="1" dirty="0">
                <a:solidFill>
                  <a:srgbClr val="004856"/>
                </a:solidFill>
              </a:rPr>
              <a:t> Prompting</a:t>
            </a:r>
            <a:endParaRPr lang="en-US" dirty="0"/>
          </a:p>
        </p:txBody>
      </p:sp>
      <p:pic>
        <p:nvPicPr>
          <p:cNvPr id="6" name="Google Shape;56;p13">
            <a:extLst>
              <a:ext uri="{FF2B5EF4-FFF2-40B4-BE49-F238E27FC236}">
                <a16:creationId xmlns:a16="http://schemas.microsoft.com/office/drawing/2014/main" id="{E17BBDE8-E386-A77D-8183-6D18EF4E73B1}"/>
              </a:ext>
            </a:extLst>
          </p:cNvPr>
          <p:cNvPicPr preferRelativeResize="0"/>
          <p:nvPr/>
        </p:nvPicPr>
        <p:blipFill>
          <a:blip r:embed="rId3"/>
          <a:srcRect/>
          <a:stretch/>
        </p:blipFill>
        <p:spPr>
          <a:xfrm>
            <a:off x="7829550" y="4662460"/>
            <a:ext cx="1314450" cy="438150"/>
          </a:xfrm>
          <a:prstGeom prst="rect">
            <a:avLst/>
          </a:prstGeom>
          <a:noFill/>
          <a:ln>
            <a:noFill/>
          </a:ln>
        </p:spPr>
      </p:pic>
      <p:sp>
        <p:nvSpPr>
          <p:cNvPr id="7" name="모서리가 둥근 직사각형 6">
            <a:extLst>
              <a:ext uri="{FF2B5EF4-FFF2-40B4-BE49-F238E27FC236}">
                <a16:creationId xmlns:a16="http://schemas.microsoft.com/office/drawing/2014/main" id="{044015FF-F7EE-F3D7-F5D7-3CC97079B338}"/>
              </a:ext>
            </a:extLst>
          </p:cNvPr>
          <p:cNvSpPr/>
          <p:nvPr/>
        </p:nvSpPr>
        <p:spPr>
          <a:xfrm>
            <a:off x="1744050" y="1712827"/>
            <a:ext cx="5722806" cy="3101289"/>
          </a:xfrm>
          <a:prstGeom prst="roundRect">
            <a:avLst/>
          </a:prstGeom>
          <a:noFill/>
          <a:ln w="5715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ko-KR" b="1" dirty="0">
                <a:solidFill>
                  <a:schemeClr val="accent1">
                    <a:lumMod val="75000"/>
                  </a:schemeClr>
                </a:solidFill>
              </a:rPr>
              <a:t>[Example 1]</a:t>
            </a:r>
          </a:p>
          <a:p>
            <a:r>
              <a:rPr lang="en" altLang="ko-KR" dirty="0">
                <a:solidFill>
                  <a:schemeClr val="tx1"/>
                </a:solidFill>
              </a:rPr>
              <a:t>Input:</a:t>
            </a:r>
          </a:p>
          <a:p>
            <a:r>
              <a:rPr kumimoji="1" lang="en" altLang="ko-KR" dirty="0">
                <a:solidFill>
                  <a:schemeClr val="tx1"/>
                </a:solidFill>
              </a:rPr>
              <a:t>~~~</a:t>
            </a:r>
          </a:p>
          <a:p>
            <a:r>
              <a:rPr kumimoji="1" lang="en" altLang="ko-KR" dirty="0">
                <a:solidFill>
                  <a:schemeClr val="tx1"/>
                </a:solidFill>
              </a:rPr>
              <a:t>Output:</a:t>
            </a:r>
          </a:p>
          <a:p>
            <a:endParaRPr kumimoji="1" lang="en-US" altLang="ko-KR" dirty="0">
              <a:solidFill>
                <a:schemeClr val="tx1"/>
              </a:solidFill>
            </a:endParaRPr>
          </a:p>
          <a:p>
            <a:endParaRPr kumimoji="1" lang="en-US" altLang="ko-KR" dirty="0">
              <a:solidFill>
                <a:schemeClr val="tx1"/>
              </a:solidFill>
            </a:endParaRPr>
          </a:p>
          <a:p>
            <a:r>
              <a:rPr kumimoji="1" lang="en-US" altLang="ko-KR" b="1" dirty="0">
                <a:solidFill>
                  <a:srgbClr val="FF0000"/>
                </a:solidFill>
              </a:rPr>
              <a:t>[Answer]</a:t>
            </a:r>
          </a:p>
          <a:p>
            <a:r>
              <a:rPr lang="en" altLang="ko-KR" b="1" dirty="0">
                <a:solidFill>
                  <a:schemeClr val="tx1"/>
                </a:solidFill>
                <a:highlight>
                  <a:srgbClr val="FFFF00"/>
                </a:highlight>
              </a:rPr>
              <a:t>Let’s think step by step.</a:t>
            </a:r>
            <a:endParaRPr kumimoji="1" lang="en" altLang="ko-KR" b="1" dirty="0">
              <a:solidFill>
                <a:schemeClr val="tx1"/>
              </a:solidFill>
              <a:highlight>
                <a:srgbClr val="FFFF00"/>
              </a:highlight>
            </a:endParaRPr>
          </a:p>
        </p:txBody>
      </p:sp>
      <p:pic>
        <p:nvPicPr>
          <p:cNvPr id="2" name="그림 8" descr="폰트, 그래픽, 텍스트, 스크린샷이(가) 표시된 사진&#10;&#10;자동 생성된 설명">
            <a:extLst>
              <a:ext uri="{FF2B5EF4-FFF2-40B4-BE49-F238E27FC236}">
                <a16:creationId xmlns:a16="http://schemas.microsoft.com/office/drawing/2014/main" id="{03D92133-5907-D473-96EF-EB691D80077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extLst>
      <p:ext uri="{BB962C8B-B14F-4D97-AF65-F5344CB8AC3E}">
        <p14:creationId xmlns:p14="http://schemas.microsoft.com/office/powerpoint/2010/main" val="1901041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79">
          <a:extLst>
            <a:ext uri="{FF2B5EF4-FFF2-40B4-BE49-F238E27FC236}">
              <a16:creationId xmlns:a16="http://schemas.microsoft.com/office/drawing/2014/main" id="{173400B4-5D50-AD7E-C796-0E6D0E3634F3}"/>
            </a:ext>
          </a:extLst>
        </p:cNvPr>
        <p:cNvGrpSpPr/>
        <p:nvPr/>
      </p:nvGrpSpPr>
      <p:grpSpPr>
        <a:xfrm>
          <a:off x="0" y="0"/>
          <a:ext cx="0" cy="0"/>
          <a:chOff x="0" y="0"/>
          <a:chExt cx="0" cy="0"/>
        </a:xfrm>
      </p:grpSpPr>
      <p:sp>
        <p:nvSpPr>
          <p:cNvPr id="180" name="Google Shape;180;p29">
            <a:extLst>
              <a:ext uri="{FF2B5EF4-FFF2-40B4-BE49-F238E27FC236}">
                <a16:creationId xmlns:a16="http://schemas.microsoft.com/office/drawing/2014/main" id="{4DF9BAF4-354D-62D8-504B-B19FC5EECABF}"/>
              </a:ext>
            </a:extLst>
          </p:cNvPr>
          <p:cNvSpPr txBox="1">
            <a:spLocks noGrp="1"/>
          </p:cNvSpPr>
          <p:nvPr>
            <p:ph type="ctrTitle"/>
          </p:nvPr>
        </p:nvSpPr>
        <p:spPr>
          <a:xfrm>
            <a:off x="311700" y="2226150"/>
            <a:ext cx="8520600" cy="6912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n-US" altLang="ko" sz="4000" b="1" dirty="0">
                <a:solidFill>
                  <a:srgbClr val="004856"/>
                </a:solidFill>
              </a:rPr>
              <a:t>Self-Consistency</a:t>
            </a:r>
            <a:endParaRPr sz="4000" dirty="0"/>
          </a:p>
        </p:txBody>
      </p:sp>
      <p:pic>
        <p:nvPicPr>
          <p:cNvPr id="2" name="Google Shape;56;p13">
            <a:extLst>
              <a:ext uri="{FF2B5EF4-FFF2-40B4-BE49-F238E27FC236}">
                <a16:creationId xmlns:a16="http://schemas.microsoft.com/office/drawing/2014/main" id="{BDA7FCDA-C904-A7E2-2F81-9C6484D83F74}"/>
              </a:ext>
            </a:extLst>
          </p:cNvPr>
          <p:cNvPicPr preferRelativeResize="0"/>
          <p:nvPr/>
        </p:nvPicPr>
        <p:blipFill>
          <a:blip r:embed="rId3"/>
          <a:srcRect/>
          <a:stretch/>
        </p:blipFill>
        <p:spPr>
          <a:xfrm>
            <a:off x="7829550" y="4662460"/>
            <a:ext cx="1314450" cy="438150"/>
          </a:xfrm>
          <a:prstGeom prst="rect">
            <a:avLst/>
          </a:prstGeom>
          <a:noFill/>
          <a:ln>
            <a:noFill/>
          </a:ln>
        </p:spPr>
      </p:pic>
      <p:pic>
        <p:nvPicPr>
          <p:cNvPr id="3" name="그림 8" descr="폰트, 그래픽, 텍스트, 스크린샷이(가) 표시된 사진&#10;&#10;자동 생성된 설명">
            <a:extLst>
              <a:ext uri="{FF2B5EF4-FFF2-40B4-BE49-F238E27FC236}">
                <a16:creationId xmlns:a16="http://schemas.microsoft.com/office/drawing/2014/main" id="{6170905D-9B62-1048-F599-4EDA16EA7A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extLst>
      <p:ext uri="{BB962C8B-B14F-4D97-AF65-F5344CB8AC3E}">
        <p14:creationId xmlns:p14="http://schemas.microsoft.com/office/powerpoint/2010/main" val="20641024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52">
          <a:extLst>
            <a:ext uri="{FF2B5EF4-FFF2-40B4-BE49-F238E27FC236}">
              <a16:creationId xmlns:a16="http://schemas.microsoft.com/office/drawing/2014/main" id="{80BABCA9-91D7-B758-FD54-D63AF5494898}"/>
            </a:ext>
          </a:extLst>
        </p:cNvPr>
        <p:cNvGrpSpPr/>
        <p:nvPr/>
      </p:nvGrpSpPr>
      <p:grpSpPr>
        <a:xfrm>
          <a:off x="0" y="0"/>
          <a:ext cx="0" cy="0"/>
          <a:chOff x="0" y="0"/>
          <a:chExt cx="0" cy="0"/>
        </a:xfrm>
      </p:grpSpPr>
      <p:sp>
        <p:nvSpPr>
          <p:cNvPr id="156" name="Google Shape;156;p26">
            <a:extLst>
              <a:ext uri="{FF2B5EF4-FFF2-40B4-BE49-F238E27FC236}">
                <a16:creationId xmlns:a16="http://schemas.microsoft.com/office/drawing/2014/main" id="{FC6E3285-ED97-99FF-070A-2D19012E4A8C}"/>
              </a:ext>
            </a:extLst>
          </p:cNvPr>
          <p:cNvSpPr txBox="1"/>
          <p:nvPr/>
        </p:nvSpPr>
        <p:spPr>
          <a:xfrm>
            <a:off x="71200" y="4882475"/>
            <a:ext cx="5406900" cy="177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tLang="ko" sz="700" b="1" dirty="0">
                <a:solidFill>
                  <a:srgbClr val="999999"/>
                </a:solidFill>
              </a:rPr>
              <a:t>Wang</a:t>
            </a:r>
            <a:r>
              <a:rPr lang="ko" sz="700" b="1" dirty="0">
                <a:solidFill>
                  <a:srgbClr val="999999"/>
                </a:solidFill>
              </a:rPr>
              <a:t> et al. “</a:t>
            </a:r>
            <a:r>
              <a:rPr lang="en-US" altLang="ko" sz="700" b="1" dirty="0">
                <a:solidFill>
                  <a:srgbClr val="999999"/>
                </a:solidFill>
              </a:rPr>
              <a:t>Self-Consistency Improves Chain of Thought Reasoning in Language Models</a:t>
            </a:r>
            <a:r>
              <a:rPr lang="ko" sz="700" b="1" dirty="0">
                <a:solidFill>
                  <a:srgbClr val="999999"/>
                </a:solidFill>
              </a:rPr>
              <a:t>.”, </a:t>
            </a:r>
            <a:r>
              <a:rPr lang="en-US" altLang="ko" sz="700" b="1" dirty="0">
                <a:solidFill>
                  <a:srgbClr val="999999"/>
                </a:solidFill>
              </a:rPr>
              <a:t>ICLR</a:t>
            </a:r>
            <a:r>
              <a:rPr lang="ko" sz="700" b="1" dirty="0">
                <a:solidFill>
                  <a:srgbClr val="999999"/>
                </a:solidFill>
              </a:rPr>
              <a:t> 202</a:t>
            </a:r>
            <a:r>
              <a:rPr lang="en-US" altLang="ko" sz="700" b="1" dirty="0">
                <a:solidFill>
                  <a:srgbClr val="999999"/>
                </a:solidFill>
              </a:rPr>
              <a:t>3</a:t>
            </a:r>
            <a:endParaRPr sz="700" b="1" dirty="0">
              <a:solidFill>
                <a:srgbClr val="999999"/>
              </a:solidFill>
            </a:endParaRPr>
          </a:p>
        </p:txBody>
      </p:sp>
      <p:pic>
        <p:nvPicPr>
          <p:cNvPr id="2" name="Google Shape;56;p13">
            <a:extLst>
              <a:ext uri="{FF2B5EF4-FFF2-40B4-BE49-F238E27FC236}">
                <a16:creationId xmlns:a16="http://schemas.microsoft.com/office/drawing/2014/main" id="{4402DE52-CE0F-845C-691A-67660CF6006F}"/>
              </a:ext>
            </a:extLst>
          </p:cNvPr>
          <p:cNvPicPr preferRelativeResize="0"/>
          <p:nvPr/>
        </p:nvPicPr>
        <p:blipFill>
          <a:blip r:embed="rId3"/>
          <a:srcRect/>
          <a:stretch/>
        </p:blipFill>
        <p:spPr>
          <a:xfrm>
            <a:off x="7829550" y="4662460"/>
            <a:ext cx="1314450" cy="438150"/>
          </a:xfrm>
          <a:prstGeom prst="rect">
            <a:avLst/>
          </a:prstGeom>
          <a:noFill/>
          <a:ln>
            <a:noFill/>
          </a:ln>
        </p:spPr>
      </p:pic>
      <p:sp>
        <p:nvSpPr>
          <p:cNvPr id="3" name="Google Shape;82;p17">
            <a:extLst>
              <a:ext uri="{FF2B5EF4-FFF2-40B4-BE49-F238E27FC236}">
                <a16:creationId xmlns:a16="http://schemas.microsoft.com/office/drawing/2014/main" id="{CBADC221-B715-C207-5A20-BABA2E062166}"/>
              </a:ext>
            </a:extLst>
          </p:cNvPr>
          <p:cNvSpPr txBox="1">
            <a:spLocks/>
          </p:cNvSpPr>
          <p:nvPr/>
        </p:nvSpPr>
        <p:spPr>
          <a:xfrm>
            <a:off x="311700" y="289063"/>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b="1" dirty="0">
                <a:solidFill>
                  <a:srgbClr val="004856"/>
                </a:solidFill>
              </a:rPr>
              <a:t>Self-Consistency</a:t>
            </a:r>
            <a:endParaRPr lang="en-US" dirty="0"/>
          </a:p>
        </p:txBody>
      </p:sp>
      <p:sp>
        <p:nvSpPr>
          <p:cNvPr id="6" name="Google Shape;97;p19">
            <a:extLst>
              <a:ext uri="{FF2B5EF4-FFF2-40B4-BE49-F238E27FC236}">
                <a16:creationId xmlns:a16="http://schemas.microsoft.com/office/drawing/2014/main" id="{F1719C35-E774-2EEC-8625-400934616290}"/>
              </a:ext>
            </a:extLst>
          </p:cNvPr>
          <p:cNvSpPr txBox="1">
            <a:spLocks/>
          </p:cNvSpPr>
          <p:nvPr/>
        </p:nvSpPr>
        <p:spPr>
          <a:xfrm>
            <a:off x="311700" y="989862"/>
            <a:ext cx="8520600" cy="34164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lvl="0"/>
            <a:r>
              <a:rPr lang="en-US" altLang="ko-KR" b="1" dirty="0" err="1">
                <a:solidFill>
                  <a:schemeClr val="tx1"/>
                </a:solidFill>
              </a:rPr>
              <a:t>CoT</a:t>
            </a:r>
            <a:r>
              <a:rPr lang="en-US" altLang="ko-KR" b="1" dirty="0">
                <a:solidFill>
                  <a:schemeClr val="tx1"/>
                </a:solidFill>
              </a:rPr>
              <a:t> decoding strategy: Greedy decoding</a:t>
            </a:r>
            <a:endParaRPr lang="en" altLang="ko-KR" b="1" dirty="0">
              <a:solidFill>
                <a:schemeClr val="tx1"/>
              </a:solidFill>
            </a:endParaRPr>
          </a:p>
        </p:txBody>
      </p:sp>
      <p:pic>
        <p:nvPicPr>
          <p:cNvPr id="5" name="그림 4">
            <a:extLst>
              <a:ext uri="{FF2B5EF4-FFF2-40B4-BE49-F238E27FC236}">
                <a16:creationId xmlns:a16="http://schemas.microsoft.com/office/drawing/2014/main" id="{80568B1C-CA5C-0399-0092-B98876F04C8C}"/>
              </a:ext>
            </a:extLst>
          </p:cNvPr>
          <p:cNvPicPr>
            <a:picLocks noChangeAspect="1"/>
          </p:cNvPicPr>
          <p:nvPr/>
        </p:nvPicPr>
        <p:blipFill>
          <a:blip r:embed="rId4"/>
          <a:stretch>
            <a:fillRect/>
          </a:stretch>
        </p:blipFill>
        <p:spPr>
          <a:xfrm>
            <a:off x="1970539" y="1807295"/>
            <a:ext cx="5202921" cy="2389324"/>
          </a:xfrm>
          <a:prstGeom prst="rect">
            <a:avLst/>
          </a:prstGeom>
        </p:spPr>
      </p:pic>
      <p:pic>
        <p:nvPicPr>
          <p:cNvPr id="4" name="그림 8" descr="폰트, 그래픽, 텍스트, 스크린샷이(가) 표시된 사진&#10;&#10;자동 생성된 설명">
            <a:extLst>
              <a:ext uri="{FF2B5EF4-FFF2-40B4-BE49-F238E27FC236}">
                <a16:creationId xmlns:a16="http://schemas.microsoft.com/office/drawing/2014/main" id="{A5745789-F6CE-C063-F51B-4E904188DFC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extLst>
      <p:ext uri="{BB962C8B-B14F-4D97-AF65-F5344CB8AC3E}">
        <p14:creationId xmlns:p14="http://schemas.microsoft.com/office/powerpoint/2010/main" val="30480344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52">
          <a:extLst>
            <a:ext uri="{FF2B5EF4-FFF2-40B4-BE49-F238E27FC236}">
              <a16:creationId xmlns:a16="http://schemas.microsoft.com/office/drawing/2014/main" id="{97CF5E11-C852-6500-515D-577BC972281D}"/>
            </a:ext>
          </a:extLst>
        </p:cNvPr>
        <p:cNvGrpSpPr/>
        <p:nvPr/>
      </p:nvGrpSpPr>
      <p:grpSpPr>
        <a:xfrm>
          <a:off x="0" y="0"/>
          <a:ext cx="0" cy="0"/>
          <a:chOff x="0" y="0"/>
          <a:chExt cx="0" cy="0"/>
        </a:xfrm>
      </p:grpSpPr>
      <p:sp>
        <p:nvSpPr>
          <p:cNvPr id="156" name="Google Shape;156;p26">
            <a:extLst>
              <a:ext uri="{FF2B5EF4-FFF2-40B4-BE49-F238E27FC236}">
                <a16:creationId xmlns:a16="http://schemas.microsoft.com/office/drawing/2014/main" id="{5FFCD81C-7D67-2BB1-3599-03E4BDA0D493}"/>
              </a:ext>
            </a:extLst>
          </p:cNvPr>
          <p:cNvSpPr txBox="1"/>
          <p:nvPr/>
        </p:nvSpPr>
        <p:spPr>
          <a:xfrm>
            <a:off x="71200" y="4882475"/>
            <a:ext cx="5406900" cy="177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tLang="ko" sz="700" b="1" dirty="0">
                <a:solidFill>
                  <a:srgbClr val="999999"/>
                </a:solidFill>
              </a:rPr>
              <a:t>Wang</a:t>
            </a:r>
            <a:r>
              <a:rPr lang="ko" sz="700" b="1" dirty="0">
                <a:solidFill>
                  <a:srgbClr val="999999"/>
                </a:solidFill>
              </a:rPr>
              <a:t> et al. “</a:t>
            </a:r>
            <a:r>
              <a:rPr lang="en-US" altLang="ko" sz="700" b="1" dirty="0">
                <a:solidFill>
                  <a:srgbClr val="999999"/>
                </a:solidFill>
              </a:rPr>
              <a:t>Self-Consistency Improves Chain of Thought Reasoning in Language Models</a:t>
            </a:r>
            <a:r>
              <a:rPr lang="ko" sz="700" b="1" dirty="0">
                <a:solidFill>
                  <a:srgbClr val="999999"/>
                </a:solidFill>
              </a:rPr>
              <a:t>.”, </a:t>
            </a:r>
            <a:r>
              <a:rPr lang="en-US" altLang="ko" sz="700" b="1" dirty="0">
                <a:solidFill>
                  <a:srgbClr val="999999"/>
                </a:solidFill>
              </a:rPr>
              <a:t>ICLR</a:t>
            </a:r>
            <a:r>
              <a:rPr lang="ko" sz="700" b="1" dirty="0">
                <a:solidFill>
                  <a:srgbClr val="999999"/>
                </a:solidFill>
              </a:rPr>
              <a:t> 202</a:t>
            </a:r>
            <a:r>
              <a:rPr lang="en-US" altLang="ko" sz="700" b="1" dirty="0">
                <a:solidFill>
                  <a:srgbClr val="999999"/>
                </a:solidFill>
              </a:rPr>
              <a:t>3</a:t>
            </a:r>
            <a:endParaRPr sz="700" b="1" dirty="0">
              <a:solidFill>
                <a:srgbClr val="999999"/>
              </a:solidFill>
            </a:endParaRPr>
          </a:p>
        </p:txBody>
      </p:sp>
      <p:pic>
        <p:nvPicPr>
          <p:cNvPr id="2" name="Google Shape;56;p13">
            <a:extLst>
              <a:ext uri="{FF2B5EF4-FFF2-40B4-BE49-F238E27FC236}">
                <a16:creationId xmlns:a16="http://schemas.microsoft.com/office/drawing/2014/main" id="{18677E01-54AC-DD81-5115-D06C9415DCFD}"/>
              </a:ext>
            </a:extLst>
          </p:cNvPr>
          <p:cNvPicPr preferRelativeResize="0"/>
          <p:nvPr/>
        </p:nvPicPr>
        <p:blipFill>
          <a:blip r:embed="rId3"/>
          <a:srcRect/>
          <a:stretch/>
        </p:blipFill>
        <p:spPr>
          <a:xfrm>
            <a:off x="7829550" y="4662460"/>
            <a:ext cx="1314450" cy="438150"/>
          </a:xfrm>
          <a:prstGeom prst="rect">
            <a:avLst/>
          </a:prstGeom>
          <a:noFill/>
          <a:ln>
            <a:noFill/>
          </a:ln>
        </p:spPr>
      </p:pic>
      <p:sp>
        <p:nvSpPr>
          <p:cNvPr id="3" name="Google Shape;82;p17">
            <a:extLst>
              <a:ext uri="{FF2B5EF4-FFF2-40B4-BE49-F238E27FC236}">
                <a16:creationId xmlns:a16="http://schemas.microsoft.com/office/drawing/2014/main" id="{EE9C0878-A11F-BEA0-C276-99FE8206E735}"/>
              </a:ext>
            </a:extLst>
          </p:cNvPr>
          <p:cNvSpPr txBox="1">
            <a:spLocks/>
          </p:cNvSpPr>
          <p:nvPr/>
        </p:nvSpPr>
        <p:spPr>
          <a:xfrm>
            <a:off x="311700" y="289063"/>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b="1" dirty="0">
                <a:solidFill>
                  <a:srgbClr val="004856"/>
                </a:solidFill>
              </a:rPr>
              <a:t>Self-Consistency</a:t>
            </a:r>
            <a:endParaRPr lang="en-US" dirty="0"/>
          </a:p>
        </p:txBody>
      </p:sp>
      <p:sp>
        <p:nvSpPr>
          <p:cNvPr id="6" name="Google Shape;97;p19">
            <a:extLst>
              <a:ext uri="{FF2B5EF4-FFF2-40B4-BE49-F238E27FC236}">
                <a16:creationId xmlns:a16="http://schemas.microsoft.com/office/drawing/2014/main" id="{67F7778C-B2BD-FA18-2538-616BE2A9730B}"/>
              </a:ext>
            </a:extLst>
          </p:cNvPr>
          <p:cNvSpPr txBox="1">
            <a:spLocks/>
          </p:cNvSpPr>
          <p:nvPr/>
        </p:nvSpPr>
        <p:spPr>
          <a:xfrm>
            <a:off x="311700" y="989862"/>
            <a:ext cx="8520600" cy="34164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lvl="0"/>
            <a:r>
              <a:rPr lang="en" altLang="ko" b="1" dirty="0">
                <a:solidFill>
                  <a:schemeClr val="tx1"/>
                </a:solidFill>
              </a:rPr>
              <a:t>Complex reasoning tasks admit multiple reasoning paths</a:t>
            </a:r>
          </a:p>
          <a:p>
            <a:pPr lvl="1"/>
            <a:r>
              <a:rPr lang="en" altLang="ko-KR" dirty="0">
                <a:solidFill>
                  <a:schemeClr val="tx1"/>
                </a:solidFill>
              </a:rPr>
              <a:t>The more deliberate thinking is required, the greater the diversity of reasoning path is.</a:t>
            </a:r>
          </a:p>
        </p:txBody>
      </p:sp>
      <p:pic>
        <p:nvPicPr>
          <p:cNvPr id="4" name="그림 3">
            <a:extLst>
              <a:ext uri="{FF2B5EF4-FFF2-40B4-BE49-F238E27FC236}">
                <a16:creationId xmlns:a16="http://schemas.microsoft.com/office/drawing/2014/main" id="{84402EDA-F045-D2CE-EBE4-309E24C17A0C}"/>
              </a:ext>
            </a:extLst>
          </p:cNvPr>
          <p:cNvPicPr>
            <a:picLocks noChangeAspect="1"/>
          </p:cNvPicPr>
          <p:nvPr/>
        </p:nvPicPr>
        <p:blipFill>
          <a:blip r:embed="rId4"/>
          <a:stretch>
            <a:fillRect/>
          </a:stretch>
        </p:blipFill>
        <p:spPr>
          <a:xfrm>
            <a:off x="1970539" y="1807295"/>
            <a:ext cx="5202921" cy="2389324"/>
          </a:xfrm>
          <a:prstGeom prst="rect">
            <a:avLst/>
          </a:prstGeom>
        </p:spPr>
      </p:pic>
      <p:pic>
        <p:nvPicPr>
          <p:cNvPr id="5" name="그림 8" descr="폰트, 그래픽, 텍스트, 스크린샷이(가) 표시된 사진&#10;&#10;자동 생성된 설명">
            <a:extLst>
              <a:ext uri="{FF2B5EF4-FFF2-40B4-BE49-F238E27FC236}">
                <a16:creationId xmlns:a16="http://schemas.microsoft.com/office/drawing/2014/main" id="{31271445-F01F-7EEF-AA9F-2530ACD3FEB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extLst>
      <p:ext uri="{BB962C8B-B14F-4D97-AF65-F5344CB8AC3E}">
        <p14:creationId xmlns:p14="http://schemas.microsoft.com/office/powerpoint/2010/main" val="12707177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52">
          <a:extLst>
            <a:ext uri="{FF2B5EF4-FFF2-40B4-BE49-F238E27FC236}">
              <a16:creationId xmlns:a16="http://schemas.microsoft.com/office/drawing/2014/main" id="{29DF359A-7990-0359-A7E1-98BE3B6DE609}"/>
            </a:ext>
          </a:extLst>
        </p:cNvPr>
        <p:cNvGrpSpPr/>
        <p:nvPr/>
      </p:nvGrpSpPr>
      <p:grpSpPr>
        <a:xfrm>
          <a:off x="0" y="0"/>
          <a:ext cx="0" cy="0"/>
          <a:chOff x="0" y="0"/>
          <a:chExt cx="0" cy="0"/>
        </a:xfrm>
      </p:grpSpPr>
      <p:sp>
        <p:nvSpPr>
          <p:cNvPr id="156" name="Google Shape;156;p26">
            <a:extLst>
              <a:ext uri="{FF2B5EF4-FFF2-40B4-BE49-F238E27FC236}">
                <a16:creationId xmlns:a16="http://schemas.microsoft.com/office/drawing/2014/main" id="{02A422EE-981E-9FD3-3733-511C6614A6AD}"/>
              </a:ext>
            </a:extLst>
          </p:cNvPr>
          <p:cNvSpPr txBox="1"/>
          <p:nvPr/>
        </p:nvSpPr>
        <p:spPr>
          <a:xfrm>
            <a:off x="71200" y="4882475"/>
            <a:ext cx="5406900" cy="177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tLang="ko" sz="700" b="1" dirty="0">
                <a:solidFill>
                  <a:srgbClr val="999999"/>
                </a:solidFill>
              </a:rPr>
              <a:t>Wang</a:t>
            </a:r>
            <a:r>
              <a:rPr lang="ko" sz="700" b="1" dirty="0">
                <a:solidFill>
                  <a:srgbClr val="999999"/>
                </a:solidFill>
              </a:rPr>
              <a:t> et al. “</a:t>
            </a:r>
            <a:r>
              <a:rPr lang="en-US" altLang="ko" sz="700" b="1" dirty="0">
                <a:solidFill>
                  <a:srgbClr val="999999"/>
                </a:solidFill>
              </a:rPr>
              <a:t>Self-Consistency Improves Chain of Thought Reasoning in Language Models</a:t>
            </a:r>
            <a:r>
              <a:rPr lang="ko" sz="700" b="1" dirty="0">
                <a:solidFill>
                  <a:srgbClr val="999999"/>
                </a:solidFill>
              </a:rPr>
              <a:t>.”, </a:t>
            </a:r>
            <a:r>
              <a:rPr lang="en-US" altLang="ko" sz="700" b="1" dirty="0">
                <a:solidFill>
                  <a:srgbClr val="999999"/>
                </a:solidFill>
              </a:rPr>
              <a:t>ICLR</a:t>
            </a:r>
            <a:r>
              <a:rPr lang="ko" sz="700" b="1" dirty="0">
                <a:solidFill>
                  <a:srgbClr val="999999"/>
                </a:solidFill>
              </a:rPr>
              <a:t> 202</a:t>
            </a:r>
            <a:r>
              <a:rPr lang="en-US" altLang="ko" sz="700" b="1" dirty="0">
                <a:solidFill>
                  <a:srgbClr val="999999"/>
                </a:solidFill>
              </a:rPr>
              <a:t>3</a:t>
            </a:r>
            <a:endParaRPr sz="700" b="1" dirty="0">
              <a:solidFill>
                <a:srgbClr val="999999"/>
              </a:solidFill>
            </a:endParaRPr>
          </a:p>
        </p:txBody>
      </p:sp>
      <p:pic>
        <p:nvPicPr>
          <p:cNvPr id="2" name="Google Shape;56;p13">
            <a:extLst>
              <a:ext uri="{FF2B5EF4-FFF2-40B4-BE49-F238E27FC236}">
                <a16:creationId xmlns:a16="http://schemas.microsoft.com/office/drawing/2014/main" id="{452E0E93-2B39-5C51-D65A-ED7CEE6FE12C}"/>
              </a:ext>
            </a:extLst>
          </p:cNvPr>
          <p:cNvPicPr preferRelativeResize="0"/>
          <p:nvPr/>
        </p:nvPicPr>
        <p:blipFill>
          <a:blip r:embed="rId3"/>
          <a:srcRect/>
          <a:stretch/>
        </p:blipFill>
        <p:spPr>
          <a:xfrm>
            <a:off x="7829550" y="4662460"/>
            <a:ext cx="1314450" cy="438150"/>
          </a:xfrm>
          <a:prstGeom prst="rect">
            <a:avLst/>
          </a:prstGeom>
          <a:noFill/>
          <a:ln>
            <a:noFill/>
          </a:ln>
        </p:spPr>
      </p:pic>
      <p:sp>
        <p:nvSpPr>
          <p:cNvPr id="3" name="Google Shape;82;p17">
            <a:extLst>
              <a:ext uri="{FF2B5EF4-FFF2-40B4-BE49-F238E27FC236}">
                <a16:creationId xmlns:a16="http://schemas.microsoft.com/office/drawing/2014/main" id="{6B2E82A2-2C2B-A56B-D2F4-81B3509FF9FE}"/>
              </a:ext>
            </a:extLst>
          </p:cNvPr>
          <p:cNvSpPr txBox="1">
            <a:spLocks/>
          </p:cNvSpPr>
          <p:nvPr/>
        </p:nvSpPr>
        <p:spPr>
          <a:xfrm>
            <a:off x="311700" y="289063"/>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b="1" dirty="0">
                <a:solidFill>
                  <a:srgbClr val="004856"/>
                </a:solidFill>
              </a:rPr>
              <a:t>Self-Consistency</a:t>
            </a:r>
            <a:endParaRPr lang="en-US" dirty="0"/>
          </a:p>
        </p:txBody>
      </p:sp>
      <p:sp>
        <p:nvSpPr>
          <p:cNvPr id="6" name="Google Shape;97;p19">
            <a:extLst>
              <a:ext uri="{FF2B5EF4-FFF2-40B4-BE49-F238E27FC236}">
                <a16:creationId xmlns:a16="http://schemas.microsoft.com/office/drawing/2014/main" id="{4A047E27-0E28-C53C-30F4-403D1AAC1FA9}"/>
              </a:ext>
            </a:extLst>
          </p:cNvPr>
          <p:cNvSpPr txBox="1">
            <a:spLocks/>
          </p:cNvSpPr>
          <p:nvPr/>
        </p:nvSpPr>
        <p:spPr>
          <a:xfrm>
            <a:off x="311700" y="989862"/>
            <a:ext cx="8520600" cy="34164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lvl="0"/>
            <a:r>
              <a:rPr lang="en" altLang="ko" b="1" dirty="0">
                <a:solidFill>
                  <a:schemeClr val="tx1"/>
                </a:solidFill>
              </a:rPr>
              <a:t>Self-consistency significantly improves the reasoning performance</a:t>
            </a:r>
          </a:p>
          <a:p>
            <a:pPr lvl="1"/>
            <a:r>
              <a:rPr lang="en" altLang="ko-KR" dirty="0">
                <a:solidFill>
                  <a:schemeClr val="tx1"/>
                </a:solidFill>
              </a:rPr>
              <a:t>Mathematical reasoning</a:t>
            </a:r>
          </a:p>
        </p:txBody>
      </p:sp>
      <p:pic>
        <p:nvPicPr>
          <p:cNvPr id="5" name="그림 4">
            <a:extLst>
              <a:ext uri="{FF2B5EF4-FFF2-40B4-BE49-F238E27FC236}">
                <a16:creationId xmlns:a16="http://schemas.microsoft.com/office/drawing/2014/main" id="{C005ED82-D18B-3EBC-2DF2-0DFB76125DB0}"/>
              </a:ext>
            </a:extLst>
          </p:cNvPr>
          <p:cNvPicPr>
            <a:picLocks noChangeAspect="1"/>
          </p:cNvPicPr>
          <p:nvPr/>
        </p:nvPicPr>
        <p:blipFill>
          <a:blip r:embed="rId4"/>
          <a:stretch>
            <a:fillRect/>
          </a:stretch>
        </p:blipFill>
        <p:spPr>
          <a:xfrm>
            <a:off x="2068985" y="1981337"/>
            <a:ext cx="5006030" cy="2019600"/>
          </a:xfrm>
          <a:prstGeom prst="rect">
            <a:avLst/>
          </a:prstGeom>
        </p:spPr>
      </p:pic>
      <p:pic>
        <p:nvPicPr>
          <p:cNvPr id="4" name="그림 8" descr="폰트, 그래픽, 텍스트, 스크린샷이(가) 표시된 사진&#10;&#10;자동 생성된 설명">
            <a:extLst>
              <a:ext uri="{FF2B5EF4-FFF2-40B4-BE49-F238E27FC236}">
                <a16:creationId xmlns:a16="http://schemas.microsoft.com/office/drawing/2014/main" id="{3F242C1A-F48A-524B-1DBD-B28971511A6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extLst>
      <p:ext uri="{BB962C8B-B14F-4D97-AF65-F5344CB8AC3E}">
        <p14:creationId xmlns:p14="http://schemas.microsoft.com/office/powerpoint/2010/main" val="18854750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52">
          <a:extLst>
            <a:ext uri="{FF2B5EF4-FFF2-40B4-BE49-F238E27FC236}">
              <a16:creationId xmlns:a16="http://schemas.microsoft.com/office/drawing/2014/main" id="{3D944ECA-66B5-6FBC-724D-DA75A07B6E0F}"/>
            </a:ext>
          </a:extLst>
        </p:cNvPr>
        <p:cNvGrpSpPr/>
        <p:nvPr/>
      </p:nvGrpSpPr>
      <p:grpSpPr>
        <a:xfrm>
          <a:off x="0" y="0"/>
          <a:ext cx="0" cy="0"/>
          <a:chOff x="0" y="0"/>
          <a:chExt cx="0" cy="0"/>
        </a:xfrm>
      </p:grpSpPr>
      <p:sp>
        <p:nvSpPr>
          <p:cNvPr id="156" name="Google Shape;156;p26">
            <a:extLst>
              <a:ext uri="{FF2B5EF4-FFF2-40B4-BE49-F238E27FC236}">
                <a16:creationId xmlns:a16="http://schemas.microsoft.com/office/drawing/2014/main" id="{B3C06DCA-1A96-17AE-049A-39A6530DE3BA}"/>
              </a:ext>
            </a:extLst>
          </p:cNvPr>
          <p:cNvSpPr txBox="1"/>
          <p:nvPr/>
        </p:nvSpPr>
        <p:spPr>
          <a:xfrm>
            <a:off x="71200" y="4882475"/>
            <a:ext cx="5406900" cy="177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tLang="ko" sz="700" b="1" dirty="0">
                <a:solidFill>
                  <a:srgbClr val="999999"/>
                </a:solidFill>
              </a:rPr>
              <a:t>Wang</a:t>
            </a:r>
            <a:r>
              <a:rPr lang="ko" sz="700" b="1" dirty="0">
                <a:solidFill>
                  <a:srgbClr val="999999"/>
                </a:solidFill>
              </a:rPr>
              <a:t> et al. “</a:t>
            </a:r>
            <a:r>
              <a:rPr lang="en-US" altLang="ko" sz="700" b="1" dirty="0">
                <a:solidFill>
                  <a:srgbClr val="999999"/>
                </a:solidFill>
              </a:rPr>
              <a:t>Self-Consistency Improves Chain of Thought Reasoning in Language Models</a:t>
            </a:r>
            <a:r>
              <a:rPr lang="ko" sz="700" b="1" dirty="0">
                <a:solidFill>
                  <a:srgbClr val="999999"/>
                </a:solidFill>
              </a:rPr>
              <a:t>.”, </a:t>
            </a:r>
            <a:r>
              <a:rPr lang="en-US" altLang="ko" sz="700" b="1" dirty="0">
                <a:solidFill>
                  <a:srgbClr val="999999"/>
                </a:solidFill>
              </a:rPr>
              <a:t>ICLR</a:t>
            </a:r>
            <a:r>
              <a:rPr lang="ko" sz="700" b="1" dirty="0">
                <a:solidFill>
                  <a:srgbClr val="999999"/>
                </a:solidFill>
              </a:rPr>
              <a:t> 202</a:t>
            </a:r>
            <a:r>
              <a:rPr lang="en-US" altLang="ko" sz="700" b="1" dirty="0">
                <a:solidFill>
                  <a:srgbClr val="999999"/>
                </a:solidFill>
              </a:rPr>
              <a:t>3</a:t>
            </a:r>
            <a:endParaRPr sz="700" b="1" dirty="0">
              <a:solidFill>
                <a:srgbClr val="999999"/>
              </a:solidFill>
            </a:endParaRPr>
          </a:p>
        </p:txBody>
      </p:sp>
      <p:pic>
        <p:nvPicPr>
          <p:cNvPr id="2" name="Google Shape;56;p13">
            <a:extLst>
              <a:ext uri="{FF2B5EF4-FFF2-40B4-BE49-F238E27FC236}">
                <a16:creationId xmlns:a16="http://schemas.microsoft.com/office/drawing/2014/main" id="{A64B6758-6398-93B8-7F2E-F0CF520E27FE}"/>
              </a:ext>
            </a:extLst>
          </p:cNvPr>
          <p:cNvPicPr preferRelativeResize="0"/>
          <p:nvPr/>
        </p:nvPicPr>
        <p:blipFill>
          <a:blip r:embed="rId3"/>
          <a:srcRect/>
          <a:stretch/>
        </p:blipFill>
        <p:spPr>
          <a:xfrm>
            <a:off x="7829550" y="4662460"/>
            <a:ext cx="1314450" cy="438150"/>
          </a:xfrm>
          <a:prstGeom prst="rect">
            <a:avLst/>
          </a:prstGeom>
          <a:noFill/>
          <a:ln>
            <a:noFill/>
          </a:ln>
        </p:spPr>
      </p:pic>
      <p:sp>
        <p:nvSpPr>
          <p:cNvPr id="3" name="Google Shape;82;p17">
            <a:extLst>
              <a:ext uri="{FF2B5EF4-FFF2-40B4-BE49-F238E27FC236}">
                <a16:creationId xmlns:a16="http://schemas.microsoft.com/office/drawing/2014/main" id="{44D6DACD-B949-6657-CFDD-CDA6F98E3CA5}"/>
              </a:ext>
            </a:extLst>
          </p:cNvPr>
          <p:cNvSpPr txBox="1">
            <a:spLocks/>
          </p:cNvSpPr>
          <p:nvPr/>
        </p:nvSpPr>
        <p:spPr>
          <a:xfrm>
            <a:off x="311700" y="289063"/>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b="1" dirty="0">
                <a:solidFill>
                  <a:srgbClr val="004856"/>
                </a:solidFill>
              </a:rPr>
              <a:t>Self-Consistency</a:t>
            </a:r>
            <a:endParaRPr lang="en-US" dirty="0"/>
          </a:p>
        </p:txBody>
      </p:sp>
      <p:sp>
        <p:nvSpPr>
          <p:cNvPr id="6" name="Google Shape;97;p19">
            <a:extLst>
              <a:ext uri="{FF2B5EF4-FFF2-40B4-BE49-F238E27FC236}">
                <a16:creationId xmlns:a16="http://schemas.microsoft.com/office/drawing/2014/main" id="{31D12714-FCB6-DAFA-E0F3-DE367AA88CC4}"/>
              </a:ext>
            </a:extLst>
          </p:cNvPr>
          <p:cNvSpPr txBox="1">
            <a:spLocks/>
          </p:cNvSpPr>
          <p:nvPr/>
        </p:nvSpPr>
        <p:spPr>
          <a:xfrm>
            <a:off x="311700" y="989862"/>
            <a:ext cx="8520600" cy="34164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lvl="0"/>
            <a:r>
              <a:rPr lang="en" altLang="ko" b="1" dirty="0">
                <a:solidFill>
                  <a:schemeClr val="tx1"/>
                </a:solidFill>
              </a:rPr>
              <a:t>Self-consistency significantly improves the reasoning performance</a:t>
            </a:r>
          </a:p>
          <a:p>
            <a:pPr lvl="1"/>
            <a:r>
              <a:rPr lang="en" altLang="ko-KR" dirty="0">
                <a:solidFill>
                  <a:schemeClr val="tx1"/>
                </a:solidFill>
              </a:rPr>
              <a:t>Commonsense reasoning</a:t>
            </a:r>
          </a:p>
        </p:txBody>
      </p:sp>
      <p:pic>
        <p:nvPicPr>
          <p:cNvPr id="4" name="그림 3">
            <a:extLst>
              <a:ext uri="{FF2B5EF4-FFF2-40B4-BE49-F238E27FC236}">
                <a16:creationId xmlns:a16="http://schemas.microsoft.com/office/drawing/2014/main" id="{6C41AD80-3FEB-6332-E2B9-C60554BB21BD}"/>
              </a:ext>
            </a:extLst>
          </p:cNvPr>
          <p:cNvPicPr>
            <a:picLocks noChangeAspect="1"/>
          </p:cNvPicPr>
          <p:nvPr/>
        </p:nvPicPr>
        <p:blipFill>
          <a:blip r:embed="rId4"/>
          <a:stretch>
            <a:fillRect/>
          </a:stretch>
        </p:blipFill>
        <p:spPr>
          <a:xfrm>
            <a:off x="2121662" y="1980457"/>
            <a:ext cx="4900675" cy="2016033"/>
          </a:xfrm>
          <a:prstGeom prst="rect">
            <a:avLst/>
          </a:prstGeom>
        </p:spPr>
      </p:pic>
      <p:pic>
        <p:nvPicPr>
          <p:cNvPr id="5" name="그림 8" descr="폰트, 그래픽, 텍스트, 스크린샷이(가) 표시된 사진&#10;&#10;자동 생성된 설명">
            <a:extLst>
              <a:ext uri="{FF2B5EF4-FFF2-40B4-BE49-F238E27FC236}">
                <a16:creationId xmlns:a16="http://schemas.microsoft.com/office/drawing/2014/main" id="{D41578CA-1648-E29E-A506-BC15B74E698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extLst>
      <p:ext uri="{BB962C8B-B14F-4D97-AF65-F5344CB8AC3E}">
        <p14:creationId xmlns:p14="http://schemas.microsoft.com/office/powerpoint/2010/main" val="28257593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52">
          <a:extLst>
            <a:ext uri="{FF2B5EF4-FFF2-40B4-BE49-F238E27FC236}">
              <a16:creationId xmlns:a16="http://schemas.microsoft.com/office/drawing/2014/main" id="{B63C61BB-CF33-3096-EB85-013AD380917F}"/>
            </a:ext>
          </a:extLst>
        </p:cNvPr>
        <p:cNvGrpSpPr/>
        <p:nvPr/>
      </p:nvGrpSpPr>
      <p:grpSpPr>
        <a:xfrm>
          <a:off x="0" y="0"/>
          <a:ext cx="0" cy="0"/>
          <a:chOff x="0" y="0"/>
          <a:chExt cx="0" cy="0"/>
        </a:xfrm>
      </p:grpSpPr>
      <p:sp>
        <p:nvSpPr>
          <p:cNvPr id="156" name="Google Shape;156;p26">
            <a:extLst>
              <a:ext uri="{FF2B5EF4-FFF2-40B4-BE49-F238E27FC236}">
                <a16:creationId xmlns:a16="http://schemas.microsoft.com/office/drawing/2014/main" id="{5DA75A0F-4E2B-0FB5-064F-4E71F909113E}"/>
              </a:ext>
            </a:extLst>
          </p:cNvPr>
          <p:cNvSpPr txBox="1"/>
          <p:nvPr/>
        </p:nvSpPr>
        <p:spPr>
          <a:xfrm>
            <a:off x="71200" y="4882475"/>
            <a:ext cx="5406900" cy="177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tLang="ko" sz="700" b="1" dirty="0">
                <a:solidFill>
                  <a:srgbClr val="999999"/>
                </a:solidFill>
              </a:rPr>
              <a:t>Wang</a:t>
            </a:r>
            <a:r>
              <a:rPr lang="ko" sz="700" b="1" dirty="0">
                <a:solidFill>
                  <a:srgbClr val="999999"/>
                </a:solidFill>
              </a:rPr>
              <a:t> et al. “</a:t>
            </a:r>
            <a:r>
              <a:rPr lang="en-US" altLang="ko" sz="700" b="1" dirty="0">
                <a:solidFill>
                  <a:srgbClr val="999999"/>
                </a:solidFill>
              </a:rPr>
              <a:t>Self-Consistency Improves Chain of Thought Reasoning in Language Models</a:t>
            </a:r>
            <a:r>
              <a:rPr lang="ko" sz="700" b="1" dirty="0">
                <a:solidFill>
                  <a:srgbClr val="999999"/>
                </a:solidFill>
              </a:rPr>
              <a:t>.”, </a:t>
            </a:r>
            <a:r>
              <a:rPr lang="en-US" altLang="ko" sz="700" b="1" dirty="0">
                <a:solidFill>
                  <a:srgbClr val="999999"/>
                </a:solidFill>
              </a:rPr>
              <a:t>ICLR</a:t>
            </a:r>
            <a:r>
              <a:rPr lang="ko" sz="700" b="1" dirty="0">
                <a:solidFill>
                  <a:srgbClr val="999999"/>
                </a:solidFill>
              </a:rPr>
              <a:t> 202</a:t>
            </a:r>
            <a:r>
              <a:rPr lang="en-US" altLang="ko" sz="700" b="1" dirty="0">
                <a:solidFill>
                  <a:srgbClr val="999999"/>
                </a:solidFill>
              </a:rPr>
              <a:t>3</a:t>
            </a:r>
            <a:endParaRPr sz="700" b="1" dirty="0">
              <a:solidFill>
                <a:srgbClr val="999999"/>
              </a:solidFill>
            </a:endParaRPr>
          </a:p>
        </p:txBody>
      </p:sp>
      <p:pic>
        <p:nvPicPr>
          <p:cNvPr id="2" name="Google Shape;56;p13">
            <a:extLst>
              <a:ext uri="{FF2B5EF4-FFF2-40B4-BE49-F238E27FC236}">
                <a16:creationId xmlns:a16="http://schemas.microsoft.com/office/drawing/2014/main" id="{6C156035-B106-CF43-019C-1B5AD7C4DAFC}"/>
              </a:ext>
            </a:extLst>
          </p:cNvPr>
          <p:cNvPicPr preferRelativeResize="0"/>
          <p:nvPr/>
        </p:nvPicPr>
        <p:blipFill>
          <a:blip r:embed="rId3"/>
          <a:srcRect/>
          <a:stretch/>
        </p:blipFill>
        <p:spPr>
          <a:xfrm>
            <a:off x="7829550" y="4662460"/>
            <a:ext cx="1314450" cy="438150"/>
          </a:xfrm>
          <a:prstGeom prst="rect">
            <a:avLst/>
          </a:prstGeom>
          <a:noFill/>
          <a:ln>
            <a:noFill/>
          </a:ln>
        </p:spPr>
      </p:pic>
      <p:sp>
        <p:nvSpPr>
          <p:cNvPr id="3" name="Google Shape;82;p17">
            <a:extLst>
              <a:ext uri="{FF2B5EF4-FFF2-40B4-BE49-F238E27FC236}">
                <a16:creationId xmlns:a16="http://schemas.microsoft.com/office/drawing/2014/main" id="{834D5D6F-0CBD-CEE6-03E2-C14658EDEF84}"/>
              </a:ext>
            </a:extLst>
          </p:cNvPr>
          <p:cNvSpPr txBox="1">
            <a:spLocks/>
          </p:cNvSpPr>
          <p:nvPr/>
        </p:nvSpPr>
        <p:spPr>
          <a:xfrm>
            <a:off x="311700" y="289063"/>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b="1" dirty="0">
                <a:solidFill>
                  <a:srgbClr val="004856"/>
                </a:solidFill>
              </a:rPr>
              <a:t>Self-Consistency</a:t>
            </a:r>
            <a:endParaRPr lang="en-US" dirty="0"/>
          </a:p>
        </p:txBody>
      </p:sp>
      <p:sp>
        <p:nvSpPr>
          <p:cNvPr id="6" name="Google Shape;97;p19">
            <a:extLst>
              <a:ext uri="{FF2B5EF4-FFF2-40B4-BE49-F238E27FC236}">
                <a16:creationId xmlns:a16="http://schemas.microsoft.com/office/drawing/2014/main" id="{A58A7143-8110-9F96-895B-F1E97B7B0972}"/>
              </a:ext>
            </a:extLst>
          </p:cNvPr>
          <p:cNvSpPr txBox="1">
            <a:spLocks/>
          </p:cNvSpPr>
          <p:nvPr/>
        </p:nvSpPr>
        <p:spPr>
          <a:xfrm>
            <a:off x="311700" y="989862"/>
            <a:ext cx="8520600" cy="34164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lvl="0"/>
            <a:r>
              <a:rPr lang="en" altLang="ko" b="1" dirty="0">
                <a:solidFill>
                  <a:schemeClr val="tx1"/>
                </a:solidFill>
              </a:rPr>
              <a:t>Self-consistency significantly improves the reasoning performance</a:t>
            </a:r>
          </a:p>
          <a:p>
            <a:pPr lvl="1"/>
            <a:r>
              <a:rPr lang="en" altLang="ko-KR" dirty="0">
                <a:solidFill>
                  <a:schemeClr val="tx1"/>
                </a:solidFill>
              </a:rPr>
              <a:t>Robust to the number of reasoning paths, sampling strategy and scaling</a:t>
            </a:r>
          </a:p>
        </p:txBody>
      </p:sp>
      <p:pic>
        <p:nvPicPr>
          <p:cNvPr id="5" name="그림 4">
            <a:extLst>
              <a:ext uri="{FF2B5EF4-FFF2-40B4-BE49-F238E27FC236}">
                <a16:creationId xmlns:a16="http://schemas.microsoft.com/office/drawing/2014/main" id="{5CAB4006-E60D-9AB8-2483-F4916D050899}"/>
              </a:ext>
            </a:extLst>
          </p:cNvPr>
          <p:cNvPicPr>
            <a:picLocks noChangeAspect="1"/>
          </p:cNvPicPr>
          <p:nvPr/>
        </p:nvPicPr>
        <p:blipFill>
          <a:blip r:embed="rId4"/>
          <a:stretch>
            <a:fillRect/>
          </a:stretch>
        </p:blipFill>
        <p:spPr>
          <a:xfrm>
            <a:off x="685800" y="1775831"/>
            <a:ext cx="7772400" cy="1333129"/>
          </a:xfrm>
          <a:prstGeom prst="rect">
            <a:avLst/>
          </a:prstGeom>
        </p:spPr>
      </p:pic>
      <p:pic>
        <p:nvPicPr>
          <p:cNvPr id="7" name="그림 6">
            <a:extLst>
              <a:ext uri="{FF2B5EF4-FFF2-40B4-BE49-F238E27FC236}">
                <a16:creationId xmlns:a16="http://schemas.microsoft.com/office/drawing/2014/main" id="{2D18892A-3812-38B1-AF38-5497D7B3EEE5}"/>
              </a:ext>
            </a:extLst>
          </p:cNvPr>
          <p:cNvPicPr>
            <a:picLocks noChangeAspect="1"/>
          </p:cNvPicPr>
          <p:nvPr/>
        </p:nvPicPr>
        <p:blipFill>
          <a:blip r:embed="rId5"/>
          <a:stretch>
            <a:fillRect/>
          </a:stretch>
        </p:blipFill>
        <p:spPr>
          <a:xfrm>
            <a:off x="2345659" y="3252241"/>
            <a:ext cx="4452682" cy="1154021"/>
          </a:xfrm>
          <a:prstGeom prst="rect">
            <a:avLst/>
          </a:prstGeom>
        </p:spPr>
      </p:pic>
      <p:pic>
        <p:nvPicPr>
          <p:cNvPr id="4" name="그림 8" descr="폰트, 그래픽, 텍스트, 스크린샷이(가) 표시된 사진&#10;&#10;자동 생성된 설명">
            <a:extLst>
              <a:ext uri="{FF2B5EF4-FFF2-40B4-BE49-F238E27FC236}">
                <a16:creationId xmlns:a16="http://schemas.microsoft.com/office/drawing/2014/main" id="{CBB13172-C152-ACA9-18B5-443877EB459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extLst>
      <p:ext uri="{BB962C8B-B14F-4D97-AF65-F5344CB8AC3E}">
        <p14:creationId xmlns:p14="http://schemas.microsoft.com/office/powerpoint/2010/main" val="24530609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385BA760-19AF-BE7E-D5BE-DBBD939166D4}"/>
            </a:ext>
          </a:extLst>
        </p:cNvPr>
        <p:cNvGrpSpPr/>
        <p:nvPr/>
      </p:nvGrpSpPr>
      <p:grpSpPr>
        <a:xfrm>
          <a:off x="0" y="0"/>
          <a:ext cx="0" cy="0"/>
          <a:chOff x="0" y="0"/>
          <a:chExt cx="0" cy="0"/>
        </a:xfrm>
      </p:grpSpPr>
      <p:sp>
        <p:nvSpPr>
          <p:cNvPr id="5" name="Google Shape;97;p19">
            <a:extLst>
              <a:ext uri="{FF2B5EF4-FFF2-40B4-BE49-F238E27FC236}">
                <a16:creationId xmlns:a16="http://schemas.microsoft.com/office/drawing/2014/main" id="{AFBE933A-1134-CBEB-160A-46DF8ADD22EF}"/>
              </a:ext>
            </a:extLst>
          </p:cNvPr>
          <p:cNvSpPr txBox="1">
            <a:spLocks/>
          </p:cNvSpPr>
          <p:nvPr/>
        </p:nvSpPr>
        <p:spPr>
          <a:xfrm>
            <a:off x="311700" y="989862"/>
            <a:ext cx="8520600" cy="34164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lvl="0"/>
            <a:r>
              <a:rPr lang="en-US" altLang="ko-KR" b="1" dirty="0">
                <a:solidFill>
                  <a:schemeClr val="tx1"/>
                </a:solidFill>
              </a:rPr>
              <a:t>Let’s apply self-consistency!</a:t>
            </a:r>
          </a:p>
          <a:p>
            <a:pPr lvl="1"/>
            <a:r>
              <a:rPr lang="en-US" altLang="ko-KR" dirty="0">
                <a:solidFill>
                  <a:schemeClr val="tx1"/>
                </a:solidFill>
              </a:rPr>
              <a:t>How? Sample the examples multiple times! </a:t>
            </a:r>
          </a:p>
        </p:txBody>
      </p:sp>
      <p:sp>
        <p:nvSpPr>
          <p:cNvPr id="4" name="Google Shape;82;p17">
            <a:extLst>
              <a:ext uri="{FF2B5EF4-FFF2-40B4-BE49-F238E27FC236}">
                <a16:creationId xmlns:a16="http://schemas.microsoft.com/office/drawing/2014/main" id="{30557827-E2A5-4FBF-7B1F-E30655F48FFC}"/>
              </a:ext>
            </a:extLst>
          </p:cNvPr>
          <p:cNvSpPr txBox="1">
            <a:spLocks/>
          </p:cNvSpPr>
          <p:nvPr/>
        </p:nvSpPr>
        <p:spPr>
          <a:xfrm>
            <a:off x="311700" y="288275"/>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b="1" dirty="0">
                <a:solidFill>
                  <a:srgbClr val="004856"/>
                </a:solidFill>
              </a:rPr>
              <a:t>Task 2-2: Self-consistency</a:t>
            </a:r>
            <a:endParaRPr lang="en-US" dirty="0"/>
          </a:p>
        </p:txBody>
      </p:sp>
      <p:pic>
        <p:nvPicPr>
          <p:cNvPr id="6" name="Google Shape;56;p13">
            <a:extLst>
              <a:ext uri="{FF2B5EF4-FFF2-40B4-BE49-F238E27FC236}">
                <a16:creationId xmlns:a16="http://schemas.microsoft.com/office/drawing/2014/main" id="{174369DF-2F4B-10C1-09A8-5C5845DE8B82}"/>
              </a:ext>
            </a:extLst>
          </p:cNvPr>
          <p:cNvPicPr preferRelativeResize="0"/>
          <p:nvPr/>
        </p:nvPicPr>
        <p:blipFill>
          <a:blip r:embed="rId3"/>
          <a:srcRect/>
          <a:stretch/>
        </p:blipFill>
        <p:spPr>
          <a:xfrm>
            <a:off x="7829550" y="4662460"/>
            <a:ext cx="1314450" cy="438150"/>
          </a:xfrm>
          <a:prstGeom prst="rect">
            <a:avLst/>
          </a:prstGeom>
          <a:noFill/>
          <a:ln>
            <a:noFill/>
          </a:ln>
        </p:spPr>
      </p:pic>
      <p:sp>
        <p:nvSpPr>
          <p:cNvPr id="7" name="모서리가 둥근 직사각형 6">
            <a:extLst>
              <a:ext uri="{FF2B5EF4-FFF2-40B4-BE49-F238E27FC236}">
                <a16:creationId xmlns:a16="http://schemas.microsoft.com/office/drawing/2014/main" id="{701C017E-913B-0630-11AD-22080C7285FA}"/>
              </a:ext>
            </a:extLst>
          </p:cNvPr>
          <p:cNvSpPr/>
          <p:nvPr/>
        </p:nvSpPr>
        <p:spPr>
          <a:xfrm>
            <a:off x="807348" y="1703903"/>
            <a:ext cx="2560321" cy="3101289"/>
          </a:xfrm>
          <a:prstGeom prst="roundRect">
            <a:avLst/>
          </a:prstGeom>
          <a:noFill/>
          <a:ln w="5715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ko-KR" b="1" dirty="0">
                <a:solidFill>
                  <a:schemeClr val="accent1">
                    <a:lumMod val="75000"/>
                  </a:schemeClr>
                </a:solidFill>
              </a:rPr>
              <a:t>[Example 1]</a:t>
            </a:r>
          </a:p>
          <a:p>
            <a:r>
              <a:rPr lang="en" altLang="ko-KR" dirty="0">
                <a:solidFill>
                  <a:schemeClr val="tx1"/>
                </a:solidFill>
              </a:rPr>
              <a:t>Input:</a:t>
            </a:r>
          </a:p>
          <a:p>
            <a:r>
              <a:rPr kumimoji="1" lang="en" altLang="ko-KR" dirty="0">
                <a:solidFill>
                  <a:schemeClr val="tx1"/>
                </a:solidFill>
              </a:rPr>
              <a:t>~~~</a:t>
            </a:r>
          </a:p>
          <a:p>
            <a:r>
              <a:rPr kumimoji="1" lang="en" altLang="ko-KR" dirty="0">
                <a:solidFill>
                  <a:schemeClr val="tx1"/>
                </a:solidFill>
              </a:rPr>
              <a:t>Output:</a:t>
            </a:r>
          </a:p>
          <a:p>
            <a:r>
              <a:rPr kumimoji="1" lang="en" altLang="ko-KR" dirty="0">
                <a:solidFill>
                  <a:schemeClr val="tx1"/>
                </a:solidFill>
              </a:rPr>
              <a:t>~~~</a:t>
            </a:r>
            <a:endParaRPr kumimoji="1" lang="en-US" altLang="ko-KR" dirty="0">
              <a:solidFill>
                <a:schemeClr val="tx1"/>
              </a:solidFill>
            </a:endParaRPr>
          </a:p>
          <a:p>
            <a:r>
              <a:rPr kumimoji="1" lang="en-US" altLang="ko-KR" dirty="0">
                <a:solidFill>
                  <a:schemeClr val="tx1"/>
                </a:solidFill>
              </a:rPr>
              <a:t>…</a:t>
            </a:r>
          </a:p>
          <a:p>
            <a:endParaRPr kumimoji="1" lang="en-US" altLang="ko-KR" dirty="0">
              <a:solidFill>
                <a:schemeClr val="tx1"/>
              </a:solidFill>
            </a:endParaRPr>
          </a:p>
          <a:p>
            <a:r>
              <a:rPr kumimoji="1" lang="en-US" altLang="ko-KR" b="1" dirty="0">
                <a:solidFill>
                  <a:schemeClr val="accent1">
                    <a:lumMod val="75000"/>
                  </a:schemeClr>
                </a:solidFill>
              </a:rPr>
              <a:t>[Example 4]</a:t>
            </a:r>
          </a:p>
          <a:p>
            <a:r>
              <a:rPr lang="en" altLang="ko-KR" dirty="0">
                <a:solidFill>
                  <a:schemeClr val="tx1"/>
                </a:solidFill>
              </a:rPr>
              <a:t>Input:</a:t>
            </a:r>
          </a:p>
          <a:p>
            <a:r>
              <a:rPr kumimoji="1" lang="en" altLang="ko-KR" dirty="0">
                <a:solidFill>
                  <a:schemeClr val="tx1"/>
                </a:solidFill>
              </a:rPr>
              <a:t>~~~</a:t>
            </a:r>
          </a:p>
          <a:p>
            <a:r>
              <a:rPr kumimoji="1" lang="en" altLang="ko-KR" dirty="0">
                <a:solidFill>
                  <a:schemeClr val="tx1"/>
                </a:solidFill>
              </a:rPr>
              <a:t>Output:</a:t>
            </a:r>
          </a:p>
        </p:txBody>
      </p:sp>
      <p:sp>
        <p:nvSpPr>
          <p:cNvPr id="2" name="모서리가 둥근 직사각형 1">
            <a:extLst>
              <a:ext uri="{FF2B5EF4-FFF2-40B4-BE49-F238E27FC236}">
                <a16:creationId xmlns:a16="http://schemas.microsoft.com/office/drawing/2014/main" id="{6B84D8FA-6F24-018B-CC70-EA29E34E1795}"/>
              </a:ext>
            </a:extLst>
          </p:cNvPr>
          <p:cNvSpPr/>
          <p:nvPr/>
        </p:nvSpPr>
        <p:spPr>
          <a:xfrm>
            <a:off x="3863317" y="1703902"/>
            <a:ext cx="2560321" cy="3101289"/>
          </a:xfrm>
          <a:prstGeom prst="roundRect">
            <a:avLst/>
          </a:prstGeom>
          <a:noFill/>
          <a:ln w="5715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ko-KR" b="1" dirty="0">
                <a:solidFill>
                  <a:schemeClr val="accent1">
                    <a:lumMod val="75000"/>
                  </a:schemeClr>
                </a:solidFill>
              </a:rPr>
              <a:t>[Example 1*]</a:t>
            </a:r>
          </a:p>
          <a:p>
            <a:r>
              <a:rPr lang="en" altLang="ko-KR" dirty="0">
                <a:solidFill>
                  <a:schemeClr val="tx1"/>
                </a:solidFill>
              </a:rPr>
              <a:t>Input:</a:t>
            </a:r>
          </a:p>
          <a:p>
            <a:r>
              <a:rPr kumimoji="1" lang="en" altLang="ko-KR" dirty="0">
                <a:solidFill>
                  <a:schemeClr val="tx1"/>
                </a:solidFill>
              </a:rPr>
              <a:t>~~~</a:t>
            </a:r>
          </a:p>
          <a:p>
            <a:r>
              <a:rPr kumimoji="1" lang="en" altLang="ko-KR" dirty="0">
                <a:solidFill>
                  <a:schemeClr val="tx1"/>
                </a:solidFill>
              </a:rPr>
              <a:t>Output:</a:t>
            </a:r>
          </a:p>
          <a:p>
            <a:r>
              <a:rPr kumimoji="1" lang="en" altLang="ko-KR" dirty="0">
                <a:solidFill>
                  <a:schemeClr val="tx1"/>
                </a:solidFill>
              </a:rPr>
              <a:t>~~~</a:t>
            </a:r>
            <a:endParaRPr kumimoji="1" lang="en-US" altLang="ko-KR" dirty="0">
              <a:solidFill>
                <a:schemeClr val="tx1"/>
              </a:solidFill>
            </a:endParaRPr>
          </a:p>
          <a:p>
            <a:r>
              <a:rPr kumimoji="1" lang="en-US" altLang="ko-KR" dirty="0">
                <a:solidFill>
                  <a:schemeClr val="tx1"/>
                </a:solidFill>
              </a:rPr>
              <a:t>…</a:t>
            </a:r>
          </a:p>
          <a:p>
            <a:endParaRPr kumimoji="1" lang="en-US" altLang="ko-KR" dirty="0">
              <a:solidFill>
                <a:schemeClr val="tx1"/>
              </a:solidFill>
            </a:endParaRPr>
          </a:p>
          <a:p>
            <a:r>
              <a:rPr kumimoji="1" lang="en-US" altLang="ko-KR" b="1" dirty="0">
                <a:solidFill>
                  <a:schemeClr val="accent1">
                    <a:lumMod val="75000"/>
                  </a:schemeClr>
                </a:solidFill>
              </a:rPr>
              <a:t>[Example 4*]</a:t>
            </a:r>
          </a:p>
          <a:p>
            <a:r>
              <a:rPr lang="en" altLang="ko-KR" dirty="0">
                <a:solidFill>
                  <a:schemeClr val="tx1"/>
                </a:solidFill>
              </a:rPr>
              <a:t>Input:</a:t>
            </a:r>
          </a:p>
          <a:p>
            <a:r>
              <a:rPr kumimoji="1" lang="en" altLang="ko-KR" dirty="0">
                <a:solidFill>
                  <a:schemeClr val="tx1"/>
                </a:solidFill>
              </a:rPr>
              <a:t>~~~</a:t>
            </a:r>
          </a:p>
          <a:p>
            <a:r>
              <a:rPr kumimoji="1" lang="en" altLang="ko-KR" dirty="0">
                <a:solidFill>
                  <a:schemeClr val="tx1"/>
                </a:solidFill>
              </a:rPr>
              <a:t>Output:</a:t>
            </a:r>
          </a:p>
        </p:txBody>
      </p:sp>
      <p:sp>
        <p:nvSpPr>
          <p:cNvPr id="8" name="타원 7">
            <a:extLst>
              <a:ext uri="{FF2B5EF4-FFF2-40B4-BE49-F238E27FC236}">
                <a16:creationId xmlns:a16="http://schemas.microsoft.com/office/drawing/2014/main" id="{BB0E87DA-3F4D-7D33-C4FA-B75F0FD1BB07}"/>
              </a:ext>
            </a:extLst>
          </p:cNvPr>
          <p:cNvSpPr/>
          <p:nvPr/>
        </p:nvSpPr>
        <p:spPr>
          <a:xfrm>
            <a:off x="6713034" y="3153565"/>
            <a:ext cx="102591" cy="100981"/>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9" name="타원 8">
            <a:extLst>
              <a:ext uri="{FF2B5EF4-FFF2-40B4-BE49-F238E27FC236}">
                <a16:creationId xmlns:a16="http://schemas.microsoft.com/office/drawing/2014/main" id="{D2C12CE6-B750-9E09-CE60-A471AEABA472}"/>
              </a:ext>
            </a:extLst>
          </p:cNvPr>
          <p:cNvSpPr/>
          <p:nvPr/>
        </p:nvSpPr>
        <p:spPr>
          <a:xfrm>
            <a:off x="6919286" y="3153565"/>
            <a:ext cx="102591" cy="100981"/>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10" name="타원 9">
            <a:extLst>
              <a:ext uri="{FF2B5EF4-FFF2-40B4-BE49-F238E27FC236}">
                <a16:creationId xmlns:a16="http://schemas.microsoft.com/office/drawing/2014/main" id="{29EFB07A-1E28-7F8B-58E5-6B4F2757FAD1}"/>
              </a:ext>
            </a:extLst>
          </p:cNvPr>
          <p:cNvSpPr/>
          <p:nvPr/>
        </p:nvSpPr>
        <p:spPr>
          <a:xfrm>
            <a:off x="7105021" y="3153565"/>
            <a:ext cx="102591" cy="100981"/>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pic>
        <p:nvPicPr>
          <p:cNvPr id="3" name="그림 8" descr="폰트, 그래픽, 텍스트, 스크린샷이(가) 표시된 사진&#10;&#10;자동 생성된 설명">
            <a:extLst>
              <a:ext uri="{FF2B5EF4-FFF2-40B4-BE49-F238E27FC236}">
                <a16:creationId xmlns:a16="http://schemas.microsoft.com/office/drawing/2014/main" id="{EE3B7109-A59B-3D9E-CF95-CFEEE9586D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extLst>
      <p:ext uri="{BB962C8B-B14F-4D97-AF65-F5344CB8AC3E}">
        <p14:creationId xmlns:p14="http://schemas.microsoft.com/office/powerpoint/2010/main" val="106956304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7A445BC0-F638-3AA0-439F-DC709EA3B921}"/>
            </a:ext>
          </a:extLst>
        </p:cNvPr>
        <p:cNvGrpSpPr/>
        <p:nvPr/>
      </p:nvGrpSpPr>
      <p:grpSpPr>
        <a:xfrm>
          <a:off x="0" y="0"/>
          <a:ext cx="0" cy="0"/>
          <a:chOff x="0" y="0"/>
          <a:chExt cx="0" cy="0"/>
        </a:xfrm>
      </p:grpSpPr>
      <p:sp>
        <p:nvSpPr>
          <p:cNvPr id="5" name="Google Shape;97;p19">
            <a:extLst>
              <a:ext uri="{FF2B5EF4-FFF2-40B4-BE49-F238E27FC236}">
                <a16:creationId xmlns:a16="http://schemas.microsoft.com/office/drawing/2014/main" id="{40B8FCCE-58DE-CF05-B228-7FD0F713C0B9}"/>
              </a:ext>
            </a:extLst>
          </p:cNvPr>
          <p:cNvSpPr txBox="1">
            <a:spLocks/>
          </p:cNvSpPr>
          <p:nvPr/>
        </p:nvSpPr>
        <p:spPr>
          <a:xfrm>
            <a:off x="311700" y="989862"/>
            <a:ext cx="8520600" cy="34164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lvl="0"/>
            <a:r>
              <a:rPr lang="en-US" altLang="ko-KR" b="1" dirty="0">
                <a:solidFill>
                  <a:schemeClr val="tx1"/>
                </a:solidFill>
              </a:rPr>
              <a:t>Let’s plot the result </a:t>
            </a:r>
          </a:p>
          <a:p>
            <a:pPr lvl="1"/>
            <a:r>
              <a:rPr lang="en-US" altLang="ko-KR" dirty="0">
                <a:solidFill>
                  <a:schemeClr val="tx1"/>
                </a:solidFill>
              </a:rPr>
              <a:t>1~5 times </a:t>
            </a:r>
          </a:p>
        </p:txBody>
      </p:sp>
      <p:sp>
        <p:nvSpPr>
          <p:cNvPr id="4" name="Google Shape;82;p17">
            <a:extLst>
              <a:ext uri="{FF2B5EF4-FFF2-40B4-BE49-F238E27FC236}">
                <a16:creationId xmlns:a16="http://schemas.microsoft.com/office/drawing/2014/main" id="{F7FF7059-CA45-FE69-C485-3A5BFAD96CB2}"/>
              </a:ext>
            </a:extLst>
          </p:cNvPr>
          <p:cNvSpPr txBox="1">
            <a:spLocks/>
          </p:cNvSpPr>
          <p:nvPr/>
        </p:nvSpPr>
        <p:spPr>
          <a:xfrm>
            <a:off x="311700" y="288275"/>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b="1" dirty="0">
                <a:solidFill>
                  <a:srgbClr val="004856"/>
                </a:solidFill>
              </a:rPr>
              <a:t>Task 2-2: Self-consistency</a:t>
            </a:r>
            <a:endParaRPr lang="en-US" dirty="0"/>
          </a:p>
        </p:txBody>
      </p:sp>
      <p:pic>
        <p:nvPicPr>
          <p:cNvPr id="6" name="Google Shape;56;p13">
            <a:extLst>
              <a:ext uri="{FF2B5EF4-FFF2-40B4-BE49-F238E27FC236}">
                <a16:creationId xmlns:a16="http://schemas.microsoft.com/office/drawing/2014/main" id="{61F47B33-13D5-6DD3-13A5-65BA845FBEC5}"/>
              </a:ext>
            </a:extLst>
          </p:cNvPr>
          <p:cNvPicPr preferRelativeResize="0"/>
          <p:nvPr/>
        </p:nvPicPr>
        <p:blipFill>
          <a:blip r:embed="rId3"/>
          <a:srcRect/>
          <a:stretch/>
        </p:blipFill>
        <p:spPr>
          <a:xfrm>
            <a:off x="7829550" y="4662460"/>
            <a:ext cx="1314450" cy="438150"/>
          </a:xfrm>
          <a:prstGeom prst="rect">
            <a:avLst/>
          </a:prstGeom>
          <a:noFill/>
          <a:ln>
            <a:noFill/>
          </a:ln>
        </p:spPr>
      </p:pic>
      <p:pic>
        <p:nvPicPr>
          <p:cNvPr id="3" name="그림 2">
            <a:extLst>
              <a:ext uri="{FF2B5EF4-FFF2-40B4-BE49-F238E27FC236}">
                <a16:creationId xmlns:a16="http://schemas.microsoft.com/office/drawing/2014/main" id="{96C89EB4-B0D7-53CA-AE92-F2122FB09F7B}"/>
              </a:ext>
            </a:extLst>
          </p:cNvPr>
          <p:cNvPicPr>
            <a:picLocks noChangeAspect="1"/>
          </p:cNvPicPr>
          <p:nvPr/>
        </p:nvPicPr>
        <p:blipFill>
          <a:blip r:embed="rId4"/>
          <a:stretch>
            <a:fillRect/>
          </a:stretch>
        </p:blipFill>
        <p:spPr>
          <a:xfrm>
            <a:off x="685800" y="2128209"/>
            <a:ext cx="7772400" cy="1333129"/>
          </a:xfrm>
          <a:prstGeom prst="rect">
            <a:avLst/>
          </a:prstGeom>
        </p:spPr>
      </p:pic>
      <p:pic>
        <p:nvPicPr>
          <p:cNvPr id="2" name="그림 8" descr="폰트, 그래픽, 텍스트, 스크린샷이(가) 표시된 사진&#10;&#10;자동 생성된 설명">
            <a:extLst>
              <a:ext uri="{FF2B5EF4-FFF2-40B4-BE49-F238E27FC236}">
                <a16:creationId xmlns:a16="http://schemas.microsoft.com/office/drawing/2014/main" id="{D0B1B1C2-E2D7-D8AE-A5A8-2266B7A283E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extLst>
      <p:ext uri="{BB962C8B-B14F-4D97-AF65-F5344CB8AC3E}">
        <p14:creationId xmlns:p14="http://schemas.microsoft.com/office/powerpoint/2010/main" val="8165263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9"/>
          <p:cNvSpPr txBox="1">
            <a:spLocks noGrp="1"/>
          </p:cNvSpPr>
          <p:nvPr>
            <p:ph type="ctrTitle"/>
          </p:nvPr>
        </p:nvSpPr>
        <p:spPr>
          <a:xfrm>
            <a:off x="311700" y="2226150"/>
            <a:ext cx="8520600" cy="6912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ko" sz="4000" b="1">
                <a:solidFill>
                  <a:srgbClr val="004856"/>
                </a:solidFill>
              </a:rPr>
              <a:t>ReAct</a:t>
            </a:r>
            <a:endParaRPr sz="4000"/>
          </a:p>
        </p:txBody>
      </p:sp>
      <p:pic>
        <p:nvPicPr>
          <p:cNvPr id="2" name="Google Shape;56;p13">
            <a:extLst>
              <a:ext uri="{FF2B5EF4-FFF2-40B4-BE49-F238E27FC236}">
                <a16:creationId xmlns:a16="http://schemas.microsoft.com/office/drawing/2014/main" id="{B7F57A08-AF4E-5F71-E6BA-7282FBE4AA71}"/>
              </a:ext>
            </a:extLst>
          </p:cNvPr>
          <p:cNvPicPr preferRelativeResize="0"/>
          <p:nvPr/>
        </p:nvPicPr>
        <p:blipFill>
          <a:blip r:embed="rId3"/>
          <a:srcRect/>
          <a:stretch/>
        </p:blipFill>
        <p:spPr>
          <a:xfrm>
            <a:off x="7829550" y="4662460"/>
            <a:ext cx="1314450" cy="438150"/>
          </a:xfrm>
          <a:prstGeom prst="rect">
            <a:avLst/>
          </a:prstGeom>
          <a:noFill/>
          <a:ln>
            <a:noFill/>
          </a:ln>
        </p:spPr>
      </p:pic>
      <p:pic>
        <p:nvPicPr>
          <p:cNvPr id="3" name="그림 8" descr="폰트, 그래픽, 텍스트, 스크린샷이(가) 표시된 사진&#10;&#10;자동 생성된 설명">
            <a:extLst>
              <a:ext uri="{FF2B5EF4-FFF2-40B4-BE49-F238E27FC236}">
                <a16:creationId xmlns:a16="http://schemas.microsoft.com/office/drawing/2014/main" id="{CF991289-FBC5-CF16-CDDD-035BB7FF206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90" name="Google Shape;190;p30"/>
          <p:cNvSpPr txBox="1"/>
          <p:nvPr/>
        </p:nvSpPr>
        <p:spPr>
          <a:xfrm>
            <a:off x="71200" y="4882475"/>
            <a:ext cx="5406900" cy="177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ko" sz="700" b="1">
                <a:solidFill>
                  <a:srgbClr val="999999"/>
                </a:solidFill>
              </a:rPr>
              <a:t>Yao et al. “ReAct: Synergizing Reasoning and Acting in Language Models”, ICLR 2023</a:t>
            </a:r>
            <a:endParaRPr sz="700" b="1">
              <a:solidFill>
                <a:srgbClr val="999999"/>
              </a:solidFill>
            </a:endParaRPr>
          </a:p>
        </p:txBody>
      </p:sp>
      <p:pic>
        <p:nvPicPr>
          <p:cNvPr id="2" name="Google Shape;56;p13">
            <a:extLst>
              <a:ext uri="{FF2B5EF4-FFF2-40B4-BE49-F238E27FC236}">
                <a16:creationId xmlns:a16="http://schemas.microsoft.com/office/drawing/2014/main" id="{BFACD963-7247-BB8B-15CF-AC47BCDAD857}"/>
              </a:ext>
            </a:extLst>
          </p:cNvPr>
          <p:cNvPicPr preferRelativeResize="0"/>
          <p:nvPr/>
        </p:nvPicPr>
        <p:blipFill>
          <a:blip r:embed="rId3"/>
          <a:srcRect/>
          <a:stretch/>
        </p:blipFill>
        <p:spPr>
          <a:xfrm>
            <a:off x="7829550" y="4662460"/>
            <a:ext cx="1314450" cy="438150"/>
          </a:xfrm>
          <a:prstGeom prst="rect">
            <a:avLst/>
          </a:prstGeom>
          <a:noFill/>
          <a:ln>
            <a:noFill/>
          </a:ln>
        </p:spPr>
      </p:pic>
      <p:sp>
        <p:nvSpPr>
          <p:cNvPr id="3" name="Google Shape;82;p17">
            <a:extLst>
              <a:ext uri="{FF2B5EF4-FFF2-40B4-BE49-F238E27FC236}">
                <a16:creationId xmlns:a16="http://schemas.microsoft.com/office/drawing/2014/main" id="{8AA5E8A8-E425-A400-8F49-920FA77052E6}"/>
              </a:ext>
            </a:extLst>
          </p:cNvPr>
          <p:cNvSpPr txBox="1">
            <a:spLocks/>
          </p:cNvSpPr>
          <p:nvPr/>
        </p:nvSpPr>
        <p:spPr>
          <a:xfrm>
            <a:off x="311700" y="289063"/>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b="1" dirty="0" err="1">
                <a:solidFill>
                  <a:srgbClr val="004856"/>
                </a:solidFill>
              </a:rPr>
              <a:t>ReAct</a:t>
            </a:r>
            <a:endParaRPr lang="en-US" dirty="0"/>
          </a:p>
        </p:txBody>
      </p:sp>
      <p:sp>
        <p:nvSpPr>
          <p:cNvPr id="6" name="Google Shape;97;p19">
            <a:extLst>
              <a:ext uri="{FF2B5EF4-FFF2-40B4-BE49-F238E27FC236}">
                <a16:creationId xmlns:a16="http://schemas.microsoft.com/office/drawing/2014/main" id="{A08A8E79-6C2B-F5EE-6A75-DCAE00CABC5E}"/>
              </a:ext>
            </a:extLst>
          </p:cNvPr>
          <p:cNvSpPr txBox="1">
            <a:spLocks/>
          </p:cNvSpPr>
          <p:nvPr/>
        </p:nvSpPr>
        <p:spPr>
          <a:xfrm>
            <a:off x="311700" y="989862"/>
            <a:ext cx="4706349" cy="34164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lvl="0"/>
            <a:r>
              <a:rPr lang="en" altLang="ko" b="1" dirty="0">
                <a:solidFill>
                  <a:schemeClr val="tx1">
                    <a:lumMod val="95000"/>
                    <a:lumOff val="5000"/>
                  </a:schemeClr>
                </a:solidFill>
              </a:rPr>
              <a:t>Recent approaches</a:t>
            </a:r>
            <a:endParaRPr lang="en" altLang="ko-KR" b="1" dirty="0">
              <a:solidFill>
                <a:schemeClr val="tx1">
                  <a:lumMod val="95000"/>
                  <a:lumOff val="5000"/>
                </a:schemeClr>
              </a:solidFill>
            </a:endParaRPr>
          </a:p>
          <a:p>
            <a:pPr lvl="1"/>
            <a:r>
              <a:rPr lang="en" altLang="ko" b="1" dirty="0">
                <a:solidFill>
                  <a:schemeClr val="tx1">
                    <a:lumMod val="95000"/>
                    <a:lumOff val="5000"/>
                  </a:schemeClr>
                </a:solidFill>
              </a:rPr>
              <a:t>Reasoning only</a:t>
            </a:r>
            <a:r>
              <a:rPr lang="en" altLang="ko" dirty="0">
                <a:solidFill>
                  <a:schemeClr val="tx1">
                    <a:lumMod val="95000"/>
                    <a:lumOff val="5000"/>
                  </a:schemeClr>
                </a:solidFill>
              </a:rPr>
              <a:t>: Internal representation only, not grounded in external world                                         -&gt; hallucination, error propagation</a:t>
            </a:r>
            <a:endParaRPr lang="en" altLang="ko-KR" dirty="0">
              <a:solidFill>
                <a:schemeClr val="tx1">
                  <a:lumMod val="95000"/>
                  <a:lumOff val="5000"/>
                </a:schemeClr>
              </a:solidFill>
            </a:endParaRPr>
          </a:p>
          <a:p>
            <a:pPr lvl="1"/>
            <a:r>
              <a:rPr lang="en" altLang="ko" b="1" dirty="0">
                <a:solidFill>
                  <a:schemeClr val="tx1">
                    <a:lumMod val="95000"/>
                    <a:lumOff val="5000"/>
                  </a:schemeClr>
                </a:solidFill>
              </a:rPr>
              <a:t>Actions</a:t>
            </a:r>
            <a:r>
              <a:rPr lang="en" altLang="ko" dirty="0">
                <a:solidFill>
                  <a:schemeClr val="tx1">
                    <a:lumMod val="95000"/>
                    <a:lumOff val="5000"/>
                  </a:schemeClr>
                </a:solidFill>
              </a:rPr>
              <a:t>: generate domain-specific actions or plans, and then use a controller to choose or execute them -&gt; No reasoning abstractly about high-level goals</a:t>
            </a:r>
            <a:endParaRPr lang="en" altLang="ko-KR" sz="1800" b="1" dirty="0">
              <a:solidFill>
                <a:schemeClr val="tx1">
                  <a:lumMod val="95000"/>
                  <a:lumOff val="5000"/>
                </a:schemeClr>
              </a:solidFill>
            </a:endParaRPr>
          </a:p>
        </p:txBody>
      </p:sp>
      <p:pic>
        <p:nvPicPr>
          <p:cNvPr id="7" name="그림 6">
            <a:extLst>
              <a:ext uri="{FF2B5EF4-FFF2-40B4-BE49-F238E27FC236}">
                <a16:creationId xmlns:a16="http://schemas.microsoft.com/office/drawing/2014/main" id="{633E2247-1028-CDC2-EE6E-397C4D7E79D2}"/>
              </a:ext>
            </a:extLst>
          </p:cNvPr>
          <p:cNvPicPr>
            <a:picLocks noChangeAspect="1"/>
          </p:cNvPicPr>
          <p:nvPr/>
        </p:nvPicPr>
        <p:blipFill>
          <a:blip r:embed="rId4"/>
          <a:stretch>
            <a:fillRect/>
          </a:stretch>
        </p:blipFill>
        <p:spPr>
          <a:xfrm>
            <a:off x="5488973" y="1177569"/>
            <a:ext cx="3343327" cy="2788362"/>
          </a:xfrm>
          <a:prstGeom prst="rect">
            <a:avLst/>
          </a:prstGeom>
        </p:spPr>
      </p:pic>
      <p:pic>
        <p:nvPicPr>
          <p:cNvPr id="4" name="그림 8" descr="폰트, 그래픽, 텍스트, 스크린샷이(가) 표시된 사진&#10;&#10;자동 생성된 설명">
            <a:extLst>
              <a:ext uri="{FF2B5EF4-FFF2-40B4-BE49-F238E27FC236}">
                <a16:creationId xmlns:a16="http://schemas.microsoft.com/office/drawing/2014/main" id="{57068374-F963-2D69-C241-AFEE9898C23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2" name="Google Shape;56;p13">
            <a:extLst>
              <a:ext uri="{FF2B5EF4-FFF2-40B4-BE49-F238E27FC236}">
                <a16:creationId xmlns:a16="http://schemas.microsoft.com/office/drawing/2014/main" id="{80832D92-EC54-A6DB-43BA-492CB79F5359}"/>
              </a:ext>
            </a:extLst>
          </p:cNvPr>
          <p:cNvPicPr preferRelativeResize="0"/>
          <p:nvPr/>
        </p:nvPicPr>
        <p:blipFill>
          <a:blip r:embed="rId3"/>
          <a:srcRect/>
          <a:stretch/>
        </p:blipFill>
        <p:spPr>
          <a:xfrm>
            <a:off x="7829550" y="4662460"/>
            <a:ext cx="1314450" cy="438150"/>
          </a:xfrm>
          <a:prstGeom prst="rect">
            <a:avLst/>
          </a:prstGeom>
          <a:noFill/>
          <a:ln>
            <a:noFill/>
          </a:ln>
        </p:spPr>
      </p:pic>
      <p:sp>
        <p:nvSpPr>
          <p:cNvPr id="199" name="Google Shape;199;p31"/>
          <p:cNvSpPr txBox="1"/>
          <p:nvPr/>
        </p:nvSpPr>
        <p:spPr>
          <a:xfrm>
            <a:off x="71200" y="4882475"/>
            <a:ext cx="5406900" cy="177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ko" sz="700" b="1">
                <a:solidFill>
                  <a:srgbClr val="999999"/>
                </a:solidFill>
              </a:rPr>
              <a:t>Yao et al. “ReAct: Synergizing Reasoning and Acting in Language Models”, ICLR 2023</a:t>
            </a:r>
            <a:endParaRPr sz="700" b="1">
              <a:solidFill>
                <a:srgbClr val="999999"/>
              </a:solidFill>
            </a:endParaRPr>
          </a:p>
        </p:txBody>
      </p:sp>
      <p:sp>
        <p:nvSpPr>
          <p:cNvPr id="5" name="Google Shape;82;p17">
            <a:extLst>
              <a:ext uri="{FF2B5EF4-FFF2-40B4-BE49-F238E27FC236}">
                <a16:creationId xmlns:a16="http://schemas.microsoft.com/office/drawing/2014/main" id="{854EB732-657A-3FFD-4FC4-4447421C0DCA}"/>
              </a:ext>
            </a:extLst>
          </p:cNvPr>
          <p:cNvSpPr txBox="1">
            <a:spLocks/>
          </p:cNvSpPr>
          <p:nvPr/>
        </p:nvSpPr>
        <p:spPr>
          <a:xfrm>
            <a:off x="311700" y="289063"/>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b="1" dirty="0" err="1">
                <a:solidFill>
                  <a:srgbClr val="004856"/>
                </a:solidFill>
              </a:rPr>
              <a:t>ReAct</a:t>
            </a:r>
            <a:endParaRPr lang="en-US" dirty="0"/>
          </a:p>
        </p:txBody>
      </p:sp>
      <p:sp>
        <p:nvSpPr>
          <p:cNvPr id="6" name="Google Shape;97;p19">
            <a:extLst>
              <a:ext uri="{FF2B5EF4-FFF2-40B4-BE49-F238E27FC236}">
                <a16:creationId xmlns:a16="http://schemas.microsoft.com/office/drawing/2014/main" id="{EE9DE84F-3FE1-5EF1-CBFA-487DC15165B7}"/>
              </a:ext>
            </a:extLst>
          </p:cNvPr>
          <p:cNvSpPr txBox="1">
            <a:spLocks/>
          </p:cNvSpPr>
          <p:nvPr/>
        </p:nvSpPr>
        <p:spPr>
          <a:xfrm>
            <a:off x="311700" y="989862"/>
            <a:ext cx="8520600" cy="34164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lvl="0">
              <a:buClr>
                <a:srgbClr val="595959"/>
              </a:buClr>
            </a:pPr>
            <a:r>
              <a:rPr lang="en" altLang="ko" b="1" dirty="0">
                <a:solidFill>
                  <a:schemeClr val="tx1">
                    <a:lumMod val="95000"/>
                    <a:lumOff val="5000"/>
                  </a:schemeClr>
                </a:solidFill>
              </a:rPr>
              <a:t>Re</a:t>
            </a:r>
            <a:r>
              <a:rPr lang="en" altLang="ko" dirty="0">
                <a:solidFill>
                  <a:schemeClr val="tx1">
                    <a:lumMod val="95000"/>
                    <a:lumOff val="5000"/>
                  </a:schemeClr>
                </a:solidFill>
              </a:rPr>
              <a:t>asoning</a:t>
            </a:r>
            <a:r>
              <a:rPr lang="en" altLang="ko" b="1" dirty="0">
                <a:solidFill>
                  <a:schemeClr val="tx1">
                    <a:lumMod val="95000"/>
                    <a:lumOff val="5000"/>
                  </a:schemeClr>
                </a:solidFill>
              </a:rPr>
              <a:t> + Act</a:t>
            </a:r>
            <a:r>
              <a:rPr lang="en" altLang="ko" dirty="0">
                <a:solidFill>
                  <a:schemeClr val="tx1">
                    <a:lumMod val="95000"/>
                    <a:lumOff val="5000"/>
                  </a:schemeClr>
                </a:solidFill>
              </a:rPr>
              <a:t>ing</a:t>
            </a:r>
            <a:endParaRPr lang="en" altLang="ko-KR" dirty="0">
              <a:solidFill>
                <a:schemeClr val="tx1">
                  <a:lumMod val="95000"/>
                  <a:lumOff val="5000"/>
                </a:schemeClr>
              </a:solidFill>
            </a:endParaRPr>
          </a:p>
          <a:p>
            <a:pPr lvl="1">
              <a:buClr>
                <a:srgbClr val="595959"/>
              </a:buClr>
            </a:pPr>
            <a:r>
              <a:rPr lang="en" altLang="ko" dirty="0">
                <a:solidFill>
                  <a:schemeClr val="tx1">
                    <a:lumMod val="95000"/>
                    <a:lumOff val="5000"/>
                  </a:schemeClr>
                </a:solidFill>
              </a:rPr>
              <a:t>Prompt LLMs to generate both verbal reasoning traces and actions pertaining to a task</a:t>
            </a:r>
            <a:endParaRPr lang="en" altLang="ko-KR" dirty="0">
              <a:solidFill>
                <a:schemeClr val="tx1">
                  <a:lumMod val="95000"/>
                  <a:lumOff val="5000"/>
                </a:schemeClr>
              </a:solidFill>
            </a:endParaRPr>
          </a:p>
        </p:txBody>
      </p:sp>
      <p:pic>
        <p:nvPicPr>
          <p:cNvPr id="7" name="그림 6">
            <a:extLst>
              <a:ext uri="{FF2B5EF4-FFF2-40B4-BE49-F238E27FC236}">
                <a16:creationId xmlns:a16="http://schemas.microsoft.com/office/drawing/2014/main" id="{307953C2-3563-B0C3-03AD-1FE3D17B672A}"/>
              </a:ext>
            </a:extLst>
          </p:cNvPr>
          <p:cNvPicPr>
            <a:picLocks noChangeAspect="1"/>
          </p:cNvPicPr>
          <p:nvPr/>
        </p:nvPicPr>
        <p:blipFill>
          <a:blip r:embed="rId4"/>
          <a:stretch>
            <a:fillRect/>
          </a:stretch>
        </p:blipFill>
        <p:spPr>
          <a:xfrm>
            <a:off x="1231930" y="1786335"/>
            <a:ext cx="6680139" cy="2858033"/>
          </a:xfrm>
          <a:prstGeom prst="rect">
            <a:avLst/>
          </a:prstGeom>
        </p:spPr>
      </p:pic>
      <p:pic>
        <p:nvPicPr>
          <p:cNvPr id="3" name="그림 8" descr="폰트, 그래픽, 텍스트, 스크린샷이(가) 표시된 사진&#10;&#10;자동 생성된 설명">
            <a:extLst>
              <a:ext uri="{FF2B5EF4-FFF2-40B4-BE49-F238E27FC236}">
                <a16:creationId xmlns:a16="http://schemas.microsoft.com/office/drawing/2014/main" id="{08D27D23-9079-F8B7-8CB7-6B0B2947AA3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70C77FFD-BCE1-AB9E-6776-E379B4769D4E}"/>
            </a:ext>
          </a:extLst>
        </p:cNvPr>
        <p:cNvGrpSpPr/>
        <p:nvPr/>
      </p:nvGrpSpPr>
      <p:grpSpPr>
        <a:xfrm>
          <a:off x="0" y="0"/>
          <a:ext cx="0" cy="0"/>
          <a:chOff x="0" y="0"/>
          <a:chExt cx="0" cy="0"/>
        </a:xfrm>
      </p:grpSpPr>
      <p:pic>
        <p:nvPicPr>
          <p:cNvPr id="2" name="Google Shape;56;p13">
            <a:extLst>
              <a:ext uri="{FF2B5EF4-FFF2-40B4-BE49-F238E27FC236}">
                <a16:creationId xmlns:a16="http://schemas.microsoft.com/office/drawing/2014/main" id="{8EDAD5C9-6D0F-76FE-F8BE-AA9809C388A2}"/>
              </a:ext>
            </a:extLst>
          </p:cNvPr>
          <p:cNvPicPr preferRelativeResize="0"/>
          <p:nvPr/>
        </p:nvPicPr>
        <p:blipFill>
          <a:blip r:embed="rId3"/>
          <a:srcRect/>
          <a:stretch/>
        </p:blipFill>
        <p:spPr>
          <a:xfrm>
            <a:off x="7829550" y="4662460"/>
            <a:ext cx="1314450" cy="438150"/>
          </a:xfrm>
          <a:prstGeom prst="rect">
            <a:avLst/>
          </a:prstGeom>
          <a:noFill/>
          <a:ln>
            <a:noFill/>
          </a:ln>
        </p:spPr>
      </p:pic>
      <p:sp>
        <p:nvSpPr>
          <p:cNvPr id="199" name="Google Shape;199;p31">
            <a:extLst>
              <a:ext uri="{FF2B5EF4-FFF2-40B4-BE49-F238E27FC236}">
                <a16:creationId xmlns:a16="http://schemas.microsoft.com/office/drawing/2014/main" id="{9B3ADA78-A8E4-D158-2A16-17DB44AC0DC3}"/>
              </a:ext>
            </a:extLst>
          </p:cNvPr>
          <p:cNvSpPr txBox="1"/>
          <p:nvPr/>
        </p:nvSpPr>
        <p:spPr>
          <a:xfrm>
            <a:off x="71200" y="4882475"/>
            <a:ext cx="5406900" cy="177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ko" sz="700" b="1">
                <a:solidFill>
                  <a:srgbClr val="999999"/>
                </a:solidFill>
              </a:rPr>
              <a:t>Yao et al. “ReAct: Synergizing Reasoning and Acting in Language Models”, ICLR 2023</a:t>
            </a:r>
            <a:endParaRPr sz="700" b="1">
              <a:solidFill>
                <a:srgbClr val="999999"/>
              </a:solidFill>
            </a:endParaRPr>
          </a:p>
        </p:txBody>
      </p:sp>
      <p:sp>
        <p:nvSpPr>
          <p:cNvPr id="5" name="Google Shape;82;p17">
            <a:extLst>
              <a:ext uri="{FF2B5EF4-FFF2-40B4-BE49-F238E27FC236}">
                <a16:creationId xmlns:a16="http://schemas.microsoft.com/office/drawing/2014/main" id="{EE004CCC-1BF3-5BA8-2BAF-7DE761947C45}"/>
              </a:ext>
            </a:extLst>
          </p:cNvPr>
          <p:cNvSpPr txBox="1">
            <a:spLocks/>
          </p:cNvSpPr>
          <p:nvPr/>
        </p:nvSpPr>
        <p:spPr>
          <a:xfrm>
            <a:off x="311700" y="289063"/>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b="1" dirty="0" err="1">
                <a:solidFill>
                  <a:srgbClr val="004856"/>
                </a:solidFill>
              </a:rPr>
              <a:t>ReAct</a:t>
            </a:r>
            <a:endParaRPr lang="en-US" dirty="0"/>
          </a:p>
        </p:txBody>
      </p:sp>
      <p:pic>
        <p:nvPicPr>
          <p:cNvPr id="7" name="그림 6">
            <a:extLst>
              <a:ext uri="{FF2B5EF4-FFF2-40B4-BE49-F238E27FC236}">
                <a16:creationId xmlns:a16="http://schemas.microsoft.com/office/drawing/2014/main" id="{CD427724-D79E-CEAF-04AA-4000F76A891D}"/>
              </a:ext>
            </a:extLst>
          </p:cNvPr>
          <p:cNvPicPr>
            <a:picLocks noChangeAspect="1"/>
          </p:cNvPicPr>
          <p:nvPr/>
        </p:nvPicPr>
        <p:blipFill>
          <a:blip r:embed="rId4"/>
          <a:stretch>
            <a:fillRect/>
          </a:stretch>
        </p:blipFill>
        <p:spPr>
          <a:xfrm>
            <a:off x="382943" y="969864"/>
            <a:ext cx="8378113" cy="3584495"/>
          </a:xfrm>
          <a:prstGeom prst="rect">
            <a:avLst/>
          </a:prstGeom>
        </p:spPr>
      </p:pic>
      <p:pic>
        <p:nvPicPr>
          <p:cNvPr id="3" name="그림 8" descr="폰트, 그래픽, 텍스트, 스크린샷이(가) 표시된 사진&#10;&#10;자동 생성된 설명">
            <a:extLst>
              <a:ext uri="{FF2B5EF4-FFF2-40B4-BE49-F238E27FC236}">
                <a16:creationId xmlns:a16="http://schemas.microsoft.com/office/drawing/2014/main" id="{3A2946D8-C99B-8B37-21B5-8D21B7857F0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extLst>
      <p:ext uri="{BB962C8B-B14F-4D97-AF65-F5344CB8AC3E}">
        <p14:creationId xmlns:p14="http://schemas.microsoft.com/office/powerpoint/2010/main" val="173312396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7" name="Google Shape;207;p32"/>
          <p:cNvSpPr txBox="1"/>
          <p:nvPr/>
        </p:nvSpPr>
        <p:spPr>
          <a:xfrm>
            <a:off x="71200" y="4882475"/>
            <a:ext cx="5406900" cy="177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ko" sz="700" b="1">
                <a:solidFill>
                  <a:srgbClr val="999999"/>
                </a:solidFill>
              </a:rPr>
              <a:t>Yao et al. “ReAct: Synergizing Reasoning and Acting in Language Models”, ICLR 2023</a:t>
            </a:r>
            <a:endParaRPr sz="700" b="1">
              <a:solidFill>
                <a:srgbClr val="999999"/>
              </a:solidFill>
            </a:endParaRPr>
          </a:p>
        </p:txBody>
      </p:sp>
      <p:pic>
        <p:nvPicPr>
          <p:cNvPr id="208" name="Google Shape;208;p32"/>
          <p:cNvPicPr preferRelativeResize="0"/>
          <p:nvPr/>
        </p:nvPicPr>
        <p:blipFill>
          <a:blip r:embed="rId3">
            <a:alphaModFix/>
          </a:blip>
          <a:stretch>
            <a:fillRect/>
          </a:stretch>
        </p:blipFill>
        <p:spPr>
          <a:xfrm>
            <a:off x="2864000" y="2322625"/>
            <a:ext cx="3416000" cy="2352925"/>
          </a:xfrm>
          <a:prstGeom prst="rect">
            <a:avLst/>
          </a:prstGeom>
          <a:noFill/>
          <a:ln>
            <a:noFill/>
          </a:ln>
        </p:spPr>
      </p:pic>
      <p:pic>
        <p:nvPicPr>
          <p:cNvPr id="2" name="Google Shape;56;p13">
            <a:extLst>
              <a:ext uri="{FF2B5EF4-FFF2-40B4-BE49-F238E27FC236}">
                <a16:creationId xmlns:a16="http://schemas.microsoft.com/office/drawing/2014/main" id="{2CCD75D3-5311-EA59-8751-8D8738397B74}"/>
              </a:ext>
            </a:extLst>
          </p:cNvPr>
          <p:cNvPicPr preferRelativeResize="0"/>
          <p:nvPr/>
        </p:nvPicPr>
        <p:blipFill>
          <a:blip r:embed="rId4"/>
          <a:srcRect/>
          <a:stretch/>
        </p:blipFill>
        <p:spPr>
          <a:xfrm>
            <a:off x="7829550" y="4662460"/>
            <a:ext cx="1314450" cy="438150"/>
          </a:xfrm>
          <a:prstGeom prst="rect">
            <a:avLst/>
          </a:prstGeom>
          <a:noFill/>
          <a:ln>
            <a:noFill/>
          </a:ln>
        </p:spPr>
      </p:pic>
      <p:sp>
        <p:nvSpPr>
          <p:cNvPr id="5" name="Google Shape;82;p17">
            <a:extLst>
              <a:ext uri="{FF2B5EF4-FFF2-40B4-BE49-F238E27FC236}">
                <a16:creationId xmlns:a16="http://schemas.microsoft.com/office/drawing/2014/main" id="{05171F26-C95A-CDD8-1226-2D6F42B37D11}"/>
              </a:ext>
            </a:extLst>
          </p:cNvPr>
          <p:cNvSpPr txBox="1">
            <a:spLocks/>
          </p:cNvSpPr>
          <p:nvPr/>
        </p:nvSpPr>
        <p:spPr>
          <a:xfrm>
            <a:off x="311700" y="289063"/>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b="1" dirty="0" err="1">
                <a:solidFill>
                  <a:srgbClr val="004856"/>
                </a:solidFill>
              </a:rPr>
              <a:t>ReAct</a:t>
            </a:r>
            <a:endParaRPr lang="en-US" dirty="0"/>
          </a:p>
        </p:txBody>
      </p:sp>
      <p:sp>
        <p:nvSpPr>
          <p:cNvPr id="6" name="Google Shape;97;p19">
            <a:extLst>
              <a:ext uri="{FF2B5EF4-FFF2-40B4-BE49-F238E27FC236}">
                <a16:creationId xmlns:a16="http://schemas.microsoft.com/office/drawing/2014/main" id="{889B4577-B48B-5EAD-398D-45FD3C0D8D8D}"/>
              </a:ext>
            </a:extLst>
          </p:cNvPr>
          <p:cNvSpPr txBox="1">
            <a:spLocks/>
          </p:cNvSpPr>
          <p:nvPr/>
        </p:nvSpPr>
        <p:spPr>
          <a:xfrm>
            <a:off x="311700" y="989862"/>
            <a:ext cx="8520600" cy="34164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lvl="0">
              <a:buClr>
                <a:srgbClr val="595959"/>
              </a:buClr>
            </a:pPr>
            <a:r>
              <a:rPr lang="en" altLang="ko" b="1" dirty="0">
                <a:solidFill>
                  <a:schemeClr val="tx1">
                    <a:lumMod val="95000"/>
                    <a:lumOff val="5000"/>
                  </a:schemeClr>
                </a:solidFill>
              </a:rPr>
              <a:t>Results</a:t>
            </a:r>
            <a:endParaRPr lang="en" altLang="ko-KR" dirty="0">
              <a:solidFill>
                <a:schemeClr val="tx1">
                  <a:lumMod val="95000"/>
                  <a:lumOff val="5000"/>
                </a:schemeClr>
              </a:solidFill>
            </a:endParaRPr>
          </a:p>
          <a:p>
            <a:pPr lvl="1">
              <a:buClr>
                <a:srgbClr val="595959"/>
              </a:buClr>
            </a:pPr>
            <a:r>
              <a:rPr lang="en" altLang="ko" dirty="0" err="1">
                <a:solidFill>
                  <a:schemeClr val="tx1">
                    <a:lumMod val="95000"/>
                    <a:lumOff val="5000"/>
                  </a:schemeClr>
                </a:solidFill>
              </a:rPr>
              <a:t>HotpotQA</a:t>
            </a:r>
            <a:r>
              <a:rPr lang="en" altLang="ko" dirty="0">
                <a:solidFill>
                  <a:schemeClr val="tx1">
                    <a:lumMod val="95000"/>
                    <a:lumOff val="5000"/>
                  </a:schemeClr>
                </a:solidFill>
              </a:rPr>
              <a:t>: </a:t>
            </a:r>
            <a:r>
              <a:rPr lang="en" altLang="ko" dirty="0" err="1">
                <a:solidFill>
                  <a:schemeClr val="tx1">
                    <a:lumMod val="95000"/>
                    <a:lumOff val="5000"/>
                  </a:schemeClr>
                </a:solidFill>
              </a:rPr>
              <a:t>CoT</a:t>
            </a:r>
            <a:r>
              <a:rPr lang="en" altLang="ko" dirty="0">
                <a:solidFill>
                  <a:schemeClr val="tx1">
                    <a:lumMod val="95000"/>
                    <a:lumOff val="5000"/>
                  </a:schemeClr>
                </a:solidFill>
              </a:rPr>
              <a:t> outperforms</a:t>
            </a:r>
            <a:endParaRPr lang="en" altLang="ko-KR" dirty="0">
              <a:solidFill>
                <a:schemeClr val="tx1">
                  <a:lumMod val="95000"/>
                  <a:lumOff val="5000"/>
                </a:schemeClr>
              </a:solidFill>
            </a:endParaRPr>
          </a:p>
          <a:p>
            <a:pPr lvl="1">
              <a:buClr>
                <a:srgbClr val="595959"/>
              </a:buClr>
            </a:pPr>
            <a:r>
              <a:rPr lang="en" altLang="ko" dirty="0">
                <a:solidFill>
                  <a:schemeClr val="tx1">
                    <a:lumMod val="95000"/>
                    <a:lumOff val="5000"/>
                  </a:schemeClr>
                </a:solidFill>
              </a:rPr>
              <a:t>Fever: Fact verification -&gt; </a:t>
            </a:r>
            <a:r>
              <a:rPr lang="en" altLang="ko" dirty="0" err="1">
                <a:solidFill>
                  <a:schemeClr val="tx1">
                    <a:lumMod val="95000"/>
                    <a:lumOff val="5000"/>
                  </a:schemeClr>
                </a:solidFill>
              </a:rPr>
              <a:t>ReAct</a:t>
            </a:r>
            <a:r>
              <a:rPr lang="en" altLang="ko" dirty="0">
                <a:solidFill>
                  <a:schemeClr val="tx1">
                    <a:lumMod val="95000"/>
                    <a:lumOff val="5000"/>
                  </a:schemeClr>
                </a:solidFill>
              </a:rPr>
              <a:t> outperforms</a:t>
            </a:r>
            <a:endParaRPr lang="en" altLang="ko-KR" dirty="0">
              <a:solidFill>
                <a:schemeClr val="tx1">
                  <a:lumMod val="95000"/>
                  <a:lumOff val="5000"/>
                </a:schemeClr>
              </a:solidFill>
            </a:endParaRPr>
          </a:p>
          <a:p>
            <a:pPr lvl="1">
              <a:buClr>
                <a:srgbClr val="595959"/>
              </a:buClr>
            </a:pPr>
            <a:r>
              <a:rPr lang="en" altLang="ko" dirty="0">
                <a:solidFill>
                  <a:schemeClr val="tx1">
                    <a:lumMod val="95000"/>
                    <a:lumOff val="5000"/>
                  </a:schemeClr>
                </a:solidFill>
              </a:rPr>
              <a:t>SC: Self-consistency</a:t>
            </a:r>
            <a:endParaRPr lang="en" altLang="ko-KR" dirty="0">
              <a:solidFill>
                <a:schemeClr val="tx1">
                  <a:lumMod val="95000"/>
                  <a:lumOff val="5000"/>
                </a:schemeClr>
              </a:solidFill>
            </a:endParaRPr>
          </a:p>
        </p:txBody>
      </p:sp>
      <p:pic>
        <p:nvPicPr>
          <p:cNvPr id="3" name="그림 8" descr="폰트, 그래픽, 텍스트, 스크린샷이(가) 표시된 사진&#10;&#10;자동 생성된 설명">
            <a:extLst>
              <a:ext uri="{FF2B5EF4-FFF2-40B4-BE49-F238E27FC236}">
                <a16:creationId xmlns:a16="http://schemas.microsoft.com/office/drawing/2014/main" id="{F1D1D859-1C16-69F3-B489-2F463D6C68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03">
          <a:extLst>
            <a:ext uri="{FF2B5EF4-FFF2-40B4-BE49-F238E27FC236}">
              <a16:creationId xmlns:a16="http://schemas.microsoft.com/office/drawing/2014/main" id="{E7443949-565A-04C3-F083-153916549442}"/>
            </a:ext>
          </a:extLst>
        </p:cNvPr>
        <p:cNvGrpSpPr/>
        <p:nvPr/>
      </p:nvGrpSpPr>
      <p:grpSpPr>
        <a:xfrm>
          <a:off x="0" y="0"/>
          <a:ext cx="0" cy="0"/>
          <a:chOff x="0" y="0"/>
          <a:chExt cx="0" cy="0"/>
        </a:xfrm>
      </p:grpSpPr>
      <p:sp>
        <p:nvSpPr>
          <p:cNvPr id="207" name="Google Shape;207;p32">
            <a:extLst>
              <a:ext uri="{FF2B5EF4-FFF2-40B4-BE49-F238E27FC236}">
                <a16:creationId xmlns:a16="http://schemas.microsoft.com/office/drawing/2014/main" id="{5588F152-FC86-8426-85F0-C681538AAAF7}"/>
              </a:ext>
            </a:extLst>
          </p:cNvPr>
          <p:cNvSpPr txBox="1"/>
          <p:nvPr/>
        </p:nvSpPr>
        <p:spPr>
          <a:xfrm>
            <a:off x="71200" y="4882475"/>
            <a:ext cx="5406900" cy="177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ko" sz="700" b="1">
                <a:solidFill>
                  <a:srgbClr val="999999"/>
                </a:solidFill>
              </a:rPr>
              <a:t>Yao et al. “ReAct: Synergizing Reasoning and Acting in Language Models”, ICLR 2023</a:t>
            </a:r>
            <a:endParaRPr sz="700" b="1">
              <a:solidFill>
                <a:srgbClr val="999999"/>
              </a:solidFill>
            </a:endParaRPr>
          </a:p>
        </p:txBody>
      </p:sp>
      <p:pic>
        <p:nvPicPr>
          <p:cNvPr id="2" name="Google Shape;56;p13">
            <a:extLst>
              <a:ext uri="{FF2B5EF4-FFF2-40B4-BE49-F238E27FC236}">
                <a16:creationId xmlns:a16="http://schemas.microsoft.com/office/drawing/2014/main" id="{67BB3775-61DD-665F-EA2D-0E893B11FC7E}"/>
              </a:ext>
            </a:extLst>
          </p:cNvPr>
          <p:cNvPicPr preferRelativeResize="0"/>
          <p:nvPr/>
        </p:nvPicPr>
        <p:blipFill>
          <a:blip r:embed="rId3"/>
          <a:srcRect/>
          <a:stretch/>
        </p:blipFill>
        <p:spPr>
          <a:xfrm>
            <a:off x="7829550" y="4662460"/>
            <a:ext cx="1314450" cy="438150"/>
          </a:xfrm>
          <a:prstGeom prst="rect">
            <a:avLst/>
          </a:prstGeom>
          <a:noFill/>
          <a:ln>
            <a:noFill/>
          </a:ln>
        </p:spPr>
      </p:pic>
      <p:sp>
        <p:nvSpPr>
          <p:cNvPr id="5" name="Google Shape;82;p17">
            <a:extLst>
              <a:ext uri="{FF2B5EF4-FFF2-40B4-BE49-F238E27FC236}">
                <a16:creationId xmlns:a16="http://schemas.microsoft.com/office/drawing/2014/main" id="{28B72118-88C8-4404-93A9-22FC8C0B0377}"/>
              </a:ext>
            </a:extLst>
          </p:cNvPr>
          <p:cNvSpPr txBox="1">
            <a:spLocks/>
          </p:cNvSpPr>
          <p:nvPr/>
        </p:nvSpPr>
        <p:spPr>
          <a:xfrm>
            <a:off x="311700" y="289063"/>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b="1" dirty="0" err="1">
                <a:solidFill>
                  <a:srgbClr val="004856"/>
                </a:solidFill>
              </a:rPr>
              <a:t>ReAct</a:t>
            </a:r>
            <a:endParaRPr lang="en-US" dirty="0"/>
          </a:p>
        </p:txBody>
      </p:sp>
      <p:sp>
        <p:nvSpPr>
          <p:cNvPr id="6" name="Google Shape;97;p19">
            <a:extLst>
              <a:ext uri="{FF2B5EF4-FFF2-40B4-BE49-F238E27FC236}">
                <a16:creationId xmlns:a16="http://schemas.microsoft.com/office/drawing/2014/main" id="{B271701A-A19D-5DF5-62CF-0F16609C78AB}"/>
              </a:ext>
            </a:extLst>
          </p:cNvPr>
          <p:cNvSpPr txBox="1">
            <a:spLocks/>
          </p:cNvSpPr>
          <p:nvPr/>
        </p:nvSpPr>
        <p:spPr>
          <a:xfrm>
            <a:off x="311700" y="989862"/>
            <a:ext cx="8520600" cy="34164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lvl="0">
              <a:buClr>
                <a:srgbClr val="595959"/>
              </a:buClr>
            </a:pPr>
            <a:r>
              <a:rPr lang="en" altLang="ko" b="1" dirty="0" err="1">
                <a:solidFill>
                  <a:schemeClr val="tx1">
                    <a:lumMod val="95000"/>
                    <a:lumOff val="5000"/>
                  </a:schemeClr>
                </a:solidFill>
              </a:rPr>
              <a:t>ReAct</a:t>
            </a:r>
            <a:r>
              <a:rPr lang="en" altLang="ko" b="1" dirty="0">
                <a:solidFill>
                  <a:schemeClr val="tx1">
                    <a:lumMod val="95000"/>
                    <a:lumOff val="5000"/>
                  </a:schemeClr>
                </a:solidFill>
              </a:rPr>
              <a:t> significantly mitigates the hallucination issue of </a:t>
            </a:r>
            <a:r>
              <a:rPr lang="en" altLang="ko" b="1" dirty="0" err="1">
                <a:solidFill>
                  <a:schemeClr val="tx1">
                    <a:lumMod val="95000"/>
                    <a:lumOff val="5000"/>
                  </a:schemeClr>
                </a:solidFill>
              </a:rPr>
              <a:t>CoT</a:t>
            </a:r>
            <a:endParaRPr lang="en" altLang="ko-KR" dirty="0">
              <a:solidFill>
                <a:schemeClr val="tx1">
                  <a:lumMod val="95000"/>
                  <a:lumOff val="5000"/>
                </a:schemeClr>
              </a:solidFill>
            </a:endParaRPr>
          </a:p>
        </p:txBody>
      </p:sp>
      <p:pic>
        <p:nvPicPr>
          <p:cNvPr id="3" name="그림 2">
            <a:extLst>
              <a:ext uri="{FF2B5EF4-FFF2-40B4-BE49-F238E27FC236}">
                <a16:creationId xmlns:a16="http://schemas.microsoft.com/office/drawing/2014/main" id="{66B64B24-C5B3-9BF5-B1CB-C94570C42133}"/>
              </a:ext>
            </a:extLst>
          </p:cNvPr>
          <p:cNvPicPr>
            <a:picLocks noChangeAspect="1"/>
          </p:cNvPicPr>
          <p:nvPr/>
        </p:nvPicPr>
        <p:blipFill>
          <a:blip r:embed="rId4"/>
          <a:stretch>
            <a:fillRect/>
          </a:stretch>
        </p:blipFill>
        <p:spPr>
          <a:xfrm>
            <a:off x="1000125" y="1944641"/>
            <a:ext cx="7143750" cy="1394801"/>
          </a:xfrm>
          <a:prstGeom prst="rect">
            <a:avLst/>
          </a:prstGeom>
        </p:spPr>
      </p:pic>
      <p:pic>
        <p:nvPicPr>
          <p:cNvPr id="4" name="그림 8" descr="폰트, 그래픽, 텍스트, 스크린샷이(가) 표시된 사진&#10;&#10;자동 생성된 설명">
            <a:extLst>
              <a:ext uri="{FF2B5EF4-FFF2-40B4-BE49-F238E27FC236}">
                <a16:creationId xmlns:a16="http://schemas.microsoft.com/office/drawing/2014/main" id="{BFF92148-4AB7-7B80-79A7-9C0CBDE2A51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extLst>
      <p:ext uri="{BB962C8B-B14F-4D97-AF65-F5344CB8AC3E}">
        <p14:creationId xmlns:p14="http://schemas.microsoft.com/office/powerpoint/2010/main" val="176682607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D210DA4-493A-20F0-78E9-55D84683F1A1}"/>
            </a:ext>
          </a:extLst>
        </p:cNvPr>
        <p:cNvGrpSpPr/>
        <p:nvPr/>
      </p:nvGrpSpPr>
      <p:grpSpPr>
        <a:xfrm>
          <a:off x="0" y="0"/>
          <a:ext cx="0" cy="0"/>
          <a:chOff x="0" y="0"/>
          <a:chExt cx="0" cy="0"/>
        </a:xfrm>
      </p:grpSpPr>
      <p:sp>
        <p:nvSpPr>
          <p:cNvPr id="5" name="Google Shape;97;p19">
            <a:extLst>
              <a:ext uri="{FF2B5EF4-FFF2-40B4-BE49-F238E27FC236}">
                <a16:creationId xmlns:a16="http://schemas.microsoft.com/office/drawing/2014/main" id="{30F22FEC-E279-1459-E5DF-5890D505044A}"/>
              </a:ext>
            </a:extLst>
          </p:cNvPr>
          <p:cNvSpPr txBox="1">
            <a:spLocks/>
          </p:cNvSpPr>
          <p:nvPr/>
        </p:nvSpPr>
        <p:spPr>
          <a:xfrm>
            <a:off x="311700" y="989862"/>
            <a:ext cx="8520600" cy="34164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lvl="0"/>
            <a:r>
              <a:rPr lang="en-US" altLang="ko-KR" b="1" dirty="0">
                <a:solidFill>
                  <a:schemeClr val="tx1"/>
                </a:solidFill>
              </a:rPr>
              <a:t>Task: Wikipedia-based question answering task</a:t>
            </a:r>
          </a:p>
          <a:p>
            <a:pPr lvl="1"/>
            <a:r>
              <a:rPr lang="en-US" altLang="ko-KR" dirty="0" err="1">
                <a:solidFill>
                  <a:schemeClr val="tx1"/>
                </a:solidFill>
              </a:rPr>
              <a:t>HotpotQA</a:t>
            </a:r>
            <a:endParaRPr lang="en-US" altLang="ko-KR" dirty="0">
              <a:solidFill>
                <a:schemeClr val="tx1"/>
              </a:solidFill>
            </a:endParaRPr>
          </a:p>
        </p:txBody>
      </p:sp>
      <p:sp>
        <p:nvSpPr>
          <p:cNvPr id="4" name="Google Shape;82;p17">
            <a:extLst>
              <a:ext uri="{FF2B5EF4-FFF2-40B4-BE49-F238E27FC236}">
                <a16:creationId xmlns:a16="http://schemas.microsoft.com/office/drawing/2014/main" id="{42CC67AD-5524-2033-3421-5F86CDA36728}"/>
              </a:ext>
            </a:extLst>
          </p:cNvPr>
          <p:cNvSpPr txBox="1">
            <a:spLocks/>
          </p:cNvSpPr>
          <p:nvPr/>
        </p:nvSpPr>
        <p:spPr>
          <a:xfrm>
            <a:off x="311700" y="288275"/>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b="1" dirty="0">
                <a:solidFill>
                  <a:srgbClr val="004856"/>
                </a:solidFill>
              </a:rPr>
              <a:t>Task 2-3: </a:t>
            </a:r>
            <a:r>
              <a:rPr lang="en-US" b="1" dirty="0" err="1">
                <a:solidFill>
                  <a:srgbClr val="004856"/>
                </a:solidFill>
              </a:rPr>
              <a:t>ReAct</a:t>
            </a:r>
            <a:endParaRPr lang="en-US" dirty="0"/>
          </a:p>
        </p:txBody>
      </p:sp>
      <p:pic>
        <p:nvPicPr>
          <p:cNvPr id="6" name="Google Shape;56;p13">
            <a:extLst>
              <a:ext uri="{FF2B5EF4-FFF2-40B4-BE49-F238E27FC236}">
                <a16:creationId xmlns:a16="http://schemas.microsoft.com/office/drawing/2014/main" id="{BFD46DED-724C-F05C-B6DD-9A768A2666F4}"/>
              </a:ext>
            </a:extLst>
          </p:cNvPr>
          <p:cNvPicPr preferRelativeResize="0"/>
          <p:nvPr/>
        </p:nvPicPr>
        <p:blipFill>
          <a:blip r:embed="rId3"/>
          <a:srcRect/>
          <a:stretch/>
        </p:blipFill>
        <p:spPr>
          <a:xfrm>
            <a:off x="7829550" y="4662460"/>
            <a:ext cx="1314450" cy="438150"/>
          </a:xfrm>
          <a:prstGeom prst="rect">
            <a:avLst/>
          </a:prstGeom>
          <a:noFill/>
          <a:ln>
            <a:noFill/>
          </a:ln>
        </p:spPr>
      </p:pic>
      <p:pic>
        <p:nvPicPr>
          <p:cNvPr id="2" name="그림 1">
            <a:extLst>
              <a:ext uri="{FF2B5EF4-FFF2-40B4-BE49-F238E27FC236}">
                <a16:creationId xmlns:a16="http://schemas.microsoft.com/office/drawing/2014/main" id="{BDF565F0-55E8-0BB8-A593-7BC66B83FE9B}"/>
              </a:ext>
            </a:extLst>
          </p:cNvPr>
          <p:cNvPicPr>
            <a:picLocks noChangeAspect="1"/>
          </p:cNvPicPr>
          <p:nvPr/>
        </p:nvPicPr>
        <p:blipFill>
          <a:blip r:embed="rId4"/>
          <a:stretch>
            <a:fillRect/>
          </a:stretch>
        </p:blipFill>
        <p:spPr>
          <a:xfrm>
            <a:off x="2464895" y="1610235"/>
            <a:ext cx="4214210" cy="2957861"/>
          </a:xfrm>
          <a:prstGeom prst="rect">
            <a:avLst/>
          </a:prstGeom>
        </p:spPr>
      </p:pic>
      <p:pic>
        <p:nvPicPr>
          <p:cNvPr id="3" name="그림 8" descr="폰트, 그래픽, 텍스트, 스크린샷이(가) 표시된 사진&#10;&#10;자동 생성된 설명">
            <a:extLst>
              <a:ext uri="{FF2B5EF4-FFF2-40B4-BE49-F238E27FC236}">
                <a16:creationId xmlns:a16="http://schemas.microsoft.com/office/drawing/2014/main" id="{7A798EC1-88EE-2F67-E79D-0BD55E6743C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extLst>
      <p:ext uri="{BB962C8B-B14F-4D97-AF65-F5344CB8AC3E}">
        <p14:creationId xmlns:p14="http://schemas.microsoft.com/office/powerpoint/2010/main" val="142679738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28D5E7A5-40A8-7F71-8D35-5344F4EDDC61}"/>
            </a:ext>
          </a:extLst>
        </p:cNvPr>
        <p:cNvGrpSpPr/>
        <p:nvPr/>
      </p:nvGrpSpPr>
      <p:grpSpPr>
        <a:xfrm>
          <a:off x="0" y="0"/>
          <a:ext cx="0" cy="0"/>
          <a:chOff x="0" y="0"/>
          <a:chExt cx="0" cy="0"/>
        </a:xfrm>
      </p:grpSpPr>
      <p:sp>
        <p:nvSpPr>
          <p:cNvPr id="5" name="Google Shape;97;p19">
            <a:extLst>
              <a:ext uri="{FF2B5EF4-FFF2-40B4-BE49-F238E27FC236}">
                <a16:creationId xmlns:a16="http://schemas.microsoft.com/office/drawing/2014/main" id="{4929BF86-7516-C658-E8E2-157E6D1945CD}"/>
              </a:ext>
            </a:extLst>
          </p:cNvPr>
          <p:cNvSpPr txBox="1">
            <a:spLocks/>
          </p:cNvSpPr>
          <p:nvPr/>
        </p:nvSpPr>
        <p:spPr>
          <a:xfrm>
            <a:off x="311700" y="989862"/>
            <a:ext cx="8520600" cy="34164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lvl="0"/>
            <a:r>
              <a:rPr lang="en-US" altLang="ko-KR" b="1" dirty="0">
                <a:solidFill>
                  <a:schemeClr val="tx1"/>
                </a:solidFill>
              </a:rPr>
              <a:t>What to do</a:t>
            </a:r>
          </a:p>
          <a:p>
            <a:pPr lvl="1"/>
            <a:r>
              <a:rPr lang="en-US" altLang="ko-KR" dirty="0">
                <a:solidFill>
                  <a:schemeClr val="tx1"/>
                </a:solidFill>
              </a:rPr>
              <a:t>Let’s compare the performance</a:t>
            </a:r>
            <a:r>
              <a:rPr lang="ko-KR" altLang="en-US" dirty="0">
                <a:solidFill>
                  <a:schemeClr val="tx1"/>
                </a:solidFill>
              </a:rPr>
              <a:t> </a:t>
            </a:r>
            <a:r>
              <a:rPr lang="en-US" altLang="ko-KR" dirty="0">
                <a:solidFill>
                  <a:schemeClr val="tx1"/>
                </a:solidFill>
              </a:rPr>
              <a:t>of </a:t>
            </a:r>
            <a:r>
              <a:rPr lang="en-US" altLang="ko-KR" dirty="0" err="1">
                <a:solidFill>
                  <a:schemeClr val="tx1"/>
                </a:solidFill>
              </a:rPr>
              <a:t>CoT</a:t>
            </a:r>
            <a:r>
              <a:rPr lang="en-US" altLang="ko-KR" dirty="0">
                <a:solidFill>
                  <a:schemeClr val="tx1"/>
                </a:solidFill>
              </a:rPr>
              <a:t> / Act / </a:t>
            </a:r>
            <a:r>
              <a:rPr lang="en-US" altLang="ko-KR" dirty="0" err="1">
                <a:solidFill>
                  <a:schemeClr val="tx1"/>
                </a:solidFill>
              </a:rPr>
              <a:t>ReAct</a:t>
            </a:r>
            <a:endParaRPr lang="en-US" altLang="ko-KR" dirty="0">
              <a:solidFill>
                <a:schemeClr val="tx1"/>
              </a:solidFill>
            </a:endParaRPr>
          </a:p>
        </p:txBody>
      </p:sp>
      <p:sp>
        <p:nvSpPr>
          <p:cNvPr id="4" name="Google Shape;82;p17">
            <a:extLst>
              <a:ext uri="{FF2B5EF4-FFF2-40B4-BE49-F238E27FC236}">
                <a16:creationId xmlns:a16="http://schemas.microsoft.com/office/drawing/2014/main" id="{BC9C1608-76E7-A5FB-B374-4CC17F542AC2}"/>
              </a:ext>
            </a:extLst>
          </p:cNvPr>
          <p:cNvSpPr txBox="1">
            <a:spLocks/>
          </p:cNvSpPr>
          <p:nvPr/>
        </p:nvSpPr>
        <p:spPr>
          <a:xfrm>
            <a:off x="311700" y="288275"/>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b="1" dirty="0">
                <a:solidFill>
                  <a:srgbClr val="004856"/>
                </a:solidFill>
              </a:rPr>
              <a:t>Task 2-3: </a:t>
            </a:r>
            <a:r>
              <a:rPr lang="en-US" b="1" dirty="0" err="1">
                <a:solidFill>
                  <a:srgbClr val="004856"/>
                </a:solidFill>
              </a:rPr>
              <a:t>ReAct</a:t>
            </a:r>
            <a:endParaRPr lang="en-US" dirty="0"/>
          </a:p>
        </p:txBody>
      </p:sp>
      <p:pic>
        <p:nvPicPr>
          <p:cNvPr id="6" name="Google Shape;56;p13">
            <a:extLst>
              <a:ext uri="{FF2B5EF4-FFF2-40B4-BE49-F238E27FC236}">
                <a16:creationId xmlns:a16="http://schemas.microsoft.com/office/drawing/2014/main" id="{B5E4D170-47D3-57F6-D244-2A6BE1711AC4}"/>
              </a:ext>
            </a:extLst>
          </p:cNvPr>
          <p:cNvPicPr preferRelativeResize="0"/>
          <p:nvPr/>
        </p:nvPicPr>
        <p:blipFill>
          <a:blip r:embed="rId3"/>
          <a:srcRect/>
          <a:stretch/>
        </p:blipFill>
        <p:spPr>
          <a:xfrm>
            <a:off x="7829550" y="4662460"/>
            <a:ext cx="1314450" cy="438150"/>
          </a:xfrm>
          <a:prstGeom prst="rect">
            <a:avLst/>
          </a:prstGeom>
          <a:noFill/>
          <a:ln>
            <a:noFill/>
          </a:ln>
        </p:spPr>
      </p:pic>
      <p:pic>
        <p:nvPicPr>
          <p:cNvPr id="3" name="그림 2">
            <a:extLst>
              <a:ext uri="{FF2B5EF4-FFF2-40B4-BE49-F238E27FC236}">
                <a16:creationId xmlns:a16="http://schemas.microsoft.com/office/drawing/2014/main" id="{3DAFAADE-61DF-4F4B-4258-C34A98A9768D}"/>
              </a:ext>
            </a:extLst>
          </p:cNvPr>
          <p:cNvPicPr>
            <a:picLocks noChangeAspect="1"/>
          </p:cNvPicPr>
          <p:nvPr/>
        </p:nvPicPr>
        <p:blipFill>
          <a:blip r:embed="rId4"/>
          <a:stretch>
            <a:fillRect/>
          </a:stretch>
        </p:blipFill>
        <p:spPr>
          <a:xfrm>
            <a:off x="1270217" y="1848911"/>
            <a:ext cx="6603565" cy="2813549"/>
          </a:xfrm>
          <a:prstGeom prst="rect">
            <a:avLst/>
          </a:prstGeom>
        </p:spPr>
      </p:pic>
      <p:pic>
        <p:nvPicPr>
          <p:cNvPr id="2" name="그림 8" descr="폰트, 그래픽, 텍스트, 스크린샷이(가) 표시된 사진&#10;&#10;자동 생성된 설명">
            <a:extLst>
              <a:ext uri="{FF2B5EF4-FFF2-40B4-BE49-F238E27FC236}">
                <a16:creationId xmlns:a16="http://schemas.microsoft.com/office/drawing/2014/main" id="{6B62BC69-955A-8070-0CF3-3E5F5529F33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63689" y="31167"/>
            <a:ext cx="1109973" cy="554987"/>
          </a:xfrm>
          <a:prstGeom prst="rect">
            <a:avLst/>
          </a:prstGeom>
        </p:spPr>
      </p:pic>
    </p:spTree>
    <p:extLst>
      <p:ext uri="{BB962C8B-B14F-4D97-AF65-F5344CB8AC3E}">
        <p14:creationId xmlns:p14="http://schemas.microsoft.com/office/powerpoint/2010/main" val="718344258"/>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1231</TotalTime>
  <Words>1694</Words>
  <Application>Microsoft Macintosh PowerPoint</Application>
  <PresentationFormat>On-screen Show (16:9)</PresentationFormat>
  <Paragraphs>309</Paragraphs>
  <Slides>63</Slides>
  <Notes>63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63</vt:i4>
      </vt:variant>
    </vt:vector>
  </HeadingPairs>
  <TitlesOfParts>
    <vt:vector size="67" baseType="lpstr">
      <vt:lpstr>Arial</vt:lpstr>
      <vt:lpstr>Calibri</vt:lpstr>
      <vt:lpstr>Wingdings</vt:lpstr>
      <vt:lpstr>Simple Light</vt:lpstr>
      <vt:lpstr>Large Language Models: Prompting</vt:lpstr>
      <vt:lpstr>Contents</vt:lpstr>
      <vt:lpstr>Introduction</vt:lpstr>
      <vt:lpstr>PowerPoint Presentation</vt:lpstr>
      <vt:lpstr>PowerPoint Presentation</vt:lpstr>
      <vt:lpstr>PowerPoint Presentation</vt:lpstr>
      <vt:lpstr>PowerPoint Presentation</vt:lpstr>
      <vt:lpstr>PowerPoint Presentation</vt:lpstr>
      <vt:lpstr>PowerPoint Presentation</vt:lpstr>
      <vt:lpstr>Recap</vt:lpstr>
      <vt:lpstr>PowerPoint Presentation</vt:lpstr>
      <vt:lpstr>PowerPoint Presentation</vt:lpstr>
      <vt:lpstr>PowerPoint Presentation</vt:lpstr>
      <vt:lpstr>PowerPoint Presentation</vt:lpstr>
      <vt:lpstr>PowerPoint Presentation</vt:lpstr>
      <vt:lpstr>Emergent of Large Language Models</vt:lpstr>
      <vt:lpstr>In-Context Learning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Instruction Tuning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How can we better use LLMs?</vt:lpstr>
      <vt:lpstr>Chain-of-Thought Prompting</vt:lpstr>
      <vt:lpstr>PowerPoint Presentation</vt:lpstr>
      <vt:lpstr>PowerPoint Presentation</vt:lpstr>
      <vt:lpstr>PowerPoint Presentation</vt:lpstr>
      <vt:lpstr>PowerPoint Presentation</vt:lpstr>
      <vt:lpstr>PowerPoint Presentation</vt:lpstr>
      <vt:lpstr>PowerPoint Presentation</vt:lpstr>
      <vt:lpstr> Zero-shot Chain-of-Thought Prompting</vt:lpstr>
      <vt:lpstr>PowerPoint Presentation</vt:lpstr>
      <vt:lpstr>PowerPoint Presentation</vt:lpstr>
      <vt:lpstr>PowerPoint Presentation</vt:lpstr>
      <vt:lpstr>PowerPoint Presentation</vt:lpstr>
      <vt:lpstr>Self-Consistency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ReAct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최동욱</cp:lastModifiedBy>
  <cp:revision>56</cp:revision>
  <dcterms:modified xsi:type="dcterms:W3CDTF">2025-06-17T22:16:06Z</dcterms:modified>
</cp:coreProperties>
</file>
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9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0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61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74"/>
  </p:notesMasterIdLst>
  <p:sldIdLst>
    <p:sldId id="256" r:id="rId2"/>
    <p:sldId id="257" r:id="rId3"/>
    <p:sldId id="315" r:id="rId4"/>
    <p:sldId id="258" r:id="rId5"/>
    <p:sldId id="317" r:id="rId6"/>
    <p:sldId id="260" r:id="rId7"/>
    <p:sldId id="316" r:id="rId8"/>
    <p:sldId id="320" r:id="rId9"/>
    <p:sldId id="261" r:id="rId10"/>
    <p:sldId id="265" r:id="rId11"/>
    <p:sldId id="262" r:id="rId12"/>
    <p:sldId id="263" r:id="rId13"/>
    <p:sldId id="264" r:id="rId14"/>
    <p:sldId id="266" r:id="rId15"/>
    <p:sldId id="267" r:id="rId16"/>
    <p:sldId id="268" r:id="rId17"/>
    <p:sldId id="269" r:id="rId18"/>
    <p:sldId id="270" r:id="rId19"/>
    <p:sldId id="319" r:id="rId20"/>
    <p:sldId id="271" r:id="rId21"/>
    <p:sldId id="272" r:id="rId22"/>
    <p:sldId id="273" r:id="rId23"/>
    <p:sldId id="274" r:id="rId24"/>
    <p:sldId id="321" r:id="rId25"/>
    <p:sldId id="275" r:id="rId26"/>
    <p:sldId id="318" r:id="rId27"/>
    <p:sldId id="276" r:id="rId28"/>
    <p:sldId id="277" r:id="rId29"/>
    <p:sldId id="278" r:id="rId30"/>
    <p:sldId id="279" r:id="rId31"/>
    <p:sldId id="280" r:id="rId32"/>
    <p:sldId id="281" r:id="rId33"/>
    <p:sldId id="324" r:id="rId34"/>
    <p:sldId id="282" r:id="rId35"/>
    <p:sldId id="283" r:id="rId36"/>
    <p:sldId id="285" r:id="rId37"/>
    <p:sldId id="286" r:id="rId38"/>
    <p:sldId id="287" r:id="rId39"/>
    <p:sldId id="326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27" r:id="rId53"/>
    <p:sldId id="300" r:id="rId54"/>
    <p:sldId id="302" r:id="rId55"/>
    <p:sldId id="303" r:id="rId56"/>
    <p:sldId id="304" r:id="rId57"/>
    <p:sldId id="331" r:id="rId58"/>
    <p:sldId id="332" r:id="rId59"/>
    <p:sldId id="305" r:id="rId60"/>
    <p:sldId id="329" r:id="rId61"/>
    <p:sldId id="306" r:id="rId62"/>
    <p:sldId id="307" r:id="rId63"/>
    <p:sldId id="308" r:id="rId64"/>
    <p:sldId id="328" r:id="rId65"/>
    <p:sldId id="323" r:id="rId66"/>
    <p:sldId id="301" r:id="rId67"/>
    <p:sldId id="310" r:id="rId68"/>
    <p:sldId id="311" r:id="rId69"/>
    <p:sldId id="312" r:id="rId70"/>
    <p:sldId id="313" r:id="rId71"/>
    <p:sldId id="325" r:id="rId72"/>
    <p:sldId id="314" r:id="rId7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5" roundtripDataSignature="AMtx7mjg7iL7j9dXD/SlAIFg2VcojRad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387D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57"/>
    <p:restoredTop sz="94638"/>
  </p:normalViewPr>
  <p:slideViewPr>
    <p:cSldViewPr snapToGrid="0">
      <p:cViewPr varScale="1">
        <p:scale>
          <a:sx n="127" d="100"/>
          <a:sy n="127" d="100"/>
        </p:scale>
        <p:origin x="2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02" d="100"/>
          <a:sy n="102" d="100"/>
        </p:scale>
        <p:origin x="385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\ansankar\Documents\Presentations\USF-Mar2019\char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\ansankar\Documents\Presentations\USF-Mar2019\chart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\ansankar\Documents\Presentations\USF-Mar2019\chart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\ansankar\Documents\Presentations\USF-Mar2019\chart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\ansankar\Documents\Presentations\USF-Mar2019\chart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\ansankar\Documents\Presentations\USF-Mar2019\chart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Sheet1!$A$1:$A$7</c:f>
              <c:numCache>
                <c:formatCode>General</c:formatCode>
                <c:ptCount val="7"/>
                <c:pt idx="0">
                  <c:v>4.9999999999999822E-2</c:v>
                </c:pt>
                <c:pt idx="1">
                  <c:v>0.81</c:v>
                </c:pt>
                <c:pt idx="2">
                  <c:v>0.01</c:v>
                </c:pt>
                <c:pt idx="3">
                  <c:v>0.03</c:v>
                </c:pt>
                <c:pt idx="4">
                  <c:v>0.05</c:v>
                </c:pt>
                <c:pt idx="5">
                  <c:v>0.02</c:v>
                </c:pt>
                <c:pt idx="6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B5-BF4E-B122-79A1B3E37C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-27"/>
        <c:axId val="2023026063"/>
        <c:axId val="2023027743"/>
      </c:barChart>
      <c:catAx>
        <c:axId val="202302606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23027743"/>
        <c:crosses val="autoZero"/>
        <c:auto val="1"/>
        <c:lblAlgn val="ctr"/>
        <c:lblOffset val="100"/>
        <c:noMultiLvlLbl val="0"/>
      </c:catAx>
      <c:valAx>
        <c:axId val="2023027743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230260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Sheet1!$A$1:$A$7</c:f>
              <c:numCache>
                <c:formatCode>General</c:formatCode>
                <c:ptCount val="7"/>
                <c:pt idx="0">
                  <c:v>4.9999999999999822E-2</c:v>
                </c:pt>
                <c:pt idx="1">
                  <c:v>0.81</c:v>
                </c:pt>
                <c:pt idx="2">
                  <c:v>0.01</c:v>
                </c:pt>
                <c:pt idx="3">
                  <c:v>0.03</c:v>
                </c:pt>
                <c:pt idx="4">
                  <c:v>0.05</c:v>
                </c:pt>
                <c:pt idx="5">
                  <c:v>0.02</c:v>
                </c:pt>
                <c:pt idx="6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B5-BF4E-B122-79A1B3E37C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-27"/>
        <c:axId val="2023026063"/>
        <c:axId val="2023027743"/>
      </c:barChart>
      <c:catAx>
        <c:axId val="202302606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23027743"/>
        <c:crosses val="autoZero"/>
        <c:auto val="1"/>
        <c:lblAlgn val="ctr"/>
        <c:lblOffset val="100"/>
        <c:noMultiLvlLbl val="0"/>
      </c:catAx>
      <c:valAx>
        <c:axId val="2023027743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230260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Sheet1!$A$1:$A$7</c:f>
              <c:numCache>
                <c:formatCode>General</c:formatCode>
                <c:ptCount val="7"/>
                <c:pt idx="0">
                  <c:v>4.9999999999999822E-2</c:v>
                </c:pt>
                <c:pt idx="1">
                  <c:v>0.81</c:v>
                </c:pt>
                <c:pt idx="2">
                  <c:v>0.01</c:v>
                </c:pt>
                <c:pt idx="3">
                  <c:v>0.03</c:v>
                </c:pt>
                <c:pt idx="4">
                  <c:v>0.05</c:v>
                </c:pt>
                <c:pt idx="5">
                  <c:v>0.02</c:v>
                </c:pt>
                <c:pt idx="6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B5-BF4E-B122-79A1B3E37C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-27"/>
        <c:axId val="2023026063"/>
        <c:axId val="2023027743"/>
      </c:barChart>
      <c:catAx>
        <c:axId val="202302606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23027743"/>
        <c:crosses val="autoZero"/>
        <c:auto val="1"/>
        <c:lblAlgn val="ctr"/>
        <c:lblOffset val="100"/>
        <c:noMultiLvlLbl val="0"/>
      </c:catAx>
      <c:valAx>
        <c:axId val="2023027743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230260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Sheet1!$A$1:$A$7</c:f>
              <c:numCache>
                <c:formatCode>General</c:formatCode>
                <c:ptCount val="7"/>
                <c:pt idx="0">
                  <c:v>4.9999999999999822E-2</c:v>
                </c:pt>
                <c:pt idx="1">
                  <c:v>0.81</c:v>
                </c:pt>
                <c:pt idx="2">
                  <c:v>0.01</c:v>
                </c:pt>
                <c:pt idx="3">
                  <c:v>0.03</c:v>
                </c:pt>
                <c:pt idx="4">
                  <c:v>0.05</c:v>
                </c:pt>
                <c:pt idx="5">
                  <c:v>0.02</c:v>
                </c:pt>
                <c:pt idx="6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B5-BF4E-B122-79A1B3E37C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-27"/>
        <c:axId val="2023026063"/>
        <c:axId val="2023027743"/>
      </c:barChart>
      <c:catAx>
        <c:axId val="202302606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23027743"/>
        <c:crosses val="autoZero"/>
        <c:auto val="1"/>
        <c:lblAlgn val="ctr"/>
        <c:lblOffset val="100"/>
        <c:noMultiLvlLbl val="0"/>
      </c:catAx>
      <c:valAx>
        <c:axId val="2023027743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230260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Sheet1!$B$1:$B$7</c:f>
              <c:numCache>
                <c:formatCode>General</c:formatCode>
                <c:ptCount val="7"/>
                <c:pt idx="0">
                  <c:v>2.0000000000000018E-2</c:v>
                </c:pt>
                <c:pt idx="1">
                  <c:v>0.05</c:v>
                </c:pt>
                <c:pt idx="2">
                  <c:v>0.3</c:v>
                </c:pt>
                <c:pt idx="3">
                  <c:v>0.6</c:v>
                </c:pt>
                <c:pt idx="4">
                  <c:v>0.01</c:v>
                </c:pt>
                <c:pt idx="5">
                  <c:v>0.01</c:v>
                </c:pt>
                <c:pt idx="6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6D-0C42-96EB-3ED40EC519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-27"/>
        <c:axId val="2029232623"/>
        <c:axId val="2024163791"/>
      </c:barChart>
      <c:catAx>
        <c:axId val="202923262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24163791"/>
        <c:crosses val="autoZero"/>
        <c:auto val="1"/>
        <c:lblAlgn val="ctr"/>
        <c:lblOffset val="100"/>
        <c:noMultiLvlLbl val="0"/>
      </c:catAx>
      <c:valAx>
        <c:axId val="2024163791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292326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Sheet1!$C$1:$C$7</c:f>
              <c:numCache>
                <c:formatCode>General</c:formatCode>
                <c:ptCount val="7"/>
                <c:pt idx="0">
                  <c:v>1.0000000000000009E-2</c:v>
                </c:pt>
                <c:pt idx="1">
                  <c:v>0.05</c:v>
                </c:pt>
                <c:pt idx="2">
                  <c:v>0.6</c:v>
                </c:pt>
                <c:pt idx="3">
                  <c:v>0.3</c:v>
                </c:pt>
                <c:pt idx="4">
                  <c:v>0.02</c:v>
                </c:pt>
                <c:pt idx="5">
                  <c:v>0.01</c:v>
                </c:pt>
                <c:pt idx="6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C4-1345-9391-E0311027F0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-27"/>
        <c:axId val="2022016879"/>
        <c:axId val="2022268639"/>
      </c:barChart>
      <c:catAx>
        <c:axId val="2022016879"/>
        <c:scaling>
          <c:orientation val="minMax"/>
        </c:scaling>
        <c:delete val="1"/>
        <c:axPos val="b"/>
        <c:majorTickMark val="none"/>
        <c:minorTickMark val="none"/>
        <c:tickLblPos val="nextTo"/>
        <c:crossAx val="2022268639"/>
        <c:crosses val="autoZero"/>
        <c:auto val="1"/>
        <c:lblAlgn val="ctr"/>
        <c:lblOffset val="100"/>
        <c:noMultiLvlLbl val="0"/>
      </c:catAx>
      <c:valAx>
        <c:axId val="202226863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220168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FAD16B65-2295-842D-759F-39ADDEE17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88747D9C-EB6B-7A04-6BE9-3664244A12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>
            <a:extLst>
              <a:ext uri="{FF2B5EF4-FFF2-40B4-BE49-F238E27FC236}">
                <a16:creationId xmlns:a16="http://schemas.microsoft.com/office/drawing/2014/main" id="{ECDAA6C3-7D2D-A080-B216-B623A15A05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09496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BE1B040-E9A6-0CCF-6751-5A0BF09FC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1A7AD7AF-535A-45E7-D15B-23FE26AB32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>
            <a:extLst>
              <a:ext uri="{FF2B5EF4-FFF2-40B4-BE49-F238E27FC236}">
                <a16:creationId xmlns:a16="http://schemas.microsoft.com/office/drawing/2014/main" id="{29D3463C-2142-6A12-76C3-FD9111660D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0769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>
          <a:extLst>
            <a:ext uri="{FF2B5EF4-FFF2-40B4-BE49-F238E27FC236}">
              <a16:creationId xmlns:a16="http://schemas.microsoft.com/office/drawing/2014/main" id="{0EC69DD1-FEC2-0509-2BF6-CDA1F3C27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:notes">
            <a:extLst>
              <a:ext uri="{FF2B5EF4-FFF2-40B4-BE49-F238E27FC236}">
                <a16:creationId xmlns:a16="http://schemas.microsoft.com/office/drawing/2014/main" id="{EE7E3AB7-65B1-C42F-A493-F379261E8A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5:notes">
            <a:extLst>
              <a:ext uri="{FF2B5EF4-FFF2-40B4-BE49-F238E27FC236}">
                <a16:creationId xmlns:a16="http://schemas.microsoft.com/office/drawing/2014/main" id="{87333ED3-3397-C240-BBC4-22515642E1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5952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A4882CDC-E8B1-39BA-78AC-4AA83EE8F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:notes">
            <a:extLst>
              <a:ext uri="{FF2B5EF4-FFF2-40B4-BE49-F238E27FC236}">
                <a16:creationId xmlns:a16="http://schemas.microsoft.com/office/drawing/2014/main" id="{3C352E3E-0AB9-0F5F-FA42-2A576AFD94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9:notes">
            <a:extLst>
              <a:ext uri="{FF2B5EF4-FFF2-40B4-BE49-F238E27FC236}">
                <a16:creationId xmlns:a16="http://schemas.microsoft.com/office/drawing/2014/main" id="{F1D8804D-EA78-A1D7-4DC4-DC5D5BF5C0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97143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3428EA69-DDB0-F813-DC31-AAC9B331A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:notes">
            <a:extLst>
              <a:ext uri="{FF2B5EF4-FFF2-40B4-BE49-F238E27FC236}">
                <a16:creationId xmlns:a16="http://schemas.microsoft.com/office/drawing/2014/main" id="{E59F2046-DBE9-3F1B-0C99-A54CF0695F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4:notes">
            <a:extLst>
              <a:ext uri="{FF2B5EF4-FFF2-40B4-BE49-F238E27FC236}">
                <a16:creationId xmlns:a16="http://schemas.microsoft.com/office/drawing/2014/main" id="{E8DFDE11-DA33-8263-8A59-3B7660ECCD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02478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1" name="Google Shape;30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>
          <a:extLst>
            <a:ext uri="{FF2B5EF4-FFF2-40B4-BE49-F238E27FC236}">
              <a16:creationId xmlns:a16="http://schemas.microsoft.com/office/drawing/2014/main" id="{7FB6652A-BB37-496D-612F-017C45CB8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2:notes">
            <a:extLst>
              <a:ext uri="{FF2B5EF4-FFF2-40B4-BE49-F238E27FC236}">
                <a16:creationId xmlns:a16="http://schemas.microsoft.com/office/drawing/2014/main" id="{6BC97E85-E890-1FBE-F6BF-186D4C60C1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32:notes">
            <a:extLst>
              <a:ext uri="{FF2B5EF4-FFF2-40B4-BE49-F238E27FC236}">
                <a16:creationId xmlns:a16="http://schemas.microsoft.com/office/drawing/2014/main" id="{9BC4AF29-B53F-9310-083F-C6E135931F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166121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5" name="Google Shape;36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>
          <a:extLst>
            <a:ext uri="{FF2B5EF4-FFF2-40B4-BE49-F238E27FC236}">
              <a16:creationId xmlns:a16="http://schemas.microsoft.com/office/drawing/2014/main" id="{28117C1A-69FB-AE4C-A32A-0CF1CA9AB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4:notes">
            <a:extLst>
              <a:ext uri="{FF2B5EF4-FFF2-40B4-BE49-F238E27FC236}">
                <a16:creationId xmlns:a16="http://schemas.microsoft.com/office/drawing/2014/main" id="{773C0F42-6BE0-080D-885E-4657C68684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44:notes">
            <a:extLst>
              <a:ext uri="{FF2B5EF4-FFF2-40B4-BE49-F238E27FC236}">
                <a16:creationId xmlns:a16="http://schemas.microsoft.com/office/drawing/2014/main" id="{ED3E90C7-CBBB-322C-252C-9772256FA2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412896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 i="0" dirty="0">
              <a:solidFill>
                <a:srgbClr val="212529"/>
              </a:solidFill>
              <a:effectLst/>
              <a:highlight>
                <a:srgbClr val="FFFFFF"/>
              </a:highlight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F9C663-C904-4210-8A17-F57F7FA52DB5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96007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 i="0" dirty="0">
              <a:solidFill>
                <a:srgbClr val="212529"/>
              </a:solidFill>
              <a:effectLst/>
              <a:highlight>
                <a:srgbClr val="FFFFFF"/>
              </a:highlight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F9C663-C904-4210-8A17-F57F7FA52DB5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13306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99" name="Google Shape;499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>
          <a:extLst>
            <a:ext uri="{FF2B5EF4-FFF2-40B4-BE49-F238E27FC236}">
              <a16:creationId xmlns:a16="http://schemas.microsoft.com/office/drawing/2014/main" id="{02089D23-11F0-77BC-167A-DF44D475D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0:notes">
            <a:extLst>
              <a:ext uri="{FF2B5EF4-FFF2-40B4-BE49-F238E27FC236}">
                <a16:creationId xmlns:a16="http://schemas.microsoft.com/office/drawing/2014/main" id="{1910D8C2-646B-C6C6-D1E4-D03F055010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99" name="Google Shape;499;p50:notes">
            <a:extLst>
              <a:ext uri="{FF2B5EF4-FFF2-40B4-BE49-F238E27FC236}">
                <a16:creationId xmlns:a16="http://schemas.microsoft.com/office/drawing/2014/main" id="{4256FE80-3CF9-BB46-1FBC-4E8720C466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67359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6">
          <a:extLst>
            <a:ext uri="{FF2B5EF4-FFF2-40B4-BE49-F238E27FC236}">
              <a16:creationId xmlns:a16="http://schemas.microsoft.com/office/drawing/2014/main" id="{107B5B9B-A796-8BE0-EEDE-CF6FFD291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54:notes">
            <a:extLst>
              <a:ext uri="{FF2B5EF4-FFF2-40B4-BE49-F238E27FC236}">
                <a16:creationId xmlns:a16="http://schemas.microsoft.com/office/drawing/2014/main" id="{D06B0BE2-A8AA-63FD-41AF-F95A9737CE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8" name="Google Shape;948;p54:notes">
            <a:extLst>
              <a:ext uri="{FF2B5EF4-FFF2-40B4-BE49-F238E27FC236}">
                <a16:creationId xmlns:a16="http://schemas.microsoft.com/office/drawing/2014/main" id="{8BAAB428-64F4-3607-E2D5-4709F9872C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781253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3E0630F8-B456-17C2-AA1D-437E651B3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6:notes">
            <a:extLst>
              <a:ext uri="{FF2B5EF4-FFF2-40B4-BE49-F238E27FC236}">
                <a16:creationId xmlns:a16="http://schemas.microsoft.com/office/drawing/2014/main" id="{40203395-241C-98AC-DA42-2D902148E7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46:notes">
            <a:extLst>
              <a:ext uri="{FF2B5EF4-FFF2-40B4-BE49-F238E27FC236}">
                <a16:creationId xmlns:a16="http://schemas.microsoft.com/office/drawing/2014/main" id="{82B164E6-E191-2EFD-71CA-780E56E1D4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451866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2" name="Google Shape;1072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9" name="Google Shape;1079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6" name="Google Shape;1086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5" name="Google Shape;1095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0">
          <a:extLst>
            <a:ext uri="{FF2B5EF4-FFF2-40B4-BE49-F238E27FC236}">
              <a16:creationId xmlns:a16="http://schemas.microsoft.com/office/drawing/2014/main" id="{4F067591-B8EF-E566-A014-935305DE9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59:notes">
            <a:extLst>
              <a:ext uri="{FF2B5EF4-FFF2-40B4-BE49-F238E27FC236}">
                <a16:creationId xmlns:a16="http://schemas.microsoft.com/office/drawing/2014/main" id="{28D3915C-EB52-2F38-9C19-E404373F1D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2" name="Google Shape;1102;p59:notes">
            <a:extLst>
              <a:ext uri="{FF2B5EF4-FFF2-40B4-BE49-F238E27FC236}">
                <a16:creationId xmlns:a16="http://schemas.microsoft.com/office/drawing/2014/main" id="{D91FBBFB-B061-E666-4347-915193FE16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462819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2" name="Google Shape;1102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43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62"/>
          <p:cNvSpPr txBox="1">
            <a:spLocks noGrp="1"/>
          </p:cNvSpPr>
          <p:nvPr>
            <p:ph type="body" idx="1"/>
          </p:nvPr>
        </p:nvSpPr>
        <p:spPr>
          <a:xfrm>
            <a:off x="838200" y="1342281"/>
            <a:ext cx="10515600" cy="4834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  <a:defRPr sz="24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6" name="Google Shape;26;p62"/>
          <p:cNvSpPr txBox="1">
            <a:spLocks noGrp="1"/>
          </p:cNvSpPr>
          <p:nvPr>
            <p:ph type="dt" idx="10"/>
          </p:nvPr>
        </p:nvSpPr>
        <p:spPr>
          <a:xfrm>
            <a:off x="8610600" y="631031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2"/>
          <p:cNvSpPr txBox="1">
            <a:spLocks noGrp="1"/>
          </p:cNvSpPr>
          <p:nvPr>
            <p:ph type="sldNum" idx="12"/>
          </p:nvPr>
        </p:nvSpPr>
        <p:spPr>
          <a:xfrm>
            <a:off x="296281" y="6366522"/>
            <a:ext cx="5419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  <p:pic>
        <p:nvPicPr>
          <p:cNvPr id="29" name="Google Shape;29;p62" descr="폰트, 로고, 텍스트, 상징이(가) 표시된 사진&#10;&#10;자동 생성된 설명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59672" y="6212369"/>
            <a:ext cx="1232328" cy="63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62" descr="폰트, 그래픽, 스크린샷, 그래픽 디자인이(가) 표시된 사진&#10;&#10;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8264" y="-77511"/>
            <a:ext cx="1232328" cy="615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21" name="Google Shape;21;p61" descr="폰트, 그래픽, 스크린샷, 그래픽 디자인이(가) 표시된 사진&#10;&#10;자동 생성된 설명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68264" y="-77511"/>
            <a:ext cx="1232328" cy="615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61" descr="폰트, 로고, 텍스트, 상징이(가) 표시된 사진&#10;&#10;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9672" y="6212369"/>
            <a:ext cx="1232328" cy="63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3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841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3" name="Google Shape;33;p63"/>
          <p:cNvSpPr txBox="1">
            <a:spLocks noGrp="1"/>
          </p:cNvSpPr>
          <p:nvPr>
            <p:ph type="body" idx="1"/>
          </p:nvPr>
        </p:nvSpPr>
        <p:spPr>
          <a:xfrm>
            <a:off x="838200" y="1386018"/>
            <a:ext cx="5181600" cy="479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63"/>
          <p:cNvSpPr txBox="1">
            <a:spLocks noGrp="1"/>
          </p:cNvSpPr>
          <p:nvPr>
            <p:ph type="body" idx="2"/>
          </p:nvPr>
        </p:nvSpPr>
        <p:spPr>
          <a:xfrm>
            <a:off x="6172200" y="1386018"/>
            <a:ext cx="5181600" cy="479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8" name="Google Shape;38;p63" descr="폰트, 그래픽, 스크린샷, 그래픽 디자인이(가) 표시된 사진&#10;&#10;자동 생성된 설명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68264" y="-77511"/>
            <a:ext cx="1232328" cy="615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63" descr="폰트, 로고, 텍스트, 상징이(가) 표시된 사진&#10;&#10;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9672" y="6212369"/>
            <a:ext cx="1232328" cy="6357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8;p62">
            <a:extLst>
              <a:ext uri="{FF2B5EF4-FFF2-40B4-BE49-F238E27FC236}">
                <a16:creationId xmlns:a16="http://schemas.microsoft.com/office/drawing/2014/main" id="{1F22D6A9-02F9-9D53-4F12-17CC6580DFE1}"/>
              </a:ext>
            </a:extLst>
          </p:cNvPr>
          <p:cNvSpPr txBox="1">
            <a:spLocks/>
          </p:cNvSpPr>
          <p:nvPr userDrawn="1"/>
        </p:nvSpPr>
        <p:spPr>
          <a:xfrm>
            <a:off x="296281" y="6366522"/>
            <a:ext cx="5419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905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60"/>
          <p:cNvSpPr txBox="1">
            <a:spLocks noGrp="1"/>
          </p:cNvSpPr>
          <p:nvPr>
            <p:ph type="body" idx="1"/>
          </p:nvPr>
        </p:nvSpPr>
        <p:spPr>
          <a:xfrm>
            <a:off x="838200" y="1401288"/>
            <a:ext cx="10515600" cy="4775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 dirty="0"/>
          </a:p>
        </p:txBody>
      </p:sp>
      <p:sp>
        <p:nvSpPr>
          <p:cNvPr id="12" name="Google Shape;12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 lang="en-KR" dirty="0"/>
          </a:p>
        </p:txBody>
      </p:sp>
      <p:sp>
        <p:nvSpPr>
          <p:cNvPr id="13" name="Google Shape;13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1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chart" Target="../charts/chart1.xml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56.xml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19" Type="http://schemas.openxmlformats.org/officeDocument/2006/relationships/image" Target="../media/image54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chart" Target="../charts/chart2.xml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57.xml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8.png"/><Relationship Id="rId18" Type="http://schemas.openxmlformats.org/officeDocument/2006/relationships/image" Target="../media/image53.png"/><Relationship Id="rId3" Type="http://schemas.openxmlformats.org/officeDocument/2006/relationships/image" Target="../media/image39.png"/><Relationship Id="rId21" Type="http://schemas.openxmlformats.org/officeDocument/2006/relationships/image" Target="../media/image58.png"/><Relationship Id="rId7" Type="http://schemas.openxmlformats.org/officeDocument/2006/relationships/image" Target="../media/image43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" Type="http://schemas.openxmlformats.org/officeDocument/2006/relationships/notesSlide" Target="../notesSlides/notesSlide58.xml"/><Relationship Id="rId16" Type="http://schemas.openxmlformats.org/officeDocument/2006/relationships/image" Target="../media/image51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57.png"/><Relationship Id="rId5" Type="http://schemas.openxmlformats.org/officeDocument/2006/relationships/image" Target="../media/image41.png"/><Relationship Id="rId15" Type="http://schemas.openxmlformats.org/officeDocument/2006/relationships/image" Target="../media/image50.png"/><Relationship Id="rId23" Type="http://schemas.openxmlformats.org/officeDocument/2006/relationships/image" Target="../media/image60.png"/><Relationship Id="rId10" Type="http://schemas.openxmlformats.org/officeDocument/2006/relationships/image" Target="../media/image46.png"/><Relationship Id="rId19" Type="http://schemas.openxmlformats.org/officeDocument/2006/relationships/chart" Target="../charts/chart3.xml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49.png"/><Relationship Id="rId22" Type="http://schemas.openxmlformats.org/officeDocument/2006/relationships/image" Target="../media/image59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42.png"/><Relationship Id="rId18" Type="http://schemas.openxmlformats.org/officeDocument/2006/relationships/image" Target="../media/image57.png"/><Relationship Id="rId26" Type="http://schemas.openxmlformats.org/officeDocument/2006/relationships/chart" Target="../charts/chart4.xml"/><Relationship Id="rId3" Type="http://schemas.openxmlformats.org/officeDocument/2006/relationships/image" Target="../media/image61.png"/><Relationship Id="rId21" Type="http://schemas.openxmlformats.org/officeDocument/2006/relationships/image" Target="../media/image49.png"/><Relationship Id="rId7" Type="http://schemas.openxmlformats.org/officeDocument/2006/relationships/image" Target="../media/image65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5" Type="http://schemas.openxmlformats.org/officeDocument/2006/relationships/image" Target="../media/image53.png"/><Relationship Id="rId2" Type="http://schemas.openxmlformats.org/officeDocument/2006/relationships/notesSlide" Target="../notesSlides/notesSlide59.xml"/><Relationship Id="rId16" Type="http://schemas.openxmlformats.org/officeDocument/2006/relationships/image" Target="../media/image45.pn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40.png"/><Relationship Id="rId24" Type="http://schemas.openxmlformats.org/officeDocument/2006/relationships/image" Target="../media/image52.png"/><Relationship Id="rId5" Type="http://schemas.openxmlformats.org/officeDocument/2006/relationships/image" Target="../media/image63.png"/><Relationship Id="rId15" Type="http://schemas.openxmlformats.org/officeDocument/2006/relationships/image" Target="../media/image44.png"/><Relationship Id="rId23" Type="http://schemas.openxmlformats.org/officeDocument/2006/relationships/image" Target="../media/image51.png"/><Relationship Id="rId10" Type="http://schemas.openxmlformats.org/officeDocument/2006/relationships/image" Target="../media/image39.png"/><Relationship Id="rId19" Type="http://schemas.openxmlformats.org/officeDocument/2006/relationships/image" Target="../media/image47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43.png"/><Relationship Id="rId22" Type="http://schemas.openxmlformats.org/officeDocument/2006/relationships/image" Target="../media/image50.png"/><Relationship Id="rId27" Type="http://schemas.openxmlformats.org/officeDocument/2006/relationships/image" Target="../media/image55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42.png"/><Relationship Id="rId18" Type="http://schemas.openxmlformats.org/officeDocument/2006/relationships/image" Target="../media/image57.png"/><Relationship Id="rId26" Type="http://schemas.openxmlformats.org/officeDocument/2006/relationships/chart" Target="../charts/chart5.xml"/><Relationship Id="rId3" Type="http://schemas.openxmlformats.org/officeDocument/2006/relationships/image" Target="../media/image61.png"/><Relationship Id="rId21" Type="http://schemas.openxmlformats.org/officeDocument/2006/relationships/image" Target="../media/image71.png"/><Relationship Id="rId7" Type="http://schemas.openxmlformats.org/officeDocument/2006/relationships/image" Target="../media/image65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5" Type="http://schemas.openxmlformats.org/officeDocument/2006/relationships/image" Target="../media/image75.png"/><Relationship Id="rId2" Type="http://schemas.openxmlformats.org/officeDocument/2006/relationships/notesSlide" Target="../notesSlides/notesSlide60.xml"/><Relationship Id="rId16" Type="http://schemas.openxmlformats.org/officeDocument/2006/relationships/image" Target="../media/image45.png"/><Relationship Id="rId20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40.png"/><Relationship Id="rId24" Type="http://schemas.openxmlformats.org/officeDocument/2006/relationships/image" Target="../media/image74.png"/><Relationship Id="rId5" Type="http://schemas.openxmlformats.org/officeDocument/2006/relationships/image" Target="../media/image63.png"/><Relationship Id="rId15" Type="http://schemas.openxmlformats.org/officeDocument/2006/relationships/image" Target="../media/image44.png"/><Relationship Id="rId23" Type="http://schemas.openxmlformats.org/officeDocument/2006/relationships/image" Target="../media/image73.png"/><Relationship Id="rId10" Type="http://schemas.openxmlformats.org/officeDocument/2006/relationships/image" Target="../media/image68.png"/><Relationship Id="rId19" Type="http://schemas.openxmlformats.org/officeDocument/2006/relationships/image" Target="../media/image69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43.png"/><Relationship Id="rId22" Type="http://schemas.openxmlformats.org/officeDocument/2006/relationships/image" Target="../media/image72.png"/><Relationship Id="rId27" Type="http://schemas.openxmlformats.org/officeDocument/2006/relationships/image" Target="../media/image76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42.png"/><Relationship Id="rId18" Type="http://schemas.openxmlformats.org/officeDocument/2006/relationships/image" Target="../media/image57.png"/><Relationship Id="rId26" Type="http://schemas.openxmlformats.org/officeDocument/2006/relationships/chart" Target="../charts/chart6.xml"/><Relationship Id="rId3" Type="http://schemas.openxmlformats.org/officeDocument/2006/relationships/image" Target="../media/image61.png"/><Relationship Id="rId21" Type="http://schemas.openxmlformats.org/officeDocument/2006/relationships/image" Target="../media/image80.png"/><Relationship Id="rId7" Type="http://schemas.openxmlformats.org/officeDocument/2006/relationships/image" Target="../media/image65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5" Type="http://schemas.openxmlformats.org/officeDocument/2006/relationships/image" Target="../media/image84.png"/><Relationship Id="rId2" Type="http://schemas.openxmlformats.org/officeDocument/2006/relationships/notesSlide" Target="../notesSlides/notesSlide61.xml"/><Relationship Id="rId16" Type="http://schemas.openxmlformats.org/officeDocument/2006/relationships/image" Target="../media/image45.png"/><Relationship Id="rId20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40.png"/><Relationship Id="rId24" Type="http://schemas.openxmlformats.org/officeDocument/2006/relationships/image" Target="../media/image83.png"/><Relationship Id="rId5" Type="http://schemas.openxmlformats.org/officeDocument/2006/relationships/image" Target="../media/image63.png"/><Relationship Id="rId15" Type="http://schemas.openxmlformats.org/officeDocument/2006/relationships/image" Target="../media/image44.png"/><Relationship Id="rId23" Type="http://schemas.openxmlformats.org/officeDocument/2006/relationships/image" Target="../media/image82.png"/><Relationship Id="rId28" Type="http://schemas.openxmlformats.org/officeDocument/2006/relationships/image" Target="../media/image86.png"/><Relationship Id="rId10" Type="http://schemas.openxmlformats.org/officeDocument/2006/relationships/image" Target="../media/image77.png"/><Relationship Id="rId19" Type="http://schemas.openxmlformats.org/officeDocument/2006/relationships/image" Target="../media/image7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43.png"/><Relationship Id="rId22" Type="http://schemas.openxmlformats.org/officeDocument/2006/relationships/image" Target="../media/image81.png"/><Relationship Id="rId27" Type="http://schemas.openxmlformats.org/officeDocument/2006/relationships/image" Target="../media/image85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ko-KR" sz="4000" b="1" dirty="0">
                <a:latin typeface="+mj-ea"/>
                <a:ea typeface="+mj-ea"/>
                <a:cs typeface="Arial"/>
                <a:sym typeface="Arial"/>
              </a:rPr>
              <a:t>Word </a:t>
            </a:r>
            <a:r>
              <a:rPr lang="ko-KR" sz="4000" b="1" dirty="0" err="1">
                <a:latin typeface="+mj-ea"/>
                <a:ea typeface="+mj-ea"/>
                <a:cs typeface="Arial"/>
                <a:sym typeface="Arial"/>
              </a:rPr>
              <a:t>Embedding</a:t>
            </a:r>
            <a:r>
              <a:rPr lang="ko-KR" sz="4000" b="1" dirty="0">
                <a:latin typeface="+mj-ea"/>
                <a:ea typeface="+mj-ea"/>
                <a:cs typeface="Arial"/>
                <a:sym typeface="Arial"/>
              </a:rPr>
              <a:t> </a:t>
            </a:r>
            <a:br>
              <a:rPr lang="en-US" altLang="ko-KR" sz="4000" b="1" dirty="0">
                <a:latin typeface="+mj-ea"/>
                <a:ea typeface="+mj-ea"/>
                <a:cs typeface="Arial"/>
                <a:sym typeface="Arial"/>
              </a:rPr>
            </a:br>
            <a:r>
              <a:rPr lang="ko-KR" sz="4000" b="1" dirty="0">
                <a:latin typeface="+mj-ea"/>
                <a:ea typeface="+mj-ea"/>
                <a:cs typeface="Arial"/>
                <a:sym typeface="Arial"/>
              </a:rPr>
              <a:t>&amp;</a:t>
            </a:r>
            <a:r>
              <a:rPr lang="ko-KR" altLang="en-US" sz="4000" b="1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4000" b="1" dirty="0" err="1">
                <a:latin typeface="+mj-ea"/>
                <a:ea typeface="+mj-ea"/>
                <a:cs typeface="Arial"/>
                <a:sym typeface="Arial"/>
              </a:rPr>
              <a:t>Sequential</a:t>
            </a:r>
            <a:r>
              <a:rPr lang="ko-KR" sz="4000" b="1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4000" b="1" dirty="0" err="1">
                <a:latin typeface="+mj-ea"/>
                <a:ea typeface="+mj-ea"/>
                <a:cs typeface="Arial"/>
                <a:sym typeface="Arial"/>
              </a:rPr>
              <a:t>Learning</a:t>
            </a:r>
            <a:endParaRPr sz="4000" b="1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96" name="Google Shape;96;p1"/>
          <p:cNvSpPr txBox="1">
            <a:spLocks noGrp="1"/>
          </p:cNvSpPr>
          <p:nvPr>
            <p:ph type="subTitle" idx="1"/>
          </p:nvPr>
        </p:nvSpPr>
        <p:spPr>
          <a:xfrm>
            <a:off x="1523994" y="3335370"/>
            <a:ext cx="9144000" cy="165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000" dirty="0">
              <a:latin typeface="+mn-ea"/>
              <a:ea typeface="+mn-ea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 sz="2000" b="0" i="0" dirty="0" err="1">
                <a:latin typeface="+mn-ea"/>
                <a:ea typeface="+mn-ea"/>
                <a:cs typeface="Arial"/>
                <a:sym typeface="Arial"/>
              </a:rPr>
              <a:t>Dongwook</a:t>
            </a:r>
            <a:r>
              <a:rPr lang="ko-KR" sz="2000" b="0" i="0" dirty="0"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ko-KR" sz="2000" b="0" i="0" dirty="0" err="1">
                <a:latin typeface="+mn-ea"/>
                <a:ea typeface="+mn-ea"/>
                <a:cs typeface="Arial"/>
                <a:sym typeface="Arial"/>
              </a:rPr>
              <a:t>Choi</a:t>
            </a:r>
            <a:endParaRPr sz="2000" dirty="0">
              <a:latin typeface="+mn-ea"/>
              <a:ea typeface="+mn-ea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 sz="1800" b="0" i="0" dirty="0" err="1">
                <a:latin typeface="+mn-ea"/>
                <a:ea typeface="+mn-ea"/>
                <a:cs typeface="Arial"/>
                <a:sym typeface="Arial"/>
              </a:rPr>
              <a:t>Lang&amp;AGI</a:t>
            </a:r>
            <a:r>
              <a:rPr lang="ko-KR" sz="1800" b="0" i="0" dirty="0"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ko-KR" sz="1800" b="0" i="0" dirty="0" err="1">
                <a:latin typeface="+mn-ea"/>
                <a:ea typeface="+mn-ea"/>
                <a:cs typeface="Arial"/>
                <a:sym typeface="Arial"/>
              </a:rPr>
              <a:t>Lab</a:t>
            </a:r>
            <a:r>
              <a:rPr lang="ko-KR" sz="1800" b="0" i="0" dirty="0">
                <a:latin typeface="+mn-ea"/>
                <a:ea typeface="+mn-ea"/>
                <a:cs typeface="Arial"/>
                <a:sym typeface="Arial"/>
              </a:rPr>
              <a:t>, </a:t>
            </a:r>
            <a:r>
              <a:rPr lang="ko-KR" sz="1800" b="0" i="0" dirty="0" err="1">
                <a:latin typeface="+mn-ea"/>
                <a:ea typeface="+mn-ea"/>
                <a:cs typeface="Arial"/>
                <a:sym typeface="Arial"/>
              </a:rPr>
              <a:t>Yonsei</a:t>
            </a:r>
            <a:r>
              <a:rPr lang="ko-KR" sz="1800" b="0" i="0" dirty="0"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ko-KR" sz="1800" b="0" i="0" dirty="0" err="1">
                <a:latin typeface="+mn-ea"/>
                <a:ea typeface="+mn-ea"/>
                <a:cs typeface="Arial"/>
                <a:sym typeface="Arial"/>
              </a:rPr>
              <a:t>University</a:t>
            </a:r>
            <a:br>
              <a:rPr lang="ko-KR" sz="2000" dirty="0">
                <a:latin typeface="+mn-ea"/>
                <a:ea typeface="+mn-ea"/>
              </a:rPr>
            </a:br>
            <a:endParaRPr sz="2000" dirty="0">
              <a:latin typeface="+mn-ea"/>
              <a:ea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C7FA5E-583D-47B9-7A7C-B89704371EDE}"/>
              </a:ext>
            </a:extLst>
          </p:cNvPr>
          <p:cNvSpPr txBox="1"/>
          <p:nvPr/>
        </p:nvSpPr>
        <p:spPr>
          <a:xfrm>
            <a:off x="3971060" y="4620878"/>
            <a:ext cx="42498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latin typeface="+mn-ea"/>
                <a:ea typeface="+mn-ea"/>
              </a:rPr>
              <a:t>2025. 06. 16</a:t>
            </a:r>
            <a:endParaRPr lang="ko-KR" altLang="en-US" sz="18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 b="1" dirty="0" err="1">
                <a:latin typeface="+mj-ea"/>
                <a:ea typeface="+mj-ea"/>
                <a:cs typeface="Arial"/>
                <a:sym typeface="Arial"/>
              </a:rPr>
              <a:t>Content</a:t>
            </a:r>
            <a:r>
              <a:rPr lang="en-US" altLang="ko-KR" b="1" dirty="0">
                <a:latin typeface="+mj-ea"/>
                <a:ea typeface="+mj-ea"/>
                <a:cs typeface="Arial"/>
                <a:sym typeface="Arial"/>
              </a:rPr>
              <a:t>s</a:t>
            </a:r>
            <a:endParaRPr b="1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>
            <a:spLocks noGrp="1"/>
          </p:cNvSpPr>
          <p:nvPr>
            <p:ph type="body" idx="1"/>
          </p:nvPr>
        </p:nvSpPr>
        <p:spPr>
          <a:xfrm>
            <a:off x="1321904" y="1342281"/>
            <a:ext cx="10031896" cy="3597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b="1" dirty="0">
                <a:latin typeface="+mn-ea"/>
                <a:ea typeface="+mn-ea"/>
                <a:cs typeface="Arial"/>
                <a:sym typeface="Arial"/>
              </a:rPr>
              <a:t>1.</a:t>
            </a:r>
            <a:r>
              <a:rPr lang="ko-KR" altLang="en-US" b="1" dirty="0"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ko-KR" b="1" dirty="0" err="1">
                <a:latin typeface="+mn-ea"/>
                <a:ea typeface="+mn-ea"/>
                <a:cs typeface="Arial"/>
                <a:sym typeface="Arial"/>
              </a:rPr>
              <a:t>Welcome</a:t>
            </a:r>
            <a:r>
              <a:rPr lang="ko-KR" b="1" dirty="0"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ko-KR" b="1" dirty="0" err="1">
                <a:latin typeface="+mn-ea"/>
                <a:ea typeface="+mn-ea"/>
                <a:cs typeface="Arial"/>
                <a:sym typeface="Arial"/>
              </a:rPr>
              <a:t>to</a:t>
            </a:r>
            <a:r>
              <a:rPr lang="ko-KR" b="1" dirty="0"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ko-KR" b="1" dirty="0" err="1">
                <a:latin typeface="+mn-ea"/>
                <a:ea typeface="+mn-ea"/>
                <a:cs typeface="Arial"/>
                <a:sym typeface="Arial"/>
              </a:rPr>
              <a:t>the</a:t>
            </a:r>
            <a:r>
              <a:rPr lang="ko-KR" b="1" dirty="0">
                <a:latin typeface="+mn-ea"/>
                <a:ea typeface="+mn-ea"/>
                <a:cs typeface="Arial"/>
                <a:sym typeface="Arial"/>
              </a:rPr>
              <a:t> NLP</a:t>
            </a:r>
            <a:r>
              <a:rPr lang="en-US" altLang="ko-KR" b="1" dirty="0">
                <a:latin typeface="+mn-ea"/>
                <a:ea typeface="+mn-ea"/>
                <a:cs typeface="Arial"/>
                <a:sym typeface="Arial"/>
              </a:rPr>
              <a:t>!</a:t>
            </a:r>
            <a:endParaRPr b="1" dirty="0">
              <a:latin typeface="+mn-ea"/>
              <a:ea typeface="+mn-ea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b="1" dirty="0">
                <a:latin typeface="+mn-ea"/>
                <a:ea typeface="+mn-ea"/>
                <a:cs typeface="Arial"/>
                <a:sym typeface="Arial"/>
              </a:rPr>
              <a:t>2.</a:t>
            </a:r>
            <a:r>
              <a:rPr lang="ko-KR" altLang="en-US" b="1" dirty="0"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ko-KR" b="1" dirty="0">
                <a:latin typeface="+mn-ea"/>
                <a:ea typeface="+mn-ea"/>
                <a:cs typeface="Arial"/>
                <a:sym typeface="Arial"/>
              </a:rPr>
              <a:t>Word </a:t>
            </a:r>
            <a:r>
              <a:rPr lang="ko-KR" b="1" dirty="0" err="1">
                <a:latin typeface="+mn-ea"/>
                <a:ea typeface="+mn-ea"/>
                <a:cs typeface="Arial"/>
                <a:sym typeface="Arial"/>
              </a:rPr>
              <a:t>Embedding</a:t>
            </a:r>
            <a:endParaRPr b="1" dirty="0">
              <a:latin typeface="+mn-ea"/>
              <a:ea typeface="+mn-ea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b="1" dirty="0">
                <a:latin typeface="+mn-ea"/>
                <a:ea typeface="+mn-ea"/>
                <a:cs typeface="Arial"/>
                <a:sym typeface="Arial"/>
              </a:rPr>
              <a:t>3.</a:t>
            </a:r>
            <a:r>
              <a:rPr lang="ko-KR" altLang="en-US" b="1" dirty="0"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altLang="ko-KR" b="1" dirty="0">
                <a:latin typeface="+mn-ea"/>
                <a:ea typeface="+mn-ea"/>
                <a:cs typeface="Arial"/>
                <a:sym typeface="Arial"/>
              </a:rPr>
              <a:t>S</a:t>
            </a:r>
            <a:r>
              <a:rPr lang="ko-KR" b="1" dirty="0" err="1">
                <a:latin typeface="+mn-ea"/>
                <a:ea typeface="+mn-ea"/>
                <a:cs typeface="Arial"/>
                <a:sym typeface="Arial"/>
              </a:rPr>
              <a:t>equential</a:t>
            </a:r>
            <a:r>
              <a:rPr lang="ko-KR" b="1" dirty="0"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ko-KR" b="1" dirty="0" err="1">
                <a:latin typeface="+mn-ea"/>
                <a:ea typeface="+mn-ea"/>
                <a:cs typeface="Arial"/>
                <a:sym typeface="Arial"/>
              </a:rPr>
              <a:t>Learning</a:t>
            </a:r>
            <a:endParaRPr dirty="0">
              <a:latin typeface="+mn-ea"/>
              <a:ea typeface="+mn-ea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000" dirty="0">
                <a:latin typeface="+mn-ea"/>
                <a:ea typeface="+mn-ea"/>
                <a:cs typeface="Arial"/>
                <a:sym typeface="Arial"/>
              </a:rPr>
              <a:t>RNN &amp; LSTM</a:t>
            </a:r>
            <a:endParaRPr sz="2000" dirty="0">
              <a:latin typeface="+mn-ea"/>
              <a:ea typeface="+mn-ea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000" dirty="0">
                <a:latin typeface="+mn-ea"/>
                <a:ea typeface="+mn-ea"/>
                <a:cs typeface="Arial"/>
                <a:sym typeface="Arial"/>
              </a:rPr>
              <a:t>Seq2Seq</a:t>
            </a:r>
            <a:endParaRPr sz="2000" dirty="0">
              <a:latin typeface="+mn-ea"/>
              <a:ea typeface="+mn-ea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000" dirty="0" err="1">
                <a:latin typeface="+mn-ea"/>
                <a:ea typeface="+mn-ea"/>
                <a:cs typeface="Arial"/>
                <a:sym typeface="Arial"/>
              </a:rPr>
              <a:t>Attention</a:t>
            </a:r>
            <a:endParaRPr sz="2000" dirty="0">
              <a:latin typeface="+mn-ea"/>
              <a:ea typeface="+mn-ea"/>
            </a:endParaRPr>
          </a:p>
        </p:txBody>
      </p:sp>
      <p:sp>
        <p:nvSpPr>
          <p:cNvPr id="2" name="Google Shape;131;p6">
            <a:extLst>
              <a:ext uri="{FF2B5EF4-FFF2-40B4-BE49-F238E27FC236}">
                <a16:creationId xmlns:a16="http://schemas.microsoft.com/office/drawing/2014/main" id="{AE00F4D1-D1AE-7903-CE70-48A8D492F50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0661D9-0C43-D117-44AF-8C569F3BDE3D}"/>
              </a:ext>
            </a:extLst>
          </p:cNvPr>
          <p:cNvSpPr txBox="1"/>
          <p:nvPr/>
        </p:nvSpPr>
        <p:spPr>
          <a:xfrm>
            <a:off x="941234" y="5493057"/>
            <a:ext cx="107072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3093E4"/>
                </a:solidFill>
              </a:rPr>
              <a:t>https://</a:t>
            </a:r>
            <a:r>
              <a:rPr lang="en-US" altLang="ko-KR" dirty="0" err="1">
                <a:solidFill>
                  <a:srgbClr val="3093E4"/>
                </a:solidFill>
              </a:rPr>
              <a:t>drive.google.com</a:t>
            </a:r>
            <a:r>
              <a:rPr lang="en-US" altLang="ko-KR" dirty="0">
                <a:solidFill>
                  <a:srgbClr val="3093E4"/>
                </a:solidFill>
              </a:rPr>
              <a:t>/drive/folders/16rotE2B2uy2te5xxVBcN9SuvqwfTnNOv?usp=sharing</a:t>
            </a:r>
            <a:endParaRPr lang="ko-KR" altLang="en-US" dirty="0">
              <a:solidFill>
                <a:srgbClr val="3093E4"/>
              </a:solidFill>
              <a:highlight>
                <a:srgbClr val="FFFF00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4CCE0A-AB45-0075-4446-DFD1F02BD223}"/>
              </a:ext>
            </a:extLst>
          </p:cNvPr>
          <p:cNvSpPr txBox="1"/>
          <p:nvPr/>
        </p:nvSpPr>
        <p:spPr>
          <a:xfrm>
            <a:off x="993109" y="5132723"/>
            <a:ext cx="2105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실습 코드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32CC05-A75C-DA19-1A3C-C87AB37518D4}"/>
              </a:ext>
            </a:extLst>
          </p:cNvPr>
          <p:cNvSpPr txBox="1"/>
          <p:nvPr/>
        </p:nvSpPr>
        <p:spPr>
          <a:xfrm>
            <a:off x="700211" y="3044279"/>
            <a:ext cx="107915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en-US" altLang="ko-KR" sz="4400" b="1" dirty="0">
                <a:latin typeface="+mj-ea"/>
                <a:ea typeface="+mj-ea"/>
                <a:cs typeface="Arial" panose="020B0604020202020204" pitchFamily="34" charset="0"/>
              </a:rPr>
              <a:t>Welcome to the NLP!</a:t>
            </a:r>
            <a:endParaRPr lang="ko-KR" altLang="en-US" sz="4400" b="1" dirty="0"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0877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 b="1" dirty="0" err="1">
                <a:latin typeface="+mj-ea"/>
                <a:ea typeface="+mj-ea"/>
                <a:cs typeface="Arial"/>
                <a:sym typeface="Arial"/>
              </a:rPr>
              <a:t>Welcome</a:t>
            </a:r>
            <a:r>
              <a:rPr lang="ko-KR" b="1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b="1" dirty="0" err="1">
                <a:latin typeface="+mj-ea"/>
                <a:ea typeface="+mj-ea"/>
                <a:cs typeface="Arial"/>
                <a:sym typeface="Arial"/>
              </a:rPr>
              <a:t>to</a:t>
            </a:r>
            <a:r>
              <a:rPr lang="ko-KR" b="1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b="1" dirty="0" err="1">
                <a:latin typeface="+mj-ea"/>
                <a:ea typeface="+mj-ea"/>
                <a:cs typeface="Arial"/>
                <a:sym typeface="Arial"/>
              </a:rPr>
              <a:t>the</a:t>
            </a:r>
            <a:r>
              <a:rPr lang="ko-KR" b="1" dirty="0">
                <a:latin typeface="+mj-ea"/>
                <a:ea typeface="+mj-ea"/>
                <a:cs typeface="Arial"/>
                <a:sym typeface="Arial"/>
              </a:rPr>
              <a:t> NLP!</a:t>
            </a:r>
            <a:endParaRPr b="1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109" name="Google Shape;109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+mn-ea"/>
                <a:cs typeface="Arial"/>
                <a:sym typeface="Arial"/>
              </a:rPr>
              <a:t>Natural Language (</a:t>
            </a:r>
            <a:r>
              <a:rPr lang="ko-KR" altLang="en-US" sz="1800" dirty="0">
                <a:latin typeface="+mn-ea"/>
              </a:rPr>
              <a:t>자연어</a:t>
            </a:r>
            <a:r>
              <a:rPr lang="en-US" altLang="ko-KR" sz="1800" dirty="0">
                <a:latin typeface="+mn-ea"/>
              </a:rPr>
              <a:t>)</a:t>
            </a:r>
            <a:endParaRPr lang="ko-KR" altLang="en-US" sz="1800" dirty="0">
              <a:latin typeface="+mn-ea"/>
            </a:endParaRPr>
          </a:p>
          <a:p>
            <a:pPr marL="457200" lvl="1" indent="0">
              <a:lnSpc>
                <a:spcPct val="150000"/>
              </a:lnSpc>
              <a:buSzPts val="2400"/>
              <a:buNone/>
            </a:pPr>
            <a:r>
              <a:rPr lang="ko-KR" altLang="en-US" sz="1800" dirty="0">
                <a:latin typeface="+mn-ea"/>
                <a:ea typeface="+mn-ea"/>
                <a:cs typeface="Arial"/>
                <a:sym typeface="Arial"/>
              </a:rPr>
              <a:t>사람들이 일상적으로 쓰는 언어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altLang="ko-KR" sz="1800" dirty="0">
              <a:latin typeface="+mn-ea"/>
              <a:ea typeface="+mn-ea"/>
              <a:cs typeface="Arial"/>
              <a:sym typeface="Arial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ko-KR" sz="1800" dirty="0" err="1">
                <a:latin typeface="+mn-ea"/>
                <a:ea typeface="+mn-ea"/>
                <a:cs typeface="Arial"/>
                <a:sym typeface="Arial"/>
              </a:rPr>
              <a:t>Natural</a:t>
            </a:r>
            <a:r>
              <a:rPr lang="ko-KR" sz="1800" dirty="0"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ko-KR" sz="1800" dirty="0" err="1">
                <a:latin typeface="+mn-ea"/>
                <a:ea typeface="+mn-ea"/>
                <a:cs typeface="Arial"/>
                <a:sym typeface="Arial"/>
              </a:rPr>
              <a:t>Language</a:t>
            </a:r>
            <a:r>
              <a:rPr lang="ko-KR" sz="1800" dirty="0">
                <a:latin typeface="+mn-ea"/>
                <a:ea typeface="+mn-ea"/>
                <a:cs typeface="Arial"/>
                <a:sym typeface="Arial"/>
              </a:rPr>
              <a:t> Processing</a:t>
            </a:r>
            <a:r>
              <a:rPr lang="en-US" altLang="ko-KR" sz="1800" dirty="0">
                <a:latin typeface="+mn-ea"/>
                <a:ea typeface="+mn-ea"/>
                <a:cs typeface="Arial"/>
                <a:sym typeface="Arial"/>
              </a:rPr>
              <a:t> (NLP)</a:t>
            </a:r>
            <a:endParaRPr sz="1800" dirty="0">
              <a:latin typeface="+mn-ea"/>
              <a:ea typeface="+mn-ea"/>
            </a:endParaRPr>
          </a:p>
          <a:p>
            <a:pPr marL="457200" lvl="1" indent="0">
              <a:lnSpc>
                <a:spcPct val="150000"/>
              </a:lnSpc>
              <a:buSzPts val="2400"/>
              <a:buNone/>
            </a:pPr>
            <a:r>
              <a:rPr lang="ko-KR" sz="1800" dirty="0">
                <a:latin typeface="+mn-ea"/>
                <a:ea typeface="+mn-ea"/>
                <a:cs typeface="Arial"/>
                <a:sym typeface="Arial"/>
              </a:rPr>
              <a:t>컴퓨터가 </a:t>
            </a:r>
            <a:r>
              <a:rPr lang="ko-KR" sz="1800" u="sng" dirty="0">
                <a:latin typeface="+mn-ea"/>
                <a:ea typeface="+mn-ea"/>
                <a:cs typeface="Arial"/>
                <a:sym typeface="Arial"/>
              </a:rPr>
              <a:t>인간의 언어를 이해하고 처리</a:t>
            </a:r>
            <a:r>
              <a:rPr lang="ko-KR" sz="1800" dirty="0">
                <a:latin typeface="+mn-ea"/>
                <a:ea typeface="+mn-ea"/>
                <a:cs typeface="Arial"/>
                <a:sym typeface="Arial"/>
              </a:rPr>
              <a:t>할 수 있도록 하는 기술 분야</a:t>
            </a:r>
            <a:endParaRPr sz="1800" dirty="0">
              <a:latin typeface="+mn-ea"/>
              <a:ea typeface="+mn-ea"/>
              <a:cs typeface="Arial"/>
              <a:sym typeface="Arial"/>
            </a:endParaRPr>
          </a:p>
        </p:txBody>
      </p:sp>
      <p:sp>
        <p:nvSpPr>
          <p:cNvPr id="2" name="Google Shape;131;p6">
            <a:extLst>
              <a:ext uri="{FF2B5EF4-FFF2-40B4-BE49-F238E27FC236}">
                <a16:creationId xmlns:a16="http://schemas.microsoft.com/office/drawing/2014/main" id="{139CC156-6314-F50C-1298-9D5A05280D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34CD390E-BEC1-B4F5-670B-FC4A9B5F3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D44BD096-289F-ECB2-2C21-5FCB6306A9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 b="1" dirty="0" err="1">
                <a:latin typeface="+mj-ea"/>
                <a:ea typeface="+mj-ea"/>
                <a:cs typeface="Arial"/>
                <a:sym typeface="Arial"/>
              </a:rPr>
              <a:t>Welcome</a:t>
            </a:r>
            <a:r>
              <a:rPr lang="ko-KR" b="1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b="1" dirty="0" err="1">
                <a:latin typeface="+mj-ea"/>
                <a:ea typeface="+mj-ea"/>
                <a:cs typeface="Arial"/>
                <a:sym typeface="Arial"/>
              </a:rPr>
              <a:t>to</a:t>
            </a:r>
            <a:r>
              <a:rPr lang="ko-KR" b="1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b="1" dirty="0" err="1">
                <a:latin typeface="+mj-ea"/>
                <a:ea typeface="+mj-ea"/>
                <a:cs typeface="Arial"/>
                <a:sym typeface="Arial"/>
              </a:rPr>
              <a:t>the</a:t>
            </a:r>
            <a:r>
              <a:rPr lang="ko-KR" b="1" dirty="0">
                <a:latin typeface="+mj-ea"/>
                <a:ea typeface="+mj-ea"/>
                <a:cs typeface="Arial"/>
                <a:sym typeface="Arial"/>
              </a:rPr>
              <a:t> NLP!</a:t>
            </a:r>
            <a:endParaRPr b="1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4F26145A-1404-1646-3FE1-9A2C7154EF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3975651"/>
            <a:ext cx="10515600" cy="251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>
              <a:lnSpc>
                <a:spcPct val="170000"/>
              </a:lnSpc>
              <a:buSzPct val="100000"/>
            </a:pPr>
            <a:r>
              <a:rPr lang="ko-KR" altLang="en-US" sz="1800" dirty="0">
                <a:latin typeface="+mn-ea"/>
                <a:ea typeface="+mn-ea"/>
                <a:cs typeface="Arial"/>
                <a:sym typeface="Arial"/>
              </a:rPr>
              <a:t>주요 응용 분야	</a:t>
            </a:r>
            <a:endParaRPr lang="ko-KR" altLang="en-US" sz="1800" dirty="0">
              <a:latin typeface="+mn-ea"/>
              <a:ea typeface="+mn-ea"/>
            </a:endParaRPr>
          </a:p>
          <a:p>
            <a:pPr marL="457200" lvl="1" indent="0">
              <a:lnSpc>
                <a:spcPct val="110000"/>
              </a:lnSpc>
              <a:buSzPts val="2400"/>
              <a:buNone/>
            </a:pPr>
            <a:r>
              <a:rPr lang="en-US" altLang="ko-KR" sz="1800" dirty="0">
                <a:latin typeface="+mn-ea"/>
                <a:ea typeface="+mn-ea"/>
                <a:cs typeface="Arial"/>
                <a:sym typeface="Arial"/>
              </a:rPr>
              <a:t>1. </a:t>
            </a:r>
            <a:r>
              <a:rPr lang="ko-KR" altLang="en-US" sz="1800" dirty="0">
                <a:latin typeface="+mn-ea"/>
                <a:ea typeface="+mn-ea"/>
                <a:cs typeface="Arial"/>
                <a:sym typeface="Arial"/>
              </a:rPr>
              <a:t>기계 번역</a:t>
            </a:r>
          </a:p>
          <a:p>
            <a:pPr marL="457200" lvl="1" indent="0">
              <a:lnSpc>
                <a:spcPct val="110000"/>
              </a:lnSpc>
              <a:buSzPts val="2400"/>
              <a:buNone/>
            </a:pPr>
            <a:r>
              <a:rPr lang="en-US" altLang="ko-KR" sz="1800" dirty="0">
                <a:latin typeface="+mn-ea"/>
                <a:ea typeface="+mn-ea"/>
                <a:cs typeface="Arial"/>
                <a:sym typeface="Arial"/>
              </a:rPr>
              <a:t>2. </a:t>
            </a:r>
            <a:r>
              <a:rPr lang="ko-KR" altLang="en-US" sz="1800" dirty="0">
                <a:latin typeface="+mn-ea"/>
                <a:ea typeface="+mn-ea"/>
                <a:cs typeface="Arial"/>
                <a:sym typeface="Arial"/>
              </a:rPr>
              <a:t>감정 분석</a:t>
            </a:r>
          </a:p>
          <a:p>
            <a:pPr marL="457200" lvl="1" indent="0">
              <a:lnSpc>
                <a:spcPct val="110000"/>
              </a:lnSpc>
              <a:buSzPts val="2400"/>
              <a:buNone/>
            </a:pPr>
            <a:r>
              <a:rPr lang="en-US" altLang="ko-KR" sz="1800" dirty="0">
                <a:latin typeface="+mn-ea"/>
                <a:ea typeface="+mn-ea"/>
                <a:cs typeface="Arial"/>
                <a:sym typeface="Arial"/>
              </a:rPr>
              <a:t>3. </a:t>
            </a:r>
            <a:r>
              <a:rPr lang="ko-KR" altLang="en-US" sz="1800" dirty="0" err="1">
                <a:latin typeface="+mn-ea"/>
                <a:ea typeface="+mn-ea"/>
                <a:cs typeface="Arial"/>
                <a:sym typeface="Arial"/>
              </a:rPr>
              <a:t>챗봇</a:t>
            </a:r>
            <a:endParaRPr lang="ko-KR" altLang="en-US" sz="1800" dirty="0">
              <a:latin typeface="+mn-ea"/>
              <a:ea typeface="+mn-ea"/>
              <a:cs typeface="Arial"/>
              <a:sym typeface="Arial"/>
            </a:endParaRPr>
          </a:p>
          <a:p>
            <a:pPr marL="457200" lvl="1" indent="0">
              <a:lnSpc>
                <a:spcPct val="110000"/>
              </a:lnSpc>
              <a:buSzPts val="2400"/>
              <a:buNone/>
            </a:pPr>
            <a:r>
              <a:rPr lang="en-US" altLang="ko-KR" sz="1800" dirty="0">
                <a:latin typeface="+mn-ea"/>
                <a:ea typeface="+mn-ea"/>
                <a:cs typeface="Arial"/>
                <a:sym typeface="Arial"/>
              </a:rPr>
              <a:t>4. </a:t>
            </a:r>
            <a:r>
              <a:rPr lang="ko-KR" altLang="en-US" sz="1800" dirty="0">
                <a:latin typeface="+mn-ea"/>
                <a:ea typeface="+mn-ea"/>
                <a:cs typeface="Arial"/>
                <a:sym typeface="Arial"/>
              </a:rPr>
              <a:t>텍스트 요약</a:t>
            </a:r>
          </a:p>
          <a:p>
            <a:pPr marL="914400" lvl="2" indent="0">
              <a:buSzPts val="2400"/>
              <a:buNone/>
            </a:pPr>
            <a:r>
              <a:rPr lang="en-US" altLang="ko-KR" sz="1800" dirty="0">
                <a:latin typeface="+mn-ea"/>
                <a:ea typeface="+mn-ea"/>
                <a:cs typeface="Arial"/>
                <a:sym typeface="Arial"/>
              </a:rPr>
              <a:t>…</a:t>
            </a:r>
            <a:endParaRPr lang="ko-KR" altLang="en-US" sz="1800" dirty="0">
              <a:latin typeface="+mn-ea"/>
              <a:ea typeface="+mn-ea"/>
              <a:cs typeface="Arial"/>
              <a:sym typeface="Arial"/>
            </a:endParaRPr>
          </a:p>
        </p:txBody>
      </p:sp>
      <p:sp>
        <p:nvSpPr>
          <p:cNvPr id="2" name="Google Shape;131;p6">
            <a:extLst>
              <a:ext uri="{FF2B5EF4-FFF2-40B4-BE49-F238E27FC236}">
                <a16:creationId xmlns:a16="http://schemas.microsoft.com/office/drawing/2014/main" id="{12698E0E-B0DB-7725-BED5-7975EAEB41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5</a:t>
            </a:fld>
            <a:endParaRPr/>
          </a:p>
        </p:txBody>
      </p:sp>
      <p:sp>
        <p:nvSpPr>
          <p:cNvPr id="3" name="Google Shape;109;p3">
            <a:extLst>
              <a:ext uri="{FF2B5EF4-FFF2-40B4-BE49-F238E27FC236}">
                <a16:creationId xmlns:a16="http://schemas.microsoft.com/office/drawing/2014/main" id="{9C8D562A-4DAB-50F9-4CC4-2E3AEAEE279F}"/>
              </a:ext>
            </a:extLst>
          </p:cNvPr>
          <p:cNvSpPr txBox="1">
            <a:spLocks/>
          </p:cNvSpPr>
          <p:nvPr/>
        </p:nvSpPr>
        <p:spPr>
          <a:xfrm>
            <a:off x="838200" y="1342281"/>
            <a:ext cx="10515600" cy="2633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285750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+mn-ea"/>
                <a:cs typeface="Arial"/>
                <a:sym typeface="Arial"/>
              </a:rPr>
              <a:t>Natural Language (</a:t>
            </a:r>
            <a:r>
              <a:rPr lang="ko-KR" altLang="en-US" sz="1800" dirty="0">
                <a:latin typeface="+mn-ea"/>
              </a:rPr>
              <a:t>자연어</a:t>
            </a:r>
            <a:r>
              <a:rPr lang="en-US" altLang="ko-KR" sz="1800" dirty="0">
                <a:latin typeface="+mn-ea"/>
              </a:rPr>
              <a:t>)</a:t>
            </a:r>
            <a:endParaRPr lang="ko-KR" altLang="en-US" sz="1800" dirty="0">
              <a:latin typeface="+mn-ea"/>
            </a:endParaRPr>
          </a:p>
          <a:p>
            <a:pPr marL="457200" lvl="1" indent="0">
              <a:lnSpc>
                <a:spcPct val="150000"/>
              </a:lnSpc>
              <a:buSzPts val="2400"/>
              <a:buFont typeface="Arial"/>
              <a:buNone/>
            </a:pPr>
            <a:r>
              <a:rPr lang="ko-KR" altLang="en-US" sz="1800" dirty="0">
                <a:latin typeface="+mn-ea"/>
                <a:ea typeface="+mn-ea"/>
                <a:cs typeface="Arial"/>
                <a:sym typeface="Arial"/>
              </a:rPr>
              <a:t>사람들이 일상적으로 쓰는 언어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2800"/>
              <a:buFont typeface="Arial"/>
              <a:buNone/>
            </a:pPr>
            <a:endParaRPr lang="ko-KR" altLang="en-US" sz="1800" dirty="0">
              <a:latin typeface="+mn-ea"/>
              <a:ea typeface="+mn-ea"/>
              <a:cs typeface="Arial"/>
              <a:sym typeface="Arial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+mn-ea"/>
                <a:ea typeface="+mn-ea"/>
                <a:cs typeface="Arial"/>
                <a:sym typeface="Arial"/>
              </a:rPr>
              <a:t>Natural Language Processing (NLP)</a:t>
            </a:r>
            <a:endParaRPr lang="en-US" sz="1800" dirty="0">
              <a:latin typeface="+mn-ea"/>
              <a:ea typeface="+mn-ea"/>
            </a:endParaRPr>
          </a:p>
          <a:p>
            <a:pPr marL="457200" lvl="1" indent="0">
              <a:lnSpc>
                <a:spcPct val="150000"/>
              </a:lnSpc>
              <a:buSzPts val="2400"/>
              <a:buFont typeface="Arial"/>
              <a:buNone/>
            </a:pPr>
            <a:r>
              <a:rPr lang="ko-KR" altLang="en-US" sz="1800" dirty="0">
                <a:latin typeface="+mn-ea"/>
                <a:ea typeface="+mn-ea"/>
                <a:cs typeface="Arial"/>
                <a:sym typeface="Arial"/>
              </a:rPr>
              <a:t>컴퓨터가 </a:t>
            </a:r>
            <a:r>
              <a:rPr lang="ko-KR" altLang="en-US" sz="1800" u="sng" dirty="0">
                <a:latin typeface="+mn-ea"/>
                <a:ea typeface="+mn-ea"/>
                <a:cs typeface="Arial"/>
                <a:sym typeface="Arial"/>
              </a:rPr>
              <a:t>인간의 언어를 이해하고 처리</a:t>
            </a:r>
            <a:r>
              <a:rPr lang="ko-KR" altLang="en-US" sz="1800" dirty="0">
                <a:latin typeface="+mn-ea"/>
                <a:ea typeface="+mn-ea"/>
                <a:cs typeface="Arial"/>
                <a:sym typeface="Arial"/>
              </a:rPr>
              <a:t>할 수 있도록 하는 기술 분야</a:t>
            </a:r>
          </a:p>
        </p:txBody>
      </p:sp>
    </p:spTree>
    <p:extLst>
      <p:ext uri="{BB962C8B-B14F-4D97-AF65-F5344CB8AC3E}">
        <p14:creationId xmlns:p14="http://schemas.microsoft.com/office/powerpoint/2010/main" val="2133529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6FC7175-19A2-E294-55B8-620C4B03D80D}"/>
              </a:ext>
            </a:extLst>
          </p:cNvPr>
          <p:cNvGrpSpPr/>
          <p:nvPr/>
        </p:nvGrpSpPr>
        <p:grpSpPr>
          <a:xfrm>
            <a:off x="2689614" y="1515373"/>
            <a:ext cx="6812772" cy="4636948"/>
            <a:chOff x="1789042" y="1724095"/>
            <a:chExt cx="5342284" cy="3636096"/>
          </a:xfrm>
        </p:grpSpPr>
        <p:pic>
          <p:nvPicPr>
            <p:cNvPr id="10" name="Google Shape;123;p5">
              <a:extLst>
                <a:ext uri="{FF2B5EF4-FFF2-40B4-BE49-F238E27FC236}">
                  <a16:creationId xmlns:a16="http://schemas.microsoft.com/office/drawing/2014/main" id="{551CB6BC-B3B6-4BE2-32A2-07E49F876C5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22553" r="57886"/>
            <a:stretch>
              <a:fillRect/>
            </a:stretch>
          </p:blipFill>
          <p:spPr>
            <a:xfrm>
              <a:off x="1926534" y="1843364"/>
              <a:ext cx="2198205" cy="34098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5"/>
            <p:cNvPicPr preferRelativeResize="0"/>
            <p:nvPr/>
          </p:nvPicPr>
          <p:blipFill rotWithShape="1">
            <a:blip r:embed="rId3">
              <a:alphaModFix/>
            </a:blip>
            <a:srcRect r="86557" b="86727"/>
            <a:stretch>
              <a:fillRect/>
            </a:stretch>
          </p:blipFill>
          <p:spPr>
            <a:xfrm>
              <a:off x="1789042" y="1724095"/>
              <a:ext cx="1510749" cy="452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23;p5">
              <a:extLst>
                <a:ext uri="{FF2B5EF4-FFF2-40B4-BE49-F238E27FC236}">
                  <a16:creationId xmlns:a16="http://schemas.microsoft.com/office/drawing/2014/main" id="{8EEF466D-BAC5-641C-6D79-0E0AAD24B31D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87544" r="3244"/>
            <a:stretch>
              <a:fillRect/>
            </a:stretch>
          </p:blipFill>
          <p:spPr>
            <a:xfrm>
              <a:off x="6096000" y="1950382"/>
              <a:ext cx="1035326" cy="34098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08;p3">
            <a:extLst>
              <a:ext uri="{FF2B5EF4-FFF2-40B4-BE49-F238E27FC236}">
                <a16:creationId xmlns:a16="http://schemas.microsoft.com/office/drawing/2014/main" id="{DC9E565E-54CD-4AE5-6B50-C5A5B8A414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 b="1" dirty="0" err="1">
                <a:latin typeface="+mj-ea"/>
                <a:ea typeface="+mj-ea"/>
                <a:cs typeface="Arial"/>
                <a:sym typeface="Arial"/>
              </a:rPr>
              <a:t>Welcome</a:t>
            </a:r>
            <a:r>
              <a:rPr lang="ko-KR" b="1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b="1" dirty="0" err="1">
                <a:latin typeface="+mj-ea"/>
                <a:ea typeface="+mj-ea"/>
                <a:cs typeface="Arial"/>
                <a:sym typeface="Arial"/>
              </a:rPr>
              <a:t>to</a:t>
            </a:r>
            <a:r>
              <a:rPr lang="ko-KR" b="1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b="1" dirty="0" err="1">
                <a:latin typeface="+mj-ea"/>
                <a:ea typeface="+mj-ea"/>
                <a:cs typeface="Arial"/>
                <a:sym typeface="Arial"/>
              </a:rPr>
              <a:t>the</a:t>
            </a:r>
            <a:r>
              <a:rPr lang="ko-KR" b="1" dirty="0">
                <a:latin typeface="+mj-ea"/>
                <a:ea typeface="+mj-ea"/>
                <a:cs typeface="Arial"/>
                <a:sym typeface="Arial"/>
              </a:rPr>
              <a:t> NLP!</a:t>
            </a:r>
            <a:endParaRPr b="1" dirty="0">
              <a:latin typeface="+mj-ea"/>
              <a:ea typeface="+mj-ea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AA5DDCC-0972-733F-7D51-8CC407B8B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228B8B29-0904-F6D9-E81B-2B20AFA50E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 b="1" dirty="0" err="1">
                <a:latin typeface="+mj-ea"/>
                <a:ea typeface="+mj-ea"/>
                <a:cs typeface="Arial"/>
                <a:sym typeface="Arial"/>
              </a:rPr>
              <a:t>Welcome</a:t>
            </a:r>
            <a:r>
              <a:rPr lang="ko-KR" b="1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b="1" dirty="0" err="1">
                <a:latin typeface="+mj-ea"/>
                <a:ea typeface="+mj-ea"/>
                <a:cs typeface="Arial"/>
                <a:sym typeface="Arial"/>
              </a:rPr>
              <a:t>to</a:t>
            </a:r>
            <a:r>
              <a:rPr lang="ko-KR" b="1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b="1" dirty="0" err="1">
                <a:latin typeface="+mj-ea"/>
                <a:ea typeface="+mj-ea"/>
                <a:cs typeface="Arial"/>
                <a:sym typeface="Arial"/>
              </a:rPr>
              <a:t>the</a:t>
            </a:r>
            <a:r>
              <a:rPr lang="ko-KR" b="1" dirty="0">
                <a:latin typeface="+mj-ea"/>
                <a:ea typeface="+mj-ea"/>
                <a:cs typeface="Arial"/>
                <a:sym typeface="Arial"/>
              </a:rPr>
              <a:t> NLP!</a:t>
            </a:r>
            <a:endParaRPr b="1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2" name="Google Shape;131;p6">
            <a:extLst>
              <a:ext uri="{FF2B5EF4-FFF2-40B4-BE49-F238E27FC236}">
                <a16:creationId xmlns:a16="http://schemas.microsoft.com/office/drawing/2014/main" id="{34CCABCB-E422-C39C-9730-59B8A8B5907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7</a:t>
            </a:fld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DF13B0-9CC7-6C78-905E-61215D045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2183" y="1208932"/>
            <a:ext cx="8707633" cy="4900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1964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E76CD-87B4-6742-00D4-487421935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F0E19D-21C6-1F75-BC1D-3ACDBC4A2DB8}"/>
              </a:ext>
            </a:extLst>
          </p:cNvPr>
          <p:cNvSpPr txBox="1"/>
          <p:nvPr/>
        </p:nvSpPr>
        <p:spPr>
          <a:xfrm>
            <a:off x="700211" y="3044279"/>
            <a:ext cx="107915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en-US" altLang="ko-KR" sz="4400" b="1" dirty="0">
                <a:latin typeface="+mj-ea"/>
                <a:ea typeface="+mj-ea"/>
                <a:cs typeface="Arial" panose="020B0604020202020204" pitchFamily="34" charset="0"/>
              </a:rPr>
              <a:t>Word</a:t>
            </a:r>
            <a:r>
              <a:rPr lang="ko-KR" altLang="en-US" sz="4400" b="1" dirty="0"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lang="en-US" altLang="ko-KR" sz="4400" b="1" dirty="0">
                <a:latin typeface="+mj-ea"/>
                <a:ea typeface="+mj-ea"/>
                <a:cs typeface="Arial" panose="020B0604020202020204" pitchFamily="34" charset="0"/>
              </a:rPr>
              <a:t>Embedding</a:t>
            </a:r>
            <a:endParaRPr lang="ko-KR" altLang="en-US" sz="4400" b="1" dirty="0"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062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 b="1" dirty="0">
                <a:latin typeface="+mj-ea"/>
                <a:ea typeface="+mj-ea"/>
                <a:cs typeface="Arial"/>
                <a:sym typeface="Arial"/>
              </a:rPr>
              <a:t>Word </a:t>
            </a:r>
            <a:r>
              <a:rPr lang="ko-KR" b="1" dirty="0" err="1">
                <a:latin typeface="+mj-ea"/>
                <a:ea typeface="+mj-ea"/>
                <a:cs typeface="Arial"/>
                <a:sym typeface="Arial"/>
              </a:rPr>
              <a:t>Vector</a:t>
            </a:r>
            <a:endParaRPr b="1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130" name="Google Shape;130;p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ko-KR" altLang="en-US" sz="1800" dirty="0">
                <a:latin typeface="+mn-ea"/>
                <a:ea typeface="+mn-ea"/>
                <a:cs typeface="Arial"/>
                <a:sym typeface="Arial"/>
              </a:rPr>
              <a:t>컴퓨터가 </a:t>
            </a:r>
            <a:r>
              <a:rPr lang="ko-KR" altLang="en-US" sz="1800" b="1" dirty="0">
                <a:latin typeface="+mn-ea"/>
                <a:ea typeface="+mn-ea"/>
                <a:cs typeface="Arial"/>
                <a:sym typeface="Arial"/>
              </a:rPr>
              <a:t>자연어를 처리</a:t>
            </a:r>
            <a:r>
              <a:rPr lang="ko-KR" altLang="en-US" sz="1800" dirty="0">
                <a:latin typeface="+mn-ea"/>
                <a:ea typeface="+mn-ea"/>
                <a:cs typeface="Arial"/>
                <a:sym typeface="Arial"/>
              </a:rPr>
              <a:t>하려면</a:t>
            </a:r>
            <a:r>
              <a:rPr lang="en-US" altLang="ko-KR" sz="1800" dirty="0">
                <a:latin typeface="+mn-ea"/>
                <a:ea typeface="+mn-ea"/>
                <a:cs typeface="Arial"/>
                <a:sym typeface="Arial"/>
              </a:rPr>
              <a:t>?</a:t>
            </a: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SzPct val="100000"/>
              <a:buNone/>
            </a:pPr>
            <a:r>
              <a:rPr lang="ko-KR" altLang="en-US" sz="1800" dirty="0">
                <a:latin typeface="+mn-ea"/>
                <a:ea typeface="+mn-ea"/>
                <a:cs typeface="Arial"/>
                <a:sym typeface="Arial"/>
              </a:rPr>
              <a:t>우선</a:t>
            </a:r>
            <a:r>
              <a:rPr lang="en-US" altLang="ko-KR" sz="1800" dirty="0">
                <a:latin typeface="+mn-ea"/>
                <a:ea typeface="+mn-ea"/>
                <a:cs typeface="Arial"/>
                <a:sym typeface="Arial"/>
              </a:rPr>
              <a:t>,</a:t>
            </a:r>
            <a:r>
              <a:rPr lang="ko-KR" altLang="en-US" sz="1800" dirty="0"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ko-KR" sz="1800" dirty="0">
                <a:latin typeface="+mn-ea"/>
                <a:ea typeface="+mn-ea"/>
                <a:cs typeface="Arial"/>
                <a:sym typeface="Arial"/>
              </a:rPr>
              <a:t>텍스트</a:t>
            </a:r>
            <a:r>
              <a:rPr lang="ko-KR" altLang="en-US" sz="1800" dirty="0">
                <a:latin typeface="+mn-ea"/>
                <a:ea typeface="+mn-ea"/>
                <a:cs typeface="Arial"/>
                <a:sym typeface="Arial"/>
              </a:rPr>
              <a:t>로 이루어진 자연어를</a:t>
            </a:r>
            <a:r>
              <a:rPr lang="ko-KR" sz="1800" dirty="0"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ko-KR" altLang="en-US" sz="1800" b="1" dirty="0">
                <a:latin typeface="+mn-ea"/>
                <a:ea typeface="+mn-ea"/>
                <a:cs typeface="Arial"/>
                <a:sym typeface="Arial"/>
              </a:rPr>
              <a:t>컴퓨터가 이해할 수 있는 </a:t>
            </a:r>
            <a:r>
              <a:rPr lang="ko-KR" sz="1800" b="1" dirty="0">
                <a:latin typeface="+mn-ea"/>
                <a:ea typeface="+mn-ea"/>
                <a:cs typeface="Arial"/>
                <a:sym typeface="Arial"/>
              </a:rPr>
              <a:t>숫자</a:t>
            </a:r>
            <a:r>
              <a:rPr lang="ko-KR" sz="1800" dirty="0">
                <a:latin typeface="+mn-ea"/>
                <a:ea typeface="+mn-ea"/>
                <a:cs typeface="Arial"/>
                <a:sym typeface="Arial"/>
              </a:rPr>
              <a:t>로 바꿔야</a:t>
            </a:r>
            <a:r>
              <a:rPr lang="ko-KR" altLang="en-US" sz="1800" dirty="0">
                <a:latin typeface="+mn-ea"/>
                <a:ea typeface="+mn-ea"/>
                <a:cs typeface="Arial"/>
                <a:sym typeface="Arial"/>
              </a:rPr>
              <a:t> 함</a:t>
            </a:r>
          </a:p>
          <a:p>
            <a:pPr marL="742950" lvl="1" indent="-285750">
              <a:lnSpc>
                <a:spcPct val="150000"/>
              </a:lnSpc>
              <a:buSzPct val="100000"/>
              <a:buFont typeface="Wingdings" pitchFamily="2" charset="2"/>
              <a:buChar char="à"/>
            </a:pPr>
            <a:r>
              <a:rPr lang="ko-KR" altLang="en-US" sz="1800" dirty="0">
                <a:latin typeface="+mn-ea"/>
                <a:ea typeface="+mn-ea"/>
                <a:cs typeface="Arial"/>
                <a:sym typeface="Arial"/>
              </a:rPr>
              <a:t>우선</a:t>
            </a:r>
            <a:r>
              <a:rPr lang="en-US" altLang="ko-KR" sz="1800" dirty="0">
                <a:latin typeface="+mn-ea"/>
                <a:ea typeface="+mn-ea"/>
                <a:cs typeface="Arial"/>
                <a:sym typeface="Arial"/>
              </a:rPr>
              <a:t>,</a:t>
            </a:r>
            <a:r>
              <a:rPr lang="ko-KR" altLang="en-US" sz="1800" dirty="0">
                <a:latin typeface="+mn-ea"/>
                <a:ea typeface="+mn-ea"/>
                <a:cs typeface="Arial"/>
                <a:sym typeface="Arial"/>
              </a:rPr>
              <a:t> 자연어의 기본 단위인 단어를 </a:t>
            </a:r>
            <a:r>
              <a:rPr lang="ko-KR" altLang="en-US" sz="1800" u="sng" dirty="0">
                <a:latin typeface="+mn-ea"/>
                <a:ea typeface="+mn-ea"/>
                <a:cs typeface="Arial"/>
                <a:sym typeface="Arial"/>
              </a:rPr>
              <a:t>벡터로 표현</a:t>
            </a:r>
            <a:r>
              <a:rPr lang="ko-KR" altLang="en-US" sz="1800" dirty="0">
                <a:latin typeface="+mn-ea"/>
                <a:ea typeface="+mn-ea"/>
                <a:cs typeface="Arial"/>
                <a:sym typeface="Arial"/>
              </a:rPr>
              <a:t>해보자</a:t>
            </a:r>
            <a:endParaRPr lang="en-US" altLang="ko-KR" sz="1800" dirty="0">
              <a:latin typeface="+mn-ea"/>
              <a:ea typeface="+mn-ea"/>
              <a:cs typeface="Arial"/>
              <a:sym typeface="Arial"/>
            </a:endParaRPr>
          </a:p>
          <a:p>
            <a:pPr marL="457200" lvl="1" indent="0">
              <a:lnSpc>
                <a:spcPct val="150000"/>
              </a:lnSpc>
              <a:buSzPct val="100000"/>
              <a:buNone/>
            </a:pPr>
            <a:r>
              <a:rPr lang="en-US" altLang="ko-KR" sz="1800" dirty="0">
                <a:latin typeface="+mn-ea"/>
                <a:ea typeface="+mn-ea"/>
                <a:cs typeface="Arial"/>
                <a:sym typeface="Wingdings" pitchFamily="2" charset="2"/>
              </a:rPr>
              <a:t></a:t>
            </a:r>
            <a:r>
              <a:rPr lang="ko-KR" altLang="en-US" sz="1800" dirty="0"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altLang="ko-KR" sz="1800" b="1" dirty="0">
                <a:latin typeface="+mn-ea"/>
                <a:ea typeface="+mn-ea"/>
                <a:cs typeface="Arial"/>
                <a:sym typeface="Arial"/>
              </a:rPr>
              <a:t>Word Embedding</a:t>
            </a:r>
            <a:endParaRPr lang="ko-KR" altLang="en-US" sz="1800" b="1" dirty="0">
              <a:latin typeface="+mn-ea"/>
              <a:ea typeface="+mn-ea"/>
              <a:cs typeface="Arial"/>
              <a:sym typeface="Arial"/>
            </a:endParaRPr>
          </a:p>
        </p:txBody>
      </p:sp>
      <p:sp>
        <p:nvSpPr>
          <p:cNvPr id="131" name="Google Shape;131;p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 b="1" dirty="0">
                <a:latin typeface="+mj-ea"/>
                <a:ea typeface="+mj-ea"/>
                <a:cs typeface="Arial"/>
                <a:sym typeface="Arial"/>
              </a:rPr>
              <a:t>Word </a:t>
            </a:r>
            <a:r>
              <a:rPr lang="ko-KR" b="1" dirty="0" err="1">
                <a:latin typeface="+mj-ea"/>
                <a:ea typeface="+mj-ea"/>
                <a:cs typeface="Arial"/>
                <a:sym typeface="Arial"/>
              </a:rPr>
              <a:t>Embedding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163" name="Google Shape;163;p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Word </a:t>
            </a:r>
            <a:r>
              <a:rPr lang="ko-KR" sz="1800" b="1" dirty="0" err="1">
                <a:latin typeface="+mj-ea"/>
                <a:ea typeface="+mj-ea"/>
                <a:cs typeface="Arial"/>
                <a:sym typeface="Arial"/>
              </a:rPr>
              <a:t>Embedding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란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?</a:t>
            </a:r>
            <a:endParaRPr sz="1800" dirty="0">
              <a:latin typeface="+mj-ea"/>
              <a:ea typeface="+mj-ea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’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단어의 의미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’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를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벡터로 표현하는 것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762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167" name="Google Shape;167;p1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10</a:t>
            </a:fld>
            <a:endParaRPr/>
          </a:p>
        </p:txBody>
      </p:sp>
      <p:pic>
        <p:nvPicPr>
          <p:cNvPr id="164" name="Google Shape;164;p10"/>
          <p:cNvPicPr preferRelativeResize="0"/>
          <p:nvPr/>
        </p:nvPicPr>
        <p:blipFill rotWithShape="1">
          <a:blip r:embed="rId3">
            <a:alphaModFix/>
          </a:blip>
          <a:srcRect r="62001"/>
          <a:stretch>
            <a:fillRect/>
          </a:stretch>
        </p:blipFill>
        <p:spPr>
          <a:xfrm>
            <a:off x="6750169" y="2823007"/>
            <a:ext cx="2528017" cy="77465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0"/>
          <p:cNvSpPr txBox="1"/>
          <p:nvPr/>
        </p:nvSpPr>
        <p:spPr>
          <a:xfrm>
            <a:off x="7342033" y="4227929"/>
            <a:ext cx="134428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 b="0" i="0" u="none" strike="noStrike" cap="none" dirty="0">
                <a:solidFill>
                  <a:schemeClr val="dk1"/>
                </a:solidFill>
                <a:latin typeface="+mn-ea"/>
                <a:ea typeface="+mn-ea"/>
                <a:cs typeface="Arial"/>
                <a:sym typeface="Arial"/>
              </a:rPr>
              <a:t>“사자”</a:t>
            </a:r>
            <a:endParaRPr sz="2800" dirty="0">
              <a:solidFill>
                <a:schemeClr val="dk1"/>
              </a:solidFill>
              <a:latin typeface="+mn-ea"/>
              <a:ea typeface="+mn-ea"/>
              <a:cs typeface="Arial"/>
              <a:sym typeface="Arial"/>
            </a:endParaRPr>
          </a:p>
        </p:txBody>
      </p:sp>
      <p:pic>
        <p:nvPicPr>
          <p:cNvPr id="166" name="Google Shape;166;p10" descr="포유류, 빅캣, 사자, 대형 고양잇과 동물이(가) 표시된 사진&#10;&#10;자동 생성된 설명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68014" y="3759622"/>
            <a:ext cx="3549501" cy="2373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64;p10">
            <a:extLst>
              <a:ext uri="{FF2B5EF4-FFF2-40B4-BE49-F238E27FC236}">
                <a16:creationId xmlns:a16="http://schemas.microsoft.com/office/drawing/2014/main" id="{2ECFAD8F-B885-4938-1B1D-9E2FDA1DA51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7949" r="46813"/>
          <a:stretch>
            <a:fillRect/>
          </a:stretch>
        </p:blipFill>
        <p:spPr>
          <a:xfrm>
            <a:off x="5461551" y="2823007"/>
            <a:ext cx="1013793" cy="774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64;p10">
            <a:extLst>
              <a:ext uri="{FF2B5EF4-FFF2-40B4-BE49-F238E27FC236}">
                <a16:creationId xmlns:a16="http://schemas.microsoft.com/office/drawing/2014/main" id="{06F94857-45E9-E8D2-19D7-6A621E8F5FD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3586"/>
          <a:stretch>
            <a:fillRect/>
          </a:stretch>
        </p:blipFill>
        <p:spPr>
          <a:xfrm>
            <a:off x="2098805" y="2823007"/>
            <a:ext cx="3087921" cy="77465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65;p10">
            <a:extLst>
              <a:ext uri="{FF2B5EF4-FFF2-40B4-BE49-F238E27FC236}">
                <a16:creationId xmlns:a16="http://schemas.microsoft.com/office/drawing/2014/main" id="{1EA22905-4DC4-0F4E-BE12-C7DD4D309A65}"/>
              </a:ext>
            </a:extLst>
          </p:cNvPr>
          <p:cNvSpPr txBox="1"/>
          <p:nvPr/>
        </p:nvSpPr>
        <p:spPr>
          <a:xfrm>
            <a:off x="6239425" y="5023515"/>
            <a:ext cx="3549501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+mn-lt"/>
                <a:ea typeface="+mn-ea"/>
                <a:cs typeface="Arial"/>
                <a:sym typeface="Arial"/>
              </a:rPr>
              <a:t>[0.1, 3.5, 1.3, …, 5.6]</a:t>
            </a:r>
            <a:endParaRPr sz="2800" dirty="0">
              <a:solidFill>
                <a:schemeClr val="dk1"/>
              </a:solidFill>
              <a:latin typeface="+mn-lt"/>
              <a:ea typeface="+mn-ea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b="1" dirty="0"/>
              <a:t>One-</a:t>
            </a:r>
            <a:r>
              <a:rPr lang="ko-KR" b="1" dirty="0" err="1"/>
              <a:t>hot</a:t>
            </a:r>
            <a:r>
              <a:rPr lang="ko-KR" b="1" dirty="0"/>
              <a:t> </a:t>
            </a:r>
            <a:r>
              <a:rPr lang="ko-KR" b="1" dirty="0" err="1"/>
              <a:t>Encoding</a:t>
            </a:r>
            <a:endParaRPr dirty="0"/>
          </a:p>
        </p:txBody>
      </p:sp>
      <p:sp>
        <p:nvSpPr>
          <p:cNvPr id="137" name="Google Shape;137;p7"/>
          <p:cNvSpPr txBox="1">
            <a:spLocks noGrp="1"/>
          </p:cNvSpPr>
          <p:nvPr>
            <p:ph type="body" idx="1"/>
          </p:nvPr>
        </p:nvSpPr>
        <p:spPr>
          <a:xfrm>
            <a:off x="838200" y="1342281"/>
            <a:ext cx="10515600" cy="1057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dirty="0">
                <a:latin typeface="+mn-ea"/>
                <a:ea typeface="+mn-ea"/>
                <a:cs typeface="Arial"/>
                <a:sym typeface="Arial"/>
              </a:rPr>
              <a:t>먼저 0과 1</a:t>
            </a:r>
            <a:r>
              <a:rPr lang="ko-KR" altLang="en-US" sz="1800" dirty="0">
                <a:latin typeface="+mn-ea"/>
                <a:ea typeface="+mn-ea"/>
                <a:cs typeface="Arial"/>
                <a:sym typeface="Arial"/>
              </a:rPr>
              <a:t> 만을</a:t>
            </a:r>
            <a:r>
              <a:rPr lang="ko-KR" sz="1800" dirty="0">
                <a:latin typeface="+mn-ea"/>
                <a:ea typeface="+mn-ea"/>
                <a:cs typeface="Arial"/>
                <a:sym typeface="Arial"/>
              </a:rPr>
              <a:t> 사용하여 단어들을 나타내</a:t>
            </a:r>
            <a:r>
              <a:rPr lang="ko-KR" altLang="en-US" sz="1800" dirty="0">
                <a:latin typeface="+mn-ea"/>
                <a:ea typeface="+mn-ea"/>
                <a:cs typeface="Arial"/>
                <a:sym typeface="Arial"/>
              </a:rPr>
              <a:t>어보자</a:t>
            </a:r>
            <a:endParaRPr sz="1800" dirty="0">
              <a:latin typeface="+mn-ea"/>
              <a:ea typeface="+mn-ea"/>
              <a:cs typeface="Arial"/>
              <a:sym typeface="Arial"/>
            </a:endParaRPr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b="1" dirty="0">
                <a:latin typeface="+mn-ea"/>
                <a:ea typeface="+mn-ea"/>
                <a:cs typeface="Arial"/>
                <a:sym typeface="Arial"/>
              </a:rPr>
              <a:t>단어</a:t>
            </a:r>
            <a:r>
              <a:rPr lang="ko-KR" altLang="en-US" sz="1800" b="1" dirty="0">
                <a:latin typeface="+mn-ea"/>
                <a:ea typeface="+mn-ea"/>
                <a:cs typeface="Arial"/>
                <a:sym typeface="Arial"/>
              </a:rPr>
              <a:t>마다</a:t>
            </a:r>
            <a:r>
              <a:rPr lang="ko-KR" sz="1800" b="1" dirty="0">
                <a:latin typeface="+mn-ea"/>
                <a:ea typeface="+mn-ea"/>
                <a:cs typeface="Arial"/>
                <a:sym typeface="Arial"/>
              </a:rPr>
              <a:t> 고유한 인덱스</a:t>
            </a:r>
            <a:r>
              <a:rPr lang="ko-KR" altLang="en-US" sz="1800" dirty="0">
                <a:latin typeface="+mn-ea"/>
                <a:ea typeface="+mn-ea"/>
                <a:cs typeface="Arial"/>
                <a:sym typeface="Arial"/>
              </a:rPr>
              <a:t>를 부여하여</a:t>
            </a:r>
            <a:r>
              <a:rPr lang="en-US" altLang="ko-KR" sz="1800" dirty="0">
                <a:latin typeface="+mn-ea"/>
                <a:ea typeface="+mn-ea"/>
                <a:cs typeface="Arial"/>
                <a:sym typeface="Arial"/>
              </a:rPr>
              <a:t>,</a:t>
            </a:r>
            <a:r>
              <a:rPr lang="ko-KR" altLang="en-US" sz="1800" dirty="0"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altLang="ko-KR" sz="1800" dirty="0">
                <a:latin typeface="+mn-ea"/>
                <a:ea typeface="+mn-ea"/>
                <a:cs typeface="Arial"/>
                <a:sym typeface="Arial"/>
              </a:rPr>
              <a:t>u</a:t>
            </a:r>
            <a:r>
              <a:rPr lang="ko-KR" sz="1800" dirty="0" err="1">
                <a:latin typeface="+mn-ea"/>
                <a:ea typeface="+mn-ea"/>
                <a:cs typeface="Arial"/>
                <a:sym typeface="Arial"/>
              </a:rPr>
              <a:t>nique</a:t>
            </a:r>
            <a:r>
              <a:rPr lang="ko-KR" altLang="en-US" sz="1800" dirty="0"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en-US" altLang="ko-KR" sz="1800" dirty="0">
                <a:latin typeface="+mn-ea"/>
                <a:ea typeface="+mn-ea"/>
                <a:cs typeface="Arial"/>
                <a:sym typeface="Arial"/>
              </a:rPr>
              <a:t>value</a:t>
            </a:r>
            <a:r>
              <a:rPr lang="ko-KR" altLang="en-US" sz="1800" dirty="0">
                <a:latin typeface="+mn-ea"/>
                <a:ea typeface="+mn-ea"/>
                <a:cs typeface="Arial"/>
                <a:sym typeface="Arial"/>
              </a:rPr>
              <a:t>로 </a:t>
            </a:r>
            <a:r>
              <a:rPr lang="ko-KR" sz="1800" dirty="0">
                <a:latin typeface="+mn-ea"/>
                <a:ea typeface="+mn-ea"/>
                <a:cs typeface="Arial"/>
                <a:sym typeface="Arial"/>
              </a:rPr>
              <a:t>단어</a:t>
            </a:r>
            <a:r>
              <a:rPr lang="ko-KR" altLang="en-US" sz="1800" dirty="0">
                <a:latin typeface="+mn-ea"/>
                <a:ea typeface="+mn-ea"/>
                <a:cs typeface="Arial"/>
                <a:sym typeface="Arial"/>
              </a:rPr>
              <a:t>를</a:t>
            </a:r>
            <a:r>
              <a:rPr lang="ko-KR" sz="1800" dirty="0">
                <a:latin typeface="+mn-ea"/>
                <a:ea typeface="+mn-ea"/>
                <a:cs typeface="Arial"/>
                <a:sym typeface="Arial"/>
              </a:rPr>
              <a:t> 표현</a:t>
            </a:r>
            <a:endParaRPr sz="1800" dirty="0">
              <a:latin typeface="+mn-ea"/>
              <a:ea typeface="+mn-ea"/>
              <a:cs typeface="Arial"/>
              <a:sym typeface="Arial"/>
            </a:endParaRPr>
          </a:p>
        </p:txBody>
      </p:sp>
      <p:sp>
        <p:nvSpPr>
          <p:cNvPr id="139" name="Google Shape;139;p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11</a:t>
            </a:fld>
            <a:endParaRPr/>
          </a:p>
        </p:txBody>
      </p:sp>
      <p:pic>
        <p:nvPicPr>
          <p:cNvPr id="138" name="Google Shape;13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387" y="3538330"/>
            <a:ext cx="10031225" cy="105742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7;p7">
            <a:extLst>
              <a:ext uri="{FF2B5EF4-FFF2-40B4-BE49-F238E27FC236}">
                <a16:creationId xmlns:a16="http://schemas.microsoft.com/office/drawing/2014/main" id="{BDE558B6-2922-74EF-5FBE-A25F95C8BEDB}"/>
              </a:ext>
            </a:extLst>
          </p:cNvPr>
          <p:cNvSpPr txBox="1">
            <a:spLocks/>
          </p:cNvSpPr>
          <p:nvPr/>
        </p:nvSpPr>
        <p:spPr>
          <a:xfrm>
            <a:off x="9054548" y="4416785"/>
            <a:ext cx="2156455" cy="592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spcBef>
                <a:spcPts val="0"/>
              </a:spcBef>
              <a:buSzPts val="2800"/>
              <a:buNone/>
            </a:pPr>
            <a:r>
              <a:rPr lang="en-US" altLang="ko-KR" sz="2500" dirty="0">
                <a:solidFill>
                  <a:srgbClr val="387D4B"/>
                </a:solidFill>
                <a:latin typeface="+mn-ea"/>
                <a:ea typeface="+mn-ea"/>
                <a:cs typeface="Arial"/>
                <a:sym typeface="Arial"/>
              </a:rPr>
              <a:t>= Company</a:t>
            </a:r>
            <a:endParaRPr lang="ko-KR" altLang="en-US" sz="2500" dirty="0">
              <a:solidFill>
                <a:srgbClr val="387D4B"/>
              </a:solidFill>
              <a:latin typeface="+mn-ea"/>
              <a:ea typeface="+mn-ea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b="1" dirty="0"/>
              <a:t>One-</a:t>
            </a:r>
            <a:r>
              <a:rPr lang="ko-KR" b="1" dirty="0" err="1"/>
              <a:t>hot</a:t>
            </a:r>
            <a:r>
              <a:rPr lang="ko-KR" b="1" dirty="0"/>
              <a:t> </a:t>
            </a:r>
            <a:r>
              <a:rPr lang="ko-KR" b="1" dirty="0" err="1"/>
              <a:t>Encoding</a:t>
            </a:r>
            <a:endParaRPr dirty="0"/>
          </a:p>
        </p:txBody>
      </p:sp>
      <p:sp>
        <p:nvSpPr>
          <p:cNvPr id="145" name="Google Shape;145;p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ko-KR" sz="1800" dirty="0">
                <a:latin typeface="+mn-ea"/>
                <a:ea typeface="+mn-ea"/>
                <a:cs typeface="Arial"/>
                <a:sym typeface="Arial"/>
              </a:rPr>
              <a:t>문제점</a:t>
            </a:r>
            <a:endParaRPr sz="1800" dirty="0">
              <a:latin typeface="+mn-ea"/>
              <a:ea typeface="+mn-ea"/>
              <a:cs typeface="Arial"/>
              <a:sym typeface="Arial"/>
            </a:endParaRPr>
          </a:p>
          <a:p>
            <a:pPr marL="742950" lvl="1" indent="-285750">
              <a:lnSpc>
                <a:spcPct val="150000"/>
              </a:lnSpc>
              <a:buSzPct val="100000"/>
            </a:pPr>
            <a:r>
              <a:rPr lang="ko-KR" sz="1800" b="1" dirty="0">
                <a:latin typeface="+mn-ea"/>
                <a:ea typeface="+mn-ea"/>
                <a:cs typeface="Arial"/>
                <a:sym typeface="Arial"/>
              </a:rPr>
              <a:t>단어의 양</a:t>
            </a:r>
            <a:r>
              <a:rPr lang="ko-KR" sz="1800" dirty="0">
                <a:latin typeface="+mn-ea"/>
                <a:ea typeface="+mn-ea"/>
                <a:cs typeface="Arial"/>
                <a:sym typeface="Arial"/>
              </a:rPr>
              <a:t>이 늘어나면 </a:t>
            </a:r>
            <a:r>
              <a:rPr lang="ko-KR" sz="1800" b="1" dirty="0">
                <a:latin typeface="+mn-ea"/>
                <a:ea typeface="+mn-ea"/>
                <a:cs typeface="Arial"/>
                <a:sym typeface="Arial"/>
              </a:rPr>
              <a:t>벡터의 차원</a:t>
            </a:r>
            <a:r>
              <a:rPr lang="ko-KR" sz="1800" dirty="0">
                <a:latin typeface="+mn-ea"/>
                <a:ea typeface="+mn-ea"/>
                <a:cs typeface="Arial"/>
                <a:sym typeface="Arial"/>
              </a:rPr>
              <a:t>이 늘어남 (차원 = 단어의 총 개수)</a:t>
            </a:r>
            <a:endParaRPr sz="1800" dirty="0">
              <a:latin typeface="+mn-ea"/>
              <a:ea typeface="+mn-ea"/>
            </a:endParaRPr>
          </a:p>
          <a:p>
            <a:pPr marL="895350" lvl="1" indent="-285750">
              <a:lnSpc>
                <a:spcPct val="150000"/>
              </a:lnSpc>
              <a:buSzPct val="100000"/>
            </a:pPr>
            <a:endParaRPr sz="1800" dirty="0">
              <a:latin typeface="+mn-ea"/>
              <a:ea typeface="+mn-ea"/>
              <a:cs typeface="Arial"/>
              <a:sym typeface="Arial"/>
            </a:endParaRPr>
          </a:p>
          <a:p>
            <a:pPr marL="895350" lvl="1" indent="-285750">
              <a:lnSpc>
                <a:spcPct val="150000"/>
              </a:lnSpc>
              <a:buSzPct val="100000"/>
            </a:pPr>
            <a:endParaRPr sz="1800" dirty="0">
              <a:latin typeface="+mn-ea"/>
              <a:ea typeface="+mn-ea"/>
              <a:cs typeface="Arial"/>
              <a:sym typeface="Arial"/>
            </a:endParaRPr>
          </a:p>
          <a:p>
            <a:pPr marL="895350" lvl="1" indent="-285750">
              <a:lnSpc>
                <a:spcPct val="150000"/>
              </a:lnSpc>
              <a:buSzPct val="100000"/>
            </a:pPr>
            <a:endParaRPr sz="1800" dirty="0">
              <a:latin typeface="+mn-ea"/>
              <a:ea typeface="+mn-ea"/>
              <a:cs typeface="Arial"/>
              <a:sym typeface="Arial"/>
            </a:endParaRPr>
          </a:p>
          <a:p>
            <a:pPr marL="742950" lvl="1" indent="-285750">
              <a:lnSpc>
                <a:spcPct val="150000"/>
              </a:lnSpc>
              <a:buSzPct val="100000"/>
            </a:pPr>
            <a:r>
              <a:rPr lang="ko-KR" sz="1800" dirty="0">
                <a:latin typeface="+mn-ea"/>
                <a:ea typeface="+mn-ea"/>
                <a:cs typeface="Arial"/>
                <a:sym typeface="Arial"/>
              </a:rPr>
              <a:t>대부분의 요소가 0인 벡터로, </a:t>
            </a:r>
            <a:r>
              <a:rPr lang="ko-KR" sz="1800" b="1" dirty="0">
                <a:latin typeface="+mn-ea"/>
                <a:ea typeface="+mn-ea"/>
                <a:cs typeface="Arial"/>
                <a:sym typeface="Arial"/>
              </a:rPr>
              <a:t>메모리 비효율적</a:t>
            </a:r>
            <a:r>
              <a:rPr lang="ko-KR" sz="1800" dirty="0">
                <a:latin typeface="+mn-ea"/>
                <a:ea typeface="+mn-ea"/>
                <a:cs typeface="Arial"/>
                <a:sym typeface="Arial"/>
              </a:rPr>
              <a:t>임 -&gt; </a:t>
            </a:r>
            <a:r>
              <a:rPr lang="ko-KR" sz="1800" dirty="0" err="1">
                <a:latin typeface="+mn-ea"/>
                <a:ea typeface="+mn-ea"/>
                <a:cs typeface="Arial"/>
                <a:sym typeface="Arial"/>
              </a:rPr>
              <a:t>Sparse</a:t>
            </a:r>
            <a:r>
              <a:rPr lang="en-US" altLang="ko-KR" sz="1800" dirty="0">
                <a:latin typeface="+mn-ea"/>
                <a:ea typeface="+mn-ea"/>
                <a:cs typeface="Arial"/>
                <a:sym typeface="Arial"/>
              </a:rPr>
              <a:t> Representation</a:t>
            </a:r>
            <a:endParaRPr sz="1800" dirty="0">
              <a:latin typeface="+mn-ea"/>
              <a:ea typeface="+mn-ea"/>
            </a:endParaRPr>
          </a:p>
          <a:p>
            <a:pPr marL="895350" lvl="1" indent="-285750">
              <a:lnSpc>
                <a:spcPct val="150000"/>
              </a:lnSpc>
              <a:buSzPct val="100000"/>
            </a:pPr>
            <a:endParaRPr sz="1800" dirty="0">
              <a:latin typeface="+mn-ea"/>
              <a:ea typeface="+mn-ea"/>
              <a:cs typeface="Arial"/>
              <a:sym typeface="Arial"/>
            </a:endParaRPr>
          </a:p>
          <a:p>
            <a:pPr marL="742950" lvl="1" indent="-285750">
              <a:lnSpc>
                <a:spcPct val="150000"/>
              </a:lnSpc>
              <a:buSzPct val="100000"/>
            </a:pPr>
            <a:r>
              <a:rPr lang="ko-KR" sz="1800" dirty="0">
                <a:latin typeface="+mn-ea"/>
                <a:ea typeface="+mn-ea"/>
                <a:cs typeface="Arial"/>
                <a:sym typeface="Arial"/>
              </a:rPr>
              <a:t>단어 간의 </a:t>
            </a:r>
            <a:r>
              <a:rPr lang="ko-KR" sz="1800" b="1" dirty="0">
                <a:latin typeface="+mn-ea"/>
                <a:ea typeface="+mn-ea"/>
                <a:cs typeface="Arial"/>
                <a:sym typeface="Arial"/>
              </a:rPr>
              <a:t>의미적 유사성</a:t>
            </a:r>
            <a:r>
              <a:rPr lang="ko-KR" sz="1800" dirty="0">
                <a:latin typeface="+mn-ea"/>
                <a:ea typeface="+mn-ea"/>
                <a:cs typeface="Arial"/>
                <a:sym typeface="Arial"/>
              </a:rPr>
              <a:t>을 제대로 </a:t>
            </a:r>
            <a:r>
              <a:rPr lang="ko-KR" sz="1800" b="1" dirty="0">
                <a:latin typeface="+mn-ea"/>
                <a:ea typeface="+mn-ea"/>
                <a:cs typeface="Arial"/>
                <a:sym typeface="Arial"/>
              </a:rPr>
              <a:t>반영하지 못함</a:t>
            </a:r>
            <a:endParaRPr sz="1800" b="1" dirty="0">
              <a:latin typeface="+mn-ea"/>
              <a:ea typeface="+mn-ea"/>
              <a:cs typeface="Arial"/>
              <a:sym typeface="Arial"/>
            </a:endParaRPr>
          </a:p>
          <a:p>
            <a:pPr marL="895350" lvl="1" indent="-285750">
              <a:lnSpc>
                <a:spcPct val="150000"/>
              </a:lnSpc>
              <a:buSzPts val="2400"/>
            </a:pPr>
            <a:endParaRPr sz="1800" dirty="0">
              <a:latin typeface="+mn-ea"/>
              <a:ea typeface="+mn-ea"/>
              <a:cs typeface="Arial"/>
              <a:sym typeface="Arial"/>
            </a:endParaRPr>
          </a:p>
          <a:p>
            <a:pPr marL="895350" lvl="1" indent="-285750">
              <a:lnSpc>
                <a:spcPct val="150000"/>
              </a:lnSpc>
              <a:buSzPts val="2400"/>
            </a:pPr>
            <a:endParaRPr sz="1800" dirty="0">
              <a:latin typeface="+mn-ea"/>
              <a:ea typeface="+mn-ea"/>
              <a:cs typeface="Arial"/>
              <a:sym typeface="Arial"/>
            </a:endParaRPr>
          </a:p>
        </p:txBody>
      </p:sp>
      <p:sp>
        <p:nvSpPr>
          <p:cNvPr id="149" name="Google Shape;149;p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12</a:t>
            </a:fld>
            <a:endParaRPr/>
          </a:p>
        </p:txBody>
      </p:sp>
      <p:pic>
        <p:nvPicPr>
          <p:cNvPr id="146" name="Google Shape;146;p8"/>
          <p:cNvPicPr preferRelativeResize="0"/>
          <p:nvPr/>
        </p:nvPicPr>
        <p:blipFill rotWithShape="1">
          <a:blip r:embed="rId3">
            <a:alphaModFix/>
          </a:blip>
          <a:srcRect t="7691" b="-1"/>
          <a:stretch>
            <a:fillRect/>
          </a:stretch>
        </p:blipFill>
        <p:spPr>
          <a:xfrm>
            <a:off x="6496050" y="2574235"/>
            <a:ext cx="4457700" cy="973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8"/>
          <p:cNvPicPr preferRelativeResize="0"/>
          <p:nvPr/>
        </p:nvPicPr>
        <p:blipFill rotWithShape="1">
          <a:blip r:embed="rId4">
            <a:alphaModFix/>
          </a:blip>
          <a:srcRect t="16819" b="16295"/>
          <a:stretch>
            <a:fillRect/>
          </a:stretch>
        </p:blipFill>
        <p:spPr>
          <a:xfrm>
            <a:off x="1536700" y="2912856"/>
            <a:ext cx="4559300" cy="237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8"/>
          <p:cNvPicPr preferRelativeResize="0"/>
          <p:nvPr/>
        </p:nvPicPr>
        <p:blipFill rotWithShape="1">
          <a:blip r:embed="rId5">
            <a:alphaModFix/>
          </a:blip>
          <a:srcRect t="6930"/>
          <a:stretch>
            <a:fillRect/>
          </a:stretch>
        </p:blipFill>
        <p:spPr>
          <a:xfrm>
            <a:off x="1536700" y="5237921"/>
            <a:ext cx="4890005" cy="869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5;p8">
            <a:extLst>
              <a:ext uri="{FF2B5EF4-FFF2-40B4-BE49-F238E27FC236}">
                <a16:creationId xmlns:a16="http://schemas.microsoft.com/office/drawing/2014/main" id="{C72415F0-AA31-C12E-7AB7-153F40765986}"/>
              </a:ext>
            </a:extLst>
          </p:cNvPr>
          <p:cNvSpPr txBox="1">
            <a:spLocks/>
          </p:cNvSpPr>
          <p:nvPr/>
        </p:nvSpPr>
        <p:spPr>
          <a:xfrm>
            <a:off x="838200" y="1340569"/>
            <a:ext cx="10515600" cy="2625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285750" indent="-285750">
              <a:spcBef>
                <a:spcPts val="0"/>
              </a:spcBef>
              <a:buSzPct val="100000"/>
            </a:pPr>
            <a:r>
              <a:rPr lang="en-US" altLang="ko-KR" sz="1800" b="1" dirty="0">
                <a:latin typeface="+mn-ea"/>
                <a:ea typeface="+mn-ea"/>
                <a:cs typeface="Arial"/>
                <a:sym typeface="Arial"/>
              </a:rPr>
              <a:t>How can we solve it?</a:t>
            </a:r>
          </a:p>
          <a:p>
            <a:pPr marL="685800" lvl="1" indent="-228600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ko-KR" altLang="en-US" sz="1800" dirty="0">
                <a:latin typeface="+mn-ea"/>
                <a:ea typeface="+mn-ea"/>
                <a:cs typeface="Arial"/>
                <a:sym typeface="Arial"/>
              </a:rPr>
              <a:t>단어를 </a:t>
            </a:r>
            <a:r>
              <a:rPr lang="en-US" altLang="ko-KR" sz="1800" b="1" dirty="0">
                <a:latin typeface="+mn-ea"/>
                <a:ea typeface="+mn-ea"/>
                <a:cs typeface="Arial"/>
                <a:sym typeface="Arial"/>
              </a:rPr>
              <a:t>dense</a:t>
            </a:r>
            <a:r>
              <a:rPr lang="ko-KR" altLang="en-US" sz="1800" b="1" dirty="0">
                <a:latin typeface="+mn-ea"/>
                <a:ea typeface="+mn-ea"/>
                <a:cs typeface="Arial"/>
                <a:sym typeface="Arial"/>
              </a:rPr>
              <a:t>한 </a:t>
            </a:r>
            <a:r>
              <a:rPr lang="en-US" altLang="ko-KR" sz="1800" b="1" dirty="0">
                <a:latin typeface="+mn-ea"/>
                <a:ea typeface="+mn-ea"/>
                <a:cs typeface="Arial"/>
                <a:sym typeface="Arial"/>
              </a:rPr>
              <a:t>vector</a:t>
            </a:r>
            <a:r>
              <a:rPr lang="ko-KR" altLang="en-US" sz="1800" dirty="0">
                <a:latin typeface="+mn-ea"/>
                <a:ea typeface="+mn-ea"/>
                <a:cs typeface="Arial"/>
                <a:sym typeface="Arial"/>
              </a:rPr>
              <a:t>로 표현</a:t>
            </a:r>
            <a:endParaRPr lang="en-US" altLang="ko-KR" sz="1800" dirty="0">
              <a:latin typeface="+mn-ea"/>
              <a:ea typeface="+mn-ea"/>
              <a:cs typeface="Arial"/>
              <a:sym typeface="Arial"/>
            </a:endParaRPr>
          </a:p>
          <a:p>
            <a:pPr marL="685800" lvl="1" indent="-228600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ko-KR" altLang="en-US" sz="1800" b="1" dirty="0">
                <a:latin typeface="+mn-ea"/>
                <a:ea typeface="+mn-ea"/>
                <a:cs typeface="Arial"/>
                <a:sym typeface="Arial"/>
              </a:rPr>
              <a:t>벡터의 차원</a:t>
            </a:r>
            <a:r>
              <a:rPr lang="ko-KR" altLang="en-US" sz="1800" dirty="0">
                <a:latin typeface="+mn-ea"/>
                <a:ea typeface="+mn-ea"/>
                <a:cs typeface="Arial"/>
                <a:sym typeface="Arial"/>
              </a:rPr>
              <a:t>을 무한정 늘리면 안됨</a:t>
            </a:r>
            <a:endParaRPr lang="en-US" altLang="ko-KR" sz="1800" dirty="0">
              <a:latin typeface="+mn-ea"/>
              <a:ea typeface="+mn-ea"/>
              <a:cs typeface="Arial"/>
              <a:sym typeface="Arial"/>
            </a:endParaRPr>
          </a:p>
          <a:p>
            <a:pPr marL="685800" lvl="1" indent="-228600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ko-KR" altLang="en-US" sz="1800" dirty="0">
                <a:latin typeface="+mn-ea"/>
                <a:ea typeface="+mn-ea"/>
                <a:cs typeface="Arial"/>
                <a:sym typeface="Arial"/>
              </a:rPr>
              <a:t>벡터의 </a:t>
            </a:r>
            <a:r>
              <a:rPr lang="ko-KR" altLang="en-US" sz="1800" b="1" dirty="0">
                <a:latin typeface="+mn-ea"/>
                <a:ea typeface="+mn-ea"/>
                <a:cs typeface="Arial"/>
                <a:sym typeface="Arial"/>
              </a:rPr>
              <a:t>모든 숫자는 의미</a:t>
            </a:r>
            <a:r>
              <a:rPr lang="ko-KR" altLang="en-US" sz="1800" dirty="0">
                <a:latin typeface="+mn-ea"/>
                <a:ea typeface="+mn-ea"/>
                <a:cs typeface="Arial"/>
                <a:sym typeface="Arial"/>
              </a:rPr>
              <a:t>를 가져야 함</a:t>
            </a:r>
            <a:endParaRPr lang="en-US" altLang="ko-KR" sz="1800" dirty="0">
              <a:latin typeface="+mn-ea"/>
              <a:ea typeface="+mn-ea"/>
              <a:cs typeface="Arial"/>
              <a:sym typeface="Arial"/>
            </a:endParaRPr>
          </a:p>
          <a:p>
            <a:pPr marL="685800" lvl="1" indent="-228600">
              <a:lnSpc>
                <a:spcPct val="150000"/>
              </a:lnSpc>
              <a:spcBef>
                <a:spcPts val="0"/>
              </a:spcBef>
              <a:buSzPct val="100000"/>
            </a:pPr>
            <a:endParaRPr lang="en-US" altLang="ko-KR" sz="1800" dirty="0">
              <a:latin typeface="+mn-ea"/>
              <a:ea typeface="+mn-ea"/>
              <a:cs typeface="Arial"/>
              <a:sym typeface="Arial"/>
            </a:endParaRPr>
          </a:p>
          <a:p>
            <a:pPr marL="228600" indent="-228600">
              <a:spcBef>
                <a:spcPts val="0"/>
              </a:spcBef>
              <a:buSzPct val="100000"/>
            </a:pPr>
            <a:r>
              <a:rPr lang="ko-KR" altLang="en-US" sz="1800" dirty="0">
                <a:latin typeface="+mn-ea"/>
                <a:ea typeface="+mn-ea"/>
                <a:cs typeface="Arial"/>
                <a:sym typeface="Arial"/>
              </a:rPr>
              <a:t>각 벡터는 </a:t>
            </a:r>
            <a:r>
              <a:rPr lang="ko-KR" altLang="en-US" sz="1800" b="1" u="sng" dirty="0">
                <a:latin typeface="+mn-ea"/>
                <a:ea typeface="+mn-ea"/>
                <a:cs typeface="Arial"/>
                <a:sym typeface="Arial"/>
              </a:rPr>
              <a:t>단어의 의미를 내포해야 함</a:t>
            </a:r>
            <a:endParaRPr lang="ko-KR" altLang="en-US" sz="1800" dirty="0">
              <a:latin typeface="+mn-ea"/>
              <a:ea typeface="+mn-ea"/>
              <a:cs typeface="Arial"/>
              <a:sym typeface="Arial"/>
            </a:endParaRPr>
          </a:p>
        </p:txBody>
      </p:sp>
      <p:sp>
        <p:nvSpPr>
          <p:cNvPr id="154" name="Google Shape;154;p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 b="1" dirty="0" err="1">
                <a:latin typeface="+mj-ea"/>
                <a:ea typeface="+mj-ea"/>
                <a:cs typeface="Arial"/>
                <a:sym typeface="Arial"/>
              </a:rPr>
              <a:t>Good</a:t>
            </a:r>
            <a:r>
              <a:rPr lang="ko-KR" b="1" dirty="0">
                <a:latin typeface="+mj-ea"/>
                <a:ea typeface="+mj-ea"/>
                <a:cs typeface="Arial"/>
                <a:sym typeface="Arial"/>
              </a:rPr>
              <a:t> Word </a:t>
            </a:r>
            <a:r>
              <a:rPr lang="ko-KR" b="1" dirty="0" err="1">
                <a:latin typeface="+mj-ea"/>
                <a:ea typeface="+mj-ea"/>
                <a:cs typeface="Arial"/>
                <a:sym typeface="Arial"/>
              </a:rPr>
              <a:t>Vector</a:t>
            </a:r>
            <a:r>
              <a:rPr lang="ko-KR" b="1" dirty="0">
                <a:latin typeface="+mj-ea"/>
                <a:ea typeface="+mj-ea"/>
                <a:cs typeface="Arial"/>
                <a:sym typeface="Arial"/>
              </a:rPr>
              <a:t>?</a:t>
            </a:r>
            <a:endParaRPr b="1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157" name="Google Shape;157;p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13</a:t>
            </a:fld>
            <a:endParaRPr/>
          </a:p>
        </p:txBody>
      </p:sp>
      <p:pic>
        <p:nvPicPr>
          <p:cNvPr id="156" name="Google Shape;156;p9" descr="생각하는 얼굴 - 나무위키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78326" y="2025955"/>
            <a:ext cx="766762" cy="766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 b="1" dirty="0">
                <a:latin typeface="+mj-ea"/>
                <a:ea typeface="+mj-ea"/>
                <a:cs typeface="Arial"/>
                <a:sym typeface="Arial"/>
              </a:rPr>
              <a:t>Word </a:t>
            </a:r>
            <a:r>
              <a:rPr lang="ko-KR" b="1" dirty="0" err="1">
                <a:latin typeface="+mj-ea"/>
                <a:ea typeface="+mj-ea"/>
                <a:cs typeface="Arial"/>
                <a:sym typeface="Arial"/>
              </a:rPr>
              <a:t>Embedding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173" name="Google Shape;173;p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spcBef>
                <a:spcPts val="500"/>
              </a:spcBef>
            </a:pP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단어 간의 </a:t>
            </a: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의미적 유사성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을 나타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내도록 하기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One-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hot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encoding과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비교하였을 때의 장점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?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800100" lvl="1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대부분의 값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이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0이 아닌 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dense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한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벡터로 표현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해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,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altLang="en-US" sz="1800" b="1" dirty="0">
                <a:latin typeface="+mj-ea"/>
                <a:ea typeface="+mj-ea"/>
                <a:cs typeface="Arial"/>
                <a:sym typeface="Arial"/>
              </a:rPr>
              <a:t>적은 차원의 벡터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로 단어를 표현할 수 있음</a:t>
            </a:r>
          </a:p>
          <a:p>
            <a:pPr marL="800100" lvl="1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의미적으로 유사한 단어들을 </a:t>
            </a:r>
            <a:r>
              <a:rPr lang="ko-KR" altLang="en-US" sz="1800" b="1" dirty="0">
                <a:latin typeface="+mj-ea"/>
                <a:ea typeface="+mj-ea"/>
                <a:cs typeface="Arial"/>
                <a:sym typeface="Arial"/>
              </a:rPr>
              <a:t>유사한 벡터로 표현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할 수 있음</a:t>
            </a:r>
          </a:p>
          <a:p>
            <a:pPr marL="457200" lvl="1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Ex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) Word2Vec,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GloVe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등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457200" lvl="1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228600" lvl="0" indent="-50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762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175" name="Google Shape;175;p1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14</a:t>
            </a:fld>
            <a:endParaRPr/>
          </a:p>
        </p:txBody>
      </p:sp>
      <p:pic>
        <p:nvPicPr>
          <p:cNvPr id="174" name="Google Shape;174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93881" y="3739987"/>
            <a:ext cx="6328011" cy="2417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 b="1" dirty="0">
                <a:latin typeface="+mj-ea"/>
                <a:ea typeface="+mj-ea"/>
                <a:cs typeface="Arial"/>
                <a:sym typeface="Arial"/>
              </a:rPr>
              <a:t>Word </a:t>
            </a:r>
            <a:r>
              <a:rPr lang="ko-KR" b="1" dirty="0" err="1">
                <a:latin typeface="+mj-ea"/>
                <a:ea typeface="+mj-ea"/>
                <a:cs typeface="Arial"/>
                <a:sym typeface="Arial"/>
              </a:rPr>
              <a:t>Embedding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181" name="Google Shape;181;p12"/>
          <p:cNvSpPr txBox="1">
            <a:spLocks noGrp="1"/>
          </p:cNvSpPr>
          <p:nvPr>
            <p:ph type="body" idx="1"/>
          </p:nvPr>
        </p:nvSpPr>
        <p:spPr>
          <a:xfrm>
            <a:off x="838200" y="1274863"/>
            <a:ext cx="10515600" cy="4834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spcBef>
                <a:spcPts val="500"/>
              </a:spcBef>
            </a:pPr>
            <a:r>
              <a:rPr lang="ko-KR" sz="1800" b="1" dirty="0" err="1"/>
              <a:t>Dense</a:t>
            </a:r>
            <a:r>
              <a:rPr lang="ko-KR" sz="1800" b="1" dirty="0"/>
              <a:t> </a:t>
            </a:r>
            <a:r>
              <a:rPr lang="ko-KR" sz="1800" b="1" dirty="0" err="1"/>
              <a:t>representation</a:t>
            </a:r>
            <a:endParaRPr sz="1800" b="1" dirty="0"/>
          </a:p>
          <a:p>
            <a:pPr marL="685800" lvl="1" indent="-228600">
              <a:lnSpc>
                <a:spcPct val="150000"/>
              </a:lnSpc>
              <a:buSzPct val="100000"/>
            </a:pPr>
            <a:r>
              <a:rPr lang="ko-KR" altLang="en-US" sz="1800" dirty="0"/>
              <a:t>단어를 </a:t>
            </a:r>
            <a:r>
              <a:rPr lang="en-US" altLang="ko-KR" sz="1800" dirty="0"/>
              <a:t>n</a:t>
            </a:r>
            <a:r>
              <a:rPr lang="ko-KR" altLang="en-US" sz="1800" dirty="0"/>
              <a:t>차원 </a:t>
            </a:r>
            <a:r>
              <a:rPr lang="en-US" altLang="ko-KR" sz="1800" dirty="0"/>
              <a:t>dense vector</a:t>
            </a:r>
            <a:r>
              <a:rPr lang="ko-KR" altLang="en-US" sz="1800" dirty="0"/>
              <a:t>로 나타낸다 </a:t>
            </a:r>
            <a:r>
              <a:rPr lang="en-US" altLang="ko-KR" sz="1800" dirty="0"/>
              <a:t>=</a:t>
            </a:r>
            <a:r>
              <a:rPr lang="ko-KR" altLang="en-US" sz="1800" dirty="0"/>
              <a:t> </a:t>
            </a:r>
            <a:r>
              <a:rPr lang="ko-KR" sz="1800" dirty="0"/>
              <a:t>단어의 의미를 </a:t>
            </a:r>
            <a:r>
              <a:rPr lang="en-US" altLang="ko-KR" sz="1800" dirty="0"/>
              <a:t>n</a:t>
            </a:r>
            <a:r>
              <a:rPr lang="ko-KR" sz="1800" dirty="0"/>
              <a:t>개의 특징으로 표현</a:t>
            </a:r>
            <a:endParaRPr sz="1800" dirty="0"/>
          </a:p>
          <a:p>
            <a:pPr marL="1143000" lvl="2" indent="-101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1800" dirty="0"/>
          </a:p>
        </p:txBody>
      </p:sp>
      <p:sp>
        <p:nvSpPr>
          <p:cNvPr id="183" name="Google Shape;183;p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15</a:t>
            </a:fld>
            <a:endParaRPr/>
          </a:p>
        </p:txBody>
      </p:sp>
      <p:pic>
        <p:nvPicPr>
          <p:cNvPr id="182" name="Google Shape;182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06397" y="2752965"/>
            <a:ext cx="7979206" cy="2455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 b="1" dirty="0">
                <a:latin typeface="+mj-ea"/>
                <a:ea typeface="+mj-ea"/>
                <a:cs typeface="Arial"/>
                <a:sym typeface="Arial"/>
              </a:rPr>
              <a:t>Word </a:t>
            </a:r>
            <a:r>
              <a:rPr lang="ko-KR" b="1" dirty="0" err="1">
                <a:latin typeface="+mj-ea"/>
                <a:ea typeface="+mj-ea"/>
                <a:cs typeface="Arial"/>
                <a:sym typeface="Arial"/>
              </a:rPr>
              <a:t>Embedding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189" name="Google Shape;189;p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그러한 벡터를 어떻게 만들까...?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Can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we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learn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the representation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altLang="ko-KR" sz="1800" u="sng" dirty="0">
                <a:latin typeface="+mj-ea"/>
                <a:ea typeface="+mj-ea"/>
                <a:cs typeface="Arial"/>
                <a:sym typeface="Arial"/>
              </a:rPr>
              <a:t>using</a:t>
            </a:r>
            <a:r>
              <a:rPr lang="ko-KR" sz="1800" u="sng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u="sng" dirty="0" err="1">
                <a:latin typeface="+mj-ea"/>
                <a:ea typeface="+mj-ea"/>
                <a:cs typeface="Arial"/>
                <a:sym typeface="Arial"/>
              </a:rPr>
              <a:t>context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?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198" name="Google Shape;198;p1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16</a:t>
            </a:fld>
            <a:endParaRPr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1CC42C9-6B18-6AA0-34C2-6AB9B88F57D5}"/>
              </a:ext>
            </a:extLst>
          </p:cNvPr>
          <p:cNvGrpSpPr/>
          <p:nvPr/>
        </p:nvGrpSpPr>
        <p:grpSpPr>
          <a:xfrm>
            <a:off x="2327963" y="3273967"/>
            <a:ext cx="6641552" cy="2758282"/>
            <a:chOff x="2221362" y="3343541"/>
            <a:chExt cx="6641552" cy="2758282"/>
          </a:xfrm>
        </p:grpSpPr>
        <p:pic>
          <p:nvPicPr>
            <p:cNvPr id="190" name="Google Shape;190;p1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221362" y="3343541"/>
              <a:ext cx="2819794" cy="21148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" name="Google Shape;191;p13"/>
            <p:cNvSpPr txBox="1"/>
            <p:nvPr/>
          </p:nvSpPr>
          <p:spPr>
            <a:xfrm>
              <a:off x="7253189" y="3367382"/>
              <a:ext cx="1609725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-KR" sz="20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g</a:t>
              </a:r>
              <a:r>
                <a:rPr lang="ko-KR" sz="20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overnment</a:t>
              </a:r>
              <a:endParaRPr sz="2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2" name="Google Shape;192;p13"/>
            <p:cNvSpPr/>
            <p:nvPr/>
          </p:nvSpPr>
          <p:spPr>
            <a:xfrm>
              <a:off x="5438775" y="4019964"/>
              <a:ext cx="1314450" cy="561975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3" name="Google Shape;193;p13"/>
            <p:cNvSpPr txBox="1"/>
            <p:nvPr/>
          </p:nvSpPr>
          <p:spPr>
            <a:xfrm>
              <a:off x="7253188" y="4967701"/>
              <a:ext cx="1609725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regulation</a:t>
              </a:r>
              <a:endParaRPr sz="2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4" name="Google Shape;194;p13"/>
            <p:cNvSpPr txBox="1"/>
            <p:nvPr/>
          </p:nvSpPr>
          <p:spPr>
            <a:xfrm>
              <a:off x="7253188" y="4434271"/>
              <a:ext cx="1609725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money</a:t>
              </a:r>
              <a:endParaRPr sz="2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5" name="Google Shape;195;p13"/>
            <p:cNvSpPr txBox="1"/>
            <p:nvPr/>
          </p:nvSpPr>
          <p:spPr>
            <a:xfrm>
              <a:off x="7253188" y="3900841"/>
              <a:ext cx="1609725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credit</a:t>
              </a:r>
              <a:endParaRPr sz="2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6" name="Google Shape;196;p13"/>
            <p:cNvSpPr txBox="1"/>
            <p:nvPr/>
          </p:nvSpPr>
          <p:spPr>
            <a:xfrm>
              <a:off x="7928347" y="5393937"/>
              <a:ext cx="247650" cy="707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⁝</a:t>
              </a:r>
              <a:endParaRPr/>
            </a:p>
          </p:txBody>
        </p:sp>
        <p:sp>
          <p:nvSpPr>
            <p:cNvPr id="197" name="Google Shape;197;p13"/>
            <p:cNvSpPr txBox="1"/>
            <p:nvPr/>
          </p:nvSpPr>
          <p:spPr>
            <a:xfrm>
              <a:off x="5291137" y="4581939"/>
              <a:ext cx="1609725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Predictable</a:t>
              </a:r>
              <a:r>
                <a:rPr lang="ko-KR" sz="20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!</a:t>
              </a:r>
              <a:endParaRPr sz="2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 b="1" dirty="0">
                <a:latin typeface="+mj-ea"/>
                <a:ea typeface="+mj-ea"/>
                <a:cs typeface="Arial"/>
                <a:sym typeface="Arial"/>
              </a:rPr>
              <a:t>Word </a:t>
            </a:r>
            <a:r>
              <a:rPr lang="ko-KR" b="1" dirty="0" err="1">
                <a:latin typeface="+mj-ea"/>
                <a:ea typeface="+mj-ea"/>
                <a:cs typeface="Arial"/>
                <a:sym typeface="Arial"/>
              </a:rPr>
              <a:t>Embedding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204" name="Google Shape;204;p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Examples</a:t>
            </a:r>
            <a:endParaRPr sz="1800" dirty="0">
              <a:latin typeface="+mj-ea"/>
              <a:ea typeface="+mj-ea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Word2Vec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 -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CBOW, Skip-gram</a:t>
            </a: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GloVe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207" name="Google Shape;207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b="1" dirty="0">
                <a:latin typeface="+mj-ea"/>
                <a:ea typeface="+mj-ea"/>
              </a:rPr>
              <a:t>Word2Vec</a:t>
            </a:r>
            <a:endParaRPr b="1" dirty="0">
              <a:latin typeface="+mj-ea"/>
              <a:ea typeface="+mj-ea"/>
            </a:endParaRPr>
          </a:p>
        </p:txBody>
      </p:sp>
      <p:sp>
        <p:nvSpPr>
          <p:cNvPr id="213" name="Google Shape;213;p15"/>
          <p:cNvSpPr txBox="1">
            <a:spLocks noGrp="1"/>
          </p:cNvSpPr>
          <p:nvPr>
            <p:ph type="body" idx="1"/>
          </p:nvPr>
        </p:nvSpPr>
        <p:spPr>
          <a:xfrm>
            <a:off x="838200" y="1292586"/>
            <a:ext cx="10515600" cy="4834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/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“</a:t>
            </a:r>
            <a:r>
              <a:rPr lang="ko-KR" altLang="en-US" sz="1800" b="1" dirty="0">
                <a:latin typeface="+mj-ea"/>
                <a:ea typeface="+mj-ea"/>
                <a:cs typeface="Arial"/>
                <a:sym typeface="Arial"/>
              </a:rPr>
              <a:t>특정 </a:t>
            </a: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단어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가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어떤 다른 단어들과 함께 자주 나오는가”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285750" indent="-285750"/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즉, 단어가 사용되는 </a:t>
            </a:r>
            <a:r>
              <a:rPr lang="ko-KR" altLang="en-US" sz="1800" b="1" dirty="0">
                <a:latin typeface="+mj-ea"/>
                <a:ea typeface="+mj-ea"/>
                <a:cs typeface="Arial"/>
                <a:sym typeface="Arial"/>
              </a:rPr>
              <a:t>문맥을</a:t>
            </a: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 학습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-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Ex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) CBOW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, </a:t>
            </a:r>
            <a:r>
              <a:rPr lang="en-US" altLang="ko-KR" sz="1800" dirty="0">
                <a:latin typeface="+mj-ea"/>
                <a:cs typeface="Arial"/>
                <a:sym typeface="Arial"/>
              </a:rPr>
              <a:t>Skip-Gram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215" name="Google Shape;215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18</a:t>
            </a:fld>
            <a:endParaRPr/>
          </a:p>
        </p:txBody>
      </p:sp>
      <p:sp>
        <p:nvSpPr>
          <p:cNvPr id="217" name="Google Shape;217;p15"/>
          <p:cNvSpPr txBox="1"/>
          <p:nvPr/>
        </p:nvSpPr>
        <p:spPr>
          <a:xfrm>
            <a:off x="967407" y="6505290"/>
            <a:ext cx="814054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alt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- Efficient Estimation of Word Representations in Vector Space </a:t>
            </a:r>
            <a:r>
              <a:rPr lang="en-US" altLang="ko-KR" sz="1000" dirty="0"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(2013)</a:t>
            </a:r>
            <a:endParaRPr lang="en-US" sz="1000" dirty="0">
              <a:solidFill>
                <a:schemeClr val="dk1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124" name="Picture 4" descr="Learning architecture of the CBOW and Skipgram models of Word2vec (Mikolov et al., 2013a).">
            <a:extLst>
              <a:ext uri="{FF2B5EF4-FFF2-40B4-BE49-F238E27FC236}">
                <a16:creationId xmlns:a16="http://schemas.microsoft.com/office/drawing/2014/main" id="{DA3898E7-F386-A1D5-DFDC-C8CFFBB4A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713" y="2892054"/>
            <a:ext cx="9566574" cy="2937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217;p15">
            <a:extLst>
              <a:ext uri="{FF2B5EF4-FFF2-40B4-BE49-F238E27FC236}">
                <a16:creationId xmlns:a16="http://schemas.microsoft.com/office/drawing/2014/main" id="{D4237CBB-43CB-327B-CA49-1482A21B4C8A}"/>
              </a:ext>
            </a:extLst>
          </p:cNvPr>
          <p:cNvSpPr txBox="1"/>
          <p:nvPr/>
        </p:nvSpPr>
        <p:spPr>
          <a:xfrm>
            <a:off x="967407" y="6336869"/>
            <a:ext cx="8140547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alt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en-US" sz="1000" dirty="0">
                <a:highlight>
                  <a:srgbClr val="FFFFFF"/>
                </a:highlight>
              </a:rPr>
              <a:t>Distributed Representations of Words and Phrases and their Compositionality</a:t>
            </a:r>
            <a:r>
              <a:rPr lang="en-US" alt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000" dirty="0"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(2013)</a:t>
            </a:r>
            <a:endParaRPr lang="en-US" sz="1000" dirty="0">
              <a:solidFill>
                <a:schemeClr val="dk1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>
          <a:extLst>
            <a:ext uri="{FF2B5EF4-FFF2-40B4-BE49-F238E27FC236}">
              <a16:creationId xmlns:a16="http://schemas.microsoft.com/office/drawing/2014/main" id="{E736B9D2-4BA3-DC44-9437-88DB1F054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">
            <a:extLst>
              <a:ext uri="{FF2B5EF4-FFF2-40B4-BE49-F238E27FC236}">
                <a16:creationId xmlns:a16="http://schemas.microsoft.com/office/drawing/2014/main" id="{D546363D-E401-DCC1-8919-AEDD2EFBCC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altLang="ko-KR" b="1" dirty="0" err="1">
                <a:latin typeface="+mj-ea"/>
                <a:ea typeface="+mj-ea"/>
                <a:cs typeface="Arial"/>
                <a:sym typeface="Arial"/>
              </a:rPr>
              <a:t>GloVe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213" name="Google Shape;213;p15">
            <a:extLst>
              <a:ext uri="{FF2B5EF4-FFF2-40B4-BE49-F238E27FC236}">
                <a16:creationId xmlns:a16="http://schemas.microsoft.com/office/drawing/2014/main" id="{AE12CF91-FEE8-43DB-273F-C2092B0A72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292586"/>
            <a:ext cx="10515600" cy="4834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/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“</a:t>
            </a: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단어들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이 얼마나 자주 함께 나오는가” </a:t>
            </a:r>
            <a:endParaRPr lang="en-US" altLang="ko-KR" sz="1800" dirty="0">
              <a:latin typeface="+mj-ea"/>
              <a:ea typeface="+mj-ea"/>
              <a:cs typeface="Arial"/>
              <a:sym typeface="Arial"/>
            </a:endParaRPr>
          </a:p>
          <a:p>
            <a:pPr marL="285750" indent="-285750"/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즉, 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단어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쌍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의 동시 </a:t>
            </a:r>
            <a:r>
              <a:rPr lang="ko-KR" altLang="en-US" sz="1800" b="1" dirty="0">
                <a:latin typeface="+mj-ea"/>
                <a:ea typeface="+mj-ea"/>
                <a:cs typeface="Arial"/>
                <a:sym typeface="Arial"/>
              </a:rPr>
              <a:t>등장</a:t>
            </a: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 빈도</a:t>
            </a:r>
            <a:r>
              <a:rPr lang="ko-KR" altLang="en-US" sz="1800" b="1" dirty="0">
                <a:latin typeface="+mj-ea"/>
                <a:ea typeface="+mj-ea"/>
                <a:cs typeface="Arial"/>
                <a:sym typeface="Arial"/>
              </a:rPr>
              <a:t>수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(co-occurrence)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를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학습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762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215" name="Google Shape;215;p15">
            <a:extLst>
              <a:ext uri="{FF2B5EF4-FFF2-40B4-BE49-F238E27FC236}">
                <a16:creationId xmlns:a16="http://schemas.microsoft.com/office/drawing/2014/main" id="{5C275F41-EA83-C35B-EAC3-BFD7F97A49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19</a:t>
            </a:fld>
            <a:endParaRPr/>
          </a:p>
        </p:txBody>
      </p:sp>
      <p:sp>
        <p:nvSpPr>
          <p:cNvPr id="217" name="Google Shape;217;p15">
            <a:extLst>
              <a:ext uri="{FF2B5EF4-FFF2-40B4-BE49-F238E27FC236}">
                <a16:creationId xmlns:a16="http://schemas.microsoft.com/office/drawing/2014/main" id="{2C842D44-1201-E852-B278-662D01B4A98B}"/>
              </a:ext>
            </a:extLst>
          </p:cNvPr>
          <p:cNvSpPr txBox="1"/>
          <p:nvPr/>
        </p:nvSpPr>
        <p:spPr>
          <a:xfrm>
            <a:off x="967407" y="6418554"/>
            <a:ext cx="814054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-</a:t>
            </a:r>
            <a:r>
              <a:rPr lang="ko-KR" altLang="en-US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GloVe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: Global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Vectors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for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Word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Representation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(2014)</a:t>
            </a:r>
            <a:endParaRPr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232A4C4-5E7A-11B9-2F15-300FA68123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495" y="2761460"/>
            <a:ext cx="5387010" cy="3085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14590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altLang="ko-KR" b="1" dirty="0">
                <a:latin typeface="+mj-ea"/>
                <a:ea typeface="+mj-ea"/>
                <a:cs typeface="Arial"/>
                <a:sym typeface="Arial"/>
              </a:rPr>
              <a:t>Cosine Similarity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223" name="Google Shape;223;p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>
              <a:spcBef>
                <a:spcPts val="0"/>
              </a:spcBef>
            </a:pPr>
            <a:r>
              <a:rPr lang="en-US" altLang="ko-KR" sz="1800" dirty="0">
                <a:latin typeface="+mj-ea"/>
                <a:ea typeface="+mj-ea"/>
              </a:rPr>
              <a:t>Word</a:t>
            </a:r>
            <a:r>
              <a:rPr lang="ko-KR" altLang="en-US" sz="1800" dirty="0">
                <a:latin typeface="+mj-ea"/>
                <a:ea typeface="+mj-ea"/>
              </a:rPr>
              <a:t> </a:t>
            </a:r>
            <a:r>
              <a:rPr lang="en-US" altLang="ko-KR" sz="1800" dirty="0">
                <a:latin typeface="+mj-ea"/>
                <a:ea typeface="+mj-ea"/>
              </a:rPr>
              <a:t>Embedding</a:t>
            </a:r>
            <a:r>
              <a:rPr lang="ko-KR" altLang="en-US" sz="1800" dirty="0">
                <a:latin typeface="+mj-ea"/>
                <a:ea typeface="+mj-ea"/>
              </a:rPr>
              <a:t>을 통해 </a:t>
            </a:r>
            <a:r>
              <a:rPr lang="en-US" altLang="ko-KR" sz="1800" dirty="0">
                <a:latin typeface="+mj-ea"/>
                <a:ea typeface="+mj-ea"/>
              </a:rPr>
              <a:t>n</a:t>
            </a:r>
            <a:r>
              <a:rPr lang="ko-KR" altLang="en-US" sz="1800" dirty="0">
                <a:latin typeface="+mj-ea"/>
                <a:ea typeface="+mj-ea"/>
              </a:rPr>
              <a:t>차원 </a:t>
            </a:r>
            <a:r>
              <a:rPr lang="en-US" altLang="ko-KR" sz="1800" dirty="0">
                <a:latin typeface="+mj-ea"/>
                <a:ea typeface="+mj-ea"/>
              </a:rPr>
              <a:t>vector</a:t>
            </a:r>
            <a:r>
              <a:rPr lang="ko-KR" altLang="en-US" sz="1800" dirty="0">
                <a:latin typeface="+mj-ea"/>
                <a:ea typeface="+mj-ea"/>
              </a:rPr>
              <a:t>로 표시된 </a:t>
            </a:r>
            <a:r>
              <a:rPr lang="en-US" altLang="ko-KR" sz="1800" dirty="0">
                <a:latin typeface="+mj-ea"/>
                <a:ea typeface="+mj-ea"/>
              </a:rPr>
              <a:t>word</a:t>
            </a:r>
            <a:r>
              <a:rPr lang="ko-KR" altLang="en-US" sz="1800" dirty="0">
                <a:latin typeface="+mj-ea"/>
                <a:ea typeface="+mj-ea"/>
              </a:rPr>
              <a:t> 간의 의미적 유사성 계산 가능</a:t>
            </a:r>
            <a:endParaRPr lang="en-US" altLang="ko-KR" sz="1800" dirty="0">
              <a:latin typeface="+mj-ea"/>
              <a:ea typeface="+mj-ea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ko-KR" sz="1800" dirty="0">
              <a:latin typeface="+mj-ea"/>
              <a:ea typeface="+mj-ea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800" dirty="0">
                <a:latin typeface="+mj-ea"/>
                <a:ea typeface="+mj-ea"/>
              </a:rPr>
              <a:t> 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225" name="Google Shape;225;p1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20</a:t>
            </a:fld>
            <a:endParaRPr/>
          </a:p>
        </p:txBody>
      </p:sp>
      <p:pic>
        <p:nvPicPr>
          <p:cNvPr id="7170" name="Picture 2" descr="How Cosine Similarity Can Improve Your Machine Learning ...">
            <a:extLst>
              <a:ext uri="{FF2B5EF4-FFF2-40B4-BE49-F238E27FC236}">
                <a16:creationId xmlns:a16="http://schemas.microsoft.com/office/drawing/2014/main" id="{E6A69D66-9F3C-FC54-8016-2785353A40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73"/>
          <a:stretch>
            <a:fillRect/>
          </a:stretch>
        </p:blipFill>
        <p:spPr bwMode="auto">
          <a:xfrm>
            <a:off x="2842212" y="2454479"/>
            <a:ext cx="6507576" cy="3722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 b="1">
                <a:latin typeface="+mj-ea"/>
                <a:ea typeface="+mj-ea"/>
                <a:cs typeface="Arial"/>
                <a:sym typeface="Arial"/>
              </a:rPr>
              <a:t>Word Embedding</a:t>
            </a:r>
            <a:endParaRPr>
              <a:latin typeface="+mj-ea"/>
              <a:ea typeface="+mj-ea"/>
            </a:endParaRPr>
          </a:p>
        </p:txBody>
      </p:sp>
      <p:sp>
        <p:nvSpPr>
          <p:cNvPr id="231" name="Google Shape;231;p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단어 간의 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Similarity?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</a:pP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   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= 단어들이 얼마나 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semantically(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의미적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으로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)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유사한가?</a:t>
            </a:r>
            <a:endParaRPr sz="1800" dirty="0">
              <a:latin typeface="+mj-ea"/>
              <a:ea typeface="+mj-ea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233" name="Google Shape;233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21</a:t>
            </a:fld>
            <a:endParaRPr/>
          </a:p>
        </p:txBody>
      </p:sp>
      <p:pic>
        <p:nvPicPr>
          <p:cNvPr id="232" name="Google Shape;23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91939" y="3605242"/>
            <a:ext cx="9408121" cy="2025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2" descr="How Cosine Similarity Can Improve Your Machine Learning ...">
            <a:extLst>
              <a:ext uri="{FF2B5EF4-FFF2-40B4-BE49-F238E27FC236}">
                <a16:creationId xmlns:a16="http://schemas.microsoft.com/office/drawing/2014/main" id="{4D51384B-1D24-5D60-E42B-1E4058FD37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63" t="21303" r="59826" b="66448"/>
          <a:stretch>
            <a:fillRect/>
          </a:stretch>
        </p:blipFill>
        <p:spPr bwMode="auto">
          <a:xfrm>
            <a:off x="2117035" y="2784851"/>
            <a:ext cx="586409" cy="566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How Cosine Similarity Can Improve Your Machine Learning ...">
            <a:extLst>
              <a:ext uri="{FF2B5EF4-FFF2-40B4-BE49-F238E27FC236}">
                <a16:creationId xmlns:a16="http://schemas.microsoft.com/office/drawing/2014/main" id="{8B47467B-8100-A9E1-13A8-4455A28F60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92" t="47119" r="38597" b="39252"/>
          <a:stretch>
            <a:fillRect/>
          </a:stretch>
        </p:blipFill>
        <p:spPr bwMode="auto">
          <a:xfrm>
            <a:off x="3289853" y="2752916"/>
            <a:ext cx="586409" cy="63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231;p17">
            <a:extLst>
              <a:ext uri="{FF2B5EF4-FFF2-40B4-BE49-F238E27FC236}">
                <a16:creationId xmlns:a16="http://schemas.microsoft.com/office/drawing/2014/main" id="{9215AFB0-7EC5-4D60-A335-1371455477C2}"/>
              </a:ext>
            </a:extLst>
          </p:cNvPr>
          <p:cNvSpPr txBox="1">
            <a:spLocks/>
          </p:cNvSpPr>
          <p:nvPr/>
        </p:nvSpPr>
        <p:spPr>
          <a:xfrm>
            <a:off x="2703444" y="2709968"/>
            <a:ext cx="586409" cy="698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 algn="ctr">
              <a:buSzPts val="2800"/>
              <a:buFont typeface="Arial"/>
              <a:buNone/>
            </a:pPr>
            <a:r>
              <a:rPr lang="en-US" altLang="ko-KR" sz="1800" b="1" dirty="0">
                <a:latin typeface="+mj-ea"/>
                <a:ea typeface="+mj-ea"/>
                <a:cs typeface="Arial"/>
                <a:sym typeface="Arial"/>
              </a:rPr>
              <a:t>&amp;</a:t>
            </a:r>
            <a:endParaRPr lang="ko-KR" altLang="en-US" sz="1800" b="1" dirty="0">
              <a:latin typeface="+mj-ea"/>
              <a:ea typeface="+mj-ea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 altLang="ko-KR" b="1" dirty="0"/>
              <a:t>P</a:t>
            </a:r>
            <a:r>
              <a:rPr lang="ko-KR" b="1" dirty="0" err="1"/>
              <a:t>ractice</a:t>
            </a:r>
            <a:r>
              <a:rPr lang="ko-KR" altLang="en-US" b="1" dirty="0"/>
              <a:t> </a:t>
            </a:r>
            <a:r>
              <a:rPr lang="en-US" altLang="ko-KR" b="1" dirty="0"/>
              <a:t>1</a:t>
            </a:r>
            <a:endParaRPr dirty="0"/>
          </a:p>
        </p:txBody>
      </p:sp>
      <p:sp>
        <p:nvSpPr>
          <p:cNvPr id="239" name="Google Shape;239;p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b="1" dirty="0">
                <a:latin typeface="+mn-ea"/>
                <a:ea typeface="+mn-ea"/>
                <a:cs typeface="Arial"/>
                <a:sym typeface="Arial"/>
              </a:rPr>
              <a:t>One</a:t>
            </a:r>
            <a:r>
              <a:rPr lang="en-US" altLang="ko-KR" sz="1800" b="1" dirty="0">
                <a:latin typeface="+mn-ea"/>
                <a:ea typeface="+mn-ea"/>
                <a:cs typeface="Arial"/>
                <a:sym typeface="Arial"/>
              </a:rPr>
              <a:t>-</a:t>
            </a:r>
            <a:r>
              <a:rPr lang="ko-KR" sz="1800" b="1" dirty="0" err="1">
                <a:latin typeface="+mn-ea"/>
                <a:ea typeface="+mn-ea"/>
                <a:cs typeface="Arial"/>
                <a:sym typeface="Arial"/>
              </a:rPr>
              <a:t>hot</a:t>
            </a:r>
            <a:r>
              <a:rPr lang="ko-KR" sz="1800" b="1" dirty="0"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ko-KR" sz="1800" b="1" dirty="0" err="1">
                <a:latin typeface="+mn-ea"/>
                <a:ea typeface="+mn-ea"/>
                <a:cs typeface="Arial"/>
                <a:sym typeface="Arial"/>
              </a:rPr>
              <a:t>encoding</a:t>
            </a:r>
            <a:r>
              <a:rPr lang="ko-KR" sz="1800" b="1" dirty="0">
                <a:latin typeface="+mn-ea"/>
                <a:ea typeface="+mn-ea"/>
                <a:cs typeface="Arial"/>
                <a:sym typeface="Arial"/>
              </a:rPr>
              <a:t> 실행</a:t>
            </a:r>
            <a:r>
              <a:rPr lang="ko-KR" sz="1800" dirty="0">
                <a:latin typeface="+mn-ea"/>
                <a:ea typeface="+mn-ea"/>
                <a:cs typeface="Arial"/>
                <a:sym typeface="Arial"/>
              </a:rPr>
              <a:t>해보</a:t>
            </a:r>
            <a:r>
              <a:rPr lang="ko-KR" altLang="en-US" sz="1800" dirty="0">
                <a:latin typeface="+mn-ea"/>
                <a:ea typeface="+mn-ea"/>
                <a:cs typeface="Arial"/>
                <a:sym typeface="Arial"/>
              </a:rPr>
              <a:t>기</a:t>
            </a:r>
            <a:endParaRPr sz="1800" dirty="0">
              <a:latin typeface="+mn-ea"/>
              <a:ea typeface="+mn-ea"/>
              <a:cs typeface="Arial"/>
              <a:sym typeface="Arial"/>
            </a:endParaRPr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>
                <a:latin typeface="+mn-ea"/>
                <a:ea typeface="+mn-ea"/>
                <a:cs typeface="Arial"/>
                <a:sym typeface="Arial"/>
              </a:rPr>
              <a:t>목표</a:t>
            </a:r>
            <a:endParaRPr sz="1800" dirty="0">
              <a:latin typeface="+mn-ea"/>
              <a:ea typeface="+mn-ea"/>
              <a:cs typeface="Arial"/>
              <a:sym typeface="Arial"/>
            </a:endParaRPr>
          </a:p>
          <a:p>
            <a:pPr marL="685800" lvl="1" indent="-228600">
              <a:lnSpc>
                <a:spcPct val="150000"/>
              </a:lnSpc>
              <a:buSzPct val="100000"/>
            </a:pPr>
            <a:r>
              <a:rPr lang="en-US" altLang="ko-KR" sz="1800" dirty="0">
                <a:latin typeface="+mn-ea"/>
                <a:cs typeface="Arial"/>
                <a:sym typeface="Arial"/>
              </a:rPr>
              <a:t>Cosine similarity</a:t>
            </a:r>
            <a:r>
              <a:rPr lang="ko-KR" altLang="en-US" sz="1800" dirty="0">
                <a:latin typeface="+mn-ea"/>
                <a:cs typeface="Arial"/>
                <a:sym typeface="Arial"/>
              </a:rPr>
              <a:t> 구현해보기</a:t>
            </a:r>
            <a:endParaRPr lang="en-US" altLang="ko-KR" sz="1800" dirty="0">
              <a:latin typeface="+mn-ea"/>
              <a:ea typeface="+mn-ea"/>
              <a:cs typeface="Arial"/>
              <a:sym typeface="Arial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dirty="0">
                <a:latin typeface="+mn-ea"/>
                <a:ea typeface="+mn-ea"/>
                <a:cs typeface="Arial"/>
                <a:sym typeface="Arial"/>
              </a:rPr>
              <a:t>One-</a:t>
            </a:r>
            <a:r>
              <a:rPr lang="ko-KR" sz="1800" dirty="0" err="1">
                <a:latin typeface="+mn-ea"/>
                <a:ea typeface="+mn-ea"/>
                <a:cs typeface="Arial"/>
                <a:sym typeface="Arial"/>
              </a:rPr>
              <a:t>hot</a:t>
            </a:r>
            <a:r>
              <a:rPr lang="ko-KR" sz="1800" dirty="0"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ko-KR" sz="1800" dirty="0" err="1">
                <a:latin typeface="+mn-ea"/>
                <a:ea typeface="+mn-ea"/>
                <a:cs typeface="Arial"/>
                <a:sym typeface="Arial"/>
              </a:rPr>
              <a:t>encoding</a:t>
            </a:r>
            <a:r>
              <a:rPr lang="ko-KR" altLang="en-US" sz="1800" dirty="0">
                <a:latin typeface="+mn-ea"/>
                <a:ea typeface="+mn-ea"/>
                <a:cs typeface="Arial"/>
                <a:sym typeface="Arial"/>
              </a:rPr>
              <a:t> 된</a:t>
            </a:r>
            <a:r>
              <a:rPr lang="ko-KR" sz="1800" dirty="0">
                <a:latin typeface="+mn-ea"/>
                <a:ea typeface="+mn-ea"/>
                <a:cs typeface="Arial"/>
                <a:sym typeface="Arial"/>
              </a:rPr>
              <a:t> 단어</a:t>
            </a:r>
            <a:r>
              <a:rPr lang="ko-KR" altLang="en-US" sz="1800" dirty="0">
                <a:latin typeface="+mn-ea"/>
                <a:ea typeface="+mn-ea"/>
                <a:cs typeface="Arial"/>
                <a:sym typeface="Arial"/>
              </a:rPr>
              <a:t>들 간의</a:t>
            </a:r>
            <a:r>
              <a:rPr lang="ko-KR" sz="1800" dirty="0">
                <a:latin typeface="+mn-ea"/>
                <a:ea typeface="+mn-ea"/>
                <a:cs typeface="Arial"/>
                <a:sym typeface="Arial"/>
              </a:rPr>
              <a:t> 의미적 유사도를 계산</a:t>
            </a:r>
            <a:endParaRPr sz="1800" dirty="0">
              <a:latin typeface="+mn-ea"/>
              <a:ea typeface="+mn-ea"/>
              <a:cs typeface="Arial"/>
              <a:sym typeface="Arial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dirty="0">
                <a:latin typeface="+mn-ea"/>
                <a:ea typeface="+mn-ea"/>
                <a:cs typeface="Arial"/>
                <a:sym typeface="Arial"/>
              </a:rPr>
              <a:t>One-</a:t>
            </a:r>
            <a:r>
              <a:rPr lang="ko-KR" sz="1800" dirty="0" err="1">
                <a:latin typeface="+mn-ea"/>
                <a:ea typeface="+mn-ea"/>
                <a:cs typeface="Arial"/>
                <a:sym typeface="Arial"/>
              </a:rPr>
              <a:t>hot</a:t>
            </a:r>
            <a:r>
              <a:rPr lang="ko-KR" sz="1800" dirty="0">
                <a:latin typeface="+mn-ea"/>
                <a:ea typeface="+mn-ea"/>
                <a:cs typeface="Arial"/>
                <a:sym typeface="Arial"/>
              </a:rPr>
              <a:t> </a:t>
            </a:r>
            <a:r>
              <a:rPr lang="ko-KR" sz="1800" dirty="0" err="1">
                <a:latin typeface="+mn-ea"/>
                <a:ea typeface="+mn-ea"/>
                <a:cs typeface="Arial"/>
                <a:sym typeface="Arial"/>
              </a:rPr>
              <a:t>encoding</a:t>
            </a:r>
            <a:r>
              <a:rPr lang="ko-KR" sz="1800" dirty="0">
                <a:latin typeface="+mn-ea"/>
                <a:ea typeface="+mn-ea"/>
                <a:cs typeface="Arial"/>
                <a:sym typeface="Arial"/>
              </a:rPr>
              <a:t> 차원의 문제점 </a:t>
            </a:r>
            <a:r>
              <a:rPr lang="ko-KR" altLang="en-US" sz="1800" dirty="0">
                <a:latin typeface="+mn-ea"/>
                <a:ea typeface="+mn-ea"/>
                <a:cs typeface="Arial"/>
                <a:sym typeface="Arial"/>
              </a:rPr>
              <a:t>확인</a:t>
            </a:r>
            <a:endParaRPr lang="en-US" altLang="ko-KR" sz="1800" dirty="0">
              <a:latin typeface="+mn-ea"/>
              <a:ea typeface="+mn-ea"/>
              <a:cs typeface="Arial"/>
              <a:sym typeface="Arial"/>
            </a:endParaRPr>
          </a:p>
        </p:txBody>
      </p:sp>
      <p:sp>
        <p:nvSpPr>
          <p:cNvPr id="240" name="Google Shape;240;p1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altLang="ko-KR" b="1" dirty="0">
                <a:latin typeface="+mj-ea"/>
                <a:ea typeface="+mj-ea"/>
                <a:cs typeface="Arial"/>
                <a:sym typeface="Arial"/>
              </a:rPr>
              <a:t>Practice</a:t>
            </a:r>
            <a:r>
              <a:rPr lang="ko-KR" altLang="en-US" b="1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altLang="ko-KR" b="1" dirty="0">
                <a:latin typeface="+mj-ea"/>
                <a:ea typeface="+mj-ea"/>
                <a:cs typeface="Arial"/>
                <a:sym typeface="Arial"/>
              </a:rPr>
              <a:t>2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246" name="Google Shape;246;p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Word2Vec, </a:t>
            </a:r>
            <a:r>
              <a:rPr lang="ko-KR" sz="1800" b="1" dirty="0" err="1">
                <a:latin typeface="+mj-ea"/>
                <a:ea typeface="+mj-ea"/>
                <a:cs typeface="Arial"/>
                <a:sym typeface="Arial"/>
              </a:rPr>
              <a:t>Glo</a:t>
            </a:r>
            <a:r>
              <a:rPr lang="en-US" altLang="ko-KR" sz="1800" b="1" dirty="0">
                <a:latin typeface="+mj-ea"/>
                <a:ea typeface="+mj-ea"/>
                <a:cs typeface="Arial"/>
                <a:sym typeface="Arial"/>
              </a:rPr>
              <a:t>V</a:t>
            </a:r>
            <a:r>
              <a:rPr lang="ko-KR" sz="1800" b="1" dirty="0" err="1">
                <a:latin typeface="+mj-ea"/>
                <a:ea typeface="+mj-ea"/>
                <a:cs typeface="Arial"/>
                <a:sym typeface="Arial"/>
              </a:rPr>
              <a:t>e</a:t>
            </a: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 실행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해보기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목표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Word2Vec,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GloVe를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통해 단어의 유사도를 계산</a:t>
            </a:r>
            <a:endParaRPr lang="ko-KR" altLang="en-US" sz="1800"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‘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Dimension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’이 무엇을 뜻하는지 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one-hot encoding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과 비교하여 생각해보기</a:t>
            </a:r>
          </a:p>
          <a:p>
            <a:pPr marL="685800" lvl="1" indent="-762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247" name="Google Shape;247;p1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>
          <a:extLst>
            <a:ext uri="{FF2B5EF4-FFF2-40B4-BE49-F238E27FC236}">
              <a16:creationId xmlns:a16="http://schemas.microsoft.com/office/drawing/2014/main" id="{4327AB0E-2AB3-C202-70B5-6A62B13A9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9">
            <a:extLst>
              <a:ext uri="{FF2B5EF4-FFF2-40B4-BE49-F238E27FC236}">
                <a16:creationId xmlns:a16="http://schemas.microsoft.com/office/drawing/2014/main" id="{0E34D1DB-2B75-069F-A1DF-A9B11AD26A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altLang="ko-KR" b="1" dirty="0">
                <a:latin typeface="+mj-ea"/>
                <a:ea typeface="+mj-ea"/>
                <a:cs typeface="Arial"/>
                <a:sym typeface="Arial"/>
              </a:rPr>
              <a:t>Practice</a:t>
            </a:r>
            <a:r>
              <a:rPr lang="ko-KR" altLang="en-US" b="1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altLang="ko-KR" b="1" dirty="0">
                <a:latin typeface="+mj-ea"/>
                <a:ea typeface="+mj-ea"/>
                <a:cs typeface="Arial"/>
                <a:sym typeface="Arial"/>
              </a:rPr>
              <a:t>3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246" name="Google Shape;246;p19">
            <a:extLst>
              <a:ext uri="{FF2B5EF4-FFF2-40B4-BE49-F238E27FC236}">
                <a16:creationId xmlns:a16="http://schemas.microsoft.com/office/drawing/2014/main" id="{9C94E813-DA6D-FF08-D7F5-EFD8CC5C01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en-US" sz="1800" dirty="0">
                <a:latin typeface="+mj-ea"/>
                <a:ea typeface="+mj-ea"/>
                <a:cs typeface="Arial"/>
                <a:sym typeface="Arial"/>
              </a:rPr>
              <a:t>Word Embedding 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추가 실습</a:t>
            </a:r>
            <a:endParaRPr sz="1800" b="1" dirty="0">
              <a:latin typeface="+mj-ea"/>
              <a:ea typeface="+mj-ea"/>
              <a:cs typeface="Arial"/>
              <a:sym typeface="Arial"/>
            </a:endParaRPr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목표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a)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의 예시처럼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, 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단어 간 관계 실험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 (analogy test.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Ex)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king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–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man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+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woman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=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?)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 </a:t>
            </a:r>
            <a:endParaRPr lang="en-US" altLang="ko-KR" sz="1800"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b)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의 예시처럼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, 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유사한 단어 쌍 간의 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vector 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차이를 기반으로 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similarity check</a:t>
            </a: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ko-KR" altLang="en-US" sz="1800"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762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247" name="Google Shape;247;p19">
            <a:extLst>
              <a:ext uri="{FF2B5EF4-FFF2-40B4-BE49-F238E27FC236}">
                <a16:creationId xmlns:a16="http://schemas.microsoft.com/office/drawing/2014/main" id="{4CBC634E-E6DA-192E-37BC-50CF71DA0E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24</a:t>
            </a:fld>
            <a:endParaRPr/>
          </a:p>
        </p:txBody>
      </p:sp>
      <p:pic>
        <p:nvPicPr>
          <p:cNvPr id="3" name="Picture 2" descr="A graph of different types of arrows&#10;&#10;AI-generated content may be incorrect.">
            <a:extLst>
              <a:ext uri="{FF2B5EF4-FFF2-40B4-BE49-F238E27FC236}">
                <a16:creationId xmlns:a16="http://schemas.microsoft.com/office/drawing/2014/main" id="{4A24A431-0F13-6D4A-8B87-A5E6B8EDD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1237" y="3552317"/>
            <a:ext cx="5969526" cy="2814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3323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altLang="ko-KR" b="1" dirty="0">
                <a:latin typeface="+mj-ea"/>
                <a:ea typeface="+mj-ea"/>
                <a:cs typeface="Arial"/>
                <a:sym typeface="Arial"/>
              </a:rPr>
              <a:t>Task</a:t>
            </a:r>
            <a:r>
              <a:rPr lang="ko-KR" altLang="en-US" b="1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altLang="ko-KR" b="1" dirty="0">
                <a:latin typeface="+mj-ea"/>
                <a:ea typeface="+mj-ea"/>
                <a:cs typeface="Arial"/>
                <a:sym typeface="Arial"/>
              </a:rPr>
              <a:t>1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253" name="Google Shape;253;p20"/>
          <p:cNvSpPr txBox="1">
            <a:spLocks noGrp="1"/>
          </p:cNvSpPr>
          <p:nvPr>
            <p:ph type="body" idx="1"/>
          </p:nvPr>
        </p:nvSpPr>
        <p:spPr>
          <a:xfrm>
            <a:off x="838200" y="1218871"/>
            <a:ext cx="10515600" cy="4834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목표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GloVe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모델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로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주어진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단어 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목록에서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의미적으로 관련</a:t>
            </a:r>
            <a:r>
              <a:rPr lang="ko-KR" altLang="en-US" sz="1800" b="1" dirty="0">
                <a:latin typeface="+mj-ea"/>
                <a:ea typeface="+mj-ea"/>
                <a:cs typeface="Arial"/>
                <a:sym typeface="Arial"/>
              </a:rPr>
              <a:t>이</a:t>
            </a: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altLang="en-US" sz="1800" b="1" dirty="0">
                <a:latin typeface="+mj-ea"/>
                <a:ea typeface="+mj-ea"/>
                <a:cs typeface="Arial"/>
                <a:sym typeface="Arial"/>
              </a:rPr>
              <a:t>적은</a:t>
            </a: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altLang="en-US" sz="1800" b="1" dirty="0">
                <a:latin typeface="+mj-ea"/>
                <a:ea typeface="+mj-ea"/>
                <a:cs typeface="Arial"/>
                <a:sym typeface="Arial"/>
              </a:rPr>
              <a:t>단어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를 찾아내어 보기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여러 개의 단어들 중에서 </a:t>
            </a: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의미적으로 </a:t>
            </a:r>
            <a:r>
              <a:rPr lang="ko-KR" altLang="en-US" sz="1800" b="1" dirty="0">
                <a:latin typeface="+mj-ea"/>
                <a:ea typeface="+mj-ea"/>
                <a:cs typeface="Arial"/>
                <a:sym typeface="Arial"/>
              </a:rPr>
              <a:t>유사한 단어들을 올바르게 연결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해보기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254" name="Google Shape;254;p2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ADB017D4-6346-3DA9-3DE1-18CE6DFCF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>
            <a:extLst>
              <a:ext uri="{FF2B5EF4-FFF2-40B4-BE49-F238E27FC236}">
                <a16:creationId xmlns:a16="http://schemas.microsoft.com/office/drawing/2014/main" id="{2AB262CC-D70E-EC50-714A-07E112CFEB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 b="1" dirty="0">
                <a:latin typeface="+mj-ea"/>
                <a:ea typeface="+mj-ea"/>
                <a:cs typeface="Arial"/>
                <a:sym typeface="Arial"/>
              </a:rPr>
              <a:t>Word </a:t>
            </a:r>
            <a:r>
              <a:rPr lang="ko-KR" b="1" dirty="0" err="1">
                <a:latin typeface="+mj-ea"/>
                <a:ea typeface="+mj-ea"/>
                <a:cs typeface="Arial"/>
                <a:sym typeface="Arial"/>
              </a:rPr>
              <a:t>Embedding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204" name="Google Shape;204;p14">
            <a:extLst>
              <a:ext uri="{FF2B5EF4-FFF2-40B4-BE49-F238E27FC236}">
                <a16:creationId xmlns:a16="http://schemas.microsoft.com/office/drawing/2014/main" id="{9C059492-4924-721B-E4A6-7F83B4979B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Examples</a:t>
            </a:r>
            <a:endParaRPr sz="1800" dirty="0">
              <a:latin typeface="+mj-ea"/>
              <a:ea typeface="+mj-ea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Word2Vec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 -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CBOW, Skip-gram</a:t>
            </a: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GloVe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E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LMO</a:t>
            </a: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B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ERT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207" name="Google Shape;207;p14">
            <a:extLst>
              <a:ext uri="{FF2B5EF4-FFF2-40B4-BE49-F238E27FC236}">
                <a16:creationId xmlns:a16="http://schemas.microsoft.com/office/drawing/2014/main" id="{9C74579C-C3A9-04F6-02C5-49BF4E1FA77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26</a:t>
            </a:fld>
            <a:endParaRPr/>
          </a:p>
        </p:txBody>
      </p:sp>
      <p:pic>
        <p:nvPicPr>
          <p:cNvPr id="205" name="Google Shape;205;p14" descr="Free: Elmo Sticker Sesame Workshop Big Bird Emoji - Emoji - nohat.cc">
            <a:extLst>
              <a:ext uri="{FF2B5EF4-FFF2-40B4-BE49-F238E27FC236}">
                <a16:creationId xmlns:a16="http://schemas.microsoft.com/office/drawing/2014/main" id="{44823388-142D-8C3D-562C-52A65FDA943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8865" y="4395057"/>
            <a:ext cx="1428750" cy="853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4" descr="Stickers For Kids - Sesame Street Bert Face Clipart - Full Size Clipart  (#1855229) - PinClipart">
            <a:extLst>
              <a:ext uri="{FF2B5EF4-FFF2-40B4-BE49-F238E27FC236}">
                <a16:creationId xmlns:a16="http://schemas.microsoft.com/office/drawing/2014/main" id="{B41A9185-C991-1BDD-AE91-C97618949BB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84853" y="4035824"/>
            <a:ext cx="854012" cy="12717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99566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b="1" dirty="0">
                <a:latin typeface="+mj-ea"/>
                <a:ea typeface="+mj-ea"/>
                <a:cs typeface="Arial"/>
                <a:sym typeface="Arial"/>
              </a:rPr>
              <a:t>Word Embedding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260" name="Google Shape;260;p2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Word2Vec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,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Glove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altLang="ko-KR" sz="1800" dirty="0">
                <a:latin typeface="+mj-ea"/>
                <a:ea typeface="+mj-ea"/>
                <a:cs typeface="Arial"/>
                <a:sym typeface="Wingdings" pitchFamily="2" charset="2"/>
              </a:rPr>
              <a:t>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i="1" dirty="0" err="1">
                <a:latin typeface="+mj-ea"/>
                <a:ea typeface="+mj-ea"/>
                <a:cs typeface="Arial"/>
                <a:sym typeface="Arial"/>
              </a:rPr>
              <a:t>outdated</a:t>
            </a:r>
            <a:r>
              <a:rPr lang="en-US" altLang="ko-KR" sz="1800" i="1" dirty="0">
                <a:latin typeface="+mj-ea"/>
                <a:ea typeface="+mj-ea"/>
                <a:cs typeface="Arial"/>
                <a:sym typeface="Arial"/>
              </a:rPr>
              <a:t>…</a:t>
            </a:r>
            <a:endParaRPr sz="1800" i="1" dirty="0">
              <a:latin typeface="+mj-ea"/>
              <a:ea typeface="+mj-ea"/>
              <a:cs typeface="Arial"/>
              <a:sym typeface="Arial"/>
            </a:endParaRPr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BERT (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Devlin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et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al</a:t>
            </a:r>
            <a:r>
              <a:rPr lang="ko-KR" sz="1800" dirty="0">
                <a:latin typeface="+mj-ea"/>
                <a:ea typeface="+mj-ea"/>
              </a:rPr>
              <a:t>. 2018)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dirty="0" err="1">
                <a:latin typeface="+mj-ea"/>
                <a:ea typeface="+mj-ea"/>
              </a:rPr>
              <a:t>Bidirectional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Encoder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Representations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from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Transformers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같은 단어라도 </a:t>
            </a:r>
            <a:r>
              <a:rPr lang="ko-KR" altLang="en-US" sz="1800" b="1" dirty="0">
                <a:latin typeface="+mj-ea"/>
                <a:ea typeface="+mj-ea"/>
                <a:cs typeface="Arial"/>
                <a:sym typeface="Arial"/>
              </a:rPr>
              <a:t>문맥에 따라 </a:t>
            </a: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다른 </a:t>
            </a:r>
            <a:r>
              <a:rPr lang="ko-KR" sz="1800" b="1" dirty="0" err="1">
                <a:latin typeface="+mj-ea"/>
                <a:ea typeface="+mj-ea"/>
                <a:cs typeface="Arial"/>
                <a:sym typeface="Arial"/>
              </a:rPr>
              <a:t>vector로</a:t>
            </a: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 표현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가능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1143000" lvl="2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He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went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to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the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b="1" dirty="0" err="1">
                <a:latin typeface="+mj-ea"/>
                <a:ea typeface="+mj-ea"/>
                <a:cs typeface="Arial"/>
                <a:sym typeface="Arial"/>
              </a:rPr>
              <a:t>bank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to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deposit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money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(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금융 기관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)</a:t>
            </a:r>
            <a:endParaRPr sz="1800" dirty="0">
              <a:latin typeface="+mj-ea"/>
              <a:ea typeface="+mj-ea"/>
            </a:endParaRPr>
          </a:p>
          <a:p>
            <a:pPr marL="1143000" lvl="2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She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sat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by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the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b="1" dirty="0" err="1">
                <a:latin typeface="+mj-ea"/>
                <a:ea typeface="+mj-ea"/>
                <a:cs typeface="Arial"/>
                <a:sym typeface="Arial"/>
              </a:rPr>
              <a:t>bank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of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the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river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(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강가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)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261" name="Google Shape;261;p2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27</a:t>
            </a:fld>
            <a:endParaRPr/>
          </a:p>
        </p:txBody>
      </p:sp>
      <p:pic>
        <p:nvPicPr>
          <p:cNvPr id="262" name="Google Shape;262;p21" descr="Stickers For Kids - Sesame Street Bert Face Clipart - Full Size Clipart  (#1855229) - PinClipar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0072" y="1789042"/>
            <a:ext cx="447188" cy="665921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1"/>
          <p:cNvSpPr txBox="1"/>
          <p:nvPr/>
        </p:nvSpPr>
        <p:spPr>
          <a:xfrm>
            <a:off x="838200" y="6415415"/>
            <a:ext cx="814054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BERT: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Pre-training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of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Deep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Bidirectional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Transformers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for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Language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Understanding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(2018)</a:t>
            </a:r>
            <a:endParaRPr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altLang="ko-KR" b="1" dirty="0">
                <a:latin typeface="+mj-ea"/>
                <a:ea typeface="+mj-ea"/>
                <a:cs typeface="Arial"/>
                <a:sym typeface="Arial"/>
              </a:rPr>
              <a:t>Task 1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269" name="Google Shape;269;p22"/>
          <p:cNvSpPr txBox="1">
            <a:spLocks noGrp="1"/>
          </p:cNvSpPr>
          <p:nvPr>
            <p:ph type="body" idx="1"/>
          </p:nvPr>
        </p:nvSpPr>
        <p:spPr>
          <a:xfrm>
            <a:off x="838200" y="1208932"/>
            <a:ext cx="10515600" cy="4834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목표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800" b="1" dirty="0">
                <a:latin typeface="+mj-ea"/>
                <a:ea typeface="+mj-ea"/>
                <a:cs typeface="Arial"/>
                <a:sym typeface="Arial"/>
              </a:rPr>
              <a:t>BERT </a:t>
            </a:r>
            <a:r>
              <a:rPr lang="ko-KR" altLang="en-US" sz="1800" b="1" dirty="0">
                <a:latin typeface="+mj-ea"/>
                <a:ea typeface="+mj-ea"/>
                <a:cs typeface="Arial"/>
                <a:sym typeface="Arial"/>
              </a:rPr>
              <a:t>모델을 실행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한 후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,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 앞서 사용한 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Word2Vec, </a:t>
            </a:r>
            <a:r>
              <a:rPr lang="en-US" altLang="ko-KR" sz="1800" dirty="0" err="1">
                <a:latin typeface="+mj-ea"/>
                <a:ea typeface="+mj-ea"/>
                <a:cs typeface="Arial"/>
                <a:sym typeface="Arial"/>
              </a:rPr>
              <a:t>GloVe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 기반 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word embedding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과의 </a:t>
            </a:r>
            <a:br>
              <a:rPr lang="en-US" altLang="ko-KR" sz="1800" dirty="0">
                <a:latin typeface="+mj-ea"/>
                <a:ea typeface="+mj-ea"/>
                <a:cs typeface="Arial"/>
                <a:sym typeface="Arial"/>
              </a:rPr>
            </a:br>
            <a:r>
              <a:rPr lang="ko-KR" altLang="en-US" sz="1800" b="1" dirty="0">
                <a:latin typeface="+mj-ea"/>
                <a:ea typeface="+mj-ea"/>
                <a:cs typeface="Arial"/>
                <a:sym typeface="Arial"/>
              </a:rPr>
              <a:t>차이를 직접 비교하고 분석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해보기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228600" lvl="0" indent="-50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228600" lvl="0" indent="-50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270" name="Google Shape;270;p2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altLang="ko-KR" b="1" dirty="0">
                <a:latin typeface="+mj-ea"/>
                <a:ea typeface="+mj-ea"/>
                <a:cs typeface="Arial"/>
                <a:sym typeface="Arial"/>
              </a:rPr>
              <a:t>How about </a:t>
            </a:r>
            <a:r>
              <a:rPr lang="ko-KR" b="1" dirty="0" err="1">
                <a:latin typeface="+mj-ea"/>
                <a:ea typeface="+mj-ea"/>
                <a:cs typeface="Arial"/>
                <a:sym typeface="Arial"/>
              </a:rPr>
              <a:t>sentence</a:t>
            </a:r>
            <a:r>
              <a:rPr lang="en-US" altLang="ko-KR" b="1" dirty="0">
                <a:latin typeface="+mj-ea"/>
                <a:ea typeface="+mj-ea"/>
                <a:cs typeface="Arial"/>
                <a:sym typeface="Arial"/>
              </a:rPr>
              <a:t>?</a:t>
            </a:r>
            <a:endParaRPr b="1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276" name="Google Shape;276;p2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컴퓨터가 단어만 이해하면 되나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? </a:t>
            </a:r>
            <a:r>
              <a:rPr lang="en-US" altLang="ko-KR" sz="1800" dirty="0">
                <a:latin typeface="+mj-ea"/>
                <a:ea typeface="+mj-ea"/>
                <a:cs typeface="Arial"/>
                <a:sym typeface="Wingdings" pitchFamily="2" charset="2"/>
              </a:rPr>
              <a:t>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No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,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문장을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 이해할 수 있어야 함</a:t>
            </a:r>
            <a:endParaRPr lang="en-KR" sz="1800" dirty="0">
              <a:latin typeface="+mj-ea"/>
              <a:ea typeface="+mj-ea"/>
              <a:cs typeface="Arial"/>
              <a:sym typeface="Arial"/>
            </a:endParaRPr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How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? 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    </a:t>
            </a:r>
            <a:r>
              <a:rPr lang="ko-KR" sz="1800" b="1" u="sng" dirty="0" err="1">
                <a:latin typeface="+mj-ea"/>
                <a:ea typeface="+mj-ea"/>
                <a:cs typeface="Arial"/>
                <a:sym typeface="Arial"/>
              </a:rPr>
              <a:t>Tokenization</a:t>
            </a:r>
            <a:endParaRPr sz="1800" b="1" u="sng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277" name="Google Shape;277;p2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 b="1" dirty="0" err="1">
                <a:latin typeface="+mj-ea"/>
                <a:ea typeface="+mj-ea"/>
                <a:cs typeface="Arial"/>
                <a:sym typeface="Arial"/>
              </a:rPr>
              <a:t>Tokenization</a:t>
            </a:r>
            <a:endParaRPr b="1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283" name="Google Shape;283;p2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 err="1">
                <a:latin typeface="+mj-ea"/>
                <a:ea typeface="+mj-ea"/>
              </a:rPr>
              <a:t>Text를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smaller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units</a:t>
            </a:r>
            <a:r>
              <a:rPr lang="ko-KR" sz="1800" dirty="0">
                <a:latin typeface="+mj-ea"/>
                <a:ea typeface="+mj-ea"/>
              </a:rPr>
              <a:t> (</a:t>
            </a:r>
            <a:r>
              <a:rPr lang="ko-KR" sz="1800" dirty="0" err="1">
                <a:latin typeface="+mj-ea"/>
                <a:ea typeface="+mj-ea"/>
              </a:rPr>
              <a:t>tokens</a:t>
            </a:r>
            <a:r>
              <a:rPr lang="ko-KR" sz="1800" dirty="0">
                <a:latin typeface="+mj-ea"/>
                <a:ea typeface="+mj-ea"/>
              </a:rPr>
              <a:t>)</a:t>
            </a:r>
            <a:r>
              <a:rPr lang="ko-KR" sz="1800" dirty="0" err="1">
                <a:latin typeface="+mj-ea"/>
                <a:ea typeface="+mj-ea"/>
              </a:rPr>
              <a:t>으로</a:t>
            </a:r>
            <a:r>
              <a:rPr lang="ko-KR" sz="1800" dirty="0">
                <a:latin typeface="+mj-ea"/>
                <a:ea typeface="+mj-ea"/>
              </a:rPr>
              <a:t> 쪼개는 과정을 의미</a:t>
            </a:r>
            <a:endParaRPr sz="1800" dirty="0">
              <a:latin typeface="+mj-ea"/>
              <a:ea typeface="+mj-ea"/>
            </a:endParaRPr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 err="1">
                <a:latin typeface="+mj-ea"/>
                <a:ea typeface="+mj-ea"/>
              </a:rPr>
              <a:t>Tokens</a:t>
            </a:r>
            <a:r>
              <a:rPr lang="ko-KR" sz="1800" dirty="0">
                <a:latin typeface="+mj-ea"/>
                <a:ea typeface="+mj-ea"/>
              </a:rPr>
              <a:t>?</a:t>
            </a:r>
            <a:endParaRPr sz="1800" dirty="0">
              <a:latin typeface="+mj-ea"/>
              <a:ea typeface="+mj-ea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dirty="0" err="1">
                <a:latin typeface="+mj-ea"/>
                <a:ea typeface="+mj-ea"/>
              </a:rPr>
              <a:t>Words</a:t>
            </a:r>
            <a:r>
              <a:rPr lang="ko-KR" sz="1800" dirty="0">
                <a:latin typeface="+mj-ea"/>
                <a:ea typeface="+mj-ea"/>
              </a:rPr>
              <a:t>, </a:t>
            </a:r>
            <a:r>
              <a:rPr lang="ko-KR" sz="1800" dirty="0" err="1">
                <a:latin typeface="+mj-ea"/>
                <a:ea typeface="+mj-ea"/>
              </a:rPr>
              <a:t>subwords</a:t>
            </a:r>
            <a:r>
              <a:rPr lang="ko-KR" sz="1800" dirty="0">
                <a:latin typeface="+mj-ea"/>
                <a:ea typeface="+mj-ea"/>
              </a:rPr>
              <a:t>, </a:t>
            </a:r>
            <a:r>
              <a:rPr lang="ko-KR" sz="1800" dirty="0" err="1">
                <a:latin typeface="+mj-ea"/>
                <a:ea typeface="+mj-ea"/>
              </a:rPr>
              <a:t>characters</a:t>
            </a:r>
            <a:r>
              <a:rPr lang="ko-KR" sz="1800" dirty="0">
                <a:latin typeface="+mj-ea"/>
                <a:ea typeface="+mj-ea"/>
              </a:rPr>
              <a:t>, </a:t>
            </a:r>
            <a:r>
              <a:rPr lang="ko-KR" sz="1800" dirty="0" err="1">
                <a:latin typeface="+mj-ea"/>
                <a:ea typeface="+mj-ea"/>
              </a:rPr>
              <a:t>etc</a:t>
            </a:r>
            <a:r>
              <a:rPr lang="en-US" altLang="ko-KR" sz="1800" dirty="0">
                <a:latin typeface="+mj-ea"/>
                <a:ea typeface="+mj-ea"/>
              </a:rPr>
              <a:t>…</a:t>
            </a: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dirty="0" err="1">
                <a:latin typeface="+mj-ea"/>
                <a:ea typeface="+mj-ea"/>
              </a:rPr>
              <a:t>Raw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en-US" altLang="ko-KR" sz="1800" dirty="0">
                <a:latin typeface="+mj-ea"/>
                <a:ea typeface="+mj-ea"/>
              </a:rPr>
              <a:t>t</a:t>
            </a:r>
            <a:r>
              <a:rPr lang="ko-KR" sz="1800" dirty="0" err="1">
                <a:latin typeface="+mj-ea"/>
                <a:ea typeface="+mj-ea"/>
              </a:rPr>
              <a:t>ext를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u="sng" dirty="0" err="1">
                <a:latin typeface="+mj-ea"/>
                <a:ea typeface="+mj-ea"/>
              </a:rPr>
              <a:t>computer가</a:t>
            </a:r>
            <a:r>
              <a:rPr lang="ko-KR" sz="1800" u="sng" dirty="0">
                <a:latin typeface="+mj-ea"/>
                <a:ea typeface="+mj-ea"/>
              </a:rPr>
              <a:t> 이해할 수 있는 단위로 변환</a:t>
            </a:r>
            <a:r>
              <a:rPr lang="ko-KR" sz="1800" dirty="0">
                <a:latin typeface="+mj-ea"/>
                <a:ea typeface="+mj-ea"/>
              </a:rPr>
              <a:t>한다.</a:t>
            </a:r>
            <a:endParaRPr sz="1800" dirty="0">
              <a:latin typeface="+mj-ea"/>
              <a:ea typeface="+mj-ea"/>
            </a:endParaRPr>
          </a:p>
          <a:p>
            <a:pPr marL="228600" lvl="0" indent="-50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 dirty="0">
              <a:latin typeface="+mj-ea"/>
              <a:ea typeface="+mj-ea"/>
            </a:endParaRPr>
          </a:p>
          <a:p>
            <a:pPr marL="228600" lvl="0" indent="-50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284" name="Google Shape;284;p2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 b="1" dirty="0" err="1">
                <a:latin typeface="+mj-ea"/>
                <a:ea typeface="+mj-ea"/>
                <a:cs typeface="Arial"/>
                <a:sym typeface="Arial"/>
              </a:rPr>
              <a:t>Tokenization</a:t>
            </a:r>
            <a:endParaRPr b="1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290" name="Google Shape;290;p2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>
              <a:spcBef>
                <a:spcPts val="500"/>
              </a:spcBef>
              <a:buFont typeface="+mj-lt"/>
              <a:buAutoNum type="arabicPeriod"/>
            </a:pPr>
            <a:r>
              <a:rPr lang="ko-KR" sz="1800" dirty="0">
                <a:latin typeface="+mj-ea"/>
                <a:ea typeface="+mj-ea"/>
              </a:rPr>
              <a:t>Word </a:t>
            </a:r>
            <a:r>
              <a:rPr lang="ko-KR" sz="1800" dirty="0" err="1">
                <a:latin typeface="+mj-ea"/>
                <a:ea typeface="+mj-ea"/>
              </a:rPr>
              <a:t>Tokenization</a:t>
            </a:r>
            <a:endParaRPr sz="1800" dirty="0">
              <a:latin typeface="+mj-ea"/>
              <a:ea typeface="+mj-ea"/>
            </a:endParaRPr>
          </a:p>
          <a:p>
            <a:pPr marL="685800" lvl="1" indent="-228600">
              <a:lnSpc>
                <a:spcPct val="150000"/>
              </a:lnSpc>
              <a:buSzPct val="100000"/>
            </a:pPr>
            <a:r>
              <a:rPr lang="ko-KR" sz="1800" dirty="0" err="1">
                <a:latin typeface="+mj-ea"/>
                <a:ea typeface="+mj-ea"/>
              </a:rPr>
              <a:t>Splits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text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into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words</a:t>
            </a:r>
            <a:endParaRPr sz="1800" dirty="0">
              <a:latin typeface="+mj-ea"/>
              <a:ea typeface="+mj-ea"/>
            </a:endParaRPr>
          </a:p>
          <a:p>
            <a:pPr marL="685800" lvl="1" indent="-228600">
              <a:lnSpc>
                <a:spcPct val="150000"/>
              </a:lnSpc>
              <a:buSzPct val="100000"/>
            </a:pPr>
            <a:r>
              <a:rPr lang="ko-KR" sz="1800" dirty="0">
                <a:latin typeface="+mj-ea"/>
                <a:ea typeface="+mj-ea"/>
              </a:rPr>
              <a:t>“</a:t>
            </a:r>
            <a:r>
              <a:rPr lang="ko-KR" sz="1800" dirty="0" err="1">
                <a:latin typeface="+mj-ea"/>
                <a:ea typeface="+mj-ea"/>
              </a:rPr>
              <a:t>I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love</a:t>
            </a:r>
            <a:r>
              <a:rPr lang="ko-KR" sz="1800" dirty="0">
                <a:latin typeface="+mj-ea"/>
                <a:ea typeface="+mj-ea"/>
              </a:rPr>
              <a:t> NLP!" → ["</a:t>
            </a:r>
            <a:r>
              <a:rPr lang="ko-KR" sz="1800" dirty="0" err="1">
                <a:latin typeface="+mj-ea"/>
                <a:ea typeface="+mj-ea"/>
              </a:rPr>
              <a:t>I</a:t>
            </a:r>
            <a:r>
              <a:rPr lang="ko-KR" sz="1800" dirty="0">
                <a:latin typeface="+mj-ea"/>
                <a:ea typeface="+mj-ea"/>
              </a:rPr>
              <a:t>", "</a:t>
            </a:r>
            <a:r>
              <a:rPr lang="ko-KR" sz="1800" dirty="0" err="1">
                <a:latin typeface="+mj-ea"/>
                <a:ea typeface="+mj-ea"/>
              </a:rPr>
              <a:t>love</a:t>
            </a:r>
            <a:r>
              <a:rPr lang="ko-KR" sz="1800" dirty="0">
                <a:latin typeface="+mj-ea"/>
                <a:ea typeface="+mj-ea"/>
              </a:rPr>
              <a:t>", "NLP“, “!”]</a:t>
            </a:r>
            <a:endParaRPr sz="1800" dirty="0">
              <a:latin typeface="+mj-ea"/>
              <a:ea typeface="+mj-ea"/>
            </a:endParaRPr>
          </a:p>
          <a:p>
            <a:pPr marL="342900">
              <a:spcBef>
                <a:spcPts val="500"/>
              </a:spcBef>
              <a:buFont typeface="+mj-lt"/>
              <a:buAutoNum type="arabicPeriod"/>
            </a:pPr>
            <a:r>
              <a:rPr lang="ko-KR" sz="1800" dirty="0" err="1">
                <a:latin typeface="+mj-ea"/>
                <a:ea typeface="+mj-ea"/>
              </a:rPr>
              <a:t>Subword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Tokenization</a:t>
            </a:r>
            <a:endParaRPr sz="1800" dirty="0">
              <a:latin typeface="+mj-ea"/>
              <a:ea typeface="+mj-ea"/>
            </a:endParaRPr>
          </a:p>
          <a:p>
            <a:pPr marL="685800" lvl="1" indent="-228600">
              <a:lnSpc>
                <a:spcPct val="150000"/>
              </a:lnSpc>
              <a:buSzPct val="100000"/>
            </a:pPr>
            <a:r>
              <a:rPr lang="ko-KR" sz="1800" dirty="0" err="1">
                <a:latin typeface="+mj-ea"/>
                <a:ea typeface="+mj-ea"/>
              </a:rPr>
              <a:t>Breaks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words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into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smaller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units</a:t>
            </a:r>
            <a:endParaRPr sz="1800" dirty="0">
              <a:latin typeface="+mj-ea"/>
              <a:ea typeface="+mj-ea"/>
            </a:endParaRPr>
          </a:p>
          <a:p>
            <a:pPr marL="685800" lvl="1" indent="-228600">
              <a:lnSpc>
                <a:spcPct val="150000"/>
              </a:lnSpc>
              <a:buSzPct val="100000"/>
            </a:pPr>
            <a:r>
              <a:rPr lang="ko-KR" sz="1800" dirty="0">
                <a:latin typeface="+mj-ea"/>
                <a:ea typeface="+mj-ea"/>
              </a:rPr>
              <a:t>"</a:t>
            </a:r>
            <a:r>
              <a:rPr lang="ko-KR" sz="1800" dirty="0" err="1">
                <a:latin typeface="+mj-ea"/>
                <a:ea typeface="+mj-ea"/>
              </a:rPr>
              <a:t>unhappiness</a:t>
            </a:r>
            <a:r>
              <a:rPr lang="ko-KR" sz="1800" dirty="0">
                <a:latin typeface="+mj-ea"/>
                <a:ea typeface="+mj-ea"/>
              </a:rPr>
              <a:t>" → ["</a:t>
            </a:r>
            <a:r>
              <a:rPr lang="ko-KR" sz="1800" dirty="0" err="1">
                <a:latin typeface="+mj-ea"/>
                <a:ea typeface="+mj-ea"/>
              </a:rPr>
              <a:t>un</a:t>
            </a:r>
            <a:r>
              <a:rPr lang="ko-KR" sz="1800" dirty="0">
                <a:latin typeface="+mj-ea"/>
                <a:ea typeface="+mj-ea"/>
              </a:rPr>
              <a:t>", "</a:t>
            </a:r>
            <a:r>
              <a:rPr lang="ko-KR" sz="1800" dirty="0" err="1">
                <a:latin typeface="+mj-ea"/>
                <a:ea typeface="+mj-ea"/>
              </a:rPr>
              <a:t>happiness</a:t>
            </a:r>
            <a:r>
              <a:rPr lang="ko-KR" sz="1800" dirty="0">
                <a:latin typeface="+mj-ea"/>
                <a:ea typeface="+mj-ea"/>
              </a:rPr>
              <a:t>"]</a:t>
            </a:r>
            <a:endParaRPr sz="1800" dirty="0">
              <a:latin typeface="+mj-ea"/>
              <a:ea typeface="+mj-ea"/>
            </a:endParaRPr>
          </a:p>
          <a:p>
            <a:pPr marL="342900">
              <a:spcBef>
                <a:spcPts val="500"/>
              </a:spcBef>
              <a:buFont typeface="+mj-lt"/>
              <a:buAutoNum type="arabicPeriod"/>
            </a:pPr>
            <a:r>
              <a:rPr lang="ko-KR" sz="1800" dirty="0" err="1">
                <a:latin typeface="+mj-ea"/>
                <a:ea typeface="+mj-ea"/>
              </a:rPr>
              <a:t>Character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Tokenization</a:t>
            </a:r>
            <a:endParaRPr sz="1800" dirty="0">
              <a:latin typeface="+mj-ea"/>
              <a:ea typeface="+mj-ea"/>
            </a:endParaRPr>
          </a:p>
          <a:p>
            <a:pPr marL="685800" lvl="1" indent="-228600">
              <a:lnSpc>
                <a:spcPct val="150000"/>
              </a:lnSpc>
              <a:buSzPct val="100000"/>
            </a:pPr>
            <a:r>
              <a:rPr lang="ko-KR" sz="1800" dirty="0" err="1">
                <a:latin typeface="+mj-ea"/>
                <a:ea typeface="+mj-ea"/>
              </a:rPr>
              <a:t>Treats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each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character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as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a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token</a:t>
            </a:r>
            <a:endParaRPr sz="1800" dirty="0">
              <a:latin typeface="+mj-ea"/>
              <a:ea typeface="+mj-ea"/>
            </a:endParaRPr>
          </a:p>
          <a:p>
            <a:pPr marL="685800" lvl="1" indent="-228600">
              <a:lnSpc>
                <a:spcPct val="150000"/>
              </a:lnSpc>
              <a:buSzPct val="100000"/>
            </a:pPr>
            <a:r>
              <a:rPr lang="ko-KR" sz="1800" dirty="0">
                <a:latin typeface="+mj-ea"/>
                <a:ea typeface="+mj-ea"/>
              </a:rPr>
              <a:t>"</a:t>
            </a:r>
            <a:r>
              <a:rPr lang="ko-KR" sz="1800" dirty="0" err="1">
                <a:latin typeface="+mj-ea"/>
                <a:ea typeface="+mj-ea"/>
              </a:rPr>
              <a:t>hello</a:t>
            </a:r>
            <a:r>
              <a:rPr lang="ko-KR" sz="1800" dirty="0">
                <a:latin typeface="+mj-ea"/>
                <a:ea typeface="+mj-ea"/>
              </a:rPr>
              <a:t>" → ["</a:t>
            </a:r>
            <a:r>
              <a:rPr lang="ko-KR" sz="1800" dirty="0" err="1">
                <a:latin typeface="+mj-ea"/>
                <a:ea typeface="+mj-ea"/>
              </a:rPr>
              <a:t>h</a:t>
            </a:r>
            <a:r>
              <a:rPr lang="ko-KR" sz="1800" dirty="0">
                <a:latin typeface="+mj-ea"/>
                <a:ea typeface="+mj-ea"/>
              </a:rPr>
              <a:t>", "</a:t>
            </a:r>
            <a:r>
              <a:rPr lang="ko-KR" sz="1800" dirty="0" err="1">
                <a:latin typeface="+mj-ea"/>
                <a:ea typeface="+mj-ea"/>
              </a:rPr>
              <a:t>e</a:t>
            </a:r>
            <a:r>
              <a:rPr lang="ko-KR" sz="1800" dirty="0">
                <a:latin typeface="+mj-ea"/>
                <a:ea typeface="+mj-ea"/>
              </a:rPr>
              <a:t>", "</a:t>
            </a:r>
            <a:r>
              <a:rPr lang="ko-KR" sz="1800" dirty="0" err="1">
                <a:latin typeface="+mj-ea"/>
                <a:ea typeface="+mj-ea"/>
              </a:rPr>
              <a:t>l</a:t>
            </a:r>
            <a:r>
              <a:rPr lang="ko-KR" sz="1800" dirty="0">
                <a:latin typeface="+mj-ea"/>
                <a:ea typeface="+mj-ea"/>
              </a:rPr>
              <a:t>", "</a:t>
            </a:r>
            <a:r>
              <a:rPr lang="ko-KR" sz="1800" dirty="0" err="1">
                <a:latin typeface="+mj-ea"/>
                <a:ea typeface="+mj-ea"/>
              </a:rPr>
              <a:t>l</a:t>
            </a:r>
            <a:r>
              <a:rPr lang="ko-KR" sz="1800" dirty="0">
                <a:latin typeface="+mj-ea"/>
                <a:ea typeface="+mj-ea"/>
              </a:rPr>
              <a:t>", "</a:t>
            </a:r>
            <a:r>
              <a:rPr lang="ko-KR" sz="1800" dirty="0" err="1">
                <a:latin typeface="+mj-ea"/>
                <a:ea typeface="+mj-ea"/>
              </a:rPr>
              <a:t>o</a:t>
            </a:r>
            <a:r>
              <a:rPr lang="ko-KR" sz="1800" dirty="0">
                <a:latin typeface="+mj-ea"/>
                <a:ea typeface="+mj-ea"/>
              </a:rPr>
              <a:t>"]</a:t>
            </a:r>
            <a:endParaRPr sz="1800" dirty="0">
              <a:latin typeface="+mj-ea"/>
              <a:ea typeface="+mj-ea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+mj-ea"/>
              <a:ea typeface="+mj-ea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291" name="Google Shape;291;p2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 b="1" dirty="0" err="1">
                <a:latin typeface="+mj-ea"/>
                <a:ea typeface="+mj-ea"/>
                <a:cs typeface="Arial"/>
                <a:sym typeface="Arial"/>
              </a:rPr>
              <a:t>Tokenization</a:t>
            </a:r>
            <a:endParaRPr b="1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297" name="Google Shape;297;p2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Now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? BPE (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BytePair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Encoding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)-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based</a:t>
            </a:r>
            <a:endParaRPr sz="1800" dirty="0">
              <a:latin typeface="+mj-ea"/>
              <a:ea typeface="+mj-ea"/>
            </a:endParaRPr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How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?</a:t>
            </a:r>
            <a:endParaRPr sz="1800" dirty="0">
              <a:latin typeface="+mj-ea"/>
              <a:ea typeface="+mj-ea"/>
            </a:endParaRPr>
          </a:p>
          <a:p>
            <a:pPr marL="800100" lvl="1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ko-KR" sz="1800" b="1" dirty="0" err="1">
                <a:latin typeface="+mj-ea"/>
                <a:ea typeface="+mj-ea"/>
              </a:rPr>
              <a:t>Initial</a:t>
            </a:r>
            <a:r>
              <a:rPr lang="ko-KR" sz="1800" b="1" dirty="0">
                <a:latin typeface="+mj-ea"/>
                <a:ea typeface="+mj-ea"/>
              </a:rPr>
              <a:t> </a:t>
            </a:r>
            <a:r>
              <a:rPr lang="ko-KR" sz="1800" b="1" dirty="0" err="1">
                <a:latin typeface="+mj-ea"/>
                <a:ea typeface="+mj-ea"/>
              </a:rPr>
              <a:t>state</a:t>
            </a:r>
            <a:r>
              <a:rPr lang="ko-KR" sz="1800" dirty="0">
                <a:latin typeface="+mj-ea"/>
                <a:ea typeface="+mj-ea"/>
              </a:rPr>
              <a:t>: </a:t>
            </a:r>
            <a:r>
              <a:rPr lang="ko-KR" sz="1800" dirty="0" err="1">
                <a:latin typeface="+mj-ea"/>
                <a:ea typeface="+mj-ea"/>
              </a:rPr>
              <a:t>Split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words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into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individual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characters</a:t>
            </a:r>
            <a:br>
              <a:rPr lang="ko-KR" sz="1800" dirty="0">
                <a:latin typeface="+mj-ea"/>
                <a:ea typeface="+mj-ea"/>
              </a:rPr>
            </a:br>
            <a:r>
              <a:rPr lang="ko-KR" sz="1800" dirty="0">
                <a:latin typeface="+mj-ea"/>
                <a:ea typeface="+mj-ea"/>
              </a:rPr>
              <a:t> </a:t>
            </a:r>
            <a:r>
              <a:rPr lang="ko-KR" sz="1800" dirty="0" err="1">
                <a:latin typeface="+mj-ea"/>
                <a:ea typeface="+mj-ea"/>
              </a:rPr>
              <a:t>e.g</a:t>
            </a:r>
            <a:r>
              <a:rPr lang="ko-KR" sz="1800" dirty="0">
                <a:latin typeface="+mj-ea"/>
                <a:ea typeface="+mj-ea"/>
              </a:rPr>
              <a:t>., </a:t>
            </a:r>
            <a:r>
              <a:rPr lang="ko-KR" sz="1800" dirty="0" err="1">
                <a:latin typeface="+mj-ea"/>
                <a:ea typeface="+mj-ea"/>
              </a:rPr>
              <a:t>learning</a:t>
            </a:r>
            <a:r>
              <a:rPr lang="ko-KR" sz="1800" dirty="0">
                <a:latin typeface="+mj-ea"/>
                <a:ea typeface="+mj-ea"/>
              </a:rPr>
              <a:t> → </a:t>
            </a:r>
            <a:r>
              <a:rPr lang="ko-KR" sz="1800" dirty="0" err="1">
                <a:latin typeface="+mj-ea"/>
                <a:ea typeface="+mj-ea"/>
              </a:rPr>
              <a:t>l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e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a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r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n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i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n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g</a:t>
            </a:r>
            <a:endParaRPr sz="1800" dirty="0">
              <a:latin typeface="+mj-ea"/>
              <a:ea typeface="+mj-ea"/>
            </a:endParaRPr>
          </a:p>
          <a:p>
            <a:pPr marL="800100" lvl="1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ko-KR" sz="1800" b="1" dirty="0" err="1">
                <a:latin typeface="+mj-ea"/>
                <a:ea typeface="+mj-ea"/>
              </a:rPr>
              <a:t>Merge</a:t>
            </a:r>
            <a:r>
              <a:rPr lang="ko-KR" sz="1800" b="1" dirty="0">
                <a:latin typeface="+mj-ea"/>
                <a:ea typeface="+mj-ea"/>
              </a:rPr>
              <a:t> </a:t>
            </a:r>
            <a:r>
              <a:rPr lang="ko-KR" sz="1800" b="1" dirty="0" err="1">
                <a:latin typeface="+mj-ea"/>
                <a:ea typeface="+mj-ea"/>
              </a:rPr>
              <a:t>the</a:t>
            </a:r>
            <a:r>
              <a:rPr lang="ko-KR" sz="1800" b="1" dirty="0">
                <a:latin typeface="+mj-ea"/>
                <a:ea typeface="+mj-ea"/>
              </a:rPr>
              <a:t> </a:t>
            </a:r>
            <a:r>
              <a:rPr lang="ko-KR" sz="1800" b="1" dirty="0" err="1">
                <a:latin typeface="+mj-ea"/>
                <a:ea typeface="+mj-ea"/>
              </a:rPr>
              <a:t>most</a:t>
            </a:r>
            <a:r>
              <a:rPr lang="ko-KR" sz="1800" b="1" dirty="0">
                <a:latin typeface="+mj-ea"/>
                <a:ea typeface="+mj-ea"/>
              </a:rPr>
              <a:t> </a:t>
            </a:r>
            <a:r>
              <a:rPr lang="ko-KR" sz="1800" b="1" dirty="0" err="1">
                <a:latin typeface="+mj-ea"/>
                <a:ea typeface="+mj-ea"/>
              </a:rPr>
              <a:t>frequent</a:t>
            </a:r>
            <a:r>
              <a:rPr lang="ko-KR" sz="1800" b="1" dirty="0">
                <a:latin typeface="+mj-ea"/>
                <a:ea typeface="+mj-ea"/>
              </a:rPr>
              <a:t> </a:t>
            </a:r>
            <a:r>
              <a:rPr lang="ko-KR" sz="1800" b="1" dirty="0" err="1">
                <a:latin typeface="+mj-ea"/>
                <a:ea typeface="+mj-ea"/>
              </a:rPr>
              <a:t>character</a:t>
            </a:r>
            <a:r>
              <a:rPr lang="ko-KR" sz="1800" b="1" dirty="0">
                <a:latin typeface="+mj-ea"/>
                <a:ea typeface="+mj-ea"/>
              </a:rPr>
              <a:t> </a:t>
            </a:r>
            <a:r>
              <a:rPr lang="ko-KR" sz="1800" b="1" dirty="0" err="1">
                <a:latin typeface="+mj-ea"/>
                <a:ea typeface="+mj-ea"/>
              </a:rPr>
              <a:t>pairs</a:t>
            </a:r>
            <a:br>
              <a:rPr lang="ko-KR" sz="1800" dirty="0">
                <a:latin typeface="+mj-ea"/>
                <a:ea typeface="+mj-ea"/>
              </a:rPr>
            </a:br>
            <a:r>
              <a:rPr lang="ko-KR" sz="1800" dirty="0">
                <a:latin typeface="+mj-ea"/>
                <a:ea typeface="+mj-ea"/>
              </a:rPr>
              <a:t> </a:t>
            </a:r>
            <a:r>
              <a:rPr lang="ko-KR" sz="1800" dirty="0" err="1">
                <a:latin typeface="+mj-ea"/>
                <a:ea typeface="+mj-ea"/>
              </a:rPr>
              <a:t>e.g</a:t>
            </a:r>
            <a:r>
              <a:rPr lang="ko-KR" sz="1800" dirty="0">
                <a:latin typeface="+mj-ea"/>
                <a:ea typeface="+mj-ea"/>
              </a:rPr>
              <a:t>., </a:t>
            </a:r>
            <a:r>
              <a:rPr lang="ko-KR" sz="1800" dirty="0" err="1">
                <a:latin typeface="+mj-ea"/>
                <a:ea typeface="+mj-ea"/>
              </a:rPr>
              <a:t>i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en-US" altLang="ko-KR" sz="1800" dirty="0">
                <a:latin typeface="+mj-ea"/>
                <a:ea typeface="+mj-ea"/>
              </a:rPr>
              <a:t>n </a:t>
            </a:r>
            <a:r>
              <a:rPr lang="ko-KR" sz="1800" dirty="0">
                <a:latin typeface="+mj-ea"/>
                <a:ea typeface="+mj-ea"/>
              </a:rPr>
              <a:t>→ </a:t>
            </a:r>
            <a:r>
              <a:rPr lang="en-US" altLang="ko-KR" sz="1800" dirty="0">
                <a:latin typeface="+mj-ea"/>
                <a:ea typeface="+mj-ea"/>
              </a:rPr>
              <a:t>in</a:t>
            </a:r>
            <a:r>
              <a:rPr lang="ko-KR" sz="1800" dirty="0">
                <a:latin typeface="+mj-ea"/>
                <a:ea typeface="+mj-ea"/>
              </a:rPr>
              <a:t>, </a:t>
            </a:r>
            <a:r>
              <a:rPr lang="ko-KR" sz="1800" dirty="0" err="1">
                <a:latin typeface="+mj-ea"/>
                <a:ea typeface="+mj-ea"/>
              </a:rPr>
              <a:t>le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ar</a:t>
            </a:r>
            <a:r>
              <a:rPr lang="ko-KR" sz="1800" dirty="0">
                <a:latin typeface="+mj-ea"/>
                <a:ea typeface="+mj-ea"/>
              </a:rPr>
              <a:t> → </a:t>
            </a:r>
            <a:r>
              <a:rPr lang="ko-KR" sz="1800" dirty="0" err="1">
                <a:latin typeface="+mj-ea"/>
                <a:ea typeface="+mj-ea"/>
              </a:rPr>
              <a:t>lear</a:t>
            </a:r>
            <a:r>
              <a:rPr lang="ko-KR" sz="1800" dirty="0">
                <a:latin typeface="+mj-ea"/>
                <a:ea typeface="+mj-ea"/>
              </a:rPr>
              <a:t>, ...</a:t>
            </a:r>
            <a:endParaRPr sz="1800" dirty="0">
              <a:latin typeface="+mj-ea"/>
              <a:ea typeface="+mj-ea"/>
            </a:endParaRPr>
          </a:p>
          <a:p>
            <a:pPr marL="800100" lvl="1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ko-KR" sz="1800" b="1" dirty="0" err="1">
                <a:latin typeface="+mj-ea"/>
                <a:ea typeface="+mj-ea"/>
              </a:rPr>
              <a:t>Repeat</a:t>
            </a:r>
            <a:r>
              <a:rPr lang="ko-KR" sz="1800" b="1" dirty="0">
                <a:latin typeface="+mj-ea"/>
                <a:ea typeface="+mj-ea"/>
              </a:rPr>
              <a:t> </a:t>
            </a:r>
            <a:r>
              <a:rPr lang="ko-KR" sz="1800" b="1" dirty="0" err="1">
                <a:latin typeface="+mj-ea"/>
                <a:ea typeface="+mj-ea"/>
              </a:rPr>
              <a:t>until</a:t>
            </a:r>
            <a:r>
              <a:rPr lang="ko-KR" sz="1800" b="1" dirty="0">
                <a:latin typeface="+mj-ea"/>
                <a:ea typeface="+mj-ea"/>
              </a:rPr>
              <a:t> </a:t>
            </a:r>
            <a:r>
              <a:rPr lang="ko-KR" sz="1800" b="1" dirty="0" err="1">
                <a:latin typeface="+mj-ea"/>
                <a:ea typeface="+mj-ea"/>
              </a:rPr>
              <a:t>reaching</a:t>
            </a:r>
            <a:r>
              <a:rPr lang="ko-KR" sz="1800" b="1" dirty="0">
                <a:latin typeface="+mj-ea"/>
                <a:ea typeface="+mj-ea"/>
              </a:rPr>
              <a:t> </a:t>
            </a:r>
            <a:r>
              <a:rPr lang="ko-KR" sz="1800" b="1" dirty="0" err="1">
                <a:latin typeface="+mj-ea"/>
                <a:ea typeface="+mj-ea"/>
              </a:rPr>
              <a:t>the</a:t>
            </a:r>
            <a:r>
              <a:rPr lang="ko-KR" sz="1800" b="1" dirty="0">
                <a:latin typeface="+mj-ea"/>
                <a:ea typeface="+mj-ea"/>
              </a:rPr>
              <a:t> </a:t>
            </a:r>
            <a:r>
              <a:rPr lang="ko-KR" sz="1800" b="1" dirty="0" err="1">
                <a:latin typeface="+mj-ea"/>
                <a:ea typeface="+mj-ea"/>
              </a:rPr>
              <a:t>pre-defined</a:t>
            </a:r>
            <a:r>
              <a:rPr lang="ko-KR" sz="1800" b="1" dirty="0">
                <a:latin typeface="+mj-ea"/>
                <a:ea typeface="+mj-ea"/>
              </a:rPr>
              <a:t> </a:t>
            </a:r>
            <a:r>
              <a:rPr lang="ko-KR" sz="1800" b="1" dirty="0" err="1">
                <a:latin typeface="+mj-ea"/>
                <a:ea typeface="+mj-ea"/>
              </a:rPr>
              <a:t>subword</a:t>
            </a:r>
            <a:r>
              <a:rPr lang="ko-KR" sz="1800" b="1" dirty="0">
                <a:latin typeface="+mj-ea"/>
                <a:ea typeface="+mj-ea"/>
              </a:rPr>
              <a:t> </a:t>
            </a:r>
            <a:r>
              <a:rPr lang="ko-KR" sz="1800" b="1" dirty="0" err="1">
                <a:latin typeface="+mj-ea"/>
                <a:ea typeface="+mj-ea"/>
              </a:rPr>
              <a:t>vocabulary</a:t>
            </a:r>
            <a:br>
              <a:rPr lang="ko-KR" sz="1800" dirty="0">
                <a:latin typeface="+mj-ea"/>
                <a:ea typeface="+mj-ea"/>
              </a:rPr>
            </a:br>
            <a:r>
              <a:rPr lang="ko-KR" sz="1800" dirty="0">
                <a:latin typeface="+mj-ea"/>
                <a:ea typeface="+mj-ea"/>
              </a:rPr>
              <a:t> </a:t>
            </a:r>
            <a:r>
              <a:rPr lang="ko-KR" sz="1800" dirty="0" err="1">
                <a:latin typeface="+mj-ea"/>
                <a:ea typeface="+mj-ea"/>
              </a:rPr>
              <a:t>e.g</a:t>
            </a:r>
            <a:r>
              <a:rPr lang="ko-KR" sz="1800" dirty="0">
                <a:latin typeface="+mj-ea"/>
                <a:ea typeface="+mj-ea"/>
              </a:rPr>
              <a:t>., </a:t>
            </a:r>
            <a:r>
              <a:rPr lang="ko-KR" sz="1800" dirty="0" err="1">
                <a:latin typeface="+mj-ea"/>
                <a:ea typeface="+mj-ea"/>
              </a:rPr>
              <a:t>learning</a:t>
            </a:r>
            <a:r>
              <a:rPr lang="ko-KR" sz="1800" dirty="0">
                <a:latin typeface="+mj-ea"/>
                <a:ea typeface="+mj-ea"/>
              </a:rPr>
              <a:t> → </a:t>
            </a:r>
            <a:r>
              <a:rPr lang="ko-KR" sz="1800" dirty="0" err="1">
                <a:latin typeface="+mj-ea"/>
                <a:ea typeface="+mj-ea"/>
              </a:rPr>
              <a:t>lear</a:t>
            </a:r>
            <a:r>
              <a:rPr lang="en-US" altLang="ko-KR" sz="1800" dirty="0">
                <a:latin typeface="+mj-ea"/>
                <a:ea typeface="+mj-ea"/>
              </a:rPr>
              <a:t>n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ing</a:t>
            </a:r>
            <a:br>
              <a:rPr lang="ko-KR" sz="1800" dirty="0">
                <a:latin typeface="+mj-ea"/>
                <a:ea typeface="+mj-ea"/>
              </a:rPr>
            </a:b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L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lama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,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GPT도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BPE 기반 &amp; 유사한 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tokenizer 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사용!</a:t>
            </a:r>
            <a:endParaRPr sz="1800" dirty="0">
              <a:latin typeface="+mj-ea"/>
              <a:ea typeface="+mj-ea"/>
            </a:endParaRPr>
          </a:p>
        </p:txBody>
      </p:sp>
      <p:sp>
        <p:nvSpPr>
          <p:cNvPr id="298" name="Google Shape;298;p2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32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BB99B-9E89-5CAA-4240-08A53DC2B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DAB974-C379-603F-D5F9-96AFB533CCC5}"/>
              </a:ext>
            </a:extLst>
          </p:cNvPr>
          <p:cNvSpPr txBox="1"/>
          <p:nvPr/>
        </p:nvSpPr>
        <p:spPr>
          <a:xfrm>
            <a:off x="700211" y="3044279"/>
            <a:ext cx="107915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en-US" altLang="ko-KR" sz="4400" b="1" dirty="0">
                <a:latin typeface="+mj-ea"/>
                <a:ea typeface="+mj-ea"/>
                <a:cs typeface="Arial" panose="020B0604020202020204" pitchFamily="34" charset="0"/>
              </a:rPr>
              <a:t>Sequential Learning</a:t>
            </a:r>
            <a:endParaRPr lang="ko-KR" altLang="en-US" sz="4400" b="1" dirty="0"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8189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 b="1" dirty="0" err="1">
                <a:latin typeface="+mj-ea"/>
                <a:ea typeface="+mj-ea"/>
                <a:cs typeface="Arial"/>
                <a:sym typeface="Arial"/>
              </a:rPr>
              <a:t>Sequential</a:t>
            </a:r>
            <a:r>
              <a:rPr lang="ko-KR" b="1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b="1" dirty="0" err="1">
                <a:latin typeface="+mj-ea"/>
                <a:ea typeface="+mj-ea"/>
                <a:cs typeface="Arial"/>
                <a:sym typeface="Arial"/>
              </a:rPr>
              <a:t>Learning</a:t>
            </a:r>
            <a:endParaRPr b="1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304" name="Google Shape;304;p2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Is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word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 embedding enough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?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문제점</a:t>
            </a:r>
            <a:endParaRPr lang="en-US" sz="1800"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altLang="en-US" sz="1800" dirty="0">
                <a:latin typeface="+mj-ea"/>
                <a:ea typeface="+mj-ea"/>
              </a:rPr>
              <a:t>단어가 쓰인 맥락을 무시하고 항상 같은 벡터로 처리</a:t>
            </a:r>
            <a:endParaRPr lang="en-US" altLang="ko-KR" sz="1800" dirty="0">
              <a:latin typeface="+mj-ea"/>
              <a:ea typeface="+mj-ea"/>
            </a:endParaRPr>
          </a:p>
          <a:p>
            <a:pPr marL="1143000" lvl="2" indent="-228600">
              <a:lnSpc>
                <a:spcPct val="150000"/>
              </a:lnSpc>
              <a:buSzPct val="100000"/>
            </a:pPr>
            <a:r>
              <a:rPr lang="en-US" sz="1800" dirty="0">
                <a:latin typeface="+mn-ea"/>
                <a:ea typeface="+mn-ea"/>
              </a:rPr>
              <a:t>“He swung the </a:t>
            </a:r>
            <a:r>
              <a:rPr lang="en-US" sz="1800" b="1" dirty="0">
                <a:latin typeface="+mn-ea"/>
                <a:ea typeface="+mn-ea"/>
              </a:rPr>
              <a:t>bat</a:t>
            </a:r>
            <a:r>
              <a:rPr lang="en-US" sz="1800" dirty="0">
                <a:latin typeface="+mn-ea"/>
                <a:ea typeface="+mn-ea"/>
              </a:rPr>
              <a:t> and hit a home run.” </a:t>
            </a:r>
            <a:r>
              <a:rPr lang="en-US" altLang="ko-KR" sz="1800" dirty="0">
                <a:latin typeface="+mn-ea"/>
                <a:ea typeface="+mn-ea"/>
                <a:sym typeface="Wingdings" pitchFamily="2" charset="2"/>
              </a:rPr>
              <a:t></a:t>
            </a:r>
            <a:r>
              <a:rPr lang="en-US" sz="1800" dirty="0">
                <a:latin typeface="+mn-ea"/>
                <a:ea typeface="+mn-ea"/>
              </a:rPr>
              <a:t> </a:t>
            </a:r>
            <a:r>
              <a:rPr lang="en-KR" sz="1800" dirty="0">
                <a:latin typeface="+mn-ea"/>
                <a:ea typeface="+mn-ea"/>
              </a:rPr>
              <a:t>⚾ </a:t>
            </a:r>
            <a:r>
              <a:rPr lang="ko-KR" altLang="en-US" sz="1800" dirty="0">
                <a:latin typeface="+mn-ea"/>
                <a:ea typeface="+mn-ea"/>
              </a:rPr>
              <a:t>야구 방망이</a:t>
            </a:r>
            <a:endParaRPr lang="en-US" altLang="ko-KR" sz="1800" dirty="0">
              <a:latin typeface="+mn-ea"/>
              <a:ea typeface="+mn-ea"/>
            </a:endParaRPr>
          </a:p>
          <a:p>
            <a:pPr marL="1143000" lvl="2" indent="-228600">
              <a:lnSpc>
                <a:spcPct val="150000"/>
              </a:lnSpc>
              <a:buSzPct val="100000"/>
            </a:pPr>
            <a:r>
              <a:rPr lang="ko-KR" altLang="en-US" sz="1800" dirty="0">
                <a:latin typeface="+mn-ea"/>
                <a:ea typeface="+mn-ea"/>
              </a:rPr>
              <a:t>“</a:t>
            </a:r>
            <a:r>
              <a:rPr lang="en-US" sz="1800" dirty="0">
                <a:latin typeface="+mn-ea"/>
                <a:ea typeface="+mn-ea"/>
              </a:rPr>
              <a:t>A </a:t>
            </a:r>
            <a:r>
              <a:rPr lang="en-US" sz="1800" b="1" dirty="0">
                <a:latin typeface="+mn-ea"/>
                <a:ea typeface="+mn-ea"/>
              </a:rPr>
              <a:t>bat</a:t>
            </a:r>
            <a:r>
              <a:rPr lang="en-US" sz="1800" dirty="0">
                <a:latin typeface="+mn-ea"/>
                <a:ea typeface="+mn-ea"/>
              </a:rPr>
              <a:t> flew out of the dark cave.” </a:t>
            </a:r>
            <a:r>
              <a:rPr lang="en-US" altLang="ko-KR" sz="1800" dirty="0">
                <a:latin typeface="+mn-ea"/>
                <a:ea typeface="+mn-ea"/>
                <a:sym typeface="Wingdings" pitchFamily="2" charset="2"/>
              </a:rPr>
              <a:t></a:t>
            </a:r>
            <a:r>
              <a:rPr lang="en-US" sz="1800" dirty="0">
                <a:latin typeface="+mn-ea"/>
                <a:ea typeface="+mn-ea"/>
              </a:rPr>
              <a:t> </a:t>
            </a:r>
            <a:r>
              <a:rPr lang="en-KR" sz="1800" dirty="0">
                <a:latin typeface="+mn-ea"/>
                <a:ea typeface="+mn-ea"/>
              </a:rPr>
              <a:t>🦇 </a:t>
            </a:r>
            <a:r>
              <a:rPr lang="ko-KR" altLang="en-US" sz="1800" dirty="0">
                <a:latin typeface="+mn-ea"/>
                <a:ea typeface="+mn-ea"/>
              </a:rPr>
              <a:t>박쥐</a:t>
            </a:r>
            <a:endParaRPr lang="en-US" altLang="ko-KR" sz="1800" dirty="0">
              <a:latin typeface="+mn-ea"/>
              <a:ea typeface="+mn-ea"/>
            </a:endParaRPr>
          </a:p>
          <a:p>
            <a:pPr marL="914400" lvl="2" indent="0">
              <a:lnSpc>
                <a:spcPct val="150000"/>
              </a:lnSpc>
              <a:buSzPct val="100000"/>
              <a:buNone/>
            </a:pPr>
            <a:r>
              <a:rPr lang="en-US" altLang="ko-KR" sz="1800" dirty="0">
                <a:latin typeface="+mn-ea"/>
                <a:ea typeface="+mn-ea"/>
                <a:sym typeface="Wingdings" pitchFamily="2" charset="2"/>
              </a:rPr>
              <a:t> </a:t>
            </a:r>
            <a:r>
              <a:rPr lang="ko-KR" altLang="en-US" sz="1800" u="sng" dirty="0">
                <a:latin typeface="+mn-ea"/>
                <a:ea typeface="+mn-ea"/>
                <a:sym typeface="Wingdings" pitchFamily="2" charset="2"/>
              </a:rPr>
              <a:t>지금까지 배운 방법만으로는 이 둘을 구분하지 못 함</a:t>
            </a:r>
            <a:endParaRPr lang="en-US" altLang="ko-KR" sz="1800" u="sng" dirty="0">
              <a:latin typeface="+mj-ea"/>
              <a:ea typeface="+mj-ea"/>
            </a:endParaRPr>
          </a:p>
        </p:txBody>
      </p:sp>
      <p:sp>
        <p:nvSpPr>
          <p:cNvPr id="306" name="Google Shape;306;p2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34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 b="1">
                <a:latin typeface="+mj-ea"/>
                <a:ea typeface="+mj-ea"/>
                <a:cs typeface="Arial"/>
                <a:sym typeface="Arial"/>
              </a:rPr>
              <a:t>Sequential Learning</a:t>
            </a:r>
            <a:endParaRPr b="1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312" name="Google Shape;312;p2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순차적 데이터 (</a:t>
            </a:r>
            <a:r>
              <a:rPr lang="ko-KR" sz="1800" b="1" dirty="0" err="1">
                <a:latin typeface="+mj-ea"/>
                <a:ea typeface="+mj-ea"/>
                <a:cs typeface="Arial"/>
                <a:sym typeface="Arial"/>
              </a:rPr>
              <a:t>Sequential</a:t>
            </a: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 Data)</a:t>
            </a:r>
            <a:endParaRPr sz="1800" b="1" dirty="0">
              <a:latin typeface="+mj-ea"/>
              <a:ea typeface="+mj-ea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텍스트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, 음성 등 </a:t>
            </a: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순차적으로 발생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하는 데이터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이전 데이터가 현재 데이터에 영향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을 미침</a:t>
            </a:r>
            <a:endParaRPr sz="1800" dirty="0">
              <a:latin typeface="+mj-ea"/>
              <a:ea typeface="+mj-ea"/>
            </a:endParaRPr>
          </a:p>
        </p:txBody>
      </p:sp>
      <p:sp>
        <p:nvSpPr>
          <p:cNvPr id="314" name="Google Shape;314;p2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35</a:t>
            </a:fld>
            <a:endParaRPr/>
          </a:p>
        </p:txBody>
      </p:sp>
      <p:pic>
        <p:nvPicPr>
          <p:cNvPr id="313" name="Google Shape;313;p28"/>
          <p:cNvPicPr preferRelativeResize="0"/>
          <p:nvPr/>
        </p:nvPicPr>
        <p:blipFill rotWithShape="1">
          <a:blip r:embed="rId3">
            <a:alphaModFix/>
          </a:blip>
          <a:srcRect b="33084"/>
          <a:stretch>
            <a:fillRect/>
          </a:stretch>
        </p:blipFill>
        <p:spPr>
          <a:xfrm>
            <a:off x="770493" y="3429000"/>
            <a:ext cx="10651014" cy="2240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 b="1" dirty="0" err="1">
                <a:latin typeface="+mj-ea"/>
                <a:ea typeface="+mj-ea"/>
                <a:cs typeface="Arial"/>
                <a:sym typeface="Arial"/>
              </a:rPr>
              <a:t>Sequential</a:t>
            </a:r>
            <a:r>
              <a:rPr lang="ko-KR" b="1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b="1" dirty="0" err="1">
                <a:latin typeface="+mj-ea"/>
                <a:ea typeface="+mj-ea"/>
                <a:cs typeface="Arial"/>
                <a:sym typeface="Arial"/>
              </a:rPr>
              <a:t>Learning</a:t>
            </a:r>
            <a:endParaRPr b="1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337" name="Google Shape;337;p3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RNN?</a:t>
            </a:r>
            <a:endParaRPr sz="1800" b="1" dirty="0">
              <a:latin typeface="+mj-ea"/>
              <a:ea typeface="+mj-ea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b="1" dirty="0" err="1">
                <a:latin typeface="+mj-ea"/>
                <a:ea typeface="+mj-ea"/>
                <a:cs typeface="Arial"/>
                <a:sym typeface="Arial"/>
              </a:rPr>
              <a:t>Recurrent</a:t>
            </a: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b="1" dirty="0" err="1">
                <a:latin typeface="+mj-ea"/>
                <a:ea typeface="+mj-ea"/>
                <a:cs typeface="Arial"/>
                <a:sym typeface="Arial"/>
              </a:rPr>
              <a:t>Neural</a:t>
            </a: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 Networks</a:t>
            </a:r>
            <a:endParaRPr sz="1800" b="1" dirty="0">
              <a:latin typeface="+mj-ea"/>
              <a:ea typeface="+mj-ea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순차적인 데이터를 처리하기 위해 설계된 신경망 구조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340" name="Google Shape;340;p3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36</a:t>
            </a:fld>
            <a:endParaRPr/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73418" y="3654752"/>
            <a:ext cx="6029655" cy="2105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0"/>
          <p:cNvPicPr preferRelativeResize="0"/>
          <p:nvPr/>
        </p:nvPicPr>
        <p:blipFill rotWithShape="1">
          <a:blip r:embed="rId4">
            <a:alphaModFix/>
          </a:blip>
          <a:srcRect l="79627"/>
          <a:stretch/>
        </p:blipFill>
        <p:spPr>
          <a:xfrm>
            <a:off x="2178485" y="3243234"/>
            <a:ext cx="1568828" cy="3249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1"/>
          <p:cNvPicPr preferRelativeResize="0"/>
          <p:nvPr/>
        </p:nvPicPr>
        <p:blipFill rotWithShape="1">
          <a:blip r:embed="rId3">
            <a:alphaModFix/>
          </a:blip>
          <a:srcRect l="2080" t="953" r="3690"/>
          <a:stretch/>
        </p:blipFill>
        <p:spPr>
          <a:xfrm>
            <a:off x="6941698" y="2813698"/>
            <a:ext cx="3369336" cy="3225041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 b="1" dirty="0" err="1">
                <a:latin typeface="+mj-ea"/>
                <a:ea typeface="+mj-ea"/>
                <a:cs typeface="Arial"/>
                <a:sym typeface="Arial"/>
              </a:rPr>
              <a:t>Recurrent</a:t>
            </a:r>
            <a:r>
              <a:rPr lang="ko-KR" b="1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b="1" dirty="0" err="1">
                <a:latin typeface="+mj-ea"/>
                <a:ea typeface="+mj-ea"/>
                <a:cs typeface="Arial"/>
                <a:sym typeface="Arial"/>
              </a:rPr>
              <a:t>Neural</a:t>
            </a:r>
            <a:r>
              <a:rPr lang="ko-KR" b="1" dirty="0">
                <a:latin typeface="+mj-ea"/>
                <a:ea typeface="+mj-ea"/>
                <a:cs typeface="Arial"/>
                <a:sym typeface="Arial"/>
              </a:rPr>
              <a:t> Networks</a:t>
            </a:r>
            <a:endParaRPr b="1" dirty="0">
              <a:latin typeface="+mj-ea"/>
              <a:ea typeface="+mj-ea"/>
            </a:endParaRPr>
          </a:p>
        </p:txBody>
      </p:sp>
      <p:sp>
        <p:nvSpPr>
          <p:cNvPr id="346" name="Google Shape;346;p31"/>
          <p:cNvSpPr txBox="1">
            <a:spLocks noGrp="1"/>
          </p:cNvSpPr>
          <p:nvPr>
            <p:ph type="body" idx="1"/>
          </p:nvPr>
        </p:nvSpPr>
        <p:spPr>
          <a:xfrm>
            <a:off x="838200" y="1340569"/>
            <a:ext cx="10515600" cy="4834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b="1" dirty="0" err="1">
                <a:latin typeface="+mj-ea"/>
                <a:ea typeface="+mj-ea"/>
                <a:cs typeface="Arial"/>
                <a:sym typeface="Arial"/>
              </a:rPr>
              <a:t>RNN의</a:t>
            </a: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 구조</a:t>
            </a:r>
            <a:endParaRPr sz="1800" b="1"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altLang="ko-KR" sz="1800" b="1" dirty="0">
                <a:latin typeface="+mj-ea"/>
                <a:ea typeface="+mj-ea"/>
                <a:cs typeface="Arial"/>
                <a:sym typeface="Arial"/>
              </a:rPr>
              <a:t>H</a:t>
            </a:r>
            <a:r>
              <a:rPr lang="ko-KR" sz="1800" b="1" dirty="0" err="1">
                <a:latin typeface="+mj-ea"/>
                <a:ea typeface="+mj-ea"/>
                <a:cs typeface="Arial"/>
                <a:sym typeface="Arial"/>
              </a:rPr>
              <a:t>idden</a:t>
            </a: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b="1" dirty="0" err="1">
                <a:latin typeface="+mj-ea"/>
                <a:ea typeface="+mj-ea"/>
                <a:cs typeface="Arial"/>
                <a:sym typeface="Arial"/>
              </a:rPr>
              <a:t>state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: </a:t>
            </a: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이전 </a:t>
            </a:r>
            <a:r>
              <a:rPr lang="ko-KR" altLang="en-US" sz="1800" b="1" dirty="0">
                <a:latin typeface="+mj-ea"/>
                <a:ea typeface="+mj-ea"/>
                <a:cs typeface="Arial"/>
                <a:sym typeface="Arial"/>
              </a:rPr>
              <a:t>까지의</a:t>
            </a: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altLang="en-US" sz="1800" b="1" dirty="0">
                <a:latin typeface="+mj-ea"/>
                <a:ea typeface="+mj-ea"/>
                <a:cs typeface="Arial"/>
                <a:sym typeface="Arial"/>
              </a:rPr>
              <a:t>모든 </a:t>
            </a: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정보를 저장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하는 벡터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매 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시점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마다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새 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입력 데이터와 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이전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hidden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state를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사용해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,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 새로운 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hidden state</a:t>
            </a:r>
            <a:r>
              <a:rPr lang="ko-KR" altLang="en-US" sz="1800" dirty="0" err="1">
                <a:latin typeface="+mj-ea"/>
                <a:ea typeface="+mj-ea"/>
                <a:cs typeface="Arial"/>
                <a:sym typeface="Arial"/>
              </a:rPr>
              <a:t>를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계산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457200" lvl="1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228600" marR="0" lvl="0" indent="-2286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Font typeface="Arial"/>
              <a:buChar char="•"/>
            </a:pPr>
            <a:r>
              <a:rPr lang="ko-KR" sz="1800" b="1" i="0" u="none" strike="noStrike" cap="none" dirty="0" err="1">
                <a:solidFill>
                  <a:srgbClr val="000000"/>
                </a:solidFill>
                <a:latin typeface="+mj-ea"/>
                <a:ea typeface="+mj-ea"/>
                <a:cs typeface="Arial"/>
                <a:sym typeface="Arial"/>
              </a:rPr>
              <a:t>Recurrent</a:t>
            </a:r>
            <a:r>
              <a:rPr lang="ko-KR" sz="1800" b="1" i="0" u="none" strike="noStrike" cap="none" dirty="0">
                <a:solidFill>
                  <a:srgbClr val="000000"/>
                </a:solidFill>
                <a:latin typeface="+mj-ea"/>
                <a:ea typeface="+mj-ea"/>
                <a:cs typeface="Arial"/>
                <a:sym typeface="Arial"/>
              </a:rPr>
              <a:t> 구조란?</a:t>
            </a:r>
            <a:endParaRPr sz="1800" b="1" dirty="0">
              <a:latin typeface="+mj-ea"/>
              <a:ea typeface="+mj-ea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ko-KR" altLang="en-US" sz="1800" b="0" i="0" u="none" strike="noStrike" cap="none" dirty="0">
                <a:solidFill>
                  <a:srgbClr val="000000"/>
                </a:solidFill>
                <a:latin typeface="+mj-ea"/>
                <a:ea typeface="+mj-ea"/>
                <a:cs typeface="Arial"/>
                <a:sym typeface="Arial"/>
              </a:rPr>
              <a:t>하나의 </a:t>
            </a:r>
            <a:r>
              <a:rPr lang="en-US" altLang="ko-KR" sz="1800" b="0" i="0" u="none" strike="noStrike" cap="none" dirty="0">
                <a:solidFill>
                  <a:srgbClr val="000000"/>
                </a:solidFill>
                <a:latin typeface="+mj-ea"/>
                <a:ea typeface="+mj-ea"/>
                <a:cs typeface="Arial"/>
                <a:sym typeface="Arial"/>
              </a:rPr>
              <a:t>cell</a:t>
            </a:r>
            <a:r>
              <a:rPr lang="ko-KR" altLang="en-US" sz="1800" b="0" i="0" u="none" strike="noStrike" cap="none" dirty="0">
                <a:solidFill>
                  <a:srgbClr val="000000"/>
                </a:solidFill>
                <a:latin typeface="+mj-ea"/>
                <a:ea typeface="+mj-ea"/>
                <a:cs typeface="Arial"/>
                <a:sym typeface="Arial"/>
              </a:rPr>
              <a:t>이 </a:t>
            </a:r>
            <a:r>
              <a:rPr lang="ko-KR" altLang="en-US" sz="1800" b="1" dirty="0">
                <a:solidFill>
                  <a:srgbClr val="000000"/>
                </a:solidFill>
                <a:latin typeface="+mj-ea"/>
                <a:ea typeface="+mj-ea"/>
                <a:cs typeface="Arial"/>
                <a:sym typeface="Arial"/>
              </a:rPr>
              <a:t>매 시점 마다</a:t>
            </a:r>
            <a:r>
              <a:rPr lang="ko-KR" altLang="en-US" sz="1800" b="1" i="0" u="none" strike="noStrike" cap="none" dirty="0">
                <a:solidFill>
                  <a:srgbClr val="000000"/>
                </a:solidFill>
                <a:latin typeface="+mj-ea"/>
                <a:ea typeface="+mj-ea"/>
                <a:cs typeface="Arial"/>
                <a:sym typeface="Arial"/>
              </a:rPr>
              <a:t> 반복 호출</a:t>
            </a:r>
            <a:r>
              <a:rPr lang="ko-KR" altLang="en-US" sz="1800" b="0" i="0" u="none" strike="noStrike" cap="none" dirty="0">
                <a:solidFill>
                  <a:srgbClr val="000000"/>
                </a:solidFill>
                <a:latin typeface="+mj-ea"/>
                <a:ea typeface="+mj-ea"/>
                <a:cs typeface="Arial"/>
                <a:sym typeface="Arial"/>
              </a:rPr>
              <a:t>되는 구조</a:t>
            </a:r>
            <a:endParaRPr lang="en-US" altLang="ko-KR" sz="1800" b="0" i="0" u="none" strike="noStrike" cap="none" dirty="0">
              <a:solidFill>
                <a:srgbClr val="000000"/>
              </a:solidFill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348" name="Google Shape;348;p3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37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b="1">
                <a:latin typeface="+mj-ea"/>
                <a:ea typeface="+mj-ea"/>
              </a:rPr>
              <a:t>RNN</a:t>
            </a:r>
            <a:endParaRPr>
              <a:latin typeface="+mj-ea"/>
              <a:ea typeface="+mj-ea"/>
            </a:endParaRPr>
          </a:p>
        </p:txBody>
      </p:sp>
      <p:sp>
        <p:nvSpPr>
          <p:cNvPr id="354" name="Google Shape;354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b="1" dirty="0" err="1">
                <a:latin typeface="+mj-ea"/>
                <a:ea typeface="+mj-ea"/>
                <a:cs typeface="Arial"/>
                <a:sym typeface="Arial"/>
              </a:rPr>
              <a:t>RNN의</a:t>
            </a: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 특징</a:t>
            </a:r>
            <a:endParaRPr sz="1800" b="1"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altLang="en-US" sz="1800" b="1" dirty="0">
                <a:latin typeface="+mj-ea"/>
                <a:ea typeface="+mj-ea"/>
                <a:cs typeface="Arial"/>
                <a:sym typeface="Arial"/>
              </a:rPr>
              <a:t>입력 </a:t>
            </a:r>
            <a:r>
              <a:rPr lang="en-US" altLang="ko-KR" sz="1800" b="1" dirty="0">
                <a:latin typeface="+mj-ea"/>
                <a:ea typeface="+mj-ea"/>
                <a:cs typeface="Arial"/>
                <a:sym typeface="Arial"/>
              </a:rPr>
              <a:t>sequence</a:t>
            </a:r>
            <a:r>
              <a:rPr lang="ko-KR" altLang="en-US" sz="1800" b="1" dirty="0" err="1">
                <a:latin typeface="+mj-ea"/>
                <a:ea typeface="+mj-ea"/>
                <a:cs typeface="Arial"/>
                <a:sym typeface="Arial"/>
              </a:rPr>
              <a:t>를</a:t>
            </a:r>
            <a:r>
              <a:rPr lang="ko-KR" altLang="en-US" sz="1800" b="1" dirty="0">
                <a:latin typeface="+mj-ea"/>
                <a:ea typeface="+mj-ea"/>
                <a:cs typeface="Arial"/>
                <a:sym typeface="Arial"/>
              </a:rPr>
              <a:t> 순서대로 읽어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,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 각 시점의 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hidden state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와 출력을 반복적으로 계산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장점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어떤 길이의 입력이든 처리 가능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긴 입력 데이터를 처리해도 모델 크기가 증가하지 않음</a:t>
            </a:r>
            <a:endParaRPr lang="en-US" altLang="ko-KR" sz="1800"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다양한 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task</a:t>
            </a:r>
            <a:r>
              <a:rPr lang="ko-KR" altLang="en-US" sz="1800" dirty="0" err="1">
                <a:latin typeface="+mj-ea"/>
                <a:ea typeface="+mj-ea"/>
                <a:cs typeface="Arial"/>
                <a:sym typeface="Arial"/>
              </a:rPr>
              <a:t>에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 적용 가능</a:t>
            </a:r>
            <a:endParaRPr lang="en-US" altLang="ko-KR" sz="1800" dirty="0">
              <a:latin typeface="+mj-ea"/>
              <a:ea typeface="+mj-ea"/>
              <a:cs typeface="Arial"/>
              <a:sym typeface="Arial"/>
            </a:endParaRPr>
          </a:p>
          <a:p>
            <a:pPr marL="1143000" lvl="2" indent="-228600">
              <a:lnSpc>
                <a:spcPct val="150000"/>
              </a:lnSpc>
              <a:buSzPct val="100000"/>
            </a:pPr>
            <a:r>
              <a:rPr lang="en-US" altLang="ko-KR" sz="1400" dirty="0">
                <a:latin typeface="+mj-ea"/>
                <a:ea typeface="+mj-ea"/>
                <a:cs typeface="Arial"/>
                <a:sym typeface="Arial"/>
              </a:rPr>
              <a:t>Many-to-one</a:t>
            </a:r>
          </a:p>
          <a:p>
            <a:pPr marL="1143000" lvl="2" indent="-228600">
              <a:lnSpc>
                <a:spcPct val="150000"/>
              </a:lnSpc>
              <a:buSzPct val="100000"/>
            </a:pPr>
            <a:r>
              <a:rPr lang="en-US" altLang="ko-KR" sz="1400" dirty="0">
                <a:latin typeface="+mj-ea"/>
                <a:ea typeface="+mj-ea"/>
                <a:cs typeface="Arial"/>
                <a:sym typeface="Arial"/>
              </a:rPr>
              <a:t>One-to-one</a:t>
            </a:r>
          </a:p>
          <a:p>
            <a:pPr marL="1143000" lvl="2" indent="-228600">
              <a:lnSpc>
                <a:spcPct val="150000"/>
              </a:lnSpc>
              <a:buSzPct val="100000"/>
            </a:pPr>
            <a:r>
              <a:rPr lang="en-US" altLang="ko-KR" sz="1400" dirty="0">
                <a:latin typeface="+mj-ea"/>
                <a:ea typeface="+mj-ea"/>
                <a:cs typeface="Arial"/>
                <a:sym typeface="Arial"/>
              </a:rPr>
              <a:t>One-to-many…</a:t>
            </a:r>
          </a:p>
          <a:p>
            <a:pPr marL="1143000" lvl="2" indent="-228600">
              <a:lnSpc>
                <a:spcPct val="150000"/>
              </a:lnSpc>
              <a:buSzPct val="100000"/>
            </a:pPr>
            <a:endParaRPr sz="1400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355" name="Google Shape;355;p3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38</a:t>
            </a:fld>
            <a:endParaRPr/>
          </a:p>
        </p:txBody>
      </p:sp>
      <p:pic>
        <p:nvPicPr>
          <p:cNvPr id="9218" name="Picture 2" descr="RNN - Many-to-one | Chan`s Jupyter">
            <a:extLst>
              <a:ext uri="{FF2B5EF4-FFF2-40B4-BE49-F238E27FC236}">
                <a16:creationId xmlns:a16="http://schemas.microsoft.com/office/drawing/2014/main" id="{90F0F608-6B4B-8A7A-E1FE-2B356BD88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8487" y="3858974"/>
            <a:ext cx="6278368" cy="2063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>
          <a:extLst>
            <a:ext uri="{FF2B5EF4-FFF2-40B4-BE49-F238E27FC236}">
              <a16:creationId xmlns:a16="http://schemas.microsoft.com/office/drawing/2014/main" id="{97F9345C-97FD-349E-7272-ADDDFB74E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2">
            <a:extLst>
              <a:ext uri="{FF2B5EF4-FFF2-40B4-BE49-F238E27FC236}">
                <a16:creationId xmlns:a16="http://schemas.microsoft.com/office/drawing/2014/main" id="{C731870B-80DF-27AB-F3A8-E524F2E81C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b="1">
                <a:latin typeface="+mj-ea"/>
                <a:ea typeface="+mj-ea"/>
              </a:rPr>
              <a:t>RNN</a:t>
            </a:r>
            <a:endParaRPr>
              <a:latin typeface="+mj-ea"/>
              <a:ea typeface="+mj-ea"/>
            </a:endParaRPr>
          </a:p>
        </p:txBody>
      </p:sp>
      <p:sp>
        <p:nvSpPr>
          <p:cNvPr id="355" name="Google Shape;355;p32">
            <a:extLst>
              <a:ext uri="{FF2B5EF4-FFF2-40B4-BE49-F238E27FC236}">
                <a16:creationId xmlns:a16="http://schemas.microsoft.com/office/drawing/2014/main" id="{4C790B2A-E1EA-C43C-95D4-8E474331EAC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39</a:t>
            </a:fld>
            <a:endParaRPr/>
          </a:p>
        </p:txBody>
      </p:sp>
      <p:pic>
        <p:nvPicPr>
          <p:cNvPr id="9218" name="Picture 2" descr="RNN - Many-to-one | Chan`s Jupyter">
            <a:extLst>
              <a:ext uri="{FF2B5EF4-FFF2-40B4-BE49-F238E27FC236}">
                <a16:creationId xmlns:a16="http://schemas.microsoft.com/office/drawing/2014/main" id="{232C3E1B-0594-CFE9-0161-797E2FCCC5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8560" y="2070169"/>
            <a:ext cx="9294879" cy="3054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7D03C68-1834-A692-1BB2-7BB4CFE3FF3C}"/>
              </a:ext>
            </a:extLst>
          </p:cNvPr>
          <p:cNvSpPr txBox="1"/>
          <p:nvPr/>
        </p:nvSpPr>
        <p:spPr>
          <a:xfrm>
            <a:off x="1066632" y="5369440"/>
            <a:ext cx="1432307" cy="307777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4472C4"/>
                </a:solidFill>
              </a:rPr>
              <a:t>이미지 분류</a:t>
            </a:r>
            <a:endParaRPr lang="en-US" altLang="ko-KR" dirty="0">
              <a:solidFill>
                <a:srgbClr val="4472C4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7CB2A0-8299-7788-7C5F-F25B3254A79E}"/>
              </a:ext>
            </a:extLst>
          </p:cNvPr>
          <p:cNvSpPr txBox="1"/>
          <p:nvPr/>
        </p:nvSpPr>
        <p:spPr>
          <a:xfrm>
            <a:off x="2665408" y="5369441"/>
            <a:ext cx="1873641" cy="307777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4472C4"/>
                </a:solidFill>
              </a:rPr>
              <a:t>이미지 </a:t>
            </a:r>
            <a:r>
              <a:rPr lang="en-US" altLang="ko-KR" dirty="0">
                <a:solidFill>
                  <a:srgbClr val="4472C4"/>
                </a:solidFill>
              </a:rPr>
              <a:t>captioning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387A58-C4B5-C73B-C802-E3855E613A0B}"/>
              </a:ext>
            </a:extLst>
          </p:cNvPr>
          <p:cNvSpPr txBox="1"/>
          <p:nvPr/>
        </p:nvSpPr>
        <p:spPr>
          <a:xfrm>
            <a:off x="4854088" y="5369440"/>
            <a:ext cx="1873641" cy="738664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4472C4"/>
                </a:solidFill>
              </a:rPr>
              <a:t>감정 분석</a:t>
            </a:r>
            <a:endParaRPr lang="en-US" altLang="ko-KR" dirty="0">
              <a:solidFill>
                <a:srgbClr val="4472C4"/>
              </a:solidFill>
            </a:endParaRP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4472C4"/>
                </a:solidFill>
              </a:rPr>
              <a:t>스팸 분류</a:t>
            </a:r>
            <a:endParaRPr lang="en-US" altLang="ko-KR" dirty="0">
              <a:solidFill>
                <a:srgbClr val="4472C4"/>
              </a:solidFill>
            </a:endParaRP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4472C4"/>
                </a:solidFill>
              </a:rPr>
              <a:t>문장 주제 분류</a:t>
            </a:r>
            <a:endParaRPr lang="en-US" altLang="ko-KR" dirty="0">
              <a:solidFill>
                <a:srgbClr val="4472C4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84DD4E-A64E-6F5F-4466-830FF75A11BB}"/>
              </a:ext>
            </a:extLst>
          </p:cNvPr>
          <p:cNvSpPr txBox="1"/>
          <p:nvPr/>
        </p:nvSpPr>
        <p:spPr>
          <a:xfrm>
            <a:off x="7022386" y="5369440"/>
            <a:ext cx="1873641" cy="954107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4472C4"/>
                </a:solidFill>
              </a:rPr>
              <a:t>기계 번역</a:t>
            </a:r>
            <a:endParaRPr lang="en-US" altLang="ko-KR" dirty="0">
              <a:solidFill>
                <a:srgbClr val="4472C4"/>
              </a:solidFill>
            </a:endParaRP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4472C4"/>
                </a:solidFill>
              </a:rPr>
              <a:t>텍스트 요약</a:t>
            </a:r>
            <a:endParaRPr lang="en-US" altLang="ko-KR" dirty="0">
              <a:solidFill>
                <a:srgbClr val="4472C4"/>
              </a:solidFill>
            </a:endParaRP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4472C4"/>
                </a:solidFill>
              </a:rPr>
              <a:t>질문 생성</a:t>
            </a:r>
            <a:endParaRPr lang="en-US" altLang="ko-KR" dirty="0">
              <a:solidFill>
                <a:srgbClr val="4472C4"/>
              </a:solidFill>
            </a:endParaRP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4472C4"/>
                </a:solidFill>
              </a:rPr>
              <a:t>대화 응답 생성</a:t>
            </a:r>
            <a:endParaRPr lang="en-US" altLang="ko-KR" dirty="0">
              <a:solidFill>
                <a:srgbClr val="4472C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2B3148-79B1-FBCA-61C5-02A2A5C34675}"/>
              </a:ext>
            </a:extLst>
          </p:cNvPr>
          <p:cNvSpPr txBox="1"/>
          <p:nvPr/>
        </p:nvSpPr>
        <p:spPr>
          <a:xfrm>
            <a:off x="9326904" y="5369440"/>
            <a:ext cx="125663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4472C4"/>
                </a:solidFill>
              </a:rPr>
              <a:t>POS</a:t>
            </a:r>
            <a:r>
              <a:rPr lang="ko-KR" altLang="en-US" dirty="0">
                <a:solidFill>
                  <a:srgbClr val="4472C4"/>
                </a:solidFill>
              </a:rPr>
              <a:t> </a:t>
            </a:r>
            <a:r>
              <a:rPr lang="ko-KR" altLang="en-US" dirty="0" err="1">
                <a:solidFill>
                  <a:srgbClr val="4472C4"/>
                </a:solidFill>
              </a:rPr>
              <a:t>태깅</a:t>
            </a:r>
            <a:endParaRPr lang="en-US" altLang="ko-KR" dirty="0">
              <a:solidFill>
                <a:srgbClr val="4472C4"/>
              </a:solidFill>
            </a:endParaRP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4472C4"/>
                </a:solidFill>
              </a:rPr>
              <a:t>NER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95AB10B-38DF-5D08-207C-94BA4DADCF16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1782786" y="4975761"/>
            <a:ext cx="251298" cy="39367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0E58C7B-F003-0780-A40C-783BD9522177}"/>
              </a:ext>
            </a:extLst>
          </p:cNvPr>
          <p:cNvCxnSpPr>
            <a:cxnSpLocks/>
            <a:stCxn id="3" idx="0"/>
          </p:cNvCxnSpPr>
          <p:nvPr/>
        </p:nvCxnSpPr>
        <p:spPr>
          <a:xfrm flipH="1" flipV="1">
            <a:off x="3602228" y="4975761"/>
            <a:ext cx="1" cy="39368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EBE3A1-4B16-F4B6-D322-A61910DD51D4}"/>
              </a:ext>
            </a:extLst>
          </p:cNvPr>
          <p:cNvCxnSpPr>
            <a:cxnSpLocks/>
            <a:stCxn id="4" idx="0"/>
          </p:cNvCxnSpPr>
          <p:nvPr/>
        </p:nvCxnSpPr>
        <p:spPr>
          <a:xfrm flipH="1" flipV="1">
            <a:off x="5557890" y="4975760"/>
            <a:ext cx="233019" cy="39368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AE1E96B-EB88-100B-295D-31FBA6CB9E8D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7664549" y="4975761"/>
            <a:ext cx="294658" cy="39367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5830BFB-17B6-9C85-3693-ADB644299591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9916220" y="4975761"/>
            <a:ext cx="38999" cy="39367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07433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b="1">
                <a:latin typeface="+mj-ea"/>
                <a:ea typeface="+mj-ea"/>
              </a:rPr>
              <a:t>RNN</a:t>
            </a:r>
            <a:endParaRPr>
              <a:latin typeface="+mj-ea"/>
              <a:ea typeface="+mj-ea"/>
            </a:endParaRPr>
          </a:p>
        </p:txBody>
      </p:sp>
      <p:sp>
        <p:nvSpPr>
          <p:cNvPr id="361" name="Google Shape;361;p3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RNN의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한계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반복 계산이 느림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⭐️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장기 의존성 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문제(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Long-term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dependency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)</a:t>
            </a:r>
            <a:endParaRPr sz="1800" dirty="0">
              <a:latin typeface="+mj-ea"/>
              <a:ea typeface="+mj-ea"/>
            </a:endParaRPr>
          </a:p>
          <a:p>
            <a:pPr marL="914400" lvl="2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문장이 길어지면 뒤에서 앞의 정보에 접근하기 어려워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짐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457200" lvl="1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ko-KR" sz="1800" dirty="0">
                <a:latin typeface="+mj-ea"/>
                <a:ea typeface="+mj-ea"/>
                <a:cs typeface="Arial"/>
                <a:sym typeface="Wingdings" pitchFamily="2" charset="2"/>
              </a:rPr>
              <a:t></a:t>
            </a:r>
            <a:r>
              <a:rPr lang="ko-KR" altLang="en-US" sz="1800" dirty="0">
                <a:latin typeface="+mj-ea"/>
                <a:ea typeface="+mj-ea"/>
                <a:cs typeface="Arial"/>
                <a:sym typeface="Wingdings" pitchFamily="2" charset="2"/>
              </a:rPr>
              <a:t> </a:t>
            </a:r>
            <a:r>
              <a:rPr lang="ko-KR" sz="1800" u="sng" dirty="0">
                <a:latin typeface="+mj-ea"/>
                <a:ea typeface="+mj-ea"/>
                <a:cs typeface="Arial"/>
                <a:sym typeface="Arial"/>
              </a:rPr>
              <a:t>중요한 정보</a:t>
            </a:r>
            <a:r>
              <a:rPr lang="ko-KR" altLang="en-US" sz="1800" u="sng" dirty="0">
                <a:latin typeface="+mj-ea"/>
                <a:ea typeface="+mj-ea"/>
                <a:cs typeface="Arial"/>
                <a:sym typeface="Arial"/>
              </a:rPr>
              <a:t>가</a:t>
            </a:r>
            <a:r>
              <a:rPr lang="ko-KR" sz="1800" u="sng" dirty="0">
                <a:latin typeface="+mj-ea"/>
                <a:ea typeface="+mj-ea"/>
                <a:cs typeface="Arial"/>
                <a:sym typeface="Arial"/>
              </a:rPr>
              <a:t> 소실될 수 있</a:t>
            </a:r>
            <a:r>
              <a:rPr lang="ko-KR" altLang="en-US" sz="1800" u="sng" dirty="0">
                <a:latin typeface="+mj-ea"/>
                <a:ea typeface="+mj-ea"/>
                <a:cs typeface="Arial"/>
                <a:sym typeface="Arial"/>
              </a:rPr>
              <a:t>음</a:t>
            </a:r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RNN 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적용 가능 분야</a:t>
            </a: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NLP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: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다음 단어 예측, 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기계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번역, 주어진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seed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text에서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새로운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text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생성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ko-KR" sz="1800" b="0" i="0" u="none" strike="noStrike" cap="none" dirty="0">
                <a:solidFill>
                  <a:srgbClr val="000000"/>
                </a:solidFill>
                <a:latin typeface="+mj-ea"/>
                <a:ea typeface="+mj-ea"/>
                <a:cs typeface="Arial"/>
                <a:sym typeface="Arial"/>
              </a:rPr>
              <a:t>음성인식: 음성 데이터를 </a:t>
            </a:r>
            <a:r>
              <a:rPr lang="ko-KR" sz="1800" b="0" i="0" u="none" strike="noStrike" cap="none" dirty="0" err="1">
                <a:solidFill>
                  <a:srgbClr val="000000"/>
                </a:solidFill>
                <a:latin typeface="+mj-ea"/>
                <a:ea typeface="+mj-ea"/>
                <a:cs typeface="Arial"/>
                <a:sym typeface="Arial"/>
              </a:rPr>
              <a:t>text로</a:t>
            </a:r>
            <a:r>
              <a:rPr lang="ko-KR" sz="1800" b="0" i="0" u="none" strike="noStrike" cap="none" dirty="0">
                <a:solidFill>
                  <a:srgbClr val="000000"/>
                </a:solidFill>
                <a:latin typeface="+mj-ea"/>
                <a:ea typeface="+mj-ea"/>
                <a:cs typeface="Arial"/>
                <a:sym typeface="Arial"/>
              </a:rPr>
              <a:t> 변환</a:t>
            </a:r>
            <a:endParaRPr sz="1800" b="0" i="0" u="none" strike="noStrike" cap="none" dirty="0">
              <a:solidFill>
                <a:srgbClr val="000000"/>
              </a:solidFill>
              <a:latin typeface="+mj-ea"/>
              <a:ea typeface="+mj-ea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ko-KR" sz="1800" dirty="0">
                <a:solidFill>
                  <a:srgbClr val="000000"/>
                </a:solidFill>
                <a:latin typeface="+mj-ea"/>
                <a:ea typeface="+mj-ea"/>
                <a:cs typeface="Arial"/>
                <a:sym typeface="Arial"/>
              </a:rPr>
              <a:t>시계열 분석: 주가 예측, 기후 예측</a:t>
            </a:r>
            <a:endParaRPr sz="1800" b="0" i="0" u="none" strike="noStrike" cap="none" dirty="0">
              <a:solidFill>
                <a:srgbClr val="000000"/>
              </a:solidFill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362" name="Google Shape;362;p3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40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b="1">
                <a:latin typeface="+mj-ea"/>
                <a:ea typeface="+mj-ea"/>
              </a:rPr>
              <a:t>LSTM</a:t>
            </a:r>
            <a:endParaRPr>
              <a:latin typeface="+mj-ea"/>
              <a:ea typeface="+mj-ea"/>
            </a:endParaRPr>
          </a:p>
        </p:txBody>
      </p:sp>
      <p:sp>
        <p:nvSpPr>
          <p:cNvPr id="368" name="Google Shape;368;p3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LSTM</a:t>
            </a:r>
            <a:endParaRPr sz="1800" b="1" dirty="0">
              <a:latin typeface="+mj-ea"/>
              <a:ea typeface="+mj-ea"/>
            </a:endParaRPr>
          </a:p>
          <a:p>
            <a:pPr marL="742950" lvl="1" indent="-28575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ko-KR" sz="1800" b="1" dirty="0" err="1">
                <a:latin typeface="+mj-ea"/>
                <a:ea typeface="+mj-ea"/>
                <a:cs typeface="Arial"/>
                <a:sym typeface="Arial"/>
              </a:rPr>
              <a:t>Long</a:t>
            </a: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b="1" dirty="0" err="1">
                <a:latin typeface="+mj-ea"/>
                <a:ea typeface="+mj-ea"/>
                <a:cs typeface="Arial"/>
                <a:sym typeface="Arial"/>
              </a:rPr>
              <a:t>Short-Term</a:t>
            </a: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b="1" dirty="0" err="1">
                <a:latin typeface="+mj-ea"/>
                <a:ea typeface="+mj-ea"/>
                <a:cs typeface="Arial"/>
                <a:sym typeface="Arial"/>
              </a:rPr>
              <a:t>Memory</a:t>
            </a:r>
            <a:endParaRPr sz="1800" b="1" dirty="0">
              <a:latin typeface="+mj-ea"/>
              <a:ea typeface="+mj-ea"/>
            </a:endParaRPr>
          </a:p>
          <a:p>
            <a:pPr marL="742950" lvl="1" indent="-28575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ko-KR" sz="1800" u="sng" dirty="0" err="1">
                <a:latin typeface="+mj-ea"/>
                <a:ea typeface="+mj-ea"/>
                <a:cs typeface="Arial"/>
                <a:sym typeface="Arial"/>
              </a:rPr>
              <a:t>RNN의</a:t>
            </a:r>
            <a:r>
              <a:rPr lang="ko-KR" sz="1800" u="sng" dirty="0">
                <a:latin typeface="+mj-ea"/>
                <a:ea typeface="+mj-ea"/>
                <a:cs typeface="Arial"/>
                <a:sym typeface="Arial"/>
              </a:rPr>
              <a:t> 한계(장기 의존성 문제)</a:t>
            </a:r>
            <a:r>
              <a:rPr lang="ko-KR" sz="1800" u="sng" dirty="0" err="1">
                <a:latin typeface="+mj-ea"/>
                <a:ea typeface="+mj-ea"/>
                <a:cs typeface="Arial"/>
                <a:sym typeface="Arial"/>
              </a:rPr>
              <a:t>를</a:t>
            </a:r>
            <a:r>
              <a:rPr lang="ko-KR" sz="1800" u="sng" dirty="0">
                <a:latin typeface="+mj-ea"/>
                <a:ea typeface="+mj-ea"/>
                <a:cs typeface="Arial"/>
                <a:sym typeface="Arial"/>
              </a:rPr>
              <a:t> 극복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하기 위해 고안, </a:t>
            </a:r>
            <a:r>
              <a:rPr lang="ko-KR" sz="1800" dirty="0" err="1">
                <a:latin typeface="+mj-ea"/>
                <a:ea typeface="+mj-ea"/>
              </a:rPr>
              <a:t>RNN의</a:t>
            </a:r>
            <a:r>
              <a:rPr lang="ko-KR" sz="1800" dirty="0">
                <a:latin typeface="+mj-ea"/>
                <a:ea typeface="+mj-ea"/>
              </a:rPr>
              <a:t> 일종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457200" lvl="1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762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370" name="Google Shape;370;p3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41</a:t>
            </a:fld>
            <a:endParaRPr/>
          </a:p>
        </p:txBody>
      </p:sp>
      <p:pic>
        <p:nvPicPr>
          <p:cNvPr id="369" name="Google Shape;369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72324" y="2987682"/>
            <a:ext cx="7647352" cy="3093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b="1" dirty="0">
                <a:latin typeface="+mj-ea"/>
                <a:ea typeface="+mj-ea"/>
              </a:rPr>
              <a:t>LSTM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376" name="Google Shape;376;p3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</a:pPr>
            <a:r>
              <a:rPr lang="en-US" sz="1800" b="1" dirty="0">
                <a:latin typeface="+mj-ea"/>
                <a:ea typeface="+mj-ea"/>
                <a:cs typeface="Arial"/>
                <a:sym typeface="Arial"/>
              </a:rPr>
              <a:t>Hidden State</a:t>
            </a:r>
            <a:r>
              <a:rPr lang="en-US" sz="1800" dirty="0">
                <a:latin typeface="+mj-ea"/>
                <a:ea typeface="+mj-ea"/>
                <a:cs typeface="Arial"/>
                <a:sym typeface="Arial"/>
              </a:rPr>
              <a:t>: </a:t>
            </a:r>
            <a:r>
              <a:rPr lang="ko-KR" altLang="en-US" sz="1800" dirty="0"/>
              <a:t>출력하는 </a:t>
            </a:r>
            <a:r>
              <a:rPr lang="ko-KR" altLang="en-US" sz="1800" dirty="0" err="1"/>
              <a:t>값이자</a:t>
            </a:r>
            <a:r>
              <a:rPr lang="en-US" altLang="ko-KR" sz="1800" dirty="0"/>
              <a:t>, </a:t>
            </a:r>
            <a:r>
              <a:rPr lang="ko-KR" altLang="en-US" sz="1800" dirty="0"/>
              <a:t>다음 시점으로 전달되는 </a:t>
            </a:r>
            <a:r>
              <a:rPr lang="ko-KR" altLang="en-US" sz="1800" b="1" dirty="0"/>
              <a:t>단기 메모리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228600" indent="-228600">
              <a:spcBef>
                <a:spcPts val="500"/>
              </a:spcBef>
            </a:pPr>
            <a:r>
              <a:rPr lang="ko-KR" sz="1800" b="1" dirty="0" err="1">
                <a:latin typeface="+mj-ea"/>
                <a:ea typeface="+mj-ea"/>
                <a:cs typeface="Arial"/>
                <a:sym typeface="Arial"/>
              </a:rPr>
              <a:t>Cell</a:t>
            </a: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b="1" dirty="0" err="1">
                <a:latin typeface="+mj-ea"/>
                <a:ea typeface="+mj-ea"/>
                <a:cs typeface="Arial"/>
                <a:sym typeface="Arial"/>
              </a:rPr>
              <a:t>state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: 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장기적으로 기억해야 할 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정보를 유지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하는 </a:t>
            </a:r>
            <a:r>
              <a:rPr lang="ko-KR" altLang="en-US" sz="1800" b="1" dirty="0">
                <a:latin typeface="+mj-ea"/>
                <a:ea typeface="+mj-ea"/>
                <a:cs typeface="Arial"/>
                <a:sym typeface="Arial"/>
              </a:rPr>
              <a:t>장기 메모리</a:t>
            </a:r>
            <a:endParaRPr sz="1800" b="1" dirty="0">
              <a:latin typeface="+mj-ea"/>
              <a:ea typeface="+mj-ea"/>
              <a:cs typeface="Arial"/>
              <a:sym typeface="Arial"/>
            </a:endParaRPr>
          </a:p>
          <a:p>
            <a:pPr marL="228600" indent="-228600">
              <a:spcBef>
                <a:spcPts val="500"/>
              </a:spcBef>
            </a:pP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Gates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: 정보를 선택적으로 통과시키는 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gate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742950" lvl="1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sz="1800" b="1" dirty="0" err="1">
                <a:latin typeface="+mj-ea"/>
                <a:ea typeface="+mj-ea"/>
                <a:cs typeface="Arial"/>
                <a:sym typeface="Arial"/>
              </a:rPr>
              <a:t>input</a:t>
            </a: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b="1" dirty="0" err="1">
                <a:latin typeface="+mj-ea"/>
                <a:ea typeface="+mj-ea"/>
                <a:cs typeface="Arial"/>
                <a:sym typeface="Arial"/>
              </a:rPr>
              <a:t>gate</a:t>
            </a:r>
            <a:r>
              <a:rPr lang="en-US" altLang="ko-KR" sz="1800" b="1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- 새로운 정보를 얼마나 반영할 것인지 결정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742950" lvl="1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sz="1800" b="1" dirty="0" err="1">
                <a:latin typeface="+mj-ea"/>
                <a:ea typeface="+mj-ea"/>
                <a:cs typeface="Arial"/>
                <a:sym typeface="Arial"/>
              </a:rPr>
              <a:t>forget</a:t>
            </a: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b="1" dirty="0" err="1">
                <a:latin typeface="+mj-ea"/>
                <a:ea typeface="+mj-ea"/>
                <a:cs typeface="Arial"/>
                <a:sym typeface="Arial"/>
              </a:rPr>
              <a:t>gate</a:t>
            </a:r>
            <a:r>
              <a:rPr lang="en-US" altLang="ko-KR" sz="1800" b="1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- 이전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cell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state의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정보를 얼마나 잊을 것인지 결정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742950" lvl="1" indent="-2857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sz="1800" b="1" dirty="0" err="1">
                <a:latin typeface="+mj-ea"/>
                <a:ea typeface="+mj-ea"/>
                <a:cs typeface="Arial"/>
                <a:sym typeface="Arial"/>
              </a:rPr>
              <a:t>output</a:t>
            </a: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b="1" dirty="0" err="1">
                <a:latin typeface="+mj-ea"/>
                <a:ea typeface="+mj-ea"/>
                <a:cs typeface="Arial"/>
                <a:sym typeface="Arial"/>
              </a:rPr>
              <a:t>gate</a:t>
            </a:r>
            <a:r>
              <a:rPr lang="en-US" altLang="ko-KR" sz="1800" b="1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- 현재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cell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sate를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기반으로 출력할 정보를 결정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1143000" lvl="2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384" name="Google Shape;384;p3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42</a:t>
            </a:fld>
            <a:endParaRPr/>
          </a:p>
        </p:txBody>
      </p:sp>
      <p:pic>
        <p:nvPicPr>
          <p:cNvPr id="377" name="Google Shape;377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89622" y="4219117"/>
            <a:ext cx="6012756" cy="2432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5"/>
          <p:cNvPicPr preferRelativeResize="0"/>
          <p:nvPr/>
        </p:nvPicPr>
        <p:blipFill rotWithShape="1">
          <a:blip r:embed="rId4">
            <a:alphaModFix/>
          </a:blip>
          <a:srcRect l="2259" t="33951" r="60588" b="53955"/>
          <a:stretch/>
        </p:blipFill>
        <p:spPr>
          <a:xfrm>
            <a:off x="7738996" y="6081427"/>
            <a:ext cx="1985377" cy="388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5"/>
          <p:cNvPicPr preferRelativeResize="0"/>
          <p:nvPr/>
        </p:nvPicPr>
        <p:blipFill rotWithShape="1">
          <a:blip r:embed="rId4">
            <a:alphaModFix/>
          </a:blip>
          <a:srcRect l="2239" t="19966" r="60745" b="67940"/>
          <a:stretch/>
        </p:blipFill>
        <p:spPr>
          <a:xfrm>
            <a:off x="5042786" y="6467941"/>
            <a:ext cx="1978052" cy="388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5"/>
          <p:cNvPicPr preferRelativeResize="0"/>
          <p:nvPr/>
        </p:nvPicPr>
        <p:blipFill rotWithShape="1">
          <a:blip r:embed="rId4">
            <a:alphaModFix/>
          </a:blip>
          <a:srcRect l="2649" t="6250" r="60784" b="82439"/>
          <a:stretch/>
        </p:blipFill>
        <p:spPr>
          <a:xfrm>
            <a:off x="2467627" y="4370812"/>
            <a:ext cx="1954060" cy="3631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1" name="Google Shape;381;p35"/>
          <p:cNvCxnSpPr/>
          <p:nvPr/>
        </p:nvCxnSpPr>
        <p:spPr>
          <a:xfrm>
            <a:off x="4421687" y="4546948"/>
            <a:ext cx="995820" cy="1114816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82" name="Google Shape;382;p35"/>
          <p:cNvCxnSpPr/>
          <p:nvPr/>
        </p:nvCxnSpPr>
        <p:spPr>
          <a:xfrm rot="10800000">
            <a:off x="6667500" y="5529943"/>
            <a:ext cx="2139043" cy="551484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83" name="Google Shape;383;p35"/>
          <p:cNvCxnSpPr>
            <a:stCxn id="379" idx="0"/>
          </p:cNvCxnSpPr>
          <p:nvPr/>
        </p:nvCxnSpPr>
        <p:spPr>
          <a:xfrm rot="10800000" flipH="1">
            <a:off x="6031812" y="5883841"/>
            <a:ext cx="13800" cy="58410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b="1">
                <a:latin typeface="+mj-ea"/>
                <a:ea typeface="+mj-ea"/>
              </a:rPr>
              <a:t>LSTM</a:t>
            </a:r>
            <a:endParaRPr>
              <a:latin typeface="+mj-ea"/>
              <a:ea typeface="+mj-ea"/>
            </a:endParaRPr>
          </a:p>
        </p:txBody>
      </p:sp>
      <p:sp>
        <p:nvSpPr>
          <p:cNvPr id="390" name="Google Shape;390;p3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LSTM의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동작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457200" lvl="1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762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393" name="Google Shape;393;p3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43</a:t>
            </a:fld>
            <a:endParaRPr/>
          </a:p>
        </p:txBody>
      </p:sp>
      <p:pic>
        <p:nvPicPr>
          <p:cNvPr id="391" name="Google Shape;391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207144"/>
            <a:ext cx="7760114" cy="3529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48117" y="3628481"/>
            <a:ext cx="5343883" cy="32107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b="1" dirty="0">
                <a:latin typeface="+mj-ea"/>
                <a:ea typeface="+mj-ea"/>
              </a:rPr>
              <a:t>LSTM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399" name="Google Shape;399;p3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b="1" dirty="0" err="1">
                <a:latin typeface="+mj-ea"/>
                <a:ea typeface="+mj-ea"/>
                <a:cs typeface="Arial"/>
                <a:sym typeface="Arial"/>
              </a:rPr>
              <a:t>LSTM의</a:t>
            </a: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 장점</a:t>
            </a:r>
            <a:endParaRPr sz="1800" b="1"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장기 의존성 문제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해결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1143000" lvl="2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b="1" dirty="0" err="1">
                <a:latin typeface="+mj-ea"/>
                <a:ea typeface="+mj-ea"/>
                <a:cs typeface="Arial"/>
                <a:sym typeface="Arial"/>
              </a:rPr>
              <a:t>cell</a:t>
            </a: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b="1" dirty="0" err="1">
                <a:latin typeface="+mj-ea"/>
                <a:ea typeface="+mj-ea"/>
                <a:cs typeface="Arial"/>
                <a:sym typeface="Arial"/>
              </a:rPr>
              <a:t>state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와</a:t>
            </a: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b="1" dirty="0" err="1">
                <a:latin typeface="+mj-ea"/>
                <a:ea typeface="+mj-ea"/>
                <a:cs typeface="Arial"/>
                <a:sym typeface="Arial"/>
              </a:rPr>
              <a:t>gate</a:t>
            </a:r>
            <a:r>
              <a:rPr lang="ko-KR" sz="1800" b="1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b="1" dirty="0" err="1">
                <a:latin typeface="+mj-ea"/>
                <a:ea typeface="+mj-ea"/>
                <a:cs typeface="Arial"/>
                <a:sym typeface="Arial"/>
              </a:rPr>
              <a:t>mechanism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을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통해 중요한 정보를 장기적으로 유지함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ko-KR" sz="1800" b="0" i="0" u="none" strike="noStrike" cap="none" dirty="0">
                <a:solidFill>
                  <a:srgbClr val="000000"/>
                </a:solidFill>
                <a:latin typeface="+mj-ea"/>
                <a:ea typeface="+mj-ea"/>
                <a:cs typeface="Arial"/>
                <a:sym typeface="Arial"/>
              </a:rPr>
              <a:t>다양한 응용 가능</a:t>
            </a:r>
            <a:endParaRPr sz="1800" b="0" i="0" u="none" strike="noStrike" cap="none" dirty="0">
              <a:solidFill>
                <a:srgbClr val="000000"/>
              </a:solidFill>
              <a:latin typeface="+mj-ea"/>
              <a:ea typeface="+mj-ea"/>
              <a:cs typeface="Arial"/>
              <a:sym typeface="Arial"/>
            </a:endParaRPr>
          </a:p>
          <a:p>
            <a:pPr marL="1143000" lvl="2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ko-KR" sz="1800" dirty="0">
                <a:solidFill>
                  <a:srgbClr val="000000"/>
                </a:solidFill>
                <a:latin typeface="+mj-ea"/>
                <a:ea typeface="+mj-ea"/>
                <a:cs typeface="Arial"/>
                <a:sym typeface="Arial"/>
              </a:rPr>
              <a:t>텍스트 생성, 번역, 음성 인식, 시계열 예측과 같은 작업들에 유용함</a:t>
            </a:r>
            <a:endParaRPr sz="1800" dirty="0">
              <a:solidFill>
                <a:srgbClr val="000000"/>
              </a:solidFill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400" name="Google Shape;400;p3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44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 altLang="ko-KR" b="1" dirty="0">
                <a:latin typeface="+mj-ea"/>
                <a:ea typeface="+mj-ea"/>
              </a:rPr>
              <a:t>Task 2.1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406" name="Google Shape;406;p38"/>
          <p:cNvSpPr txBox="1">
            <a:spLocks noGrp="1"/>
          </p:cNvSpPr>
          <p:nvPr>
            <p:ph type="body" idx="1"/>
          </p:nvPr>
        </p:nvSpPr>
        <p:spPr>
          <a:xfrm>
            <a:off x="838200" y="1342281"/>
            <a:ext cx="10515600" cy="4834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RNN 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구현 및 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실행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해보기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목표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문장을 하나 학습시킨 후, 문장의 일부를 주었을 때 나머지 문장을 잘 예측하는지 확인해보기</a:t>
            </a:r>
            <a:endParaRPr lang="en-US" altLang="ko-KR" sz="1800"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800" dirty="0">
                <a:latin typeface="+mj-ea"/>
                <a:ea typeface="+mj-ea"/>
                <a:cs typeface="Arial"/>
                <a:sym typeface="Arial"/>
              </a:rPr>
              <a:t>One-to-one 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구조 코드를 보고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,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Many-to-one 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구조 구현해보기</a:t>
            </a:r>
            <a:endParaRPr lang="en-US" altLang="ko-KR" sz="1800"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둘 간의 차이점 확인해보기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407" name="Google Shape;407;p3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45</a:t>
            </a:fld>
            <a:endParaRPr/>
          </a:p>
        </p:txBody>
      </p:sp>
      <p:pic>
        <p:nvPicPr>
          <p:cNvPr id="2" name="Picture 2" descr="RNN - Many-to-one | Chan`s Jupyter">
            <a:extLst>
              <a:ext uri="{FF2B5EF4-FFF2-40B4-BE49-F238E27FC236}">
                <a16:creationId xmlns:a16="http://schemas.microsoft.com/office/drawing/2014/main" id="{7A670FAE-07DD-4FB2-CBB9-FCBF04E26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2573" y="3955823"/>
            <a:ext cx="7046854" cy="2315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altLang="ko-KR" b="1" dirty="0">
                <a:latin typeface="+mj-ea"/>
                <a:ea typeface="+mj-ea"/>
                <a:cs typeface="Arial"/>
                <a:sym typeface="Arial"/>
              </a:rPr>
              <a:t>Task 2.2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413" name="Google Shape;413;p3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LSTM 실행해보기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목표	</a:t>
            </a:r>
            <a:endParaRPr sz="1800" dirty="0">
              <a:latin typeface="+mj-ea"/>
              <a:ea typeface="+mj-ea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IMD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b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데이터셋으로 모델을 학습시킨 후, 임의의 리뷰를 주었을 때 그 리뷰가 긍정인지 부정인지 판단해보기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참고 :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IMDb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dataset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- </a:t>
            </a:r>
            <a:r>
              <a:rPr lang="ko-KR" sz="1800" dirty="0">
                <a:latin typeface="+mj-ea"/>
                <a:ea typeface="+mj-ea"/>
              </a:rPr>
              <a:t>영화 사이트 리뷰 데이터 (긍정-부정 판단)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414" name="Google Shape;414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46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 b="1" dirty="0" err="1">
                <a:latin typeface="+mj-ea"/>
                <a:ea typeface="+mj-ea"/>
                <a:cs typeface="Arial"/>
                <a:sym typeface="Arial"/>
              </a:rPr>
              <a:t>Neural</a:t>
            </a:r>
            <a:r>
              <a:rPr lang="ko-KR" b="1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b="1" dirty="0" err="1">
                <a:latin typeface="+mj-ea"/>
                <a:ea typeface="+mj-ea"/>
                <a:cs typeface="Arial"/>
                <a:sym typeface="Arial"/>
              </a:rPr>
              <a:t>Machine</a:t>
            </a:r>
            <a:r>
              <a:rPr lang="ko-KR" b="1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b="1" dirty="0" err="1">
                <a:latin typeface="+mj-ea"/>
                <a:ea typeface="+mj-ea"/>
                <a:cs typeface="Arial"/>
                <a:sym typeface="Arial"/>
              </a:rPr>
              <a:t>Translation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420" name="Google Shape;420;p4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 err="1">
                <a:solidFill>
                  <a:schemeClr val="dk1"/>
                </a:solidFill>
                <a:latin typeface="+mj-ea"/>
                <a:ea typeface="+mj-ea"/>
              </a:rPr>
              <a:t>Neural</a:t>
            </a:r>
            <a:r>
              <a:rPr lang="ko-KR" sz="1800" dirty="0">
                <a:solidFill>
                  <a:schemeClr val="dk1"/>
                </a:solidFill>
                <a:latin typeface="+mj-ea"/>
                <a:ea typeface="+mj-ea"/>
              </a:rPr>
              <a:t> </a:t>
            </a:r>
            <a:r>
              <a:rPr lang="ko-KR" sz="1800" dirty="0" err="1">
                <a:solidFill>
                  <a:schemeClr val="dk1"/>
                </a:solidFill>
                <a:latin typeface="+mj-ea"/>
                <a:ea typeface="+mj-ea"/>
              </a:rPr>
              <a:t>network을</a:t>
            </a:r>
            <a:r>
              <a:rPr lang="ko-KR" sz="1800" dirty="0">
                <a:solidFill>
                  <a:schemeClr val="dk1"/>
                </a:solidFill>
                <a:latin typeface="+mj-ea"/>
                <a:ea typeface="+mj-ea"/>
              </a:rPr>
              <a:t> 통해서 번역</a:t>
            </a:r>
            <a:r>
              <a:rPr lang="ko-KR" altLang="en-US" sz="1800" dirty="0">
                <a:solidFill>
                  <a:schemeClr val="dk1"/>
                </a:solidFill>
                <a:latin typeface="+mj-ea"/>
                <a:ea typeface="+mj-ea"/>
              </a:rPr>
              <a:t> </a:t>
            </a:r>
            <a:r>
              <a:rPr lang="en-US" altLang="ko-KR" sz="1800" dirty="0">
                <a:solidFill>
                  <a:schemeClr val="dk1"/>
                </a:solidFill>
                <a:latin typeface="+mj-ea"/>
                <a:ea typeface="+mj-ea"/>
              </a:rPr>
              <a:t>task</a:t>
            </a:r>
            <a:r>
              <a:rPr lang="ko-KR" altLang="en-US" sz="1800" dirty="0" err="1">
                <a:solidFill>
                  <a:schemeClr val="dk1"/>
                </a:solidFill>
                <a:latin typeface="+mj-ea"/>
                <a:ea typeface="+mj-ea"/>
              </a:rPr>
              <a:t>를</a:t>
            </a:r>
            <a:r>
              <a:rPr lang="ko-KR" sz="1800" dirty="0">
                <a:solidFill>
                  <a:schemeClr val="dk1"/>
                </a:solidFill>
                <a:latin typeface="+mj-ea"/>
                <a:ea typeface="+mj-ea"/>
              </a:rPr>
              <a:t> 수</a:t>
            </a:r>
            <a:r>
              <a:rPr lang="ko-KR" altLang="en-US" sz="1800" dirty="0">
                <a:solidFill>
                  <a:schemeClr val="dk1"/>
                </a:solidFill>
                <a:latin typeface="+mj-ea"/>
                <a:ea typeface="+mj-ea"/>
              </a:rPr>
              <a:t>행하는 것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기본적인 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RNN – LSTM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 구조는 </a:t>
            </a:r>
            <a:r>
              <a:rPr lang="ko-KR" sz="1800" b="1" dirty="0">
                <a:latin typeface="+mj-ea"/>
                <a:ea typeface="+mj-ea"/>
              </a:rPr>
              <a:t>입력 길이와 출력 길이가 동일해야 모델을 쉽게 설계</a:t>
            </a:r>
            <a:r>
              <a:rPr lang="ko-KR" altLang="en-US" sz="1800" dirty="0">
                <a:latin typeface="+mj-ea"/>
                <a:ea typeface="+mj-ea"/>
              </a:rPr>
              <a:t>할 수 있음</a:t>
            </a:r>
            <a:endParaRPr lang="en-US" altLang="ko-KR" sz="1800" dirty="0">
              <a:latin typeface="+mj-ea"/>
              <a:ea typeface="+mj-ea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None/>
            </a:pPr>
            <a:r>
              <a:rPr lang="ko-KR" altLang="en-US" sz="1800" dirty="0">
                <a:latin typeface="+mj-ea"/>
                <a:ea typeface="+mj-ea"/>
                <a:sym typeface="Wingdings" pitchFamily="2" charset="2"/>
              </a:rPr>
              <a:t>    </a:t>
            </a:r>
            <a:r>
              <a:rPr lang="en-US" altLang="ko-KR" sz="1800" dirty="0">
                <a:latin typeface="+mj-ea"/>
                <a:ea typeface="+mj-ea"/>
                <a:sym typeface="Wingdings" pitchFamily="2" charset="2"/>
              </a:rPr>
              <a:t></a:t>
            </a:r>
            <a:r>
              <a:rPr lang="ko-KR" altLang="en-US" sz="1800" dirty="0">
                <a:latin typeface="+mj-ea"/>
                <a:ea typeface="+mj-ea"/>
                <a:sym typeface="Wingdings" pitchFamily="2" charset="2"/>
              </a:rPr>
              <a:t> </a:t>
            </a:r>
            <a:r>
              <a:rPr lang="ko-KR" sz="1800" u="sng" dirty="0">
                <a:latin typeface="+mj-ea"/>
                <a:ea typeface="+mj-ea"/>
              </a:rPr>
              <a:t>번역 </a:t>
            </a:r>
            <a:r>
              <a:rPr lang="ko-KR" sz="1800" u="sng" dirty="0" err="1">
                <a:latin typeface="+mj-ea"/>
                <a:ea typeface="+mj-ea"/>
              </a:rPr>
              <a:t>task에</a:t>
            </a:r>
            <a:r>
              <a:rPr lang="ko-KR" sz="1800" u="sng" dirty="0">
                <a:latin typeface="+mj-ea"/>
                <a:ea typeface="+mj-ea"/>
              </a:rPr>
              <a:t> 적합하지 않다.</a:t>
            </a:r>
            <a:endParaRPr lang="en-US" altLang="ko-KR" sz="1800" u="sng" dirty="0">
              <a:latin typeface="+mj-ea"/>
              <a:ea typeface="+mj-ea"/>
            </a:endParaRPr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endParaRPr lang="en-US" altLang="ko-KR" sz="1800" dirty="0">
              <a:latin typeface="+mj-ea"/>
              <a:ea typeface="+mj-ea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None/>
            </a:pPr>
            <a:endParaRPr lang="en-US" altLang="ko-KR" sz="1800" dirty="0">
              <a:latin typeface="+mj-ea"/>
              <a:ea typeface="+mj-ea"/>
            </a:endParaRPr>
          </a:p>
          <a:p>
            <a:pPr marL="0" indent="0" algn="ctr">
              <a:buNone/>
            </a:pPr>
            <a:r>
              <a:rPr lang="en-US" altLang="ko-KR" b="1" dirty="0">
                <a:latin typeface="+mj-ea"/>
                <a:cs typeface="Arial"/>
                <a:sym typeface="Arial"/>
              </a:rPr>
              <a:t>We need a new architecture!</a:t>
            </a:r>
            <a:endParaRPr lang="en-US" dirty="0">
              <a:latin typeface="+mj-ea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None/>
            </a:pPr>
            <a:endParaRPr sz="1800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421" name="Google Shape;421;p4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47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 b="1">
                <a:latin typeface="+mj-ea"/>
                <a:ea typeface="+mj-ea"/>
                <a:cs typeface="Arial"/>
                <a:sym typeface="Arial"/>
              </a:rPr>
              <a:t>Moving onto Seq2Seq</a:t>
            </a:r>
            <a:endParaRPr>
              <a:latin typeface="+mj-ea"/>
              <a:ea typeface="+mj-ea"/>
            </a:endParaRPr>
          </a:p>
        </p:txBody>
      </p:sp>
      <p:sp>
        <p:nvSpPr>
          <p:cNvPr id="427" name="Google Shape;427;p4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Encoder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–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Decoder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아키텍처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u="sng" dirty="0">
                <a:latin typeface="+mj-ea"/>
                <a:ea typeface="+mj-ea"/>
              </a:rPr>
              <a:t>기존과 달리 </a:t>
            </a:r>
            <a:r>
              <a:rPr lang="ko-KR" sz="1800" u="sng" dirty="0" err="1">
                <a:latin typeface="+mj-ea"/>
                <a:ea typeface="+mj-ea"/>
              </a:rPr>
              <a:t>input</a:t>
            </a:r>
            <a:r>
              <a:rPr lang="ko-KR" sz="1800" u="sng" dirty="0">
                <a:latin typeface="+mj-ea"/>
                <a:ea typeface="+mj-ea"/>
              </a:rPr>
              <a:t> </a:t>
            </a:r>
            <a:r>
              <a:rPr lang="ko-KR" sz="1800" u="sng" dirty="0" err="1">
                <a:latin typeface="+mj-ea"/>
                <a:ea typeface="+mj-ea"/>
              </a:rPr>
              <a:t>sequence</a:t>
            </a:r>
            <a:r>
              <a:rPr lang="ko-KR" sz="1800" u="sng" dirty="0">
                <a:latin typeface="+mj-ea"/>
                <a:ea typeface="+mj-ea"/>
              </a:rPr>
              <a:t> 전체의 정보(맥락)</a:t>
            </a:r>
            <a:r>
              <a:rPr lang="ko-KR" sz="1800" u="sng" dirty="0" err="1">
                <a:latin typeface="+mj-ea"/>
                <a:ea typeface="+mj-ea"/>
              </a:rPr>
              <a:t>를</a:t>
            </a:r>
            <a:r>
              <a:rPr lang="ko-KR" sz="1800" u="sng" dirty="0">
                <a:latin typeface="+mj-ea"/>
                <a:ea typeface="+mj-ea"/>
              </a:rPr>
              <a:t> 통해 </a:t>
            </a:r>
            <a:r>
              <a:rPr lang="ko-KR" sz="1800" b="1" u="sng" dirty="0" err="1">
                <a:latin typeface="+mj-ea"/>
                <a:ea typeface="+mj-ea"/>
              </a:rPr>
              <a:t>output</a:t>
            </a:r>
            <a:r>
              <a:rPr lang="ko-KR" sz="1800" b="1" u="sng" dirty="0">
                <a:latin typeface="+mj-ea"/>
                <a:ea typeface="+mj-ea"/>
              </a:rPr>
              <a:t> </a:t>
            </a:r>
            <a:r>
              <a:rPr lang="ko-KR" sz="1800" b="1" u="sng" dirty="0" err="1">
                <a:latin typeface="+mj-ea"/>
                <a:ea typeface="+mj-ea"/>
              </a:rPr>
              <a:t>sequence</a:t>
            </a:r>
            <a:r>
              <a:rPr lang="ko-KR" sz="1800" u="sng" dirty="0" err="1">
                <a:latin typeface="+mj-ea"/>
                <a:ea typeface="+mj-ea"/>
              </a:rPr>
              <a:t>를</a:t>
            </a:r>
            <a:r>
              <a:rPr lang="ko-KR" sz="1800" u="sng" dirty="0">
                <a:latin typeface="+mj-ea"/>
                <a:ea typeface="+mj-ea"/>
              </a:rPr>
              <a:t> 생성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429" name="Google Shape;429;p4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48</a:t>
            </a:fld>
            <a:endParaRPr/>
          </a:p>
        </p:txBody>
      </p:sp>
      <p:pic>
        <p:nvPicPr>
          <p:cNvPr id="428" name="Google Shape;428;p41" descr="Multi-View Masked Autoencoder for General Image Representatio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6471" y="3232106"/>
            <a:ext cx="3899058" cy="2283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 b="1" dirty="0">
                <a:latin typeface="+mj-ea"/>
                <a:ea typeface="+mj-ea"/>
                <a:cs typeface="Arial"/>
                <a:sym typeface="Arial"/>
              </a:rPr>
              <a:t>Seq2Seq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438" name="Google Shape;438;p4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49</a:t>
            </a:fld>
            <a:endParaRPr/>
          </a:p>
        </p:txBody>
      </p:sp>
      <p:pic>
        <p:nvPicPr>
          <p:cNvPr id="435" name="Google Shape;435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9085" y="1802217"/>
            <a:ext cx="10339542" cy="35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42"/>
          <p:cNvSpPr/>
          <p:nvPr/>
        </p:nvSpPr>
        <p:spPr>
          <a:xfrm>
            <a:off x="4371059" y="2153408"/>
            <a:ext cx="1704622" cy="620888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7" name="Google Shape;437;p42"/>
          <p:cNvSpPr txBox="1"/>
          <p:nvPr/>
        </p:nvSpPr>
        <p:spPr>
          <a:xfrm>
            <a:off x="5223370" y="1672547"/>
            <a:ext cx="486971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하나의 벡터에 문장의 정보를 담는다!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" name="Google Shape;449;p43">
            <a:extLst>
              <a:ext uri="{FF2B5EF4-FFF2-40B4-BE49-F238E27FC236}">
                <a16:creationId xmlns:a16="http://schemas.microsoft.com/office/drawing/2014/main" id="{AC97DF31-D85F-9649-899B-CAD2028926A9}"/>
              </a:ext>
            </a:extLst>
          </p:cNvPr>
          <p:cNvSpPr txBox="1"/>
          <p:nvPr/>
        </p:nvSpPr>
        <p:spPr>
          <a:xfrm>
            <a:off x="838200" y="6425973"/>
            <a:ext cx="814054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Sequence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to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Sequence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Learning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with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Neural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Networks </a:t>
            </a:r>
            <a:r>
              <a:rPr lang="ko-KR" sz="1000" dirty="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(2014)</a:t>
            </a:r>
            <a:endParaRPr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 b="1">
                <a:latin typeface="+mj-ea"/>
                <a:ea typeface="+mj-ea"/>
                <a:cs typeface="Arial"/>
                <a:sym typeface="Arial"/>
              </a:rPr>
              <a:t>Seq2Seq</a:t>
            </a:r>
            <a:endParaRPr>
              <a:latin typeface="+mj-ea"/>
              <a:ea typeface="+mj-ea"/>
            </a:endParaRPr>
          </a:p>
        </p:txBody>
      </p:sp>
      <p:sp>
        <p:nvSpPr>
          <p:cNvPr id="448" name="Google Shape;448;p4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50</a:t>
            </a:fld>
            <a:endParaRPr/>
          </a:p>
        </p:txBody>
      </p:sp>
      <p:pic>
        <p:nvPicPr>
          <p:cNvPr id="445" name="Google Shape;445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9085" y="1802217"/>
            <a:ext cx="10339542" cy="35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43"/>
          <p:cNvSpPr/>
          <p:nvPr/>
        </p:nvSpPr>
        <p:spPr>
          <a:xfrm>
            <a:off x="6278856" y="2506215"/>
            <a:ext cx="359688" cy="369332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7" name="Google Shape;447;p43"/>
          <p:cNvSpPr txBox="1"/>
          <p:nvPr/>
        </p:nvSpPr>
        <p:spPr>
          <a:xfrm>
            <a:off x="6278856" y="1896453"/>
            <a:ext cx="486971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반영한 결과</a:t>
            </a:r>
            <a:endParaRPr dirty="0"/>
          </a:p>
        </p:txBody>
      </p:sp>
      <p:sp>
        <p:nvSpPr>
          <p:cNvPr id="449" name="Google Shape;449;p43"/>
          <p:cNvSpPr txBox="1"/>
          <p:nvPr/>
        </p:nvSpPr>
        <p:spPr>
          <a:xfrm>
            <a:off x="838201" y="6425973"/>
            <a:ext cx="3893288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Sequence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to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Sequence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Learning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with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Neural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Networks </a:t>
            </a:r>
            <a:r>
              <a:rPr lang="ko-KR" sz="1000" dirty="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(2014)</a:t>
            </a:r>
            <a:endParaRPr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b="1" dirty="0" err="1">
                <a:latin typeface="+mj-ea"/>
                <a:ea typeface="+mj-ea"/>
              </a:rPr>
              <a:t>How</a:t>
            </a:r>
            <a:r>
              <a:rPr lang="ko-KR" b="1" dirty="0">
                <a:latin typeface="+mj-ea"/>
                <a:ea typeface="+mj-ea"/>
              </a:rPr>
              <a:t> </a:t>
            </a:r>
            <a:r>
              <a:rPr lang="ko-KR" b="1" dirty="0" err="1">
                <a:latin typeface="+mj-ea"/>
                <a:ea typeface="+mj-ea"/>
              </a:rPr>
              <a:t>can</a:t>
            </a:r>
            <a:r>
              <a:rPr lang="ko-KR" b="1" dirty="0">
                <a:latin typeface="+mj-ea"/>
                <a:ea typeface="+mj-ea"/>
              </a:rPr>
              <a:t> </a:t>
            </a:r>
            <a:r>
              <a:rPr lang="ko-KR" b="1" dirty="0" err="1">
                <a:latin typeface="+mj-ea"/>
                <a:ea typeface="+mj-ea"/>
              </a:rPr>
              <a:t>we</a:t>
            </a:r>
            <a:r>
              <a:rPr lang="ko-KR" b="1" dirty="0">
                <a:latin typeface="+mj-ea"/>
                <a:ea typeface="+mj-ea"/>
              </a:rPr>
              <a:t> </a:t>
            </a:r>
            <a:r>
              <a:rPr lang="ko-KR" b="1" dirty="0" err="1">
                <a:latin typeface="+mj-ea"/>
                <a:ea typeface="+mj-ea"/>
              </a:rPr>
              <a:t>evaluate</a:t>
            </a:r>
            <a:r>
              <a:rPr lang="ko-KR" b="1" dirty="0">
                <a:latin typeface="+mj-ea"/>
                <a:ea typeface="+mj-ea"/>
              </a:rPr>
              <a:t>?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455" name="Google Shape;455;p4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>
              <a:spcBef>
                <a:spcPts val="0"/>
              </a:spcBef>
            </a:pPr>
            <a:r>
              <a:rPr lang="ko-KR" sz="1800" dirty="0">
                <a:latin typeface="+mj-ea"/>
                <a:ea typeface="+mj-ea"/>
              </a:rPr>
              <a:t>BLEU (</a:t>
            </a:r>
            <a:r>
              <a:rPr lang="ko-KR" sz="1800" dirty="0" err="1">
                <a:latin typeface="+mj-ea"/>
                <a:ea typeface="+mj-ea"/>
              </a:rPr>
              <a:t>Bi</a:t>
            </a:r>
            <a:r>
              <a:rPr lang="en-US" altLang="ko-KR" sz="1800" dirty="0">
                <a:latin typeface="+mj-ea"/>
                <a:ea typeface="+mj-ea"/>
              </a:rPr>
              <a:t>L</a:t>
            </a:r>
            <a:r>
              <a:rPr lang="ko-KR" sz="1800" dirty="0" err="1">
                <a:latin typeface="+mj-ea"/>
                <a:ea typeface="+mj-ea"/>
              </a:rPr>
              <a:t>ingual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Evaluation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Understudy</a:t>
            </a:r>
            <a:r>
              <a:rPr lang="ko-KR" sz="1800" dirty="0">
                <a:latin typeface="+mj-ea"/>
                <a:ea typeface="+mj-ea"/>
              </a:rPr>
              <a:t>) </a:t>
            </a:r>
            <a:r>
              <a:rPr lang="ko-KR" sz="1800" dirty="0" err="1">
                <a:latin typeface="+mj-ea"/>
                <a:ea typeface="+mj-ea"/>
              </a:rPr>
              <a:t>score</a:t>
            </a:r>
            <a:endParaRPr sz="1800" dirty="0">
              <a:latin typeface="+mj-ea"/>
              <a:ea typeface="+mj-ea"/>
            </a:endParaRPr>
          </a:p>
          <a:p>
            <a:pPr marL="86995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ko-KR" sz="1800" b="1" dirty="0" err="1">
                <a:solidFill>
                  <a:schemeClr val="dk1"/>
                </a:solidFill>
                <a:latin typeface="+mj-ea"/>
                <a:ea typeface="+mj-ea"/>
              </a:rPr>
              <a:t>n-gram</a:t>
            </a:r>
            <a:r>
              <a:rPr lang="ko-KR" sz="1800" dirty="0">
                <a:solidFill>
                  <a:schemeClr val="dk1"/>
                </a:solidFill>
                <a:latin typeface="+mj-ea"/>
                <a:ea typeface="+mj-ea"/>
              </a:rPr>
              <a:t> </a:t>
            </a:r>
            <a:r>
              <a:rPr lang="ko-KR" sz="1800" dirty="0" err="1">
                <a:solidFill>
                  <a:schemeClr val="dk1"/>
                </a:solidFill>
                <a:latin typeface="+mj-ea"/>
                <a:ea typeface="+mj-ea"/>
              </a:rPr>
              <a:t>overlap</a:t>
            </a:r>
            <a:r>
              <a:rPr lang="ko-KR" sz="1800" dirty="0">
                <a:solidFill>
                  <a:schemeClr val="dk1"/>
                </a:solidFill>
                <a:latin typeface="+mj-ea"/>
                <a:ea typeface="+mj-ea"/>
              </a:rPr>
              <a:t> </a:t>
            </a:r>
            <a:r>
              <a:rPr lang="ko-KR" sz="1800" dirty="0" err="1">
                <a:solidFill>
                  <a:schemeClr val="dk1"/>
                </a:solidFill>
                <a:latin typeface="+mj-ea"/>
                <a:ea typeface="+mj-ea"/>
              </a:rPr>
              <a:t>between</a:t>
            </a:r>
            <a:r>
              <a:rPr lang="ko-KR" sz="1800" dirty="0">
                <a:solidFill>
                  <a:schemeClr val="dk1"/>
                </a:solidFill>
                <a:latin typeface="+mj-ea"/>
                <a:ea typeface="+mj-ea"/>
              </a:rPr>
              <a:t> </a:t>
            </a:r>
            <a:r>
              <a:rPr lang="ko-KR" sz="1800" dirty="0" err="1">
                <a:solidFill>
                  <a:schemeClr val="dk1"/>
                </a:solidFill>
                <a:latin typeface="+mj-ea"/>
                <a:ea typeface="+mj-ea"/>
              </a:rPr>
              <a:t>machine</a:t>
            </a:r>
            <a:r>
              <a:rPr lang="ko-KR" sz="1800" dirty="0">
                <a:solidFill>
                  <a:schemeClr val="dk1"/>
                </a:solidFill>
                <a:latin typeface="+mj-ea"/>
                <a:ea typeface="+mj-ea"/>
              </a:rPr>
              <a:t> </a:t>
            </a:r>
            <a:r>
              <a:rPr lang="ko-KR" sz="1800" dirty="0" err="1">
                <a:solidFill>
                  <a:schemeClr val="dk1"/>
                </a:solidFill>
                <a:latin typeface="+mj-ea"/>
                <a:ea typeface="+mj-ea"/>
              </a:rPr>
              <a:t>translation</a:t>
            </a:r>
            <a:r>
              <a:rPr lang="ko-KR" sz="1800" dirty="0">
                <a:solidFill>
                  <a:schemeClr val="dk1"/>
                </a:solidFill>
                <a:latin typeface="+mj-ea"/>
                <a:ea typeface="+mj-ea"/>
              </a:rPr>
              <a:t> </a:t>
            </a:r>
            <a:r>
              <a:rPr lang="ko-KR" sz="1800" dirty="0" err="1">
                <a:solidFill>
                  <a:schemeClr val="dk1"/>
                </a:solidFill>
                <a:latin typeface="+mj-ea"/>
                <a:ea typeface="+mj-ea"/>
              </a:rPr>
              <a:t>output</a:t>
            </a:r>
            <a:r>
              <a:rPr lang="ko-KR" sz="1800" dirty="0">
                <a:solidFill>
                  <a:schemeClr val="dk1"/>
                </a:solidFill>
                <a:latin typeface="+mj-ea"/>
                <a:ea typeface="+mj-ea"/>
              </a:rPr>
              <a:t> and </a:t>
            </a:r>
            <a:r>
              <a:rPr lang="ko-KR" sz="1800" dirty="0" err="1">
                <a:solidFill>
                  <a:schemeClr val="dk1"/>
                </a:solidFill>
                <a:latin typeface="+mj-ea"/>
                <a:ea typeface="+mj-ea"/>
              </a:rPr>
              <a:t>reference</a:t>
            </a:r>
            <a:r>
              <a:rPr lang="ko-KR" sz="1800" dirty="0">
                <a:solidFill>
                  <a:schemeClr val="dk1"/>
                </a:solidFill>
                <a:latin typeface="+mj-ea"/>
                <a:ea typeface="+mj-ea"/>
              </a:rPr>
              <a:t> </a:t>
            </a:r>
            <a:r>
              <a:rPr lang="ko-KR" sz="1800" dirty="0" err="1">
                <a:solidFill>
                  <a:schemeClr val="dk1"/>
                </a:solidFill>
                <a:latin typeface="+mj-ea"/>
                <a:ea typeface="+mj-ea"/>
              </a:rPr>
              <a:t>translation</a:t>
            </a:r>
            <a:endParaRPr sz="1800" dirty="0">
              <a:latin typeface="+mj-ea"/>
              <a:ea typeface="+mj-ea"/>
            </a:endParaRPr>
          </a:p>
          <a:p>
            <a:pPr marL="86995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ko-KR" sz="1800" b="1" dirty="0" err="1">
                <a:solidFill>
                  <a:schemeClr val="dk1"/>
                </a:solidFill>
                <a:latin typeface="+mj-ea"/>
                <a:ea typeface="+mj-ea"/>
              </a:rPr>
              <a:t>n</a:t>
            </a:r>
            <a:r>
              <a:rPr lang="ko-KR" sz="1800" b="1" dirty="0">
                <a:solidFill>
                  <a:schemeClr val="dk1"/>
                </a:solidFill>
                <a:latin typeface="+mj-ea"/>
                <a:ea typeface="+mj-ea"/>
              </a:rPr>
              <a:t> = 1 ~ 4</a:t>
            </a:r>
            <a:endParaRPr sz="1800" dirty="0">
              <a:latin typeface="+mj-ea"/>
              <a:ea typeface="+mj-ea"/>
            </a:endParaRPr>
          </a:p>
          <a:p>
            <a:pPr marL="86995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ko-KR" sz="1800" dirty="0" err="1">
                <a:solidFill>
                  <a:schemeClr val="dk1"/>
                </a:solidFill>
                <a:latin typeface="+mj-ea"/>
                <a:ea typeface="+mj-ea"/>
              </a:rPr>
              <a:t>mostly</a:t>
            </a:r>
            <a:r>
              <a:rPr lang="ko-KR" sz="1800" dirty="0">
                <a:solidFill>
                  <a:schemeClr val="dk1"/>
                </a:solidFill>
                <a:latin typeface="+mj-ea"/>
                <a:ea typeface="+mj-ea"/>
              </a:rPr>
              <a:t> </a:t>
            </a:r>
            <a:r>
              <a:rPr lang="ko-KR" sz="1800" dirty="0" err="1">
                <a:solidFill>
                  <a:schemeClr val="dk1"/>
                </a:solidFill>
                <a:latin typeface="+mj-ea"/>
                <a:ea typeface="+mj-ea"/>
              </a:rPr>
              <a:t>used</a:t>
            </a:r>
            <a:r>
              <a:rPr lang="ko-KR" sz="1800" dirty="0">
                <a:solidFill>
                  <a:schemeClr val="dk1"/>
                </a:solidFill>
                <a:latin typeface="+mj-ea"/>
                <a:ea typeface="+mj-ea"/>
              </a:rPr>
              <a:t> </a:t>
            </a:r>
            <a:r>
              <a:rPr lang="ko-KR" sz="1800" dirty="0" err="1">
                <a:solidFill>
                  <a:schemeClr val="dk1"/>
                </a:solidFill>
                <a:latin typeface="+mj-ea"/>
                <a:ea typeface="+mj-ea"/>
              </a:rPr>
              <a:t>at</a:t>
            </a:r>
            <a:r>
              <a:rPr lang="ko-KR" sz="1800" dirty="0">
                <a:solidFill>
                  <a:schemeClr val="dk1"/>
                </a:solidFill>
                <a:latin typeface="+mj-ea"/>
                <a:ea typeface="+mj-ea"/>
              </a:rPr>
              <a:t> </a:t>
            </a:r>
            <a:r>
              <a:rPr lang="ko-KR" sz="1800" b="1" dirty="0" err="1">
                <a:solidFill>
                  <a:schemeClr val="dk1"/>
                </a:solidFill>
                <a:latin typeface="+mj-ea"/>
                <a:ea typeface="+mj-ea"/>
              </a:rPr>
              <a:t>evaluating</a:t>
            </a:r>
            <a:r>
              <a:rPr lang="ko-KR" sz="1800" b="1" dirty="0">
                <a:solidFill>
                  <a:schemeClr val="dk1"/>
                </a:solidFill>
                <a:latin typeface="+mj-ea"/>
                <a:ea typeface="+mj-ea"/>
              </a:rPr>
              <a:t> </a:t>
            </a:r>
            <a:r>
              <a:rPr lang="ko-KR" sz="1800" b="1" dirty="0" err="1">
                <a:solidFill>
                  <a:schemeClr val="dk1"/>
                </a:solidFill>
                <a:latin typeface="+mj-ea"/>
                <a:ea typeface="+mj-ea"/>
              </a:rPr>
              <a:t>machine</a:t>
            </a:r>
            <a:r>
              <a:rPr lang="ko-KR" sz="1800" b="1" dirty="0">
                <a:solidFill>
                  <a:schemeClr val="dk1"/>
                </a:solidFill>
                <a:latin typeface="+mj-ea"/>
                <a:ea typeface="+mj-ea"/>
              </a:rPr>
              <a:t> </a:t>
            </a:r>
            <a:r>
              <a:rPr lang="ko-KR" sz="1800" b="1" dirty="0" err="1">
                <a:solidFill>
                  <a:schemeClr val="dk1"/>
                </a:solidFill>
                <a:latin typeface="+mj-ea"/>
                <a:ea typeface="+mj-ea"/>
              </a:rPr>
              <a:t>translation</a:t>
            </a:r>
            <a:br>
              <a:rPr lang="ko-KR" sz="1800" dirty="0">
                <a:latin typeface="+mj-ea"/>
                <a:ea typeface="+mj-ea"/>
              </a:rPr>
            </a:br>
            <a:endParaRPr sz="1800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457" name="Google Shape;457;p4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51</a:t>
            </a:fld>
            <a:endParaRPr/>
          </a:p>
        </p:txBody>
      </p:sp>
      <p:pic>
        <p:nvPicPr>
          <p:cNvPr id="456" name="Google Shape;456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09800" y="3840052"/>
            <a:ext cx="7772400" cy="1454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>
          <a:extLst>
            <a:ext uri="{FF2B5EF4-FFF2-40B4-BE49-F238E27FC236}">
              <a16:creationId xmlns:a16="http://schemas.microsoft.com/office/drawing/2014/main" id="{14C14262-1804-66BD-E5A1-02E6C1CCB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4">
            <a:extLst>
              <a:ext uri="{FF2B5EF4-FFF2-40B4-BE49-F238E27FC236}">
                <a16:creationId xmlns:a16="http://schemas.microsoft.com/office/drawing/2014/main" id="{1EF4096B-4B30-F75B-1967-7B743ADEA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b="1" dirty="0" err="1">
                <a:latin typeface="+mj-ea"/>
                <a:ea typeface="+mj-ea"/>
              </a:rPr>
              <a:t>How</a:t>
            </a:r>
            <a:r>
              <a:rPr lang="ko-KR" b="1" dirty="0">
                <a:latin typeface="+mj-ea"/>
                <a:ea typeface="+mj-ea"/>
              </a:rPr>
              <a:t> </a:t>
            </a:r>
            <a:r>
              <a:rPr lang="ko-KR" b="1" dirty="0" err="1">
                <a:latin typeface="+mj-ea"/>
                <a:ea typeface="+mj-ea"/>
              </a:rPr>
              <a:t>can</a:t>
            </a:r>
            <a:r>
              <a:rPr lang="ko-KR" b="1" dirty="0">
                <a:latin typeface="+mj-ea"/>
                <a:ea typeface="+mj-ea"/>
              </a:rPr>
              <a:t> </a:t>
            </a:r>
            <a:r>
              <a:rPr lang="ko-KR" b="1" dirty="0" err="1">
                <a:latin typeface="+mj-ea"/>
                <a:ea typeface="+mj-ea"/>
              </a:rPr>
              <a:t>we</a:t>
            </a:r>
            <a:r>
              <a:rPr lang="ko-KR" b="1" dirty="0">
                <a:latin typeface="+mj-ea"/>
                <a:ea typeface="+mj-ea"/>
              </a:rPr>
              <a:t> </a:t>
            </a:r>
            <a:r>
              <a:rPr lang="ko-KR" b="1" dirty="0" err="1">
                <a:latin typeface="+mj-ea"/>
                <a:ea typeface="+mj-ea"/>
              </a:rPr>
              <a:t>evaluate</a:t>
            </a:r>
            <a:r>
              <a:rPr lang="ko-KR" b="1" dirty="0">
                <a:latin typeface="+mj-ea"/>
                <a:ea typeface="+mj-ea"/>
              </a:rPr>
              <a:t>?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455" name="Google Shape;455;p44">
            <a:extLst>
              <a:ext uri="{FF2B5EF4-FFF2-40B4-BE49-F238E27FC236}">
                <a16:creationId xmlns:a16="http://schemas.microsoft.com/office/drawing/2014/main" id="{4F4C35EE-560A-C3E8-9BF7-75C166FD4D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>
              <a:spcBef>
                <a:spcPts val="0"/>
              </a:spcBef>
            </a:pPr>
            <a:r>
              <a:rPr lang="en-US" altLang="ko-KR" sz="1800" dirty="0">
                <a:latin typeface="+mj-ea"/>
                <a:ea typeface="+mj-ea"/>
              </a:rPr>
              <a:t>Sentences</a:t>
            </a:r>
          </a:p>
          <a:p>
            <a:pPr marL="742950" lvl="1" indent="-285750"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>
                <a:latin typeface="+mj-ea"/>
                <a:ea typeface="+mj-ea"/>
              </a:rPr>
              <a:t>Reference</a:t>
            </a:r>
            <a:r>
              <a:rPr lang="ko-KR" altLang="en-US" sz="1800" dirty="0">
                <a:latin typeface="+mj-ea"/>
                <a:ea typeface="+mj-ea"/>
              </a:rPr>
              <a:t> </a:t>
            </a:r>
            <a:r>
              <a:rPr lang="en-US" altLang="ko-KR" sz="1800" dirty="0">
                <a:latin typeface="+mj-ea"/>
                <a:ea typeface="+mj-ea"/>
              </a:rPr>
              <a:t>(</a:t>
            </a:r>
            <a:r>
              <a:rPr lang="ko-KR" altLang="en-US" sz="1800" dirty="0">
                <a:latin typeface="+mj-ea"/>
                <a:ea typeface="+mj-ea"/>
              </a:rPr>
              <a:t>정답</a:t>
            </a:r>
            <a:r>
              <a:rPr lang="en-US" altLang="ko-KR" sz="1800" dirty="0">
                <a:latin typeface="+mj-ea"/>
                <a:ea typeface="+mj-ea"/>
              </a:rPr>
              <a:t>): "the cat is on the mat”</a:t>
            </a:r>
          </a:p>
          <a:p>
            <a:pPr marL="742950" lvl="1" indent="-285750"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>
                <a:latin typeface="+mj-ea"/>
                <a:ea typeface="+mj-ea"/>
              </a:rPr>
              <a:t>Candidate (</a:t>
            </a:r>
            <a:r>
              <a:rPr lang="ko-KR" altLang="en-US" sz="1800" dirty="0">
                <a:latin typeface="+mj-ea"/>
                <a:ea typeface="+mj-ea"/>
              </a:rPr>
              <a:t>생성</a:t>
            </a:r>
            <a:r>
              <a:rPr lang="en-US" altLang="ko-KR" sz="1800" dirty="0">
                <a:latin typeface="+mj-ea"/>
                <a:ea typeface="+mj-ea"/>
              </a:rPr>
              <a:t>):</a:t>
            </a:r>
            <a:r>
              <a:rPr lang="ko-KR" altLang="en-US" sz="1800" dirty="0">
                <a:latin typeface="+mj-ea"/>
                <a:ea typeface="+mj-ea"/>
              </a:rPr>
              <a:t> </a:t>
            </a:r>
            <a:r>
              <a:rPr lang="en-US" altLang="ko-KR" sz="1800" dirty="0">
                <a:latin typeface="+mj-ea"/>
                <a:ea typeface="+mj-ea"/>
              </a:rPr>
              <a:t>"the cat the cat on the mat”</a:t>
            </a:r>
          </a:p>
          <a:p>
            <a:pPr marL="285750" indent="-285750">
              <a:spcBef>
                <a:spcPts val="0"/>
              </a:spcBef>
            </a:pPr>
            <a:r>
              <a:rPr lang="en-US" altLang="ko-KR" sz="1800" dirty="0">
                <a:latin typeface="+mj-ea"/>
                <a:ea typeface="+mj-ea"/>
              </a:rPr>
              <a:t>N-gram</a:t>
            </a:r>
          </a:p>
          <a:p>
            <a:pPr marL="742950" lvl="1" indent="-285750"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>
                <a:latin typeface="+mj-ea"/>
                <a:ea typeface="+mj-ea"/>
              </a:rPr>
              <a:t>1-gram: “the” “cat” “on” “mat”</a:t>
            </a:r>
          </a:p>
          <a:p>
            <a:pPr marL="742950" lvl="1" indent="-285750"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>
                <a:latin typeface="+mj-ea"/>
                <a:ea typeface="+mj-ea"/>
              </a:rPr>
              <a:t>2-gram: “the cat” “on the” “the mat”</a:t>
            </a:r>
          </a:p>
          <a:p>
            <a:pPr marL="742950" lvl="1" indent="-285750"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>
                <a:latin typeface="+mj-ea"/>
                <a:ea typeface="+mj-ea"/>
              </a:rPr>
              <a:t>3-gram: “on the mat”</a:t>
            </a:r>
          </a:p>
          <a:p>
            <a:pPr marL="742950" lvl="1" indent="-285750">
              <a:lnSpc>
                <a:spcPct val="150000"/>
              </a:lnSpc>
              <a:spcBef>
                <a:spcPts val="0"/>
              </a:spcBef>
            </a:pPr>
            <a:r>
              <a:rPr lang="en-US" altLang="ko-KR" sz="1800" dirty="0">
                <a:latin typeface="+mj-ea"/>
                <a:ea typeface="+mj-ea"/>
              </a:rPr>
              <a:t>4-gram: x</a:t>
            </a:r>
            <a:br>
              <a:rPr lang="ko-KR" sz="1800" dirty="0">
                <a:latin typeface="+mj-ea"/>
                <a:ea typeface="+mj-ea"/>
              </a:rPr>
            </a:br>
            <a:endParaRPr sz="1800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457" name="Google Shape;457;p44">
            <a:extLst>
              <a:ext uri="{FF2B5EF4-FFF2-40B4-BE49-F238E27FC236}">
                <a16:creationId xmlns:a16="http://schemas.microsoft.com/office/drawing/2014/main" id="{30CD1B44-603A-03AC-EE72-3FF29E9A4F2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52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72328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b="1" dirty="0" err="1"/>
              <a:t>Benchmark</a:t>
            </a:r>
            <a:endParaRPr dirty="0"/>
          </a:p>
        </p:txBody>
      </p:sp>
      <p:sp>
        <p:nvSpPr>
          <p:cNvPr id="463" name="Google Shape;463;p4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 err="1"/>
              <a:t>What</a:t>
            </a:r>
            <a:r>
              <a:rPr lang="ko-KR" sz="1800" dirty="0"/>
              <a:t> </a:t>
            </a:r>
            <a:r>
              <a:rPr lang="ko-KR" sz="1800" dirty="0" err="1"/>
              <a:t>is</a:t>
            </a:r>
            <a:r>
              <a:rPr lang="ko-KR" sz="1800" dirty="0"/>
              <a:t> </a:t>
            </a:r>
            <a:r>
              <a:rPr lang="ko-KR" sz="1800" dirty="0" err="1"/>
              <a:t>Benchmark</a:t>
            </a:r>
            <a:r>
              <a:rPr lang="ko-KR" sz="1800" dirty="0"/>
              <a:t>?</a:t>
            </a:r>
            <a:endParaRPr sz="1800" dirty="0"/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dirty="0"/>
              <a:t>모델의 성능을 평가하기 위해 표준화된 테스트나 데이터셋을 사용하는 것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dirty="0"/>
              <a:t>GLUE, </a:t>
            </a:r>
            <a:r>
              <a:rPr lang="ko-KR" sz="1800" dirty="0" err="1"/>
              <a:t>SuperGLUE</a:t>
            </a:r>
            <a:r>
              <a:rPr lang="ko-KR" sz="1800" dirty="0"/>
              <a:t>, SQUAD 등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dirty="0" err="1">
                <a:latin typeface="Arial"/>
                <a:ea typeface="Arial"/>
                <a:cs typeface="Arial"/>
                <a:sym typeface="Arial"/>
              </a:rPr>
              <a:t>Metric</a:t>
            </a:r>
            <a:r>
              <a:rPr lang="ko-KR" sz="1800" dirty="0">
                <a:latin typeface="Arial"/>
                <a:ea typeface="Arial"/>
                <a:cs typeface="Arial"/>
                <a:sym typeface="Arial"/>
              </a:rPr>
              <a:t> : BLEU </a:t>
            </a:r>
            <a:r>
              <a:rPr lang="ko-KR" sz="1800" dirty="0" err="1">
                <a:latin typeface="Arial"/>
                <a:ea typeface="Arial"/>
                <a:cs typeface="Arial"/>
                <a:sym typeface="Arial"/>
              </a:rPr>
              <a:t>score</a:t>
            </a:r>
            <a:r>
              <a:rPr lang="ko-KR" sz="1800" dirty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sz="1800" dirty="0" err="1">
                <a:latin typeface="Arial"/>
                <a:ea typeface="Arial"/>
                <a:cs typeface="Arial"/>
                <a:sym typeface="Arial"/>
              </a:rPr>
              <a:t>Accuracy</a:t>
            </a:r>
            <a:endParaRPr sz="1800" dirty="0"/>
          </a:p>
        </p:txBody>
      </p:sp>
      <p:sp>
        <p:nvSpPr>
          <p:cNvPr id="465" name="Google Shape;465;p4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53</a:t>
            </a:fld>
            <a:endParaRPr/>
          </a:p>
        </p:txBody>
      </p:sp>
      <p:pic>
        <p:nvPicPr>
          <p:cNvPr id="464" name="Google Shape;464;p45" descr="GLUE Benchmar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200" y="3939671"/>
            <a:ext cx="4419600" cy="184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45"/>
          <p:cNvSpPr txBox="1"/>
          <p:nvPr/>
        </p:nvSpPr>
        <p:spPr>
          <a:xfrm>
            <a:off x="838200" y="6425973"/>
            <a:ext cx="814054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-</a:t>
            </a:r>
            <a:r>
              <a:rPr lang="ko-KR" altLang="en-US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GLUE: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Multi-Task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Benchmark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and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Analysis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Platform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for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Natural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Language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Understanding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(2018)</a:t>
            </a:r>
            <a:endParaRPr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b="1" dirty="0">
                <a:latin typeface="+mj-ea"/>
                <a:ea typeface="+mj-ea"/>
                <a:cs typeface="Arial"/>
                <a:sym typeface="Arial"/>
              </a:rPr>
              <a:t>한계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480" name="Google Shape;480;p4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54</a:t>
            </a:fld>
            <a:endParaRPr/>
          </a:p>
        </p:txBody>
      </p:sp>
      <p:pic>
        <p:nvPicPr>
          <p:cNvPr id="479" name="Google Shape;479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45891" y="1496291"/>
            <a:ext cx="9100218" cy="4606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b="1" dirty="0">
                <a:latin typeface="+mj-ea"/>
                <a:ea typeface="+mj-ea"/>
                <a:cs typeface="Arial"/>
                <a:sym typeface="Arial"/>
              </a:rPr>
              <a:t>한계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486" name="Google Shape;486;p4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>
                <a:latin typeface="+mj-ea"/>
                <a:ea typeface="+mj-ea"/>
              </a:rPr>
              <a:t>The </a:t>
            </a:r>
            <a:r>
              <a:rPr lang="ko-KR" sz="1800" dirty="0" err="1">
                <a:latin typeface="+mj-ea"/>
                <a:ea typeface="+mj-ea"/>
              </a:rPr>
              <a:t>bottleneck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problem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488" name="Google Shape;488;p4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55</a:t>
            </a:fld>
            <a:endParaRPr/>
          </a:p>
        </p:txBody>
      </p:sp>
      <p:pic>
        <p:nvPicPr>
          <p:cNvPr id="487" name="Google Shape;487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82521" y="2692424"/>
            <a:ext cx="8160258" cy="4165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b="1" dirty="0">
                <a:latin typeface="+mj-ea"/>
                <a:ea typeface="+mj-ea"/>
              </a:rPr>
              <a:t>New </a:t>
            </a:r>
            <a:r>
              <a:rPr lang="ko-KR" b="1" dirty="0" err="1">
                <a:latin typeface="+mj-ea"/>
                <a:ea typeface="+mj-ea"/>
              </a:rPr>
              <a:t>Paradigm</a:t>
            </a:r>
            <a:r>
              <a:rPr lang="ko-KR" b="1" dirty="0">
                <a:latin typeface="+mj-ea"/>
                <a:ea typeface="+mj-ea"/>
              </a:rPr>
              <a:t> </a:t>
            </a:r>
            <a:r>
              <a:rPr lang="en-US" altLang="ko-KR" b="1" dirty="0">
                <a:latin typeface="+mj-ea"/>
                <a:ea typeface="+mj-ea"/>
              </a:rPr>
              <a:t>“</a:t>
            </a:r>
            <a:r>
              <a:rPr lang="ko-KR" b="1" dirty="0" err="1">
                <a:latin typeface="+mj-ea"/>
                <a:ea typeface="+mj-ea"/>
              </a:rPr>
              <a:t>Attention</a:t>
            </a:r>
            <a:r>
              <a:rPr lang="en-US" altLang="ko-KR" b="1" dirty="0">
                <a:latin typeface="+mj-ea"/>
                <a:ea typeface="+mj-ea"/>
              </a:rPr>
              <a:t>”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494" name="Google Shape;494;p4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 err="1">
                <a:latin typeface="+mj-ea"/>
                <a:ea typeface="+mj-ea"/>
              </a:rPr>
              <a:t>Attention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provides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a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solution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to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the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bottleneck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problem</a:t>
            </a:r>
            <a:r>
              <a:rPr lang="ko-KR" sz="1800" dirty="0">
                <a:latin typeface="+mj-ea"/>
                <a:ea typeface="+mj-ea"/>
              </a:rPr>
              <a:t>.</a:t>
            </a:r>
            <a:endParaRPr sz="1800" dirty="0">
              <a:latin typeface="+mj-ea"/>
              <a:ea typeface="+mj-ea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b="1" dirty="0" err="1">
                <a:latin typeface="+mj-ea"/>
                <a:ea typeface="+mj-ea"/>
              </a:rPr>
              <a:t>Core</a:t>
            </a:r>
            <a:r>
              <a:rPr lang="ko-KR" sz="1800" b="1" dirty="0">
                <a:latin typeface="+mj-ea"/>
                <a:ea typeface="+mj-ea"/>
              </a:rPr>
              <a:t> </a:t>
            </a:r>
            <a:r>
              <a:rPr lang="ko-KR" sz="1800" b="1" dirty="0" err="1">
                <a:latin typeface="+mj-ea"/>
                <a:ea typeface="+mj-ea"/>
              </a:rPr>
              <a:t>idea</a:t>
            </a:r>
            <a:r>
              <a:rPr lang="ko-KR" sz="1800" b="1" dirty="0">
                <a:latin typeface="+mj-ea"/>
                <a:ea typeface="+mj-ea"/>
              </a:rPr>
              <a:t> </a:t>
            </a:r>
            <a:r>
              <a:rPr lang="ko-KR" sz="1800" dirty="0">
                <a:latin typeface="+mj-ea"/>
                <a:ea typeface="+mj-ea"/>
              </a:rPr>
              <a:t>: </a:t>
            </a:r>
            <a:r>
              <a:rPr lang="ko-KR" sz="1800" dirty="0" err="1">
                <a:latin typeface="+mj-ea"/>
                <a:ea typeface="+mj-ea"/>
              </a:rPr>
              <a:t>Decoder의</a:t>
            </a:r>
            <a:r>
              <a:rPr lang="ko-KR" sz="1800" dirty="0">
                <a:latin typeface="+mj-ea"/>
                <a:ea typeface="+mj-ea"/>
              </a:rPr>
              <a:t> 각 단계에서 </a:t>
            </a:r>
            <a:r>
              <a:rPr lang="ko-KR" sz="1800" dirty="0" err="1">
                <a:latin typeface="+mj-ea"/>
                <a:ea typeface="+mj-ea"/>
              </a:rPr>
              <a:t>Encoder와</a:t>
            </a:r>
            <a:r>
              <a:rPr lang="ko-KR" sz="1800" dirty="0">
                <a:latin typeface="+mj-ea"/>
                <a:ea typeface="+mj-ea"/>
              </a:rPr>
              <a:t> 직접 연결하여 </a:t>
            </a:r>
            <a:r>
              <a:rPr lang="ko-KR" sz="1800" dirty="0" err="1">
                <a:latin typeface="+mj-ea"/>
                <a:ea typeface="+mj-ea"/>
              </a:rPr>
              <a:t>input</a:t>
            </a:r>
            <a:r>
              <a:rPr lang="ko-KR" sz="1800" dirty="0">
                <a:latin typeface="+mj-ea"/>
                <a:ea typeface="+mj-ea"/>
              </a:rPr>
              <a:t> 시퀀스의 특정 부분에 가중치를 줘보자</a:t>
            </a:r>
            <a:endParaRPr sz="1800" dirty="0">
              <a:latin typeface="+mj-ea"/>
              <a:ea typeface="+mj-ea"/>
            </a:endParaRPr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>
                <a:latin typeface="+mj-ea"/>
                <a:ea typeface="+mj-ea"/>
              </a:rPr>
              <a:t>문장의 중요한 부분에 집중하자!</a:t>
            </a:r>
            <a:endParaRPr sz="1800" dirty="0">
              <a:latin typeface="+mj-ea"/>
              <a:ea typeface="+mj-ea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496" name="Google Shape;496;p4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56</a:t>
            </a:fld>
            <a:endParaRPr/>
          </a:p>
        </p:txBody>
      </p:sp>
      <p:pic>
        <p:nvPicPr>
          <p:cNvPr id="495" name="Google Shape;495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29271" y="3757410"/>
            <a:ext cx="3049194" cy="1447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D7E5B95-1520-DFD2-42E4-78448FE4A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491" y="4138225"/>
            <a:ext cx="6906589" cy="17052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2127DE4-28B4-6996-5828-29B8CC60EF5C}"/>
              </a:ext>
            </a:extLst>
          </p:cNvPr>
          <p:cNvSpPr txBox="1"/>
          <p:nvPr/>
        </p:nvSpPr>
        <p:spPr>
          <a:xfrm>
            <a:off x="1127760" y="3050844"/>
            <a:ext cx="6177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“</a:t>
            </a:r>
            <a:r>
              <a:rPr lang="ko-KR" altLang="en-US" sz="1800" dirty="0"/>
              <a:t>어제 카페 갔었어 거기 사람 많더라</a:t>
            </a:r>
            <a:r>
              <a:rPr lang="en-US" altLang="ko-KR" dirty="0"/>
              <a:t>”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1D7770-B24D-85E2-5B2D-579FF673CBE4}"/>
              </a:ext>
            </a:extLst>
          </p:cNvPr>
          <p:cNvSpPr txBox="1"/>
          <p:nvPr/>
        </p:nvSpPr>
        <p:spPr>
          <a:xfrm>
            <a:off x="1377827" y="1718392"/>
            <a:ext cx="7407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번역</a:t>
            </a:r>
            <a:r>
              <a:rPr lang="en-US" altLang="ko-KR" dirty="0"/>
              <a:t>(</a:t>
            </a:r>
            <a:r>
              <a:rPr lang="ko-KR" altLang="en-US" dirty="0"/>
              <a:t>출력</a:t>
            </a:r>
            <a:r>
              <a:rPr lang="en-US" altLang="ko-KR" dirty="0"/>
              <a:t>)</a:t>
            </a:r>
            <a:r>
              <a:rPr lang="ko-KR" altLang="en-US" dirty="0"/>
              <a:t> 시에</a:t>
            </a:r>
            <a:r>
              <a:rPr lang="en-US" altLang="ko-KR" dirty="0"/>
              <a:t> </a:t>
            </a:r>
            <a:r>
              <a:rPr lang="ko-KR" altLang="en-US" sz="1800" dirty="0"/>
              <a:t>문장의 특정 부분에 집중</a:t>
            </a:r>
            <a:r>
              <a:rPr lang="en-US" altLang="ko-KR" sz="1800" dirty="0"/>
              <a:t>(Attention)</a:t>
            </a:r>
            <a:r>
              <a:rPr lang="ko-KR" altLang="en-US" dirty="0"/>
              <a:t>하는 방법 사용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689628-A85C-ED31-31FF-53A0BCC15DEE}"/>
              </a:ext>
            </a:extLst>
          </p:cNvPr>
          <p:cNvSpPr txBox="1"/>
          <p:nvPr/>
        </p:nvSpPr>
        <p:spPr>
          <a:xfrm>
            <a:off x="1377828" y="3435104"/>
            <a:ext cx="103225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‘</a:t>
            </a:r>
            <a:r>
              <a:rPr lang="en-US" altLang="ko-KR" b="1" dirty="0"/>
              <a:t>cafe</a:t>
            </a:r>
            <a:r>
              <a:rPr lang="en-US" altLang="ko-KR" dirty="0"/>
              <a:t>’</a:t>
            </a:r>
            <a:r>
              <a:rPr lang="ko-KR" altLang="en-US" dirty="0"/>
              <a:t>라는 단어를 생성하기 위해 유사도가 높은</a:t>
            </a:r>
            <a:r>
              <a:rPr lang="en-US" altLang="ko-KR" dirty="0"/>
              <a:t> ‘</a:t>
            </a:r>
            <a:r>
              <a:rPr lang="ko-KR" altLang="en-US" b="1" dirty="0"/>
              <a:t>카페</a:t>
            </a:r>
            <a:r>
              <a:rPr lang="en-US" altLang="ko-KR" dirty="0"/>
              <a:t>’, ‘</a:t>
            </a:r>
            <a:r>
              <a:rPr lang="ko-KR" altLang="en-US" b="1" dirty="0"/>
              <a:t>거기</a:t>
            </a:r>
            <a:r>
              <a:rPr lang="en-US" altLang="ko-KR" dirty="0"/>
              <a:t>’ </a:t>
            </a:r>
            <a:r>
              <a:rPr lang="ko-KR" altLang="en-US" dirty="0"/>
              <a:t>등의 단어에 </a:t>
            </a:r>
            <a:r>
              <a:rPr lang="en-US" altLang="ko-KR" dirty="0"/>
              <a:t>Attention </a:t>
            </a:r>
            <a:r>
              <a:rPr lang="ko-KR" altLang="en-US" dirty="0"/>
              <a:t>하여 단어를 생성한다</a:t>
            </a:r>
            <a:r>
              <a:rPr lang="en-US" altLang="ko-KR" dirty="0"/>
              <a:t>.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CD0EACE-664E-B053-14E1-54F93BB20F9F}"/>
              </a:ext>
            </a:extLst>
          </p:cNvPr>
          <p:cNvCxnSpPr>
            <a:cxnSpLocks/>
          </p:cNvCxnSpPr>
          <p:nvPr/>
        </p:nvCxnSpPr>
        <p:spPr>
          <a:xfrm>
            <a:off x="4954148" y="2128364"/>
            <a:ext cx="0" cy="8049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6C786CE-6464-2389-6386-36BFBB024E60}"/>
              </a:ext>
            </a:extLst>
          </p:cNvPr>
          <p:cNvSpPr txBox="1"/>
          <p:nvPr/>
        </p:nvSpPr>
        <p:spPr>
          <a:xfrm>
            <a:off x="5244856" y="2357553"/>
            <a:ext cx="38811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번역</a:t>
            </a:r>
            <a:r>
              <a:rPr lang="en-US" altLang="ko-KR" dirty="0"/>
              <a:t>(Machine translation)</a:t>
            </a:r>
            <a:r>
              <a:rPr lang="ko-KR" altLang="en-US" dirty="0"/>
              <a:t> 예시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834D1E7-BACF-CCCE-6E07-C5D15D76B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75EB-46AE-40C8-B0D6-587A92E82F87}" type="slidenum">
              <a:rPr lang="ko-KR" altLang="en-US" smtClean="0"/>
              <a:t>57</a:t>
            </a:fld>
            <a:endParaRPr lang="ko-KR" altLang="en-US" dirty="0"/>
          </a:p>
        </p:txBody>
      </p:sp>
      <p:sp>
        <p:nvSpPr>
          <p:cNvPr id="2" name="Google Shape;493;p49">
            <a:extLst>
              <a:ext uri="{FF2B5EF4-FFF2-40B4-BE49-F238E27FC236}">
                <a16:creationId xmlns:a16="http://schemas.microsoft.com/office/drawing/2014/main" id="{C07B467F-FD51-CDB0-FCFA-9BAC4BE5444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843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4400"/>
            </a:pPr>
            <a:r>
              <a:rPr lang="en-US" altLang="ko-KR" sz="2800" b="1" dirty="0">
                <a:latin typeface="+mj-ea"/>
                <a:ea typeface="+mj-ea"/>
              </a:rPr>
              <a:t>Attention</a:t>
            </a:r>
            <a:endParaRPr lang="en-US" sz="28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5163760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F069D4B-AD91-0067-4CA3-5C0627DE4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321" y="1399300"/>
            <a:ext cx="7815357" cy="478938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0308A6-4720-5828-D33C-FC361193F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75EB-46AE-40C8-B0D6-587A92E82F87}" type="slidenum">
              <a:rPr lang="ko-KR" altLang="en-US" smtClean="0"/>
              <a:t>58</a:t>
            </a:fld>
            <a:endParaRPr lang="ko-KR" altLang="en-US" dirty="0"/>
          </a:p>
        </p:txBody>
      </p:sp>
      <p:sp>
        <p:nvSpPr>
          <p:cNvPr id="2" name="Google Shape;493;p49">
            <a:extLst>
              <a:ext uri="{FF2B5EF4-FFF2-40B4-BE49-F238E27FC236}">
                <a16:creationId xmlns:a16="http://schemas.microsoft.com/office/drawing/2014/main" id="{9BEDDFCD-3AC4-86E1-B409-990D3676F62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843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4400"/>
            </a:pPr>
            <a:r>
              <a:rPr lang="en-US" altLang="ko-KR" sz="2800" b="1" dirty="0">
                <a:latin typeface="+mj-ea"/>
                <a:ea typeface="+mj-ea"/>
              </a:rPr>
              <a:t>Attention</a:t>
            </a:r>
            <a:endParaRPr lang="en-US" sz="28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891306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b="1" dirty="0" err="1"/>
              <a:t>Attention</a:t>
            </a:r>
            <a:endParaRPr dirty="0"/>
          </a:p>
        </p:txBody>
      </p:sp>
      <p:sp>
        <p:nvSpPr>
          <p:cNvPr id="502" name="Google Shape;502;p5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59</a:t>
            </a:fld>
            <a:endParaRPr/>
          </a:p>
        </p:txBody>
      </p:sp>
      <p:sp>
        <p:nvSpPr>
          <p:cNvPr id="503" name="Google Shape;503;p50"/>
          <p:cNvSpPr txBox="1"/>
          <p:nvPr/>
        </p:nvSpPr>
        <p:spPr>
          <a:xfrm>
            <a:off x="1184400" y="6010089"/>
            <a:ext cx="498855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the</a:t>
            </a:r>
            <a:endParaRPr/>
          </a:p>
        </p:txBody>
      </p:sp>
      <p:sp>
        <p:nvSpPr>
          <p:cNvPr id="504" name="Google Shape;504;p50"/>
          <p:cNvSpPr txBox="1"/>
          <p:nvPr/>
        </p:nvSpPr>
        <p:spPr>
          <a:xfrm>
            <a:off x="1812781" y="6008209"/>
            <a:ext cx="671979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black</a:t>
            </a:r>
            <a:endParaRPr/>
          </a:p>
        </p:txBody>
      </p:sp>
      <p:sp>
        <p:nvSpPr>
          <p:cNvPr id="505" name="Google Shape;505;p50"/>
          <p:cNvSpPr txBox="1"/>
          <p:nvPr/>
        </p:nvSpPr>
        <p:spPr>
          <a:xfrm>
            <a:off x="2570724" y="6009095"/>
            <a:ext cx="465961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cat</a:t>
            </a:r>
            <a:endParaRPr/>
          </a:p>
        </p:txBody>
      </p:sp>
      <p:sp>
        <p:nvSpPr>
          <p:cNvPr id="506" name="Google Shape;506;p50"/>
          <p:cNvSpPr txBox="1"/>
          <p:nvPr/>
        </p:nvSpPr>
        <p:spPr>
          <a:xfrm>
            <a:off x="3140822" y="6014302"/>
            <a:ext cx="718530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drank</a:t>
            </a:r>
            <a:endParaRPr/>
          </a:p>
        </p:txBody>
      </p:sp>
      <p:sp>
        <p:nvSpPr>
          <p:cNvPr id="507" name="Google Shape;507;p50"/>
          <p:cNvSpPr txBox="1"/>
          <p:nvPr/>
        </p:nvSpPr>
        <p:spPr>
          <a:xfrm>
            <a:off x="3966412" y="6018553"/>
            <a:ext cx="579005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milk</a:t>
            </a:r>
            <a:endParaRPr/>
          </a:p>
        </p:txBody>
      </p:sp>
      <p:cxnSp>
        <p:nvCxnSpPr>
          <p:cNvPr id="508" name="Google Shape;508;p50"/>
          <p:cNvCxnSpPr>
            <a:stCxn id="503" idx="0"/>
            <a:endCxn id="509" idx="2"/>
          </p:cNvCxnSpPr>
          <p:nvPr/>
        </p:nvCxnSpPr>
        <p:spPr>
          <a:xfrm flipH="1" flipV="1">
            <a:off x="1428581" y="5392271"/>
            <a:ext cx="5247" cy="61781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0" name="Google Shape;510;p50"/>
          <p:cNvCxnSpPr>
            <a:stCxn id="504" idx="0"/>
            <a:endCxn id="511" idx="2"/>
          </p:cNvCxnSpPr>
          <p:nvPr/>
        </p:nvCxnSpPr>
        <p:spPr>
          <a:xfrm flipH="1" flipV="1">
            <a:off x="2143568" y="5388038"/>
            <a:ext cx="5203" cy="62017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2" name="Google Shape;512;p50"/>
          <p:cNvCxnSpPr>
            <a:stCxn id="505" idx="0"/>
            <a:endCxn id="513" idx="2"/>
          </p:cNvCxnSpPr>
          <p:nvPr/>
        </p:nvCxnSpPr>
        <p:spPr>
          <a:xfrm flipH="1" flipV="1">
            <a:off x="2796738" y="5385432"/>
            <a:ext cx="6967" cy="62366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4" name="Google Shape;514;p50"/>
          <p:cNvCxnSpPr>
            <a:stCxn id="506" idx="0"/>
            <a:endCxn id="515" idx="2"/>
          </p:cNvCxnSpPr>
          <p:nvPr/>
        </p:nvCxnSpPr>
        <p:spPr>
          <a:xfrm flipH="1" flipV="1">
            <a:off x="3498477" y="5385432"/>
            <a:ext cx="1610" cy="62887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6" name="Google Shape;516;p50"/>
          <p:cNvCxnSpPr>
            <a:stCxn id="507" idx="0"/>
            <a:endCxn id="517" idx="2"/>
          </p:cNvCxnSpPr>
          <p:nvPr/>
        </p:nvCxnSpPr>
        <p:spPr>
          <a:xfrm flipV="1">
            <a:off x="4255915" y="5385432"/>
            <a:ext cx="5357" cy="63312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18" name="Google Shape;518;p50"/>
          <p:cNvSpPr txBox="1"/>
          <p:nvPr/>
        </p:nvSpPr>
        <p:spPr>
          <a:xfrm>
            <a:off x="304731" y="6021159"/>
            <a:ext cx="779381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&lt;SOS&gt;</a:t>
            </a:r>
            <a:endParaRPr/>
          </a:p>
        </p:txBody>
      </p:sp>
      <p:sp>
        <p:nvSpPr>
          <p:cNvPr id="519" name="Google Shape;519;p50"/>
          <p:cNvSpPr/>
          <p:nvPr/>
        </p:nvSpPr>
        <p:spPr>
          <a:xfrm>
            <a:off x="526612" y="4873326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20" name="Google Shape;520;p50"/>
          <p:cNvCxnSpPr>
            <a:stCxn id="518" idx="0"/>
            <a:endCxn id="519" idx="2"/>
          </p:cNvCxnSpPr>
          <p:nvPr/>
        </p:nvCxnSpPr>
        <p:spPr>
          <a:xfrm flipH="1" flipV="1">
            <a:off x="689132" y="5390631"/>
            <a:ext cx="5290" cy="63052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09" name="Google Shape;509;p50"/>
          <p:cNvSpPr/>
          <p:nvPr/>
        </p:nvSpPr>
        <p:spPr>
          <a:xfrm>
            <a:off x="1266061" y="4874966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1" name="Google Shape;511;p50"/>
          <p:cNvSpPr/>
          <p:nvPr/>
        </p:nvSpPr>
        <p:spPr>
          <a:xfrm>
            <a:off x="1981048" y="4870733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3" name="Google Shape;513;p50"/>
          <p:cNvSpPr/>
          <p:nvPr/>
        </p:nvSpPr>
        <p:spPr>
          <a:xfrm>
            <a:off x="2634218" y="4868127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5" name="Google Shape;515;p50"/>
          <p:cNvSpPr/>
          <p:nvPr/>
        </p:nvSpPr>
        <p:spPr>
          <a:xfrm>
            <a:off x="3335957" y="4868127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7" name="Google Shape;517;p50"/>
          <p:cNvSpPr/>
          <p:nvPr/>
        </p:nvSpPr>
        <p:spPr>
          <a:xfrm>
            <a:off x="4098752" y="4868127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1" name="Google Shape;521;p50"/>
          <p:cNvSpPr/>
          <p:nvPr/>
        </p:nvSpPr>
        <p:spPr>
          <a:xfrm>
            <a:off x="6074182" y="4880165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2" name="Google Shape;522;p50"/>
          <p:cNvSpPr txBox="1"/>
          <p:nvPr/>
        </p:nvSpPr>
        <p:spPr>
          <a:xfrm>
            <a:off x="4622516" y="6018553"/>
            <a:ext cx="782202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&lt;EOS&gt;</a:t>
            </a:r>
            <a:endParaRPr/>
          </a:p>
        </p:txBody>
      </p:sp>
      <p:cxnSp>
        <p:nvCxnSpPr>
          <p:cNvPr id="523" name="Google Shape;523;p50"/>
          <p:cNvCxnSpPr>
            <a:stCxn id="522" idx="0"/>
            <a:endCxn id="524" idx="2"/>
          </p:cNvCxnSpPr>
          <p:nvPr/>
        </p:nvCxnSpPr>
        <p:spPr>
          <a:xfrm flipV="1">
            <a:off x="5013617" y="5385432"/>
            <a:ext cx="1239" cy="63312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24" name="Google Shape;524;p50"/>
          <p:cNvSpPr/>
          <p:nvPr/>
        </p:nvSpPr>
        <p:spPr>
          <a:xfrm>
            <a:off x="4852336" y="4868127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5" name="Google Shape;525;p50"/>
          <p:cNvSpPr txBox="1"/>
          <p:nvPr/>
        </p:nvSpPr>
        <p:spPr>
          <a:xfrm>
            <a:off x="5847011" y="6008209"/>
            <a:ext cx="779381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&lt;SOS&gt;</a:t>
            </a:r>
            <a:endParaRPr/>
          </a:p>
        </p:txBody>
      </p:sp>
      <p:cxnSp>
        <p:nvCxnSpPr>
          <p:cNvPr id="526" name="Google Shape;526;p50"/>
          <p:cNvCxnSpPr>
            <a:stCxn id="525" idx="0"/>
            <a:endCxn id="521" idx="2"/>
          </p:cNvCxnSpPr>
          <p:nvPr/>
        </p:nvCxnSpPr>
        <p:spPr>
          <a:xfrm flipV="1">
            <a:off x="6236702" y="5397470"/>
            <a:ext cx="0" cy="61073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27" name="Google Shape;527;p50"/>
          <p:cNvCxnSpPr>
            <a:stCxn id="509" idx="3"/>
            <a:endCxn id="511" idx="1"/>
          </p:cNvCxnSpPr>
          <p:nvPr/>
        </p:nvCxnSpPr>
        <p:spPr>
          <a:xfrm rot="10800000" flipH="1">
            <a:off x="1591101" y="5129419"/>
            <a:ext cx="390000" cy="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28" name="Google Shape;528;p50"/>
          <p:cNvCxnSpPr>
            <a:stCxn id="511" idx="3"/>
            <a:endCxn id="513" idx="1"/>
          </p:cNvCxnSpPr>
          <p:nvPr/>
        </p:nvCxnSpPr>
        <p:spPr>
          <a:xfrm rot="10800000" flipH="1">
            <a:off x="2306088" y="5126686"/>
            <a:ext cx="328200" cy="2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29" name="Google Shape;529;p50"/>
          <p:cNvCxnSpPr>
            <a:stCxn id="513" idx="3"/>
            <a:endCxn id="515" idx="1"/>
          </p:cNvCxnSpPr>
          <p:nvPr/>
        </p:nvCxnSpPr>
        <p:spPr>
          <a:xfrm>
            <a:off x="2959258" y="5126780"/>
            <a:ext cx="376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30" name="Google Shape;530;p50"/>
          <p:cNvCxnSpPr>
            <a:stCxn id="515" idx="3"/>
            <a:endCxn id="517" idx="1"/>
          </p:cNvCxnSpPr>
          <p:nvPr/>
        </p:nvCxnSpPr>
        <p:spPr>
          <a:xfrm>
            <a:off x="3660997" y="5126780"/>
            <a:ext cx="4377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31" name="Google Shape;531;p50"/>
          <p:cNvCxnSpPr>
            <a:stCxn id="519" idx="3"/>
            <a:endCxn id="509" idx="1"/>
          </p:cNvCxnSpPr>
          <p:nvPr/>
        </p:nvCxnSpPr>
        <p:spPr>
          <a:xfrm>
            <a:off x="851652" y="5131979"/>
            <a:ext cx="414300" cy="1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32" name="Google Shape;532;p50"/>
          <p:cNvCxnSpPr>
            <a:stCxn id="517" idx="3"/>
            <a:endCxn id="524" idx="1"/>
          </p:cNvCxnSpPr>
          <p:nvPr/>
        </p:nvCxnSpPr>
        <p:spPr>
          <a:xfrm>
            <a:off x="4423792" y="5126780"/>
            <a:ext cx="428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33" name="Google Shape;533;p50"/>
          <p:cNvSpPr txBox="1"/>
          <p:nvPr/>
        </p:nvSpPr>
        <p:spPr>
          <a:xfrm>
            <a:off x="5776419" y="4438677"/>
            <a:ext cx="345544" cy="55399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534" name="Google Shape;534;p50"/>
          <p:cNvSpPr txBox="1"/>
          <p:nvPr/>
        </p:nvSpPr>
        <p:spPr>
          <a:xfrm>
            <a:off x="707672" y="4587154"/>
            <a:ext cx="283154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6666" r="-4166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535" name="Google Shape;535;p50"/>
          <p:cNvSpPr txBox="1"/>
          <p:nvPr/>
        </p:nvSpPr>
        <p:spPr>
          <a:xfrm>
            <a:off x="1469158" y="4587154"/>
            <a:ext cx="288477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20831" r="-4164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536" name="Google Shape;536;p50"/>
          <p:cNvSpPr txBox="1"/>
          <p:nvPr/>
        </p:nvSpPr>
        <p:spPr>
          <a:xfrm>
            <a:off x="2184144" y="4587154"/>
            <a:ext cx="288477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16666" r="-4166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537" name="Google Shape;537;p50"/>
          <p:cNvSpPr txBox="1"/>
          <p:nvPr/>
        </p:nvSpPr>
        <p:spPr>
          <a:xfrm>
            <a:off x="2851200" y="4587154"/>
            <a:ext cx="288477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20831" r="-4164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538" name="Google Shape;538;p50"/>
          <p:cNvSpPr txBox="1"/>
          <p:nvPr/>
        </p:nvSpPr>
        <p:spPr>
          <a:xfrm>
            <a:off x="3577768" y="4587154"/>
            <a:ext cx="288477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20831" r="-4164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539" name="Google Shape;539;p50"/>
          <p:cNvSpPr txBox="1"/>
          <p:nvPr/>
        </p:nvSpPr>
        <p:spPr>
          <a:xfrm>
            <a:off x="4327414" y="4587154"/>
            <a:ext cx="288477" cy="276999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l="-16666" r="-4166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540" name="Google Shape;540;p50"/>
          <p:cNvSpPr txBox="1"/>
          <p:nvPr/>
        </p:nvSpPr>
        <p:spPr>
          <a:xfrm>
            <a:off x="5077248" y="4587154"/>
            <a:ext cx="288477" cy="27699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l="-16666" r="-4166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grpSp>
        <p:nvGrpSpPr>
          <p:cNvPr id="541" name="Google Shape;541;p50"/>
          <p:cNvGrpSpPr/>
          <p:nvPr/>
        </p:nvGrpSpPr>
        <p:grpSpPr>
          <a:xfrm>
            <a:off x="369514" y="3800179"/>
            <a:ext cx="5867188" cy="1079986"/>
            <a:chOff x="369514" y="3800179"/>
            <a:chExt cx="5867188" cy="1079986"/>
          </a:xfrm>
        </p:grpSpPr>
        <p:cxnSp>
          <p:nvCxnSpPr>
            <p:cNvPr id="542" name="Google Shape;542;p50"/>
            <p:cNvCxnSpPr>
              <a:stCxn id="519" idx="0"/>
              <a:endCxn id="543" idx="2"/>
            </p:cNvCxnSpPr>
            <p:nvPr/>
          </p:nvCxnSpPr>
          <p:spPr>
            <a:xfrm rot="10800000">
              <a:off x="689132" y="4294326"/>
              <a:ext cx="0" cy="5790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44" name="Google Shape;544;p50"/>
            <p:cNvCxnSpPr>
              <a:stCxn id="521" idx="0"/>
              <a:endCxn id="543" idx="2"/>
            </p:cNvCxnSpPr>
            <p:nvPr/>
          </p:nvCxnSpPr>
          <p:spPr>
            <a:xfrm rot="10800000">
              <a:off x="689102" y="4294565"/>
              <a:ext cx="5547600" cy="585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43" name="Google Shape;543;p50"/>
            <p:cNvSpPr/>
            <p:nvPr/>
          </p:nvSpPr>
          <p:spPr>
            <a:xfrm>
              <a:off x="369514" y="3800179"/>
              <a:ext cx="639236" cy="494276"/>
            </a:xfrm>
            <a:prstGeom prst="roundRect">
              <a:avLst>
                <a:gd name="adj" fmla="val 16667"/>
              </a:avLst>
            </a:prstGeom>
            <a:blipFill rotWithShape="1">
              <a:blip r:embed="rId11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</p:grpSp>
      <p:grpSp>
        <p:nvGrpSpPr>
          <p:cNvPr id="545" name="Google Shape;545;p50"/>
          <p:cNvGrpSpPr/>
          <p:nvPr/>
        </p:nvGrpSpPr>
        <p:grpSpPr>
          <a:xfrm>
            <a:off x="1106504" y="3804976"/>
            <a:ext cx="5130198" cy="1075189"/>
            <a:chOff x="1106504" y="3804976"/>
            <a:chExt cx="5130198" cy="1075189"/>
          </a:xfrm>
        </p:grpSpPr>
        <p:cxnSp>
          <p:nvCxnSpPr>
            <p:cNvPr id="546" name="Google Shape;546;p50"/>
            <p:cNvCxnSpPr>
              <a:stCxn id="509" idx="0"/>
              <a:endCxn id="547" idx="2"/>
            </p:cNvCxnSpPr>
            <p:nvPr/>
          </p:nvCxnSpPr>
          <p:spPr>
            <a:xfrm rot="10800000">
              <a:off x="1426181" y="4299266"/>
              <a:ext cx="2400" cy="575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48" name="Google Shape;548;p50"/>
            <p:cNvCxnSpPr>
              <a:stCxn id="521" idx="0"/>
              <a:endCxn id="547" idx="2"/>
            </p:cNvCxnSpPr>
            <p:nvPr/>
          </p:nvCxnSpPr>
          <p:spPr>
            <a:xfrm rot="10800000">
              <a:off x="1426202" y="4299365"/>
              <a:ext cx="4810500" cy="580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47" name="Google Shape;547;p50"/>
            <p:cNvSpPr/>
            <p:nvPr/>
          </p:nvSpPr>
          <p:spPr>
            <a:xfrm>
              <a:off x="1106504" y="3804976"/>
              <a:ext cx="639236" cy="494276"/>
            </a:xfrm>
            <a:prstGeom prst="roundRect">
              <a:avLst>
                <a:gd name="adj" fmla="val 16667"/>
              </a:avLst>
            </a:prstGeom>
            <a:blipFill rotWithShape="1">
              <a:blip r:embed="rId1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</p:grpSp>
      <p:grpSp>
        <p:nvGrpSpPr>
          <p:cNvPr id="549" name="Google Shape;549;p50"/>
          <p:cNvGrpSpPr/>
          <p:nvPr/>
        </p:nvGrpSpPr>
        <p:grpSpPr>
          <a:xfrm>
            <a:off x="3197428" y="3799807"/>
            <a:ext cx="3039274" cy="1080358"/>
            <a:chOff x="3181032" y="3812559"/>
            <a:chExt cx="3039274" cy="1080358"/>
          </a:xfrm>
        </p:grpSpPr>
        <p:cxnSp>
          <p:nvCxnSpPr>
            <p:cNvPr id="550" name="Google Shape;550;p50"/>
            <p:cNvCxnSpPr>
              <a:stCxn id="515" idx="0"/>
              <a:endCxn id="551" idx="2"/>
            </p:cNvCxnSpPr>
            <p:nvPr/>
          </p:nvCxnSpPr>
          <p:spPr>
            <a:xfrm rot="10800000" flipH="1">
              <a:off x="3482081" y="4306979"/>
              <a:ext cx="18600" cy="573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52" name="Google Shape;552;p50"/>
            <p:cNvCxnSpPr>
              <a:stCxn id="521" idx="0"/>
              <a:endCxn id="551" idx="2"/>
            </p:cNvCxnSpPr>
            <p:nvPr/>
          </p:nvCxnSpPr>
          <p:spPr>
            <a:xfrm rot="10800000">
              <a:off x="3500506" y="4306717"/>
              <a:ext cx="2719800" cy="5862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51" name="Google Shape;551;p50"/>
            <p:cNvSpPr/>
            <p:nvPr/>
          </p:nvSpPr>
          <p:spPr>
            <a:xfrm>
              <a:off x="3181032" y="3812559"/>
              <a:ext cx="639236" cy="494276"/>
            </a:xfrm>
            <a:prstGeom prst="roundRect">
              <a:avLst>
                <a:gd name="adj" fmla="val 16667"/>
              </a:avLst>
            </a:prstGeom>
            <a:blipFill rotWithShape="1">
              <a:blip r:embed="rId1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</p:grpSp>
      <p:grpSp>
        <p:nvGrpSpPr>
          <p:cNvPr id="553" name="Google Shape;553;p50"/>
          <p:cNvGrpSpPr/>
          <p:nvPr/>
        </p:nvGrpSpPr>
        <p:grpSpPr>
          <a:xfrm>
            <a:off x="3938585" y="3804694"/>
            <a:ext cx="2298117" cy="1075471"/>
            <a:chOff x="3948264" y="3803933"/>
            <a:chExt cx="2298117" cy="1075471"/>
          </a:xfrm>
        </p:grpSpPr>
        <p:cxnSp>
          <p:nvCxnSpPr>
            <p:cNvPr id="554" name="Google Shape;554;p50"/>
            <p:cNvCxnSpPr>
              <a:stCxn id="521" idx="0"/>
              <a:endCxn id="555" idx="2"/>
            </p:cNvCxnSpPr>
            <p:nvPr/>
          </p:nvCxnSpPr>
          <p:spPr>
            <a:xfrm rot="10800000">
              <a:off x="4267881" y="4298304"/>
              <a:ext cx="1978500" cy="581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56" name="Google Shape;556;p50"/>
            <p:cNvCxnSpPr>
              <a:stCxn id="517" idx="0"/>
              <a:endCxn id="555" idx="2"/>
            </p:cNvCxnSpPr>
            <p:nvPr/>
          </p:nvCxnSpPr>
          <p:spPr>
            <a:xfrm rot="10800000">
              <a:off x="4267951" y="4298266"/>
              <a:ext cx="3000" cy="569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55" name="Google Shape;555;p50"/>
            <p:cNvSpPr/>
            <p:nvPr/>
          </p:nvSpPr>
          <p:spPr>
            <a:xfrm>
              <a:off x="3948264" y="3803933"/>
              <a:ext cx="639236" cy="494276"/>
            </a:xfrm>
            <a:prstGeom prst="roundRect">
              <a:avLst>
                <a:gd name="adj" fmla="val 16667"/>
              </a:avLst>
            </a:prstGeom>
            <a:blipFill rotWithShape="1">
              <a:blip r:embed="rId1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</p:grpSp>
      <p:grpSp>
        <p:nvGrpSpPr>
          <p:cNvPr id="557" name="Google Shape;557;p50"/>
          <p:cNvGrpSpPr/>
          <p:nvPr/>
        </p:nvGrpSpPr>
        <p:grpSpPr>
          <a:xfrm>
            <a:off x="689132" y="2780390"/>
            <a:ext cx="4329560" cy="1024586"/>
            <a:chOff x="689132" y="2780390"/>
            <a:chExt cx="4329560" cy="1024586"/>
          </a:xfrm>
        </p:grpSpPr>
        <p:cxnSp>
          <p:nvCxnSpPr>
            <p:cNvPr id="558" name="Google Shape;558;p50"/>
            <p:cNvCxnSpPr>
              <a:stCxn id="543" idx="0"/>
              <a:endCxn id="559" idx="2"/>
            </p:cNvCxnSpPr>
            <p:nvPr/>
          </p:nvCxnSpPr>
          <p:spPr>
            <a:xfrm rot="10800000" flipH="1">
              <a:off x="689132" y="3247279"/>
              <a:ext cx="1778700" cy="55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60" name="Google Shape;560;p50"/>
            <p:cNvCxnSpPr>
              <a:stCxn id="547" idx="0"/>
              <a:endCxn id="559" idx="2"/>
            </p:cNvCxnSpPr>
            <p:nvPr/>
          </p:nvCxnSpPr>
          <p:spPr>
            <a:xfrm rot="10800000" flipH="1">
              <a:off x="1426122" y="3247276"/>
              <a:ext cx="1041600" cy="557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61" name="Google Shape;561;p50"/>
            <p:cNvCxnSpPr>
              <a:stCxn id="562" idx="0"/>
              <a:endCxn id="559" idx="2"/>
            </p:cNvCxnSpPr>
            <p:nvPr/>
          </p:nvCxnSpPr>
          <p:spPr>
            <a:xfrm rot="10800000" flipH="1">
              <a:off x="2135994" y="3247237"/>
              <a:ext cx="331800" cy="553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63" name="Google Shape;563;p50"/>
            <p:cNvCxnSpPr>
              <a:stCxn id="564" idx="0"/>
              <a:endCxn id="559" idx="2"/>
            </p:cNvCxnSpPr>
            <p:nvPr/>
          </p:nvCxnSpPr>
          <p:spPr>
            <a:xfrm rot="10800000">
              <a:off x="2467887" y="3247078"/>
              <a:ext cx="357900" cy="55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65" name="Google Shape;565;p50"/>
            <p:cNvCxnSpPr>
              <a:stCxn id="551" idx="0"/>
              <a:endCxn id="559" idx="2"/>
            </p:cNvCxnSpPr>
            <p:nvPr/>
          </p:nvCxnSpPr>
          <p:spPr>
            <a:xfrm rot="10800000">
              <a:off x="2467946" y="3247207"/>
              <a:ext cx="1049100" cy="55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66" name="Google Shape;566;p50"/>
            <p:cNvCxnSpPr>
              <a:stCxn id="555" idx="0"/>
              <a:endCxn id="559" idx="2"/>
            </p:cNvCxnSpPr>
            <p:nvPr/>
          </p:nvCxnSpPr>
          <p:spPr>
            <a:xfrm rot="10800000">
              <a:off x="2467803" y="3247294"/>
              <a:ext cx="1790400" cy="557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67" name="Google Shape;567;p50"/>
            <p:cNvCxnSpPr>
              <a:stCxn id="568" idx="0"/>
              <a:endCxn id="559" idx="2"/>
            </p:cNvCxnSpPr>
            <p:nvPr/>
          </p:nvCxnSpPr>
          <p:spPr>
            <a:xfrm rot="10800000">
              <a:off x="2467792" y="3247128"/>
              <a:ext cx="2550900" cy="551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59" name="Google Shape;559;p50"/>
            <p:cNvSpPr/>
            <p:nvPr/>
          </p:nvSpPr>
          <p:spPr>
            <a:xfrm>
              <a:off x="1958808" y="2780390"/>
              <a:ext cx="1018071" cy="46679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softmax</a:t>
              </a:r>
              <a:endParaRPr sz="1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569" name="Google Shape;569;p50"/>
          <p:cNvGrpSpPr/>
          <p:nvPr/>
        </p:nvGrpSpPr>
        <p:grpSpPr>
          <a:xfrm>
            <a:off x="2506169" y="3799978"/>
            <a:ext cx="3730533" cy="1080187"/>
            <a:chOff x="2511775" y="3812278"/>
            <a:chExt cx="3730533" cy="1080187"/>
          </a:xfrm>
        </p:grpSpPr>
        <p:cxnSp>
          <p:nvCxnSpPr>
            <p:cNvPr id="570" name="Google Shape;570;p50"/>
            <p:cNvCxnSpPr>
              <a:stCxn id="513" idx="0"/>
              <a:endCxn id="564" idx="2"/>
            </p:cNvCxnSpPr>
            <p:nvPr/>
          </p:nvCxnSpPr>
          <p:spPr>
            <a:xfrm rot="10800000" flipH="1">
              <a:off x="2802344" y="4306527"/>
              <a:ext cx="29100" cy="573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64" name="Google Shape;564;p50"/>
            <p:cNvSpPr/>
            <p:nvPr/>
          </p:nvSpPr>
          <p:spPr>
            <a:xfrm>
              <a:off x="2511775" y="3812278"/>
              <a:ext cx="639236" cy="494276"/>
            </a:xfrm>
            <a:prstGeom prst="roundRect">
              <a:avLst>
                <a:gd name="adj" fmla="val 16667"/>
              </a:avLst>
            </a:prstGeom>
            <a:blipFill rotWithShape="1">
              <a:blip r:embed="rId1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  <p:cxnSp>
          <p:nvCxnSpPr>
            <p:cNvPr id="571" name="Google Shape;571;p50"/>
            <p:cNvCxnSpPr>
              <a:stCxn id="521" idx="0"/>
              <a:endCxn id="564" idx="2"/>
            </p:cNvCxnSpPr>
            <p:nvPr/>
          </p:nvCxnSpPr>
          <p:spPr>
            <a:xfrm rot="10800000">
              <a:off x="2831308" y="4306565"/>
              <a:ext cx="3411000" cy="585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572" name="Google Shape;572;p50"/>
          <p:cNvGrpSpPr/>
          <p:nvPr/>
        </p:nvGrpSpPr>
        <p:grpSpPr>
          <a:xfrm>
            <a:off x="1816376" y="3800737"/>
            <a:ext cx="4420326" cy="1079428"/>
            <a:chOff x="1816163" y="3814841"/>
            <a:chExt cx="4420326" cy="1079428"/>
          </a:xfrm>
        </p:grpSpPr>
        <p:cxnSp>
          <p:nvCxnSpPr>
            <p:cNvPr id="573" name="Google Shape;573;p50"/>
            <p:cNvCxnSpPr>
              <a:stCxn id="511" idx="0"/>
              <a:endCxn id="562" idx="2"/>
            </p:cNvCxnSpPr>
            <p:nvPr/>
          </p:nvCxnSpPr>
          <p:spPr>
            <a:xfrm rot="10800000">
              <a:off x="2135855" y="4309137"/>
              <a:ext cx="7500" cy="575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62" name="Google Shape;562;p50"/>
            <p:cNvSpPr/>
            <p:nvPr/>
          </p:nvSpPr>
          <p:spPr>
            <a:xfrm>
              <a:off x="1816163" y="3814841"/>
              <a:ext cx="639236" cy="494276"/>
            </a:xfrm>
            <a:prstGeom prst="roundRect">
              <a:avLst>
                <a:gd name="adj" fmla="val 16667"/>
              </a:avLst>
            </a:prstGeom>
            <a:blipFill rotWithShape="1">
              <a:blip r:embed="rId1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  <p:cxnSp>
          <p:nvCxnSpPr>
            <p:cNvPr id="574" name="Google Shape;574;p50"/>
            <p:cNvCxnSpPr>
              <a:stCxn id="521" idx="0"/>
              <a:endCxn id="562" idx="2"/>
            </p:cNvCxnSpPr>
            <p:nvPr/>
          </p:nvCxnSpPr>
          <p:spPr>
            <a:xfrm rot="10800000">
              <a:off x="2135789" y="4308969"/>
              <a:ext cx="4100700" cy="5853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575" name="Google Shape;575;p50"/>
          <p:cNvGrpSpPr/>
          <p:nvPr/>
        </p:nvGrpSpPr>
        <p:grpSpPr>
          <a:xfrm>
            <a:off x="4699074" y="3798828"/>
            <a:ext cx="1537628" cy="1081337"/>
            <a:chOff x="4699074" y="3798828"/>
            <a:chExt cx="1537628" cy="1081337"/>
          </a:xfrm>
        </p:grpSpPr>
        <p:sp>
          <p:nvSpPr>
            <p:cNvPr id="568" name="Google Shape;568;p50"/>
            <p:cNvSpPr/>
            <p:nvPr/>
          </p:nvSpPr>
          <p:spPr>
            <a:xfrm>
              <a:off x="4699074" y="3798828"/>
              <a:ext cx="639236" cy="494276"/>
            </a:xfrm>
            <a:prstGeom prst="roundRect">
              <a:avLst>
                <a:gd name="adj" fmla="val 16667"/>
              </a:avLst>
            </a:prstGeom>
            <a:blipFill rotWithShape="1">
              <a:blip r:embed="rId1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  <p:cxnSp>
          <p:nvCxnSpPr>
            <p:cNvPr id="576" name="Google Shape;576;p50"/>
            <p:cNvCxnSpPr>
              <a:stCxn id="524" idx="0"/>
              <a:endCxn id="568" idx="2"/>
            </p:cNvCxnSpPr>
            <p:nvPr/>
          </p:nvCxnSpPr>
          <p:spPr>
            <a:xfrm rot="10800000" flipH="1">
              <a:off x="5014856" y="4293027"/>
              <a:ext cx="3900" cy="575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77" name="Google Shape;577;p50"/>
            <p:cNvCxnSpPr>
              <a:stCxn id="521" idx="0"/>
              <a:endCxn id="568" idx="2"/>
            </p:cNvCxnSpPr>
            <p:nvPr/>
          </p:nvCxnSpPr>
          <p:spPr>
            <a:xfrm rot="10800000">
              <a:off x="5018702" y="4293065"/>
              <a:ext cx="1218000" cy="587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578" name="Google Shape;578;p50"/>
          <p:cNvGrpSpPr/>
          <p:nvPr/>
        </p:nvGrpSpPr>
        <p:grpSpPr>
          <a:xfrm>
            <a:off x="310606" y="1690688"/>
            <a:ext cx="5100733" cy="1370879"/>
            <a:chOff x="310606" y="1690688"/>
            <a:chExt cx="5100733" cy="1370879"/>
          </a:xfrm>
        </p:grpSpPr>
        <p:sp>
          <p:nvSpPr>
            <p:cNvPr id="579" name="Google Shape;579;p50"/>
            <p:cNvSpPr txBox="1"/>
            <p:nvPr/>
          </p:nvSpPr>
          <p:spPr>
            <a:xfrm>
              <a:off x="3945792" y="2784568"/>
              <a:ext cx="6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aphicFrame>
          <p:nvGraphicFramePr>
            <p:cNvPr id="581" name="Google Shape;581;p50"/>
            <p:cNvGraphicFramePr/>
            <p:nvPr/>
          </p:nvGraphicFramePr>
          <p:xfrm>
            <a:off x="310606" y="1690688"/>
            <a:ext cx="5100733" cy="101686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8"/>
            </a:graphicData>
          </a:graphic>
        </p:graphicFrame>
      </p:grpSp>
      <p:sp>
        <p:nvSpPr>
          <p:cNvPr id="583" name="Google Shape;583;p50"/>
          <p:cNvSpPr txBox="1"/>
          <p:nvPr/>
        </p:nvSpPr>
        <p:spPr>
          <a:xfrm>
            <a:off x="650787" y="1228788"/>
            <a:ext cx="11021350" cy="400110"/>
          </a:xfrm>
          <a:prstGeom prst="rect">
            <a:avLst/>
          </a:prstGeom>
          <a:noFill/>
          <a:ln w="28575" cap="flat" cmpd="sng">
            <a:solidFill>
              <a:srgbClr val="017F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i="1">
                <a:solidFill>
                  <a:srgbClr val="017F45"/>
                </a:solidFill>
                <a:latin typeface="Malgun Gothic"/>
                <a:ea typeface="Malgun Gothic"/>
                <a:cs typeface="Malgun Gothic"/>
                <a:sym typeface="Malgun Gothic"/>
              </a:rPr>
              <a:t>On this decoder timestep, we’re mostly focusing on the second encoder hidden state (“the”)</a:t>
            </a:r>
            <a:endParaRPr sz="2000" i="1">
              <a:solidFill>
                <a:srgbClr val="017F4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5" name="Google Shape;585;p50"/>
          <p:cNvSpPr txBox="1"/>
          <p:nvPr/>
        </p:nvSpPr>
        <p:spPr>
          <a:xfrm>
            <a:off x="838200" y="6412342"/>
            <a:ext cx="814054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Neural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Machine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Translation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by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Jointly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Learning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to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Align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and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Translate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(2014)</a:t>
            </a:r>
            <a:endParaRPr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Google Shape;494;p49">
                <a:extLst>
                  <a:ext uri="{FF2B5EF4-FFF2-40B4-BE49-F238E27FC236}">
                    <a16:creationId xmlns:a16="http://schemas.microsoft.com/office/drawing/2014/main" id="{04FE503B-F194-0D9E-05AA-8CCE51F492CF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775919" y="1969478"/>
                <a:ext cx="5258105" cy="44428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lnSpcReduction="10000"/>
              </a:bodyPr>
              <a:lstStyle/>
              <a:p>
                <a:pPr marL="495300">
                  <a:spcBef>
                    <a:spcPts val="500"/>
                  </a:spcBef>
                  <a:buSzPts val="24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𝒉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800" dirty="0">
                    <a:latin typeface="+mj-ea"/>
                    <a:cs typeface="Arial"/>
                    <a:sym typeface="Arial"/>
                  </a:rPr>
                  <a:t>: </a:t>
                </a:r>
                <a:r>
                  <a:rPr lang="en-US" sz="1800" dirty="0" err="1"/>
                  <a:t>i</a:t>
                </a:r>
                <a:r>
                  <a:rPr lang="ko-KR" altLang="en-US" sz="1800" dirty="0"/>
                  <a:t>번째 </a:t>
                </a:r>
                <a:r>
                  <a:rPr lang="en-US" sz="1800" b="1" dirty="0"/>
                  <a:t>encoder hidden state</a:t>
                </a:r>
                <a:endParaRPr lang="en-US" sz="1800" b="1" dirty="0">
                  <a:latin typeface="+mj-ea"/>
                  <a:cs typeface="Arial"/>
                  <a:sym typeface="Arial"/>
                </a:endParaRPr>
              </a:p>
              <a:p>
                <a:pPr marL="495300">
                  <a:spcBef>
                    <a:spcPts val="500"/>
                  </a:spcBef>
                  <a:buSzPts val="24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𝒔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sz="1800" dirty="0">
                    <a:latin typeface="+mj-ea"/>
                    <a:cs typeface="Arial"/>
                    <a:sym typeface="Arial"/>
                  </a:rPr>
                  <a:t>: </a:t>
                </a:r>
                <a:r>
                  <a:rPr lang="en-US" sz="1800" dirty="0">
                    <a:cs typeface="Arial"/>
                  </a:rPr>
                  <a:t>t</a:t>
                </a:r>
                <a:r>
                  <a:rPr lang="ko-KR" altLang="en-US" sz="1800" dirty="0"/>
                  <a:t>번째 </a:t>
                </a:r>
                <a:r>
                  <a:rPr lang="en-US" altLang="ko-KR" sz="1800" b="1" dirty="0"/>
                  <a:t>de</a:t>
                </a:r>
                <a:r>
                  <a:rPr lang="en-US" sz="1800" b="1" dirty="0"/>
                  <a:t>coder hidden state </a:t>
                </a:r>
                <a:r>
                  <a:rPr lang="en-US" sz="1800" dirty="0"/>
                  <a:t>(timestep t)</a:t>
                </a:r>
                <a:endParaRPr lang="en-US" sz="1800" i="1" dirty="0">
                  <a:latin typeface="Cambria Math" panose="02040503050406030204" pitchFamily="18" charset="0"/>
                  <a:cs typeface="Arial"/>
                  <a:sym typeface="Arial"/>
                </a:endParaRPr>
              </a:p>
              <a:p>
                <a:pPr marL="495300">
                  <a:spcBef>
                    <a:spcPts val="500"/>
                  </a:spcBef>
                  <a:buSzPts val="24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𝒔𝒄𝒐𝒓𝒆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(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𝒔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𝒕</m:t>
                        </m:r>
                      </m:sub>
                    </m:sSub>
                    <m:r>
                      <a:rPr lang="en-US" sz="1800" b="1" i="1" smtClean="0">
                        <a:latin typeface="Cambria Math" panose="02040503050406030204" pitchFamily="18" charset="0"/>
                        <a:cs typeface="Arial"/>
                        <a:sym typeface="Arial"/>
                      </a:rPr>
                      <m:t>,</m:t>
                    </m:r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𝒉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𝒊</m:t>
                        </m:r>
                      </m:sub>
                    </m:sSub>
                    <m:r>
                      <a:rPr lang="en-US" sz="1800" b="1" i="1" smtClean="0">
                        <a:latin typeface="Cambria Math" panose="02040503050406030204" pitchFamily="18" charset="0"/>
                        <a:cs typeface="Arial"/>
                        <a:sym typeface="Arial"/>
                      </a:rPr>
                      <m:t>)=</m:t>
                    </m:r>
                    <m:sSubSup>
                      <m:sSubSupPr>
                        <m:ctrlPr>
                          <a:rPr lang="en-US" sz="1800" b="1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</m:ctrlPr>
                      </m:sSubSup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𝒆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𝒊</m:t>
                        </m:r>
                      </m:sub>
                      <m:sup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𝒕</m:t>
                        </m:r>
                      </m:sup>
                    </m:sSubSup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+mj-ea"/>
                    <a:cs typeface="Arial"/>
                    <a:sym typeface="Arial"/>
                  </a:rPr>
                  <a:t>:</a:t>
                </a:r>
                <a:r>
                  <a:rPr lang="en-US" sz="1800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  <a:sym typeface="Arial"/>
                  </a:rPr>
                  <a:t> decoder hidden state</a:t>
                </a:r>
                <a:r>
                  <a:rPr lang="ko-KR" altLang="en-US" sz="1800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  <a:sym typeface="Arial"/>
                  </a:rPr>
                  <a:t>와 </a:t>
                </a:r>
                <a:r>
                  <a:rPr lang="en-US" altLang="ko-KR" sz="1800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  <a:sym typeface="Arial"/>
                  </a:rPr>
                  <a:t>encoder hidden state</a:t>
                </a:r>
                <a:r>
                  <a:rPr lang="ko-KR" altLang="en-US" sz="1800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  <a:sym typeface="Arial"/>
                  </a:rPr>
                  <a:t>의 </a:t>
                </a:r>
                <a:r>
                  <a:rPr lang="ko-KR" altLang="en-US" sz="1800" b="1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  <a:sym typeface="Arial"/>
                  </a:rPr>
                  <a:t>유사도 </a:t>
                </a:r>
                <a:r>
                  <a:rPr lang="en-US" altLang="ko-KR" sz="1800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  <a:sym typeface="Arial"/>
                  </a:rPr>
                  <a:t>(</a:t>
                </a:r>
                <a:r>
                  <a:rPr lang="en-US" altLang="ko-KR" sz="1800" b="1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  <a:sym typeface="Arial"/>
                  </a:rPr>
                  <a:t>attention </a:t>
                </a:r>
                <a:r>
                  <a:rPr lang="ko-KR" altLang="en-US" sz="1800" b="1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  <a:sym typeface="Arial"/>
                  </a:rPr>
                  <a:t>점수</a:t>
                </a:r>
                <a:r>
                  <a:rPr lang="en-US" altLang="ko-KR" sz="1800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  <a:sym typeface="Arial"/>
                  </a:rPr>
                  <a:t>)</a:t>
                </a:r>
                <a:endParaRPr lang="en-US" sz="1800" dirty="0">
                  <a:latin typeface="Malgun Gothic" panose="020B0503020000020004" pitchFamily="34" charset="-127"/>
                  <a:ea typeface="Malgun Gothic" panose="020B0503020000020004" pitchFamily="34" charset="-127"/>
                  <a:cs typeface="Arial"/>
                  <a:sym typeface="Arial"/>
                </a:endParaRPr>
              </a:p>
              <a:p>
                <a:pPr marL="495300">
                  <a:spcBef>
                    <a:spcPts val="500"/>
                  </a:spcBef>
                  <a:buSzPts val="2400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1" i="1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</m:ctrlPr>
                      </m:sSubSup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  <a:sym typeface="Arial"/>
                          </a:rPr>
                          <m:t>𝜶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𝒊</m:t>
                        </m:r>
                      </m:sub>
                      <m:sup>
                        <m:r>
                          <a:rPr lang="en-US" sz="1800" b="1" i="1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𝒕</m:t>
                        </m:r>
                      </m:sup>
                    </m:sSubSup>
                    <m:r>
                      <a:rPr lang="en-US" sz="1800" b="1" i="1" smtClean="0">
                        <a:latin typeface="Cambria Math" panose="02040503050406030204" pitchFamily="18" charset="0"/>
                        <a:cs typeface="Arial"/>
                        <a:sym typeface="Arial"/>
                      </a:rPr>
                      <m:t>=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cs typeface="Arial"/>
                        <a:sym typeface="Arial"/>
                      </a:rPr>
                      <m:t>𝒔𝒐𝒇𝒕𝒎𝒂𝒙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cs typeface="Arial"/>
                        <a:sym typeface="Arial"/>
                      </a:rPr>
                      <m:t>(</m:t>
                    </m:r>
                    <m:sSubSup>
                      <m:sSubSupPr>
                        <m:ctrlPr>
                          <a:rPr lang="en-US" sz="1800" b="1" i="1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</m:ctrlPr>
                      </m:sSubSup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𝒆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𝒊</m:t>
                        </m:r>
                      </m:sub>
                      <m:sup>
                        <m:r>
                          <a:rPr lang="en-US" sz="1800" b="1" i="1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𝒕</m:t>
                        </m:r>
                      </m:sup>
                    </m:sSubSup>
                    <m:r>
                      <a:rPr lang="en-US" sz="1800" b="0" i="1" smtClean="0">
                        <a:latin typeface="Cambria Math" panose="02040503050406030204" pitchFamily="18" charset="0"/>
                        <a:cs typeface="Arial"/>
                        <a:sym typeface="Arial"/>
                      </a:rPr>
                      <m:t>)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/>
                        <a:sym typeface="Arial"/>
                      </a:rPr>
                      <m:t>:</m:t>
                    </m:r>
                  </m:oMath>
                </a14:m>
                <a:r>
                  <a:rPr lang="en-US" sz="1800" dirty="0">
                    <a:latin typeface="+mj-ea"/>
                    <a:cs typeface="Arial"/>
                    <a:sym typeface="Arial"/>
                  </a:rPr>
                  <a:t> </a:t>
                </a:r>
                <a:r>
                  <a:rPr lang="ko-KR" altLang="en-US" sz="1800" dirty="0"/>
                  <a:t>첫 번째 </a:t>
                </a:r>
                <a:r>
                  <a:rPr lang="en-US" altLang="ko-KR" sz="1800" dirty="0"/>
                  <a:t>decoder</a:t>
                </a:r>
                <a:r>
                  <a:rPr lang="ko-KR" altLang="en-US" sz="1800" dirty="0"/>
                  <a:t> </a:t>
                </a:r>
                <a:r>
                  <a:rPr lang="en-US" altLang="ko-KR" sz="1800" dirty="0"/>
                  <a:t>step</a:t>
                </a:r>
                <a:r>
                  <a:rPr lang="ko-KR" altLang="en-US" sz="1800" dirty="0"/>
                  <a:t>에서의 </a:t>
                </a:r>
                <a:r>
                  <a:rPr lang="en-US" sz="1800" b="1" dirty="0"/>
                  <a:t>attention distribution</a:t>
                </a:r>
                <a:r>
                  <a:rPr lang="en-US" sz="1800" dirty="0"/>
                  <a:t> (</a:t>
                </a:r>
                <a:r>
                  <a:rPr lang="en-US" sz="1800" b="1" dirty="0" err="1"/>
                  <a:t>softmax</a:t>
                </a:r>
                <a:r>
                  <a:rPr lang="en-US" sz="1800" b="1" dirty="0"/>
                  <a:t> score</a:t>
                </a:r>
                <a:r>
                  <a:rPr lang="en-US" sz="1800" dirty="0"/>
                  <a:t>),</a:t>
                </a:r>
                <a:r>
                  <a:rPr lang="ko-KR" altLang="en-US" sz="1800" dirty="0"/>
                  <a:t> </a:t>
                </a:r>
                <a:r>
                  <a:rPr lang="en-US" sz="1800" dirty="0" err="1"/>
                  <a:t>i</a:t>
                </a:r>
                <a:r>
                  <a:rPr lang="ko-KR" altLang="en-US" sz="1800" dirty="0"/>
                  <a:t>번째 </a:t>
                </a:r>
                <a:r>
                  <a:rPr lang="en-US" sz="1800" dirty="0"/>
                  <a:t>encoder </a:t>
                </a:r>
                <a:r>
                  <a:rPr lang="ko-KR" altLang="en-US" sz="1800" dirty="0"/>
                  <a:t>위치에 대한 집중 정도</a:t>
                </a:r>
                <a:endParaRPr lang="en-US" sz="1800" b="1" i="1" dirty="0">
                  <a:latin typeface="Cambria Math" panose="02040503050406030204" pitchFamily="18" charset="0"/>
                  <a:ea typeface="+mj-ea"/>
                  <a:cs typeface="Arial"/>
                  <a:sym typeface="Arial"/>
                </a:endParaRPr>
              </a:p>
              <a:p>
                <a:pPr marL="495300">
                  <a:spcBef>
                    <a:spcPts val="500"/>
                  </a:spcBef>
                  <a:buSzPts val="24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  <a:ea typeface="+mj-ea"/>
                            <a:cs typeface="Arial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+mj-ea"/>
                            <a:cs typeface="Arial"/>
                            <a:sym typeface="Arial"/>
                          </a:rPr>
                          <m:t>𝒂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+mj-ea"/>
                            <a:cs typeface="Arial"/>
                            <a:sym typeface="Arial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sz="1800" dirty="0">
                    <a:latin typeface="+mj-ea"/>
                    <a:ea typeface="+mj-ea"/>
                    <a:cs typeface="Arial"/>
                    <a:sym typeface="Arial"/>
                  </a:rPr>
                  <a:t>: </a:t>
                </a:r>
                <a:r>
                  <a:rPr lang="ko-KR" altLang="en-US" sz="1800" dirty="0">
                    <a:latin typeface="+mj-ea"/>
                    <a:ea typeface="+mj-ea"/>
                    <a:cs typeface="Arial"/>
                    <a:sym typeface="Arial"/>
                  </a:rPr>
                  <a:t>첫 </a:t>
                </a:r>
                <a:r>
                  <a:rPr lang="en-US" altLang="ko-KR" sz="1800" dirty="0">
                    <a:latin typeface="+mj-ea"/>
                    <a:ea typeface="+mj-ea"/>
                    <a:cs typeface="Arial"/>
                    <a:sym typeface="Arial"/>
                  </a:rPr>
                  <a:t>decoder timestep</a:t>
                </a:r>
                <a:r>
                  <a:rPr lang="ko-KR" altLang="en-US" sz="1800" dirty="0">
                    <a:latin typeface="+mj-ea"/>
                    <a:ea typeface="+mj-ea"/>
                    <a:cs typeface="Arial"/>
                    <a:sym typeface="Arial"/>
                  </a:rPr>
                  <a:t>의 </a:t>
                </a:r>
                <a:r>
                  <a:rPr lang="en-US" altLang="ko-KR" sz="1800" b="1" dirty="0">
                    <a:latin typeface="+mj-ea"/>
                    <a:ea typeface="+mj-ea"/>
                    <a:cs typeface="Arial"/>
                    <a:sym typeface="Arial"/>
                  </a:rPr>
                  <a:t>context vector</a:t>
                </a:r>
              </a:p>
            </p:txBody>
          </p:sp>
        </mc:Choice>
        <mc:Fallback>
          <p:sp>
            <p:nvSpPr>
              <p:cNvPr id="2" name="Google Shape;494;p49">
                <a:extLst>
                  <a:ext uri="{FF2B5EF4-FFF2-40B4-BE49-F238E27FC236}">
                    <a16:creationId xmlns:a16="http://schemas.microsoft.com/office/drawing/2014/main" id="{04FE503B-F194-0D9E-05AA-8CCE51F492C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775919" y="1969478"/>
                <a:ext cx="5258105" cy="4442864"/>
              </a:xfrm>
              <a:prstGeom prst="rect">
                <a:avLst/>
              </a:prstGeom>
              <a:blipFill>
                <a:blip r:embed="rId19"/>
                <a:stretch>
                  <a:fillRect r="-9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>
          <a:extLst>
            <a:ext uri="{FF2B5EF4-FFF2-40B4-BE49-F238E27FC236}">
              <a16:creationId xmlns:a16="http://schemas.microsoft.com/office/drawing/2014/main" id="{E2EFEB03-4FB2-24C8-31D4-35066085D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0">
            <a:extLst>
              <a:ext uri="{FF2B5EF4-FFF2-40B4-BE49-F238E27FC236}">
                <a16:creationId xmlns:a16="http://schemas.microsoft.com/office/drawing/2014/main" id="{C7A9C9B1-AB86-20F8-6B9C-4D221E95D2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b="1" dirty="0" err="1"/>
              <a:t>Attention</a:t>
            </a:r>
            <a:endParaRPr dirty="0"/>
          </a:p>
        </p:txBody>
      </p:sp>
      <p:sp>
        <p:nvSpPr>
          <p:cNvPr id="502" name="Google Shape;502;p50">
            <a:extLst>
              <a:ext uri="{FF2B5EF4-FFF2-40B4-BE49-F238E27FC236}">
                <a16:creationId xmlns:a16="http://schemas.microsoft.com/office/drawing/2014/main" id="{F98903FE-5355-2A64-C81D-644E4D9204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60</a:t>
            </a:fld>
            <a:endParaRPr/>
          </a:p>
        </p:txBody>
      </p:sp>
      <p:sp>
        <p:nvSpPr>
          <p:cNvPr id="503" name="Google Shape;503;p50">
            <a:extLst>
              <a:ext uri="{FF2B5EF4-FFF2-40B4-BE49-F238E27FC236}">
                <a16:creationId xmlns:a16="http://schemas.microsoft.com/office/drawing/2014/main" id="{5EE12FE8-F078-64F6-D3FF-1CD25D8B9F5E}"/>
              </a:ext>
            </a:extLst>
          </p:cNvPr>
          <p:cNvSpPr txBox="1"/>
          <p:nvPr/>
        </p:nvSpPr>
        <p:spPr>
          <a:xfrm>
            <a:off x="1184400" y="6010089"/>
            <a:ext cx="498855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the</a:t>
            </a:r>
            <a:endParaRPr/>
          </a:p>
        </p:txBody>
      </p:sp>
      <p:sp>
        <p:nvSpPr>
          <p:cNvPr id="504" name="Google Shape;504;p50">
            <a:extLst>
              <a:ext uri="{FF2B5EF4-FFF2-40B4-BE49-F238E27FC236}">
                <a16:creationId xmlns:a16="http://schemas.microsoft.com/office/drawing/2014/main" id="{60A0C781-507C-FFAE-F69E-2837A1E63362}"/>
              </a:ext>
            </a:extLst>
          </p:cNvPr>
          <p:cNvSpPr txBox="1"/>
          <p:nvPr/>
        </p:nvSpPr>
        <p:spPr>
          <a:xfrm>
            <a:off x="1812781" y="6008209"/>
            <a:ext cx="671979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black</a:t>
            </a:r>
            <a:endParaRPr/>
          </a:p>
        </p:txBody>
      </p:sp>
      <p:sp>
        <p:nvSpPr>
          <p:cNvPr id="505" name="Google Shape;505;p50">
            <a:extLst>
              <a:ext uri="{FF2B5EF4-FFF2-40B4-BE49-F238E27FC236}">
                <a16:creationId xmlns:a16="http://schemas.microsoft.com/office/drawing/2014/main" id="{36B3716C-969C-FC62-0B5C-E5179362FCB4}"/>
              </a:ext>
            </a:extLst>
          </p:cNvPr>
          <p:cNvSpPr txBox="1"/>
          <p:nvPr/>
        </p:nvSpPr>
        <p:spPr>
          <a:xfrm>
            <a:off x="2570724" y="6009095"/>
            <a:ext cx="465961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cat</a:t>
            </a:r>
            <a:endParaRPr/>
          </a:p>
        </p:txBody>
      </p:sp>
      <p:sp>
        <p:nvSpPr>
          <p:cNvPr id="506" name="Google Shape;506;p50">
            <a:extLst>
              <a:ext uri="{FF2B5EF4-FFF2-40B4-BE49-F238E27FC236}">
                <a16:creationId xmlns:a16="http://schemas.microsoft.com/office/drawing/2014/main" id="{8F1F0285-2EE3-4285-AE5B-C35E5CA3B478}"/>
              </a:ext>
            </a:extLst>
          </p:cNvPr>
          <p:cNvSpPr txBox="1"/>
          <p:nvPr/>
        </p:nvSpPr>
        <p:spPr>
          <a:xfrm>
            <a:off x="3140822" y="6014302"/>
            <a:ext cx="718530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drank</a:t>
            </a:r>
            <a:endParaRPr/>
          </a:p>
        </p:txBody>
      </p:sp>
      <p:sp>
        <p:nvSpPr>
          <p:cNvPr id="507" name="Google Shape;507;p50">
            <a:extLst>
              <a:ext uri="{FF2B5EF4-FFF2-40B4-BE49-F238E27FC236}">
                <a16:creationId xmlns:a16="http://schemas.microsoft.com/office/drawing/2014/main" id="{965E2E0F-00A7-3219-B61B-8A96396D978F}"/>
              </a:ext>
            </a:extLst>
          </p:cNvPr>
          <p:cNvSpPr txBox="1"/>
          <p:nvPr/>
        </p:nvSpPr>
        <p:spPr>
          <a:xfrm>
            <a:off x="3966412" y="6018553"/>
            <a:ext cx="579005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milk</a:t>
            </a:r>
            <a:endParaRPr/>
          </a:p>
        </p:txBody>
      </p:sp>
      <p:cxnSp>
        <p:nvCxnSpPr>
          <p:cNvPr id="508" name="Google Shape;508;p50">
            <a:extLst>
              <a:ext uri="{FF2B5EF4-FFF2-40B4-BE49-F238E27FC236}">
                <a16:creationId xmlns:a16="http://schemas.microsoft.com/office/drawing/2014/main" id="{2CF816CB-3397-C311-7DE1-CB27FF05F0E0}"/>
              </a:ext>
            </a:extLst>
          </p:cNvPr>
          <p:cNvCxnSpPr>
            <a:stCxn id="503" idx="0"/>
            <a:endCxn id="509" idx="2"/>
          </p:cNvCxnSpPr>
          <p:nvPr/>
        </p:nvCxnSpPr>
        <p:spPr>
          <a:xfrm flipH="1" flipV="1">
            <a:off x="1428581" y="5392271"/>
            <a:ext cx="5247" cy="61781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0" name="Google Shape;510;p50">
            <a:extLst>
              <a:ext uri="{FF2B5EF4-FFF2-40B4-BE49-F238E27FC236}">
                <a16:creationId xmlns:a16="http://schemas.microsoft.com/office/drawing/2014/main" id="{E9269A5E-8BCD-7A3E-5121-B78C5DFA25A2}"/>
              </a:ext>
            </a:extLst>
          </p:cNvPr>
          <p:cNvCxnSpPr>
            <a:stCxn id="504" idx="0"/>
            <a:endCxn id="511" idx="2"/>
          </p:cNvCxnSpPr>
          <p:nvPr/>
        </p:nvCxnSpPr>
        <p:spPr>
          <a:xfrm flipH="1" flipV="1">
            <a:off x="2143568" y="5388038"/>
            <a:ext cx="5203" cy="62017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2" name="Google Shape;512;p50">
            <a:extLst>
              <a:ext uri="{FF2B5EF4-FFF2-40B4-BE49-F238E27FC236}">
                <a16:creationId xmlns:a16="http://schemas.microsoft.com/office/drawing/2014/main" id="{F1EEAE0F-F1F4-DF5B-450D-9EEC7C9A2EF2}"/>
              </a:ext>
            </a:extLst>
          </p:cNvPr>
          <p:cNvCxnSpPr>
            <a:stCxn id="505" idx="0"/>
            <a:endCxn id="513" idx="2"/>
          </p:cNvCxnSpPr>
          <p:nvPr/>
        </p:nvCxnSpPr>
        <p:spPr>
          <a:xfrm flipH="1" flipV="1">
            <a:off x="2796738" y="5385432"/>
            <a:ext cx="6967" cy="62366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4" name="Google Shape;514;p50">
            <a:extLst>
              <a:ext uri="{FF2B5EF4-FFF2-40B4-BE49-F238E27FC236}">
                <a16:creationId xmlns:a16="http://schemas.microsoft.com/office/drawing/2014/main" id="{5CCD69E1-C6BC-9683-809E-27028DB6E0ED}"/>
              </a:ext>
            </a:extLst>
          </p:cNvPr>
          <p:cNvCxnSpPr>
            <a:stCxn id="506" idx="0"/>
            <a:endCxn id="515" idx="2"/>
          </p:cNvCxnSpPr>
          <p:nvPr/>
        </p:nvCxnSpPr>
        <p:spPr>
          <a:xfrm flipH="1" flipV="1">
            <a:off x="3498477" y="5385432"/>
            <a:ext cx="1610" cy="62887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6" name="Google Shape;516;p50">
            <a:extLst>
              <a:ext uri="{FF2B5EF4-FFF2-40B4-BE49-F238E27FC236}">
                <a16:creationId xmlns:a16="http://schemas.microsoft.com/office/drawing/2014/main" id="{795C6693-4314-3204-FE05-EB20AD1FB67F}"/>
              </a:ext>
            </a:extLst>
          </p:cNvPr>
          <p:cNvCxnSpPr>
            <a:stCxn id="507" idx="0"/>
            <a:endCxn id="517" idx="2"/>
          </p:cNvCxnSpPr>
          <p:nvPr/>
        </p:nvCxnSpPr>
        <p:spPr>
          <a:xfrm flipV="1">
            <a:off x="4255915" y="5385432"/>
            <a:ext cx="5357" cy="63312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18" name="Google Shape;518;p50">
            <a:extLst>
              <a:ext uri="{FF2B5EF4-FFF2-40B4-BE49-F238E27FC236}">
                <a16:creationId xmlns:a16="http://schemas.microsoft.com/office/drawing/2014/main" id="{44561AF7-AF81-25A1-0BA4-26677AD3B0C9}"/>
              </a:ext>
            </a:extLst>
          </p:cNvPr>
          <p:cNvSpPr txBox="1"/>
          <p:nvPr/>
        </p:nvSpPr>
        <p:spPr>
          <a:xfrm>
            <a:off x="304731" y="6021159"/>
            <a:ext cx="779381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&lt;SOS&gt;</a:t>
            </a:r>
            <a:endParaRPr/>
          </a:p>
        </p:txBody>
      </p:sp>
      <p:sp>
        <p:nvSpPr>
          <p:cNvPr id="519" name="Google Shape;519;p50">
            <a:extLst>
              <a:ext uri="{FF2B5EF4-FFF2-40B4-BE49-F238E27FC236}">
                <a16:creationId xmlns:a16="http://schemas.microsoft.com/office/drawing/2014/main" id="{2BCDCC7E-B18D-A91B-E6E6-9FDB84A31B19}"/>
              </a:ext>
            </a:extLst>
          </p:cNvPr>
          <p:cNvSpPr/>
          <p:nvPr/>
        </p:nvSpPr>
        <p:spPr>
          <a:xfrm>
            <a:off x="526612" y="4873326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20" name="Google Shape;520;p50">
            <a:extLst>
              <a:ext uri="{FF2B5EF4-FFF2-40B4-BE49-F238E27FC236}">
                <a16:creationId xmlns:a16="http://schemas.microsoft.com/office/drawing/2014/main" id="{E5E97659-1E13-B42F-7B22-AECF8CF8A798}"/>
              </a:ext>
            </a:extLst>
          </p:cNvPr>
          <p:cNvCxnSpPr>
            <a:stCxn id="518" idx="0"/>
            <a:endCxn id="519" idx="2"/>
          </p:cNvCxnSpPr>
          <p:nvPr/>
        </p:nvCxnSpPr>
        <p:spPr>
          <a:xfrm flipH="1" flipV="1">
            <a:off x="689132" y="5390631"/>
            <a:ext cx="5290" cy="63052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09" name="Google Shape;509;p50">
            <a:extLst>
              <a:ext uri="{FF2B5EF4-FFF2-40B4-BE49-F238E27FC236}">
                <a16:creationId xmlns:a16="http://schemas.microsoft.com/office/drawing/2014/main" id="{502B61DE-B375-F76C-47E6-2EC4F94513B2}"/>
              </a:ext>
            </a:extLst>
          </p:cNvPr>
          <p:cNvSpPr/>
          <p:nvPr/>
        </p:nvSpPr>
        <p:spPr>
          <a:xfrm>
            <a:off x="1266061" y="4874966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1" name="Google Shape;511;p50">
            <a:extLst>
              <a:ext uri="{FF2B5EF4-FFF2-40B4-BE49-F238E27FC236}">
                <a16:creationId xmlns:a16="http://schemas.microsoft.com/office/drawing/2014/main" id="{E7CBE21A-7B99-6684-335D-32607497DCE1}"/>
              </a:ext>
            </a:extLst>
          </p:cNvPr>
          <p:cNvSpPr/>
          <p:nvPr/>
        </p:nvSpPr>
        <p:spPr>
          <a:xfrm>
            <a:off x="1981048" y="4870733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3" name="Google Shape;513;p50">
            <a:extLst>
              <a:ext uri="{FF2B5EF4-FFF2-40B4-BE49-F238E27FC236}">
                <a16:creationId xmlns:a16="http://schemas.microsoft.com/office/drawing/2014/main" id="{C7FC7ADB-82A4-245D-2DCC-F8CC2A58D25A}"/>
              </a:ext>
            </a:extLst>
          </p:cNvPr>
          <p:cNvSpPr/>
          <p:nvPr/>
        </p:nvSpPr>
        <p:spPr>
          <a:xfrm>
            <a:off x="2634218" y="4868127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5" name="Google Shape;515;p50">
            <a:extLst>
              <a:ext uri="{FF2B5EF4-FFF2-40B4-BE49-F238E27FC236}">
                <a16:creationId xmlns:a16="http://schemas.microsoft.com/office/drawing/2014/main" id="{B0116942-44FE-E719-1D26-97977199827B}"/>
              </a:ext>
            </a:extLst>
          </p:cNvPr>
          <p:cNvSpPr/>
          <p:nvPr/>
        </p:nvSpPr>
        <p:spPr>
          <a:xfrm>
            <a:off x="3335957" y="4868127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7" name="Google Shape;517;p50">
            <a:extLst>
              <a:ext uri="{FF2B5EF4-FFF2-40B4-BE49-F238E27FC236}">
                <a16:creationId xmlns:a16="http://schemas.microsoft.com/office/drawing/2014/main" id="{12664357-2EF8-ADCF-A9FF-BD7A26EA8EEF}"/>
              </a:ext>
            </a:extLst>
          </p:cNvPr>
          <p:cNvSpPr/>
          <p:nvPr/>
        </p:nvSpPr>
        <p:spPr>
          <a:xfrm>
            <a:off x="4098752" y="4868127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1" name="Google Shape;521;p50">
            <a:extLst>
              <a:ext uri="{FF2B5EF4-FFF2-40B4-BE49-F238E27FC236}">
                <a16:creationId xmlns:a16="http://schemas.microsoft.com/office/drawing/2014/main" id="{BB70A749-F0BE-B5B2-4637-15C6FC3C35ED}"/>
              </a:ext>
            </a:extLst>
          </p:cNvPr>
          <p:cNvSpPr/>
          <p:nvPr/>
        </p:nvSpPr>
        <p:spPr>
          <a:xfrm>
            <a:off x="6074182" y="4880165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2" name="Google Shape;522;p50">
            <a:extLst>
              <a:ext uri="{FF2B5EF4-FFF2-40B4-BE49-F238E27FC236}">
                <a16:creationId xmlns:a16="http://schemas.microsoft.com/office/drawing/2014/main" id="{CB028F73-85B3-AE1E-35B2-B060B0555813}"/>
              </a:ext>
            </a:extLst>
          </p:cNvPr>
          <p:cNvSpPr txBox="1"/>
          <p:nvPr/>
        </p:nvSpPr>
        <p:spPr>
          <a:xfrm>
            <a:off x="4622516" y="6018553"/>
            <a:ext cx="782202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&lt;EOS&gt;</a:t>
            </a:r>
            <a:endParaRPr/>
          </a:p>
        </p:txBody>
      </p:sp>
      <p:cxnSp>
        <p:nvCxnSpPr>
          <p:cNvPr id="523" name="Google Shape;523;p50">
            <a:extLst>
              <a:ext uri="{FF2B5EF4-FFF2-40B4-BE49-F238E27FC236}">
                <a16:creationId xmlns:a16="http://schemas.microsoft.com/office/drawing/2014/main" id="{22866FAB-FDC7-A4E3-D019-6072C6944D32}"/>
              </a:ext>
            </a:extLst>
          </p:cNvPr>
          <p:cNvCxnSpPr>
            <a:stCxn id="522" idx="0"/>
            <a:endCxn id="524" idx="2"/>
          </p:cNvCxnSpPr>
          <p:nvPr/>
        </p:nvCxnSpPr>
        <p:spPr>
          <a:xfrm flipV="1">
            <a:off x="5013617" y="5385432"/>
            <a:ext cx="1239" cy="63312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24" name="Google Shape;524;p50">
            <a:extLst>
              <a:ext uri="{FF2B5EF4-FFF2-40B4-BE49-F238E27FC236}">
                <a16:creationId xmlns:a16="http://schemas.microsoft.com/office/drawing/2014/main" id="{A8067B79-4F5D-7C00-B7D0-E7EF83214AC0}"/>
              </a:ext>
            </a:extLst>
          </p:cNvPr>
          <p:cNvSpPr/>
          <p:nvPr/>
        </p:nvSpPr>
        <p:spPr>
          <a:xfrm>
            <a:off x="4852336" y="4868127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5" name="Google Shape;525;p50">
            <a:extLst>
              <a:ext uri="{FF2B5EF4-FFF2-40B4-BE49-F238E27FC236}">
                <a16:creationId xmlns:a16="http://schemas.microsoft.com/office/drawing/2014/main" id="{6337BF32-3A05-51D1-DA66-C0DDF7B617FA}"/>
              </a:ext>
            </a:extLst>
          </p:cNvPr>
          <p:cNvSpPr txBox="1"/>
          <p:nvPr/>
        </p:nvSpPr>
        <p:spPr>
          <a:xfrm>
            <a:off x="5847011" y="6008209"/>
            <a:ext cx="779381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&lt;SOS&gt;</a:t>
            </a:r>
            <a:endParaRPr/>
          </a:p>
        </p:txBody>
      </p:sp>
      <p:cxnSp>
        <p:nvCxnSpPr>
          <p:cNvPr id="526" name="Google Shape;526;p50">
            <a:extLst>
              <a:ext uri="{FF2B5EF4-FFF2-40B4-BE49-F238E27FC236}">
                <a16:creationId xmlns:a16="http://schemas.microsoft.com/office/drawing/2014/main" id="{B04B5B37-0044-B914-A6DD-6983104568C6}"/>
              </a:ext>
            </a:extLst>
          </p:cNvPr>
          <p:cNvCxnSpPr>
            <a:stCxn id="525" idx="0"/>
            <a:endCxn id="521" idx="2"/>
          </p:cNvCxnSpPr>
          <p:nvPr/>
        </p:nvCxnSpPr>
        <p:spPr>
          <a:xfrm flipV="1">
            <a:off x="6236702" y="5397470"/>
            <a:ext cx="0" cy="61073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27" name="Google Shape;527;p50">
            <a:extLst>
              <a:ext uri="{FF2B5EF4-FFF2-40B4-BE49-F238E27FC236}">
                <a16:creationId xmlns:a16="http://schemas.microsoft.com/office/drawing/2014/main" id="{BF853256-ADF5-99C4-F388-4BF2BDC125DF}"/>
              </a:ext>
            </a:extLst>
          </p:cNvPr>
          <p:cNvCxnSpPr>
            <a:stCxn id="509" idx="3"/>
            <a:endCxn id="511" idx="1"/>
          </p:cNvCxnSpPr>
          <p:nvPr/>
        </p:nvCxnSpPr>
        <p:spPr>
          <a:xfrm rot="10800000" flipH="1">
            <a:off x="1591101" y="5129419"/>
            <a:ext cx="390000" cy="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28" name="Google Shape;528;p50">
            <a:extLst>
              <a:ext uri="{FF2B5EF4-FFF2-40B4-BE49-F238E27FC236}">
                <a16:creationId xmlns:a16="http://schemas.microsoft.com/office/drawing/2014/main" id="{74551588-3E5E-5136-3488-55683316A31C}"/>
              </a:ext>
            </a:extLst>
          </p:cNvPr>
          <p:cNvCxnSpPr>
            <a:stCxn id="511" idx="3"/>
            <a:endCxn id="513" idx="1"/>
          </p:cNvCxnSpPr>
          <p:nvPr/>
        </p:nvCxnSpPr>
        <p:spPr>
          <a:xfrm rot="10800000" flipH="1">
            <a:off x="2306088" y="5126686"/>
            <a:ext cx="328200" cy="2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29" name="Google Shape;529;p50">
            <a:extLst>
              <a:ext uri="{FF2B5EF4-FFF2-40B4-BE49-F238E27FC236}">
                <a16:creationId xmlns:a16="http://schemas.microsoft.com/office/drawing/2014/main" id="{086270F7-024A-CC10-E630-6BCF693199C6}"/>
              </a:ext>
            </a:extLst>
          </p:cNvPr>
          <p:cNvCxnSpPr>
            <a:stCxn id="513" idx="3"/>
            <a:endCxn id="515" idx="1"/>
          </p:cNvCxnSpPr>
          <p:nvPr/>
        </p:nvCxnSpPr>
        <p:spPr>
          <a:xfrm>
            <a:off x="2959258" y="5126780"/>
            <a:ext cx="376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30" name="Google Shape;530;p50">
            <a:extLst>
              <a:ext uri="{FF2B5EF4-FFF2-40B4-BE49-F238E27FC236}">
                <a16:creationId xmlns:a16="http://schemas.microsoft.com/office/drawing/2014/main" id="{77DA83F5-F88A-C78E-6615-2C2F98D131A8}"/>
              </a:ext>
            </a:extLst>
          </p:cNvPr>
          <p:cNvCxnSpPr>
            <a:stCxn id="515" idx="3"/>
            <a:endCxn id="517" idx="1"/>
          </p:cNvCxnSpPr>
          <p:nvPr/>
        </p:nvCxnSpPr>
        <p:spPr>
          <a:xfrm>
            <a:off x="3660997" y="5126780"/>
            <a:ext cx="4377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31" name="Google Shape;531;p50">
            <a:extLst>
              <a:ext uri="{FF2B5EF4-FFF2-40B4-BE49-F238E27FC236}">
                <a16:creationId xmlns:a16="http://schemas.microsoft.com/office/drawing/2014/main" id="{53356566-204F-B016-9BC9-ECD63725CAE3}"/>
              </a:ext>
            </a:extLst>
          </p:cNvPr>
          <p:cNvCxnSpPr>
            <a:stCxn id="519" idx="3"/>
            <a:endCxn id="509" idx="1"/>
          </p:cNvCxnSpPr>
          <p:nvPr/>
        </p:nvCxnSpPr>
        <p:spPr>
          <a:xfrm>
            <a:off x="851652" y="5131979"/>
            <a:ext cx="414300" cy="1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32" name="Google Shape;532;p50">
            <a:extLst>
              <a:ext uri="{FF2B5EF4-FFF2-40B4-BE49-F238E27FC236}">
                <a16:creationId xmlns:a16="http://schemas.microsoft.com/office/drawing/2014/main" id="{704F7932-0AFD-9439-7748-06A18A6FD5A8}"/>
              </a:ext>
            </a:extLst>
          </p:cNvPr>
          <p:cNvCxnSpPr>
            <a:stCxn id="517" idx="3"/>
            <a:endCxn id="524" idx="1"/>
          </p:cNvCxnSpPr>
          <p:nvPr/>
        </p:nvCxnSpPr>
        <p:spPr>
          <a:xfrm>
            <a:off x="4423792" y="5126780"/>
            <a:ext cx="428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33" name="Google Shape;533;p50">
            <a:extLst>
              <a:ext uri="{FF2B5EF4-FFF2-40B4-BE49-F238E27FC236}">
                <a16:creationId xmlns:a16="http://schemas.microsoft.com/office/drawing/2014/main" id="{2CFDB436-6CF0-43BA-DA49-BC03F299DF32}"/>
              </a:ext>
            </a:extLst>
          </p:cNvPr>
          <p:cNvSpPr txBox="1"/>
          <p:nvPr/>
        </p:nvSpPr>
        <p:spPr>
          <a:xfrm>
            <a:off x="5776419" y="4438677"/>
            <a:ext cx="345544" cy="55399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534" name="Google Shape;534;p50">
            <a:extLst>
              <a:ext uri="{FF2B5EF4-FFF2-40B4-BE49-F238E27FC236}">
                <a16:creationId xmlns:a16="http://schemas.microsoft.com/office/drawing/2014/main" id="{F683C44D-AAC3-95B6-841F-E7625B66CB3A}"/>
              </a:ext>
            </a:extLst>
          </p:cNvPr>
          <p:cNvSpPr txBox="1"/>
          <p:nvPr/>
        </p:nvSpPr>
        <p:spPr>
          <a:xfrm>
            <a:off x="707672" y="4587154"/>
            <a:ext cx="283154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6666" r="-4166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535" name="Google Shape;535;p50">
            <a:extLst>
              <a:ext uri="{FF2B5EF4-FFF2-40B4-BE49-F238E27FC236}">
                <a16:creationId xmlns:a16="http://schemas.microsoft.com/office/drawing/2014/main" id="{D8FE1A15-259F-594A-ACD3-E14D9A278D71}"/>
              </a:ext>
            </a:extLst>
          </p:cNvPr>
          <p:cNvSpPr txBox="1"/>
          <p:nvPr/>
        </p:nvSpPr>
        <p:spPr>
          <a:xfrm>
            <a:off x="1469158" y="4587154"/>
            <a:ext cx="288477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20831" r="-4164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536" name="Google Shape;536;p50">
            <a:extLst>
              <a:ext uri="{FF2B5EF4-FFF2-40B4-BE49-F238E27FC236}">
                <a16:creationId xmlns:a16="http://schemas.microsoft.com/office/drawing/2014/main" id="{5449BDAC-E0A6-338A-1CF8-4702D456A019}"/>
              </a:ext>
            </a:extLst>
          </p:cNvPr>
          <p:cNvSpPr txBox="1"/>
          <p:nvPr/>
        </p:nvSpPr>
        <p:spPr>
          <a:xfrm>
            <a:off x="2184144" y="4587154"/>
            <a:ext cx="288477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16666" r="-4166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537" name="Google Shape;537;p50">
            <a:extLst>
              <a:ext uri="{FF2B5EF4-FFF2-40B4-BE49-F238E27FC236}">
                <a16:creationId xmlns:a16="http://schemas.microsoft.com/office/drawing/2014/main" id="{079F3530-7130-4A0F-C443-B4BCBA0943EF}"/>
              </a:ext>
            </a:extLst>
          </p:cNvPr>
          <p:cNvSpPr txBox="1"/>
          <p:nvPr/>
        </p:nvSpPr>
        <p:spPr>
          <a:xfrm>
            <a:off x="2851200" y="4587154"/>
            <a:ext cx="288477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20831" r="-4164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538" name="Google Shape;538;p50">
            <a:extLst>
              <a:ext uri="{FF2B5EF4-FFF2-40B4-BE49-F238E27FC236}">
                <a16:creationId xmlns:a16="http://schemas.microsoft.com/office/drawing/2014/main" id="{F435F5FB-A340-91E0-5B20-9C5E8D890616}"/>
              </a:ext>
            </a:extLst>
          </p:cNvPr>
          <p:cNvSpPr txBox="1"/>
          <p:nvPr/>
        </p:nvSpPr>
        <p:spPr>
          <a:xfrm>
            <a:off x="3577768" y="4587154"/>
            <a:ext cx="288477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20831" r="-4164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539" name="Google Shape;539;p50">
            <a:extLst>
              <a:ext uri="{FF2B5EF4-FFF2-40B4-BE49-F238E27FC236}">
                <a16:creationId xmlns:a16="http://schemas.microsoft.com/office/drawing/2014/main" id="{8206C38D-7B98-5A69-53C8-EA3F048E35B2}"/>
              </a:ext>
            </a:extLst>
          </p:cNvPr>
          <p:cNvSpPr txBox="1"/>
          <p:nvPr/>
        </p:nvSpPr>
        <p:spPr>
          <a:xfrm>
            <a:off x="4327414" y="4587154"/>
            <a:ext cx="288477" cy="276999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l="-16666" r="-4166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540" name="Google Shape;540;p50">
            <a:extLst>
              <a:ext uri="{FF2B5EF4-FFF2-40B4-BE49-F238E27FC236}">
                <a16:creationId xmlns:a16="http://schemas.microsoft.com/office/drawing/2014/main" id="{699702E4-39B7-E575-36F5-4FD652F7BFA6}"/>
              </a:ext>
            </a:extLst>
          </p:cNvPr>
          <p:cNvSpPr txBox="1"/>
          <p:nvPr/>
        </p:nvSpPr>
        <p:spPr>
          <a:xfrm>
            <a:off x="5077248" y="4587154"/>
            <a:ext cx="288477" cy="27699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l="-16666" r="-4166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grpSp>
        <p:nvGrpSpPr>
          <p:cNvPr id="541" name="Google Shape;541;p50">
            <a:extLst>
              <a:ext uri="{FF2B5EF4-FFF2-40B4-BE49-F238E27FC236}">
                <a16:creationId xmlns:a16="http://schemas.microsoft.com/office/drawing/2014/main" id="{29AADFFD-9D3E-E908-1629-15C4F82E1D0F}"/>
              </a:ext>
            </a:extLst>
          </p:cNvPr>
          <p:cNvGrpSpPr/>
          <p:nvPr/>
        </p:nvGrpSpPr>
        <p:grpSpPr>
          <a:xfrm>
            <a:off x="369514" y="3800179"/>
            <a:ext cx="5867188" cy="1079986"/>
            <a:chOff x="369514" y="3800179"/>
            <a:chExt cx="5867188" cy="1079986"/>
          </a:xfrm>
        </p:grpSpPr>
        <p:cxnSp>
          <p:nvCxnSpPr>
            <p:cNvPr id="542" name="Google Shape;542;p50">
              <a:extLst>
                <a:ext uri="{FF2B5EF4-FFF2-40B4-BE49-F238E27FC236}">
                  <a16:creationId xmlns:a16="http://schemas.microsoft.com/office/drawing/2014/main" id="{D7DB2E3E-38C3-7796-F55C-9B7ED4962D4E}"/>
                </a:ext>
              </a:extLst>
            </p:cNvPr>
            <p:cNvCxnSpPr>
              <a:stCxn id="519" idx="0"/>
              <a:endCxn id="543" idx="2"/>
            </p:cNvCxnSpPr>
            <p:nvPr/>
          </p:nvCxnSpPr>
          <p:spPr>
            <a:xfrm rot="10800000">
              <a:off x="689132" y="4294326"/>
              <a:ext cx="0" cy="5790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44" name="Google Shape;544;p50">
              <a:extLst>
                <a:ext uri="{FF2B5EF4-FFF2-40B4-BE49-F238E27FC236}">
                  <a16:creationId xmlns:a16="http://schemas.microsoft.com/office/drawing/2014/main" id="{D629A169-131C-4D58-68E6-D9B5A781C192}"/>
                </a:ext>
              </a:extLst>
            </p:cNvPr>
            <p:cNvCxnSpPr>
              <a:stCxn id="521" idx="0"/>
              <a:endCxn id="543" idx="2"/>
            </p:cNvCxnSpPr>
            <p:nvPr/>
          </p:nvCxnSpPr>
          <p:spPr>
            <a:xfrm rot="10800000">
              <a:off x="689102" y="4294565"/>
              <a:ext cx="5547600" cy="585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43" name="Google Shape;543;p50">
              <a:extLst>
                <a:ext uri="{FF2B5EF4-FFF2-40B4-BE49-F238E27FC236}">
                  <a16:creationId xmlns:a16="http://schemas.microsoft.com/office/drawing/2014/main" id="{A46E23C5-6E13-F10C-EDA4-D837A130C9B5}"/>
                </a:ext>
              </a:extLst>
            </p:cNvPr>
            <p:cNvSpPr/>
            <p:nvPr/>
          </p:nvSpPr>
          <p:spPr>
            <a:xfrm>
              <a:off x="369514" y="3800179"/>
              <a:ext cx="639236" cy="494276"/>
            </a:xfrm>
            <a:prstGeom prst="roundRect">
              <a:avLst>
                <a:gd name="adj" fmla="val 16667"/>
              </a:avLst>
            </a:prstGeom>
            <a:blipFill rotWithShape="1">
              <a:blip r:embed="rId11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</p:grpSp>
      <p:grpSp>
        <p:nvGrpSpPr>
          <p:cNvPr id="545" name="Google Shape;545;p50">
            <a:extLst>
              <a:ext uri="{FF2B5EF4-FFF2-40B4-BE49-F238E27FC236}">
                <a16:creationId xmlns:a16="http://schemas.microsoft.com/office/drawing/2014/main" id="{48BE0E42-2812-4AE7-D9CA-F6A89FCF8B68}"/>
              </a:ext>
            </a:extLst>
          </p:cNvPr>
          <p:cNvGrpSpPr/>
          <p:nvPr/>
        </p:nvGrpSpPr>
        <p:grpSpPr>
          <a:xfrm>
            <a:off x="1106504" y="3804976"/>
            <a:ext cx="5130198" cy="1075189"/>
            <a:chOff x="1106504" y="3804976"/>
            <a:chExt cx="5130198" cy="1075189"/>
          </a:xfrm>
        </p:grpSpPr>
        <p:cxnSp>
          <p:nvCxnSpPr>
            <p:cNvPr id="546" name="Google Shape;546;p50">
              <a:extLst>
                <a:ext uri="{FF2B5EF4-FFF2-40B4-BE49-F238E27FC236}">
                  <a16:creationId xmlns:a16="http://schemas.microsoft.com/office/drawing/2014/main" id="{DBF6701D-1BB6-051D-6E12-9DA4C82BE02F}"/>
                </a:ext>
              </a:extLst>
            </p:cNvPr>
            <p:cNvCxnSpPr>
              <a:stCxn id="509" idx="0"/>
              <a:endCxn id="547" idx="2"/>
            </p:cNvCxnSpPr>
            <p:nvPr/>
          </p:nvCxnSpPr>
          <p:spPr>
            <a:xfrm rot="10800000">
              <a:off x="1426181" y="4299266"/>
              <a:ext cx="2400" cy="575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48" name="Google Shape;548;p50">
              <a:extLst>
                <a:ext uri="{FF2B5EF4-FFF2-40B4-BE49-F238E27FC236}">
                  <a16:creationId xmlns:a16="http://schemas.microsoft.com/office/drawing/2014/main" id="{A57C20F8-715A-2469-6D6A-99FC6D2183D8}"/>
                </a:ext>
              </a:extLst>
            </p:cNvPr>
            <p:cNvCxnSpPr>
              <a:stCxn id="521" idx="0"/>
              <a:endCxn id="547" idx="2"/>
            </p:cNvCxnSpPr>
            <p:nvPr/>
          </p:nvCxnSpPr>
          <p:spPr>
            <a:xfrm rot="10800000">
              <a:off x="1426202" y="4299365"/>
              <a:ext cx="4810500" cy="580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47" name="Google Shape;547;p50">
              <a:extLst>
                <a:ext uri="{FF2B5EF4-FFF2-40B4-BE49-F238E27FC236}">
                  <a16:creationId xmlns:a16="http://schemas.microsoft.com/office/drawing/2014/main" id="{E75E234D-F005-5151-6C9F-878BBE5BFCA9}"/>
                </a:ext>
              </a:extLst>
            </p:cNvPr>
            <p:cNvSpPr/>
            <p:nvPr/>
          </p:nvSpPr>
          <p:spPr>
            <a:xfrm>
              <a:off x="1106504" y="3804976"/>
              <a:ext cx="639236" cy="494276"/>
            </a:xfrm>
            <a:prstGeom prst="roundRect">
              <a:avLst>
                <a:gd name="adj" fmla="val 16667"/>
              </a:avLst>
            </a:prstGeom>
            <a:blipFill rotWithShape="1">
              <a:blip r:embed="rId1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</p:grpSp>
      <p:grpSp>
        <p:nvGrpSpPr>
          <p:cNvPr id="549" name="Google Shape;549;p50">
            <a:extLst>
              <a:ext uri="{FF2B5EF4-FFF2-40B4-BE49-F238E27FC236}">
                <a16:creationId xmlns:a16="http://schemas.microsoft.com/office/drawing/2014/main" id="{9A76DE31-376A-DA44-4420-3F07F3E30248}"/>
              </a:ext>
            </a:extLst>
          </p:cNvPr>
          <p:cNvGrpSpPr/>
          <p:nvPr/>
        </p:nvGrpSpPr>
        <p:grpSpPr>
          <a:xfrm>
            <a:off x="3197428" y="3799807"/>
            <a:ext cx="3039274" cy="1080358"/>
            <a:chOff x="3181032" y="3812559"/>
            <a:chExt cx="3039274" cy="1080358"/>
          </a:xfrm>
        </p:grpSpPr>
        <p:cxnSp>
          <p:nvCxnSpPr>
            <p:cNvPr id="550" name="Google Shape;550;p50">
              <a:extLst>
                <a:ext uri="{FF2B5EF4-FFF2-40B4-BE49-F238E27FC236}">
                  <a16:creationId xmlns:a16="http://schemas.microsoft.com/office/drawing/2014/main" id="{89857105-F50B-DEF4-3EC0-1F4982107823}"/>
                </a:ext>
              </a:extLst>
            </p:cNvPr>
            <p:cNvCxnSpPr>
              <a:stCxn id="515" idx="0"/>
              <a:endCxn id="551" idx="2"/>
            </p:cNvCxnSpPr>
            <p:nvPr/>
          </p:nvCxnSpPr>
          <p:spPr>
            <a:xfrm rot="10800000" flipH="1">
              <a:off x="3482081" y="4306979"/>
              <a:ext cx="18600" cy="573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52" name="Google Shape;552;p50">
              <a:extLst>
                <a:ext uri="{FF2B5EF4-FFF2-40B4-BE49-F238E27FC236}">
                  <a16:creationId xmlns:a16="http://schemas.microsoft.com/office/drawing/2014/main" id="{D7BAC95D-5063-3079-6D10-534983619E87}"/>
                </a:ext>
              </a:extLst>
            </p:cNvPr>
            <p:cNvCxnSpPr>
              <a:stCxn id="521" idx="0"/>
              <a:endCxn id="551" idx="2"/>
            </p:cNvCxnSpPr>
            <p:nvPr/>
          </p:nvCxnSpPr>
          <p:spPr>
            <a:xfrm rot="10800000">
              <a:off x="3500506" y="4306717"/>
              <a:ext cx="2719800" cy="5862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51" name="Google Shape;551;p50">
              <a:extLst>
                <a:ext uri="{FF2B5EF4-FFF2-40B4-BE49-F238E27FC236}">
                  <a16:creationId xmlns:a16="http://schemas.microsoft.com/office/drawing/2014/main" id="{85F6C6B7-48F8-D39D-3BCB-6BBF3330C253}"/>
                </a:ext>
              </a:extLst>
            </p:cNvPr>
            <p:cNvSpPr/>
            <p:nvPr/>
          </p:nvSpPr>
          <p:spPr>
            <a:xfrm>
              <a:off x="3181032" y="3812559"/>
              <a:ext cx="639236" cy="494276"/>
            </a:xfrm>
            <a:prstGeom prst="roundRect">
              <a:avLst>
                <a:gd name="adj" fmla="val 16667"/>
              </a:avLst>
            </a:prstGeom>
            <a:blipFill rotWithShape="1">
              <a:blip r:embed="rId1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</p:grpSp>
      <p:grpSp>
        <p:nvGrpSpPr>
          <p:cNvPr id="553" name="Google Shape;553;p50">
            <a:extLst>
              <a:ext uri="{FF2B5EF4-FFF2-40B4-BE49-F238E27FC236}">
                <a16:creationId xmlns:a16="http://schemas.microsoft.com/office/drawing/2014/main" id="{78DBF909-6B8D-512C-C66A-976603110952}"/>
              </a:ext>
            </a:extLst>
          </p:cNvPr>
          <p:cNvGrpSpPr/>
          <p:nvPr/>
        </p:nvGrpSpPr>
        <p:grpSpPr>
          <a:xfrm>
            <a:off x="3938585" y="3804694"/>
            <a:ext cx="2298117" cy="1075471"/>
            <a:chOff x="3948264" y="3803933"/>
            <a:chExt cx="2298117" cy="1075471"/>
          </a:xfrm>
        </p:grpSpPr>
        <p:cxnSp>
          <p:nvCxnSpPr>
            <p:cNvPr id="554" name="Google Shape;554;p50">
              <a:extLst>
                <a:ext uri="{FF2B5EF4-FFF2-40B4-BE49-F238E27FC236}">
                  <a16:creationId xmlns:a16="http://schemas.microsoft.com/office/drawing/2014/main" id="{EDFC0D62-CE19-2439-CAD1-EFBF6FC810A5}"/>
                </a:ext>
              </a:extLst>
            </p:cNvPr>
            <p:cNvCxnSpPr>
              <a:stCxn id="521" idx="0"/>
              <a:endCxn id="555" idx="2"/>
            </p:cNvCxnSpPr>
            <p:nvPr/>
          </p:nvCxnSpPr>
          <p:spPr>
            <a:xfrm rot="10800000">
              <a:off x="4267881" y="4298304"/>
              <a:ext cx="1978500" cy="581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56" name="Google Shape;556;p50">
              <a:extLst>
                <a:ext uri="{FF2B5EF4-FFF2-40B4-BE49-F238E27FC236}">
                  <a16:creationId xmlns:a16="http://schemas.microsoft.com/office/drawing/2014/main" id="{EF73A939-5811-BD8A-912D-ED11F452D6D7}"/>
                </a:ext>
              </a:extLst>
            </p:cNvPr>
            <p:cNvCxnSpPr>
              <a:stCxn id="517" idx="0"/>
              <a:endCxn id="555" idx="2"/>
            </p:cNvCxnSpPr>
            <p:nvPr/>
          </p:nvCxnSpPr>
          <p:spPr>
            <a:xfrm rot="10800000">
              <a:off x="4267951" y="4298266"/>
              <a:ext cx="3000" cy="569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55" name="Google Shape;555;p50">
              <a:extLst>
                <a:ext uri="{FF2B5EF4-FFF2-40B4-BE49-F238E27FC236}">
                  <a16:creationId xmlns:a16="http://schemas.microsoft.com/office/drawing/2014/main" id="{D2192D7D-1802-6224-82BE-7CAC96965C41}"/>
                </a:ext>
              </a:extLst>
            </p:cNvPr>
            <p:cNvSpPr/>
            <p:nvPr/>
          </p:nvSpPr>
          <p:spPr>
            <a:xfrm>
              <a:off x="3948264" y="3803933"/>
              <a:ext cx="639236" cy="494276"/>
            </a:xfrm>
            <a:prstGeom prst="roundRect">
              <a:avLst>
                <a:gd name="adj" fmla="val 16667"/>
              </a:avLst>
            </a:prstGeom>
            <a:blipFill rotWithShape="1">
              <a:blip r:embed="rId1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</p:grpSp>
      <p:grpSp>
        <p:nvGrpSpPr>
          <p:cNvPr id="557" name="Google Shape;557;p50">
            <a:extLst>
              <a:ext uri="{FF2B5EF4-FFF2-40B4-BE49-F238E27FC236}">
                <a16:creationId xmlns:a16="http://schemas.microsoft.com/office/drawing/2014/main" id="{67454697-3A71-D802-CDCD-C7E6CA270F93}"/>
              </a:ext>
            </a:extLst>
          </p:cNvPr>
          <p:cNvGrpSpPr/>
          <p:nvPr/>
        </p:nvGrpSpPr>
        <p:grpSpPr>
          <a:xfrm>
            <a:off x="689132" y="2780390"/>
            <a:ext cx="4329560" cy="1024586"/>
            <a:chOff x="689132" y="2780390"/>
            <a:chExt cx="4329560" cy="1024586"/>
          </a:xfrm>
        </p:grpSpPr>
        <p:cxnSp>
          <p:nvCxnSpPr>
            <p:cNvPr id="558" name="Google Shape;558;p50">
              <a:extLst>
                <a:ext uri="{FF2B5EF4-FFF2-40B4-BE49-F238E27FC236}">
                  <a16:creationId xmlns:a16="http://schemas.microsoft.com/office/drawing/2014/main" id="{C790284C-B7D9-91BB-F1FD-154B211844E1}"/>
                </a:ext>
              </a:extLst>
            </p:cNvPr>
            <p:cNvCxnSpPr>
              <a:stCxn id="543" idx="0"/>
              <a:endCxn id="559" idx="2"/>
            </p:cNvCxnSpPr>
            <p:nvPr/>
          </p:nvCxnSpPr>
          <p:spPr>
            <a:xfrm rot="10800000" flipH="1">
              <a:off x="689132" y="3247279"/>
              <a:ext cx="1778700" cy="55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60" name="Google Shape;560;p50">
              <a:extLst>
                <a:ext uri="{FF2B5EF4-FFF2-40B4-BE49-F238E27FC236}">
                  <a16:creationId xmlns:a16="http://schemas.microsoft.com/office/drawing/2014/main" id="{DA7154E6-7231-DBB8-850C-107F2C60B552}"/>
                </a:ext>
              </a:extLst>
            </p:cNvPr>
            <p:cNvCxnSpPr>
              <a:stCxn id="547" idx="0"/>
              <a:endCxn id="559" idx="2"/>
            </p:cNvCxnSpPr>
            <p:nvPr/>
          </p:nvCxnSpPr>
          <p:spPr>
            <a:xfrm rot="10800000" flipH="1">
              <a:off x="1426122" y="3247276"/>
              <a:ext cx="1041600" cy="557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61" name="Google Shape;561;p50">
              <a:extLst>
                <a:ext uri="{FF2B5EF4-FFF2-40B4-BE49-F238E27FC236}">
                  <a16:creationId xmlns:a16="http://schemas.microsoft.com/office/drawing/2014/main" id="{71757EEE-9973-5659-A099-E02F9E966473}"/>
                </a:ext>
              </a:extLst>
            </p:cNvPr>
            <p:cNvCxnSpPr>
              <a:stCxn id="562" idx="0"/>
              <a:endCxn id="559" idx="2"/>
            </p:cNvCxnSpPr>
            <p:nvPr/>
          </p:nvCxnSpPr>
          <p:spPr>
            <a:xfrm rot="10800000" flipH="1">
              <a:off x="2135994" y="3247237"/>
              <a:ext cx="331800" cy="553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63" name="Google Shape;563;p50">
              <a:extLst>
                <a:ext uri="{FF2B5EF4-FFF2-40B4-BE49-F238E27FC236}">
                  <a16:creationId xmlns:a16="http://schemas.microsoft.com/office/drawing/2014/main" id="{A2A2BBC1-A556-4A76-14DA-72032E2FFE0F}"/>
                </a:ext>
              </a:extLst>
            </p:cNvPr>
            <p:cNvCxnSpPr>
              <a:stCxn id="564" idx="0"/>
              <a:endCxn id="559" idx="2"/>
            </p:cNvCxnSpPr>
            <p:nvPr/>
          </p:nvCxnSpPr>
          <p:spPr>
            <a:xfrm rot="10800000">
              <a:off x="2467887" y="3247078"/>
              <a:ext cx="357900" cy="55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65" name="Google Shape;565;p50">
              <a:extLst>
                <a:ext uri="{FF2B5EF4-FFF2-40B4-BE49-F238E27FC236}">
                  <a16:creationId xmlns:a16="http://schemas.microsoft.com/office/drawing/2014/main" id="{9483B42E-9240-9698-06CD-27E0878466BE}"/>
                </a:ext>
              </a:extLst>
            </p:cNvPr>
            <p:cNvCxnSpPr>
              <a:stCxn id="551" idx="0"/>
              <a:endCxn id="559" idx="2"/>
            </p:cNvCxnSpPr>
            <p:nvPr/>
          </p:nvCxnSpPr>
          <p:spPr>
            <a:xfrm rot="10800000">
              <a:off x="2467946" y="3247207"/>
              <a:ext cx="1049100" cy="55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66" name="Google Shape;566;p50">
              <a:extLst>
                <a:ext uri="{FF2B5EF4-FFF2-40B4-BE49-F238E27FC236}">
                  <a16:creationId xmlns:a16="http://schemas.microsoft.com/office/drawing/2014/main" id="{E9286FA2-D107-6A38-6FFB-E5B48D2EAA6B}"/>
                </a:ext>
              </a:extLst>
            </p:cNvPr>
            <p:cNvCxnSpPr>
              <a:stCxn id="555" idx="0"/>
              <a:endCxn id="559" idx="2"/>
            </p:cNvCxnSpPr>
            <p:nvPr/>
          </p:nvCxnSpPr>
          <p:spPr>
            <a:xfrm rot="10800000">
              <a:off x="2467803" y="3247294"/>
              <a:ext cx="1790400" cy="557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67" name="Google Shape;567;p50">
              <a:extLst>
                <a:ext uri="{FF2B5EF4-FFF2-40B4-BE49-F238E27FC236}">
                  <a16:creationId xmlns:a16="http://schemas.microsoft.com/office/drawing/2014/main" id="{D80F5170-B2B7-1F81-5D06-A8B152440EC0}"/>
                </a:ext>
              </a:extLst>
            </p:cNvPr>
            <p:cNvCxnSpPr>
              <a:stCxn id="568" idx="0"/>
              <a:endCxn id="559" idx="2"/>
            </p:cNvCxnSpPr>
            <p:nvPr/>
          </p:nvCxnSpPr>
          <p:spPr>
            <a:xfrm rot="10800000">
              <a:off x="2467792" y="3247128"/>
              <a:ext cx="2550900" cy="551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59" name="Google Shape;559;p50">
              <a:extLst>
                <a:ext uri="{FF2B5EF4-FFF2-40B4-BE49-F238E27FC236}">
                  <a16:creationId xmlns:a16="http://schemas.microsoft.com/office/drawing/2014/main" id="{0C3EFAD2-6400-86D9-8322-997010894710}"/>
                </a:ext>
              </a:extLst>
            </p:cNvPr>
            <p:cNvSpPr/>
            <p:nvPr/>
          </p:nvSpPr>
          <p:spPr>
            <a:xfrm>
              <a:off x="1958808" y="2780390"/>
              <a:ext cx="1018071" cy="46679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softmax</a:t>
              </a:r>
              <a:endParaRPr sz="1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569" name="Google Shape;569;p50">
            <a:extLst>
              <a:ext uri="{FF2B5EF4-FFF2-40B4-BE49-F238E27FC236}">
                <a16:creationId xmlns:a16="http://schemas.microsoft.com/office/drawing/2014/main" id="{EA9B37A4-C0A1-2974-66DA-2A201FCDA036}"/>
              </a:ext>
            </a:extLst>
          </p:cNvPr>
          <p:cNvGrpSpPr/>
          <p:nvPr/>
        </p:nvGrpSpPr>
        <p:grpSpPr>
          <a:xfrm>
            <a:off x="2506169" y="3799978"/>
            <a:ext cx="3730533" cy="1080187"/>
            <a:chOff x="2511775" y="3812278"/>
            <a:chExt cx="3730533" cy="1080187"/>
          </a:xfrm>
        </p:grpSpPr>
        <p:cxnSp>
          <p:nvCxnSpPr>
            <p:cNvPr id="570" name="Google Shape;570;p50">
              <a:extLst>
                <a:ext uri="{FF2B5EF4-FFF2-40B4-BE49-F238E27FC236}">
                  <a16:creationId xmlns:a16="http://schemas.microsoft.com/office/drawing/2014/main" id="{CCCA3266-238F-24DC-266A-49E76EDD8885}"/>
                </a:ext>
              </a:extLst>
            </p:cNvPr>
            <p:cNvCxnSpPr>
              <a:stCxn id="513" idx="0"/>
              <a:endCxn id="564" idx="2"/>
            </p:cNvCxnSpPr>
            <p:nvPr/>
          </p:nvCxnSpPr>
          <p:spPr>
            <a:xfrm rot="10800000" flipH="1">
              <a:off x="2802344" y="4306527"/>
              <a:ext cx="29100" cy="573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64" name="Google Shape;564;p50">
              <a:extLst>
                <a:ext uri="{FF2B5EF4-FFF2-40B4-BE49-F238E27FC236}">
                  <a16:creationId xmlns:a16="http://schemas.microsoft.com/office/drawing/2014/main" id="{4B965A37-9EB3-735D-EDCD-CFF99926DA3E}"/>
                </a:ext>
              </a:extLst>
            </p:cNvPr>
            <p:cNvSpPr/>
            <p:nvPr/>
          </p:nvSpPr>
          <p:spPr>
            <a:xfrm>
              <a:off x="2511775" y="3812278"/>
              <a:ext cx="639236" cy="494276"/>
            </a:xfrm>
            <a:prstGeom prst="roundRect">
              <a:avLst>
                <a:gd name="adj" fmla="val 16667"/>
              </a:avLst>
            </a:prstGeom>
            <a:blipFill rotWithShape="1">
              <a:blip r:embed="rId1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  <p:cxnSp>
          <p:nvCxnSpPr>
            <p:cNvPr id="571" name="Google Shape;571;p50">
              <a:extLst>
                <a:ext uri="{FF2B5EF4-FFF2-40B4-BE49-F238E27FC236}">
                  <a16:creationId xmlns:a16="http://schemas.microsoft.com/office/drawing/2014/main" id="{79639E34-99AC-B302-749A-BAB9DA2F4362}"/>
                </a:ext>
              </a:extLst>
            </p:cNvPr>
            <p:cNvCxnSpPr>
              <a:stCxn id="521" idx="0"/>
              <a:endCxn id="564" idx="2"/>
            </p:cNvCxnSpPr>
            <p:nvPr/>
          </p:nvCxnSpPr>
          <p:spPr>
            <a:xfrm rot="10800000">
              <a:off x="2831308" y="4306565"/>
              <a:ext cx="3411000" cy="585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572" name="Google Shape;572;p50">
            <a:extLst>
              <a:ext uri="{FF2B5EF4-FFF2-40B4-BE49-F238E27FC236}">
                <a16:creationId xmlns:a16="http://schemas.microsoft.com/office/drawing/2014/main" id="{907AAA53-47CE-7C70-C188-DADA232685A1}"/>
              </a:ext>
            </a:extLst>
          </p:cNvPr>
          <p:cNvGrpSpPr/>
          <p:nvPr/>
        </p:nvGrpSpPr>
        <p:grpSpPr>
          <a:xfrm>
            <a:off x="1816376" y="3800737"/>
            <a:ext cx="4420326" cy="1079428"/>
            <a:chOff x="1816163" y="3814841"/>
            <a:chExt cx="4420326" cy="1079428"/>
          </a:xfrm>
        </p:grpSpPr>
        <p:cxnSp>
          <p:nvCxnSpPr>
            <p:cNvPr id="573" name="Google Shape;573;p50">
              <a:extLst>
                <a:ext uri="{FF2B5EF4-FFF2-40B4-BE49-F238E27FC236}">
                  <a16:creationId xmlns:a16="http://schemas.microsoft.com/office/drawing/2014/main" id="{F43887E1-D735-F80E-173B-C78F1A78097D}"/>
                </a:ext>
              </a:extLst>
            </p:cNvPr>
            <p:cNvCxnSpPr>
              <a:stCxn id="511" idx="0"/>
              <a:endCxn id="562" idx="2"/>
            </p:cNvCxnSpPr>
            <p:nvPr/>
          </p:nvCxnSpPr>
          <p:spPr>
            <a:xfrm rot="10800000">
              <a:off x="2135855" y="4309137"/>
              <a:ext cx="7500" cy="575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62" name="Google Shape;562;p50">
              <a:extLst>
                <a:ext uri="{FF2B5EF4-FFF2-40B4-BE49-F238E27FC236}">
                  <a16:creationId xmlns:a16="http://schemas.microsoft.com/office/drawing/2014/main" id="{0496BD5B-6379-2363-146E-74038F483354}"/>
                </a:ext>
              </a:extLst>
            </p:cNvPr>
            <p:cNvSpPr/>
            <p:nvPr/>
          </p:nvSpPr>
          <p:spPr>
            <a:xfrm>
              <a:off x="1816163" y="3814841"/>
              <a:ext cx="639236" cy="494276"/>
            </a:xfrm>
            <a:prstGeom prst="roundRect">
              <a:avLst>
                <a:gd name="adj" fmla="val 16667"/>
              </a:avLst>
            </a:prstGeom>
            <a:blipFill rotWithShape="1">
              <a:blip r:embed="rId1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  <p:cxnSp>
          <p:nvCxnSpPr>
            <p:cNvPr id="574" name="Google Shape;574;p50">
              <a:extLst>
                <a:ext uri="{FF2B5EF4-FFF2-40B4-BE49-F238E27FC236}">
                  <a16:creationId xmlns:a16="http://schemas.microsoft.com/office/drawing/2014/main" id="{B582BDE6-C5EF-C38E-D874-064AA5E49CA9}"/>
                </a:ext>
              </a:extLst>
            </p:cNvPr>
            <p:cNvCxnSpPr>
              <a:stCxn id="521" idx="0"/>
              <a:endCxn id="562" idx="2"/>
            </p:cNvCxnSpPr>
            <p:nvPr/>
          </p:nvCxnSpPr>
          <p:spPr>
            <a:xfrm rot="10800000">
              <a:off x="2135789" y="4308969"/>
              <a:ext cx="4100700" cy="5853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575" name="Google Shape;575;p50">
            <a:extLst>
              <a:ext uri="{FF2B5EF4-FFF2-40B4-BE49-F238E27FC236}">
                <a16:creationId xmlns:a16="http://schemas.microsoft.com/office/drawing/2014/main" id="{35C33C58-4109-D229-88DA-943D0F2DCB29}"/>
              </a:ext>
            </a:extLst>
          </p:cNvPr>
          <p:cNvGrpSpPr/>
          <p:nvPr/>
        </p:nvGrpSpPr>
        <p:grpSpPr>
          <a:xfrm>
            <a:off x="4699074" y="3798828"/>
            <a:ext cx="1537628" cy="1081337"/>
            <a:chOff x="4699074" y="3798828"/>
            <a:chExt cx="1537628" cy="1081337"/>
          </a:xfrm>
        </p:grpSpPr>
        <p:sp>
          <p:nvSpPr>
            <p:cNvPr id="568" name="Google Shape;568;p50">
              <a:extLst>
                <a:ext uri="{FF2B5EF4-FFF2-40B4-BE49-F238E27FC236}">
                  <a16:creationId xmlns:a16="http://schemas.microsoft.com/office/drawing/2014/main" id="{AE3C1F6D-573D-317B-B609-A7E7113C88D6}"/>
                </a:ext>
              </a:extLst>
            </p:cNvPr>
            <p:cNvSpPr/>
            <p:nvPr/>
          </p:nvSpPr>
          <p:spPr>
            <a:xfrm>
              <a:off x="4699074" y="3798828"/>
              <a:ext cx="639236" cy="494276"/>
            </a:xfrm>
            <a:prstGeom prst="roundRect">
              <a:avLst>
                <a:gd name="adj" fmla="val 16667"/>
              </a:avLst>
            </a:prstGeom>
            <a:blipFill rotWithShape="1">
              <a:blip r:embed="rId1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  <p:cxnSp>
          <p:nvCxnSpPr>
            <p:cNvPr id="576" name="Google Shape;576;p50">
              <a:extLst>
                <a:ext uri="{FF2B5EF4-FFF2-40B4-BE49-F238E27FC236}">
                  <a16:creationId xmlns:a16="http://schemas.microsoft.com/office/drawing/2014/main" id="{42FA30C3-95A2-E020-F27F-C662DF2B556C}"/>
                </a:ext>
              </a:extLst>
            </p:cNvPr>
            <p:cNvCxnSpPr>
              <a:stCxn id="524" idx="0"/>
              <a:endCxn id="568" idx="2"/>
            </p:cNvCxnSpPr>
            <p:nvPr/>
          </p:nvCxnSpPr>
          <p:spPr>
            <a:xfrm rot="10800000" flipH="1">
              <a:off x="5014856" y="4293027"/>
              <a:ext cx="3900" cy="575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77" name="Google Shape;577;p50">
              <a:extLst>
                <a:ext uri="{FF2B5EF4-FFF2-40B4-BE49-F238E27FC236}">
                  <a16:creationId xmlns:a16="http://schemas.microsoft.com/office/drawing/2014/main" id="{C889268E-19A6-7EEF-E447-9BE69562CCEA}"/>
                </a:ext>
              </a:extLst>
            </p:cNvPr>
            <p:cNvCxnSpPr>
              <a:stCxn id="521" idx="0"/>
              <a:endCxn id="568" idx="2"/>
            </p:cNvCxnSpPr>
            <p:nvPr/>
          </p:nvCxnSpPr>
          <p:spPr>
            <a:xfrm rot="10800000">
              <a:off x="5018702" y="4293065"/>
              <a:ext cx="1218000" cy="587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578" name="Google Shape;578;p50">
            <a:extLst>
              <a:ext uri="{FF2B5EF4-FFF2-40B4-BE49-F238E27FC236}">
                <a16:creationId xmlns:a16="http://schemas.microsoft.com/office/drawing/2014/main" id="{B151FA3A-E32B-3D9E-9A18-65DE2D829EB4}"/>
              </a:ext>
            </a:extLst>
          </p:cNvPr>
          <p:cNvGrpSpPr/>
          <p:nvPr/>
        </p:nvGrpSpPr>
        <p:grpSpPr>
          <a:xfrm>
            <a:off x="310606" y="1690688"/>
            <a:ext cx="5917373" cy="1897002"/>
            <a:chOff x="310606" y="1690688"/>
            <a:chExt cx="5917373" cy="1897002"/>
          </a:xfrm>
        </p:grpSpPr>
        <p:sp>
          <p:nvSpPr>
            <p:cNvPr id="579" name="Google Shape;579;p50">
              <a:extLst>
                <a:ext uri="{FF2B5EF4-FFF2-40B4-BE49-F238E27FC236}">
                  <a16:creationId xmlns:a16="http://schemas.microsoft.com/office/drawing/2014/main" id="{94FD4EFD-650A-FF26-6E50-E555D95A2FBC}"/>
                </a:ext>
              </a:extLst>
            </p:cNvPr>
            <p:cNvSpPr txBox="1"/>
            <p:nvPr/>
          </p:nvSpPr>
          <p:spPr>
            <a:xfrm>
              <a:off x="3945792" y="2784568"/>
              <a:ext cx="6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580" name="Google Shape;580;p50">
              <a:extLst>
                <a:ext uri="{FF2B5EF4-FFF2-40B4-BE49-F238E27FC236}">
                  <a16:creationId xmlns:a16="http://schemas.microsoft.com/office/drawing/2014/main" id="{A3D00F29-7074-D6E6-1C4D-D37281D36BEA}"/>
                </a:ext>
              </a:extLst>
            </p:cNvPr>
            <p:cNvCxnSpPr>
              <a:stCxn id="559" idx="3"/>
            </p:cNvCxnSpPr>
            <p:nvPr/>
          </p:nvCxnSpPr>
          <p:spPr>
            <a:xfrm>
              <a:off x="2976879" y="3013790"/>
              <a:ext cx="3251100" cy="573900"/>
            </a:xfrm>
            <a:prstGeom prst="curvedConnector4">
              <a:avLst>
                <a:gd name="adj1" fmla="val 81180"/>
                <a:gd name="adj2" fmla="val 204571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graphicFrame>
          <p:nvGraphicFramePr>
            <p:cNvPr id="581" name="Google Shape;581;p50">
              <a:extLst>
                <a:ext uri="{FF2B5EF4-FFF2-40B4-BE49-F238E27FC236}">
                  <a16:creationId xmlns:a16="http://schemas.microsoft.com/office/drawing/2014/main" id="{B197F432-C55E-A963-0217-F2775FB3A469}"/>
                </a:ext>
              </a:extLst>
            </p:cNvPr>
            <p:cNvGraphicFramePr/>
            <p:nvPr/>
          </p:nvGraphicFramePr>
          <p:xfrm>
            <a:off x="310606" y="1690688"/>
            <a:ext cx="5100733" cy="101686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8"/>
            </a:graphicData>
          </a:graphic>
        </p:graphicFrame>
      </p:grpSp>
      <p:sp>
        <p:nvSpPr>
          <p:cNvPr id="582" name="Google Shape;582;p50">
            <a:extLst>
              <a:ext uri="{FF2B5EF4-FFF2-40B4-BE49-F238E27FC236}">
                <a16:creationId xmlns:a16="http://schemas.microsoft.com/office/drawing/2014/main" id="{F5DD5728-BAF8-E688-881B-E033B712BBE1}"/>
              </a:ext>
            </a:extLst>
          </p:cNvPr>
          <p:cNvSpPr txBox="1"/>
          <p:nvPr/>
        </p:nvSpPr>
        <p:spPr>
          <a:xfrm>
            <a:off x="4321808" y="2817135"/>
            <a:ext cx="1202637" cy="291426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l="-3157" r="-1052" b="-3332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583" name="Google Shape;583;p50">
            <a:extLst>
              <a:ext uri="{FF2B5EF4-FFF2-40B4-BE49-F238E27FC236}">
                <a16:creationId xmlns:a16="http://schemas.microsoft.com/office/drawing/2014/main" id="{56F8554C-4A8B-3E83-F0F2-83A3241489E0}"/>
              </a:ext>
            </a:extLst>
          </p:cNvPr>
          <p:cNvSpPr txBox="1"/>
          <p:nvPr/>
        </p:nvSpPr>
        <p:spPr>
          <a:xfrm>
            <a:off x="650787" y="1228788"/>
            <a:ext cx="11021350" cy="400110"/>
          </a:xfrm>
          <a:prstGeom prst="rect">
            <a:avLst/>
          </a:prstGeom>
          <a:noFill/>
          <a:ln w="28575" cap="flat" cmpd="sng">
            <a:solidFill>
              <a:srgbClr val="017F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i="1">
                <a:solidFill>
                  <a:srgbClr val="017F45"/>
                </a:solidFill>
                <a:latin typeface="Malgun Gothic"/>
                <a:ea typeface="Malgun Gothic"/>
                <a:cs typeface="Malgun Gothic"/>
                <a:sym typeface="Malgun Gothic"/>
              </a:rPr>
              <a:t>On this decoder timestep, we’re mostly focusing on the second encoder hidden state (“the”)</a:t>
            </a:r>
            <a:endParaRPr sz="2000" i="1">
              <a:solidFill>
                <a:srgbClr val="017F4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4" name="Google Shape;584;p50">
            <a:extLst>
              <a:ext uri="{FF2B5EF4-FFF2-40B4-BE49-F238E27FC236}">
                <a16:creationId xmlns:a16="http://schemas.microsoft.com/office/drawing/2014/main" id="{9770291D-2FF6-CC89-610A-6499213D6FEF}"/>
              </a:ext>
            </a:extLst>
          </p:cNvPr>
          <p:cNvSpPr txBox="1"/>
          <p:nvPr/>
        </p:nvSpPr>
        <p:spPr>
          <a:xfrm>
            <a:off x="6287234" y="2045680"/>
            <a:ext cx="5531835" cy="1477328"/>
          </a:xfrm>
          <a:prstGeom prst="rect">
            <a:avLst/>
          </a:prstGeom>
          <a:noFill/>
          <a:ln w="28575" cap="flat" cmpd="sng">
            <a:solidFill>
              <a:srgbClr val="FF6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Attention</a:t>
            </a:r>
            <a:r>
              <a:rPr 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distribution</a:t>
            </a:r>
            <a:r>
              <a:rPr lang="ko-KR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사용해 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encoder</a:t>
            </a:r>
            <a:r>
              <a:rPr 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hidden</a:t>
            </a:r>
            <a:r>
              <a:rPr 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states</a:t>
            </a:r>
            <a:r>
              <a:rPr lang="ko-KR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weighted</a:t>
            </a:r>
            <a:r>
              <a:rPr 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sum</a:t>
            </a:r>
            <a:r>
              <a:rPr lang="ko-KR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계산</a:t>
            </a:r>
            <a:b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이때 생성된 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attention</a:t>
            </a:r>
            <a:r>
              <a:rPr 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output</a:t>
            </a:r>
            <a:r>
              <a:rPr lang="ko-KR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은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high</a:t>
            </a:r>
            <a:r>
              <a:rPr 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attention</a:t>
            </a:r>
            <a:r>
              <a:rPr lang="ko-KR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받은 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hidden</a:t>
            </a:r>
            <a:r>
              <a:rPr 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states</a:t>
            </a:r>
            <a:r>
              <a:rPr lang="ko-KR"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</a:t>
            </a:r>
            <a:r>
              <a:rPr lang="ko-KR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정보를 주로 반영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5" name="Google Shape;585;p50">
            <a:extLst>
              <a:ext uri="{FF2B5EF4-FFF2-40B4-BE49-F238E27FC236}">
                <a16:creationId xmlns:a16="http://schemas.microsoft.com/office/drawing/2014/main" id="{44CD3842-5552-6A7D-BF4C-034A424E814D}"/>
              </a:ext>
            </a:extLst>
          </p:cNvPr>
          <p:cNvSpPr txBox="1"/>
          <p:nvPr/>
        </p:nvSpPr>
        <p:spPr>
          <a:xfrm>
            <a:off x="838200" y="6412342"/>
            <a:ext cx="814054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Neural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Machine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Translation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by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Jointly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Learning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to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Align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and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Translate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(2014)</a:t>
            </a:r>
            <a:endParaRPr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Google Shape;494;p49">
                <a:extLst>
                  <a:ext uri="{FF2B5EF4-FFF2-40B4-BE49-F238E27FC236}">
                    <a16:creationId xmlns:a16="http://schemas.microsoft.com/office/drawing/2014/main" id="{6AFA0D69-EBE5-04D0-5335-6CF928A6BCE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75919" y="3758386"/>
                <a:ext cx="5258105" cy="26539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77500" lnSpcReduction="20000"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15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ct val="1000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defRPr>
                </a:lvl1pPr>
                <a:lvl2pPr marL="914400" marR="0" lvl="1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defRPr>
                </a:lvl9pPr>
              </a:lstStyle>
              <a:p>
                <a:pPr marL="495300">
                  <a:spcBef>
                    <a:spcPts val="500"/>
                  </a:spcBef>
                  <a:buSzPts val="24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𝒉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800" dirty="0">
                    <a:latin typeface="+mj-ea"/>
                    <a:cs typeface="Arial"/>
                    <a:sym typeface="Arial"/>
                  </a:rPr>
                  <a:t>: </a:t>
                </a:r>
                <a:r>
                  <a:rPr lang="en-US" sz="1800" dirty="0" err="1"/>
                  <a:t>i</a:t>
                </a:r>
                <a:r>
                  <a:rPr lang="ko-KR" altLang="en-US" sz="1800" dirty="0"/>
                  <a:t>번째 </a:t>
                </a:r>
                <a:r>
                  <a:rPr lang="en-US" sz="1800" b="1" dirty="0"/>
                  <a:t>encoder hidden state</a:t>
                </a:r>
                <a:endParaRPr lang="en-US" sz="1800" b="1" dirty="0">
                  <a:latin typeface="+mj-ea"/>
                  <a:cs typeface="Arial"/>
                  <a:sym typeface="Arial"/>
                </a:endParaRPr>
              </a:p>
              <a:p>
                <a:pPr marL="495300">
                  <a:spcBef>
                    <a:spcPts val="500"/>
                  </a:spcBef>
                  <a:buSzPts val="24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𝒔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sz="1800" dirty="0">
                    <a:latin typeface="+mj-ea"/>
                    <a:cs typeface="Arial"/>
                    <a:sym typeface="Arial"/>
                  </a:rPr>
                  <a:t>: </a:t>
                </a:r>
                <a:r>
                  <a:rPr lang="en-US" sz="1800" dirty="0">
                    <a:cs typeface="Arial"/>
                  </a:rPr>
                  <a:t>t</a:t>
                </a:r>
                <a:r>
                  <a:rPr lang="ko-KR" altLang="en-US" sz="1800" dirty="0"/>
                  <a:t>번째 </a:t>
                </a:r>
                <a:r>
                  <a:rPr lang="en-US" altLang="ko-KR" sz="1800" b="1" dirty="0"/>
                  <a:t>de</a:t>
                </a:r>
                <a:r>
                  <a:rPr lang="en-US" sz="1800" b="1" dirty="0"/>
                  <a:t>coder hidden state </a:t>
                </a:r>
                <a:r>
                  <a:rPr lang="en-US" sz="1800" dirty="0"/>
                  <a:t>(timestep t)</a:t>
                </a:r>
                <a:endParaRPr lang="en-US" sz="1800" i="1" dirty="0">
                  <a:latin typeface="Cambria Math" panose="02040503050406030204" pitchFamily="18" charset="0"/>
                  <a:cs typeface="Arial"/>
                  <a:sym typeface="Arial"/>
                </a:endParaRPr>
              </a:p>
              <a:p>
                <a:pPr marL="495300">
                  <a:spcBef>
                    <a:spcPts val="500"/>
                  </a:spcBef>
                  <a:buSzPts val="24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𝒔𝒄𝒐𝒓𝒆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(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𝒔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𝒕</m:t>
                        </m:r>
                      </m:sub>
                    </m:sSub>
                    <m:r>
                      <a:rPr lang="en-US" sz="1800" b="1" i="1" smtClean="0">
                        <a:latin typeface="Cambria Math" panose="02040503050406030204" pitchFamily="18" charset="0"/>
                        <a:cs typeface="Arial"/>
                        <a:sym typeface="Arial"/>
                      </a:rPr>
                      <m:t>,</m:t>
                    </m:r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𝒉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𝒊</m:t>
                        </m:r>
                      </m:sub>
                    </m:sSub>
                    <m:r>
                      <a:rPr lang="en-US" sz="1800" b="1" i="1" smtClean="0">
                        <a:latin typeface="Cambria Math" panose="02040503050406030204" pitchFamily="18" charset="0"/>
                        <a:cs typeface="Arial"/>
                        <a:sym typeface="Arial"/>
                      </a:rPr>
                      <m:t>)=</m:t>
                    </m:r>
                    <m:sSubSup>
                      <m:sSubSupPr>
                        <m:ctrlPr>
                          <a:rPr lang="en-US" sz="1800" b="1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</m:ctrlPr>
                      </m:sSubSup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𝒆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𝒊</m:t>
                        </m:r>
                      </m:sub>
                      <m:sup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𝒕</m:t>
                        </m:r>
                      </m:sup>
                    </m:sSubSup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+mj-ea"/>
                    <a:cs typeface="Arial"/>
                    <a:sym typeface="Arial"/>
                  </a:rPr>
                  <a:t>:</a:t>
                </a:r>
                <a:r>
                  <a:rPr lang="en-US" sz="1800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  <a:sym typeface="Arial"/>
                  </a:rPr>
                  <a:t> decoder hidden state</a:t>
                </a:r>
                <a:r>
                  <a:rPr lang="ko-KR" altLang="en-US" sz="1800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  <a:sym typeface="Arial"/>
                  </a:rPr>
                  <a:t>와 </a:t>
                </a:r>
                <a:r>
                  <a:rPr lang="en-US" altLang="ko-KR" sz="1800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  <a:sym typeface="Arial"/>
                  </a:rPr>
                  <a:t>encoder hidden state</a:t>
                </a:r>
                <a:r>
                  <a:rPr lang="ko-KR" altLang="en-US" sz="1800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  <a:sym typeface="Arial"/>
                  </a:rPr>
                  <a:t>의 </a:t>
                </a:r>
                <a:r>
                  <a:rPr lang="ko-KR" altLang="en-US" sz="1800" b="1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  <a:sym typeface="Arial"/>
                  </a:rPr>
                  <a:t>유사도 </a:t>
                </a:r>
                <a:r>
                  <a:rPr lang="en-US" altLang="ko-KR" sz="1800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  <a:sym typeface="Arial"/>
                  </a:rPr>
                  <a:t>(</a:t>
                </a:r>
                <a:r>
                  <a:rPr lang="en-US" altLang="ko-KR" sz="1800" b="1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  <a:sym typeface="Arial"/>
                  </a:rPr>
                  <a:t>attention </a:t>
                </a:r>
                <a:r>
                  <a:rPr lang="ko-KR" altLang="en-US" sz="1800" b="1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  <a:sym typeface="Arial"/>
                  </a:rPr>
                  <a:t>점수</a:t>
                </a:r>
                <a:r>
                  <a:rPr lang="en-US" altLang="ko-KR" sz="1800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Arial"/>
                    <a:sym typeface="Arial"/>
                  </a:rPr>
                  <a:t>)</a:t>
                </a:r>
                <a:endParaRPr lang="en-US" sz="1800" dirty="0">
                  <a:latin typeface="Malgun Gothic" panose="020B0503020000020004" pitchFamily="34" charset="-127"/>
                  <a:ea typeface="Malgun Gothic" panose="020B0503020000020004" pitchFamily="34" charset="-127"/>
                  <a:cs typeface="Arial"/>
                  <a:sym typeface="Arial"/>
                </a:endParaRPr>
              </a:p>
              <a:p>
                <a:pPr marL="495300">
                  <a:spcBef>
                    <a:spcPts val="500"/>
                  </a:spcBef>
                  <a:buSzPts val="2400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1" i="1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</m:ctrlPr>
                      </m:sSubSup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  <a:sym typeface="Arial"/>
                          </a:rPr>
                          <m:t>𝜶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𝒊</m:t>
                        </m:r>
                      </m:sub>
                      <m:sup>
                        <m:r>
                          <a:rPr lang="en-US" sz="1800" b="1" i="1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𝒕</m:t>
                        </m:r>
                      </m:sup>
                    </m:sSubSup>
                    <m:r>
                      <a:rPr lang="en-US" sz="1800" b="1" i="1" smtClean="0">
                        <a:latin typeface="Cambria Math" panose="02040503050406030204" pitchFamily="18" charset="0"/>
                        <a:cs typeface="Arial"/>
                        <a:sym typeface="Arial"/>
                      </a:rPr>
                      <m:t>=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cs typeface="Arial"/>
                        <a:sym typeface="Arial"/>
                      </a:rPr>
                      <m:t>𝒔𝒐𝒇𝒕𝒎𝒂𝒙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cs typeface="Arial"/>
                        <a:sym typeface="Arial"/>
                      </a:rPr>
                      <m:t>(</m:t>
                    </m:r>
                    <m:sSubSup>
                      <m:sSubSupPr>
                        <m:ctrlPr>
                          <a:rPr lang="en-US" sz="1800" b="1" i="1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</m:ctrlPr>
                      </m:sSubSup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𝒆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𝒊</m:t>
                        </m:r>
                      </m:sub>
                      <m:sup>
                        <m:r>
                          <a:rPr lang="en-US" sz="1800" b="1" i="1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𝒕</m:t>
                        </m:r>
                      </m:sup>
                    </m:sSubSup>
                    <m:r>
                      <a:rPr lang="en-US" sz="1800" i="1" smtClean="0">
                        <a:latin typeface="Cambria Math" panose="02040503050406030204" pitchFamily="18" charset="0"/>
                        <a:cs typeface="Arial"/>
                        <a:sym typeface="Arial"/>
                      </a:rPr>
                      <m:t>)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/>
                        <a:sym typeface="Arial"/>
                      </a:rPr>
                      <m:t>:</m:t>
                    </m:r>
                  </m:oMath>
                </a14:m>
                <a:r>
                  <a:rPr lang="en-US" sz="1800" dirty="0">
                    <a:latin typeface="+mj-ea"/>
                    <a:cs typeface="Arial"/>
                    <a:sym typeface="Arial"/>
                  </a:rPr>
                  <a:t> </a:t>
                </a:r>
                <a:r>
                  <a:rPr lang="ko-KR" altLang="en-US" sz="1800" dirty="0"/>
                  <a:t>첫 번째 </a:t>
                </a:r>
                <a:r>
                  <a:rPr lang="en-US" altLang="ko-KR" sz="1800" dirty="0"/>
                  <a:t>decoder</a:t>
                </a:r>
                <a:r>
                  <a:rPr lang="ko-KR" altLang="en-US" sz="1800" dirty="0"/>
                  <a:t> </a:t>
                </a:r>
                <a:r>
                  <a:rPr lang="en-US" altLang="ko-KR" sz="1800" dirty="0"/>
                  <a:t>step</a:t>
                </a:r>
                <a:r>
                  <a:rPr lang="ko-KR" altLang="en-US" sz="1800" dirty="0"/>
                  <a:t>에서의 </a:t>
                </a:r>
                <a:r>
                  <a:rPr lang="en-US" sz="1800" b="1" dirty="0"/>
                  <a:t>attention distribution</a:t>
                </a:r>
                <a:r>
                  <a:rPr lang="en-US" sz="1800" dirty="0"/>
                  <a:t> (</a:t>
                </a:r>
                <a:r>
                  <a:rPr lang="en-US" sz="1800" b="1" dirty="0" err="1"/>
                  <a:t>softmax</a:t>
                </a:r>
                <a:r>
                  <a:rPr lang="en-US" sz="1800" b="1" dirty="0"/>
                  <a:t> score</a:t>
                </a:r>
                <a:r>
                  <a:rPr lang="en-US" sz="1800" dirty="0"/>
                  <a:t>),</a:t>
                </a:r>
                <a:r>
                  <a:rPr lang="ko-KR" altLang="en-US" sz="1800" dirty="0"/>
                  <a:t> </a:t>
                </a:r>
                <a:r>
                  <a:rPr lang="en-US" sz="1800" dirty="0" err="1"/>
                  <a:t>i</a:t>
                </a:r>
                <a:r>
                  <a:rPr lang="ko-KR" altLang="en-US" sz="1800" dirty="0"/>
                  <a:t>번째 </a:t>
                </a:r>
                <a:r>
                  <a:rPr lang="en-US" sz="1800" dirty="0"/>
                  <a:t>encoder </a:t>
                </a:r>
                <a:r>
                  <a:rPr lang="ko-KR" altLang="en-US" sz="1800" dirty="0"/>
                  <a:t>위치에 대한 집중 정도</a:t>
                </a:r>
                <a:endParaRPr lang="en-US" sz="1800" b="1" i="1" dirty="0">
                  <a:latin typeface="Cambria Math" panose="02040503050406030204" pitchFamily="18" charset="0"/>
                  <a:ea typeface="+mj-ea"/>
                  <a:cs typeface="Arial"/>
                  <a:sym typeface="Arial"/>
                </a:endParaRPr>
              </a:p>
              <a:p>
                <a:pPr marL="495300">
                  <a:spcBef>
                    <a:spcPts val="500"/>
                  </a:spcBef>
                  <a:buSzPts val="24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  <a:ea typeface="+mj-ea"/>
                            <a:cs typeface="Arial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+mj-ea"/>
                            <a:cs typeface="Arial"/>
                            <a:sym typeface="Arial"/>
                          </a:rPr>
                          <m:t>𝒂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+mj-ea"/>
                            <a:cs typeface="Arial"/>
                            <a:sym typeface="Arial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800" dirty="0">
                    <a:latin typeface="+mj-ea"/>
                    <a:ea typeface="+mj-ea"/>
                    <a:cs typeface="Arial"/>
                    <a:sym typeface="Arial"/>
                  </a:rPr>
                  <a:t>: </a:t>
                </a:r>
                <a:r>
                  <a:rPr lang="ko-KR" altLang="en-US" sz="1800" dirty="0">
                    <a:latin typeface="+mj-ea"/>
                    <a:ea typeface="+mj-ea"/>
                    <a:cs typeface="Arial"/>
                    <a:sym typeface="Arial"/>
                  </a:rPr>
                  <a:t>첫 </a:t>
                </a:r>
                <a:r>
                  <a:rPr lang="en-US" altLang="ko-KR" sz="1800" dirty="0">
                    <a:latin typeface="+mj-ea"/>
                    <a:ea typeface="+mj-ea"/>
                    <a:cs typeface="Arial"/>
                    <a:sym typeface="Arial"/>
                  </a:rPr>
                  <a:t>decoder timestep</a:t>
                </a:r>
                <a:r>
                  <a:rPr lang="ko-KR" altLang="en-US" sz="1800" dirty="0">
                    <a:latin typeface="+mj-ea"/>
                    <a:ea typeface="+mj-ea"/>
                    <a:cs typeface="Arial"/>
                    <a:sym typeface="Arial"/>
                  </a:rPr>
                  <a:t>의 </a:t>
                </a:r>
                <a:r>
                  <a:rPr lang="en-US" altLang="ko-KR" sz="1800" b="1" dirty="0">
                    <a:latin typeface="+mj-ea"/>
                    <a:ea typeface="+mj-ea"/>
                    <a:cs typeface="Arial"/>
                    <a:sym typeface="Arial"/>
                  </a:rPr>
                  <a:t>context vector</a:t>
                </a:r>
              </a:p>
            </p:txBody>
          </p:sp>
        </mc:Choice>
        <mc:Fallback>
          <p:sp>
            <p:nvSpPr>
              <p:cNvPr id="5" name="Google Shape;494;p49">
                <a:extLst>
                  <a:ext uri="{FF2B5EF4-FFF2-40B4-BE49-F238E27FC236}">
                    <a16:creationId xmlns:a16="http://schemas.microsoft.com/office/drawing/2014/main" id="{6AFA0D69-EBE5-04D0-5335-6CF928A6B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5919" y="3758386"/>
                <a:ext cx="5258105" cy="2653955"/>
              </a:xfrm>
              <a:prstGeom prst="rect">
                <a:avLst/>
              </a:prstGeom>
              <a:blipFill>
                <a:blip r:embed="rId20"/>
                <a:stretch>
                  <a:fillRect t="-2392" b="-47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0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5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b="1" dirty="0" err="1"/>
              <a:t>Attention</a:t>
            </a:r>
            <a:endParaRPr dirty="0"/>
          </a:p>
        </p:txBody>
      </p:sp>
      <p:sp>
        <p:nvSpPr>
          <p:cNvPr id="590" name="Google Shape;590;p5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61</a:t>
            </a:fld>
            <a:endParaRPr/>
          </a:p>
        </p:txBody>
      </p:sp>
      <p:sp>
        <p:nvSpPr>
          <p:cNvPr id="591" name="Google Shape;591;p51"/>
          <p:cNvSpPr txBox="1"/>
          <p:nvPr/>
        </p:nvSpPr>
        <p:spPr>
          <a:xfrm>
            <a:off x="1184400" y="6010089"/>
            <a:ext cx="498855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the</a:t>
            </a:r>
            <a:endParaRPr/>
          </a:p>
        </p:txBody>
      </p:sp>
      <p:sp>
        <p:nvSpPr>
          <p:cNvPr id="592" name="Google Shape;592;p51"/>
          <p:cNvSpPr txBox="1"/>
          <p:nvPr/>
        </p:nvSpPr>
        <p:spPr>
          <a:xfrm>
            <a:off x="1812781" y="6008209"/>
            <a:ext cx="671979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black</a:t>
            </a:r>
            <a:endParaRPr/>
          </a:p>
        </p:txBody>
      </p:sp>
      <p:sp>
        <p:nvSpPr>
          <p:cNvPr id="593" name="Google Shape;593;p51"/>
          <p:cNvSpPr txBox="1"/>
          <p:nvPr/>
        </p:nvSpPr>
        <p:spPr>
          <a:xfrm>
            <a:off x="2570724" y="6009095"/>
            <a:ext cx="465961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cat</a:t>
            </a:r>
            <a:endParaRPr/>
          </a:p>
        </p:txBody>
      </p:sp>
      <p:sp>
        <p:nvSpPr>
          <p:cNvPr id="594" name="Google Shape;594;p51"/>
          <p:cNvSpPr txBox="1"/>
          <p:nvPr/>
        </p:nvSpPr>
        <p:spPr>
          <a:xfrm>
            <a:off x="3140822" y="6014302"/>
            <a:ext cx="718530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drank</a:t>
            </a:r>
            <a:endParaRPr/>
          </a:p>
        </p:txBody>
      </p:sp>
      <p:sp>
        <p:nvSpPr>
          <p:cNvPr id="595" name="Google Shape;595;p51"/>
          <p:cNvSpPr txBox="1"/>
          <p:nvPr/>
        </p:nvSpPr>
        <p:spPr>
          <a:xfrm>
            <a:off x="3966412" y="6018553"/>
            <a:ext cx="579005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milk</a:t>
            </a:r>
            <a:endParaRPr/>
          </a:p>
        </p:txBody>
      </p:sp>
      <p:cxnSp>
        <p:nvCxnSpPr>
          <p:cNvPr id="596" name="Google Shape;596;p51"/>
          <p:cNvCxnSpPr>
            <a:stCxn id="591" idx="0"/>
            <a:endCxn id="597" idx="2"/>
          </p:cNvCxnSpPr>
          <p:nvPr/>
        </p:nvCxnSpPr>
        <p:spPr>
          <a:xfrm flipH="1" flipV="1">
            <a:off x="1428581" y="5392271"/>
            <a:ext cx="5247" cy="61781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8" name="Google Shape;598;p51"/>
          <p:cNvCxnSpPr>
            <a:stCxn id="592" idx="0"/>
            <a:endCxn id="599" idx="2"/>
          </p:cNvCxnSpPr>
          <p:nvPr/>
        </p:nvCxnSpPr>
        <p:spPr>
          <a:xfrm flipH="1" flipV="1">
            <a:off x="2143568" y="5388038"/>
            <a:ext cx="5203" cy="62017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00" name="Google Shape;600;p51"/>
          <p:cNvCxnSpPr>
            <a:stCxn id="593" idx="0"/>
            <a:endCxn id="601" idx="2"/>
          </p:cNvCxnSpPr>
          <p:nvPr/>
        </p:nvCxnSpPr>
        <p:spPr>
          <a:xfrm flipH="1" flipV="1">
            <a:off x="2796738" y="5385432"/>
            <a:ext cx="6967" cy="62366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02" name="Google Shape;602;p51"/>
          <p:cNvCxnSpPr>
            <a:stCxn id="594" idx="0"/>
            <a:endCxn id="603" idx="2"/>
          </p:cNvCxnSpPr>
          <p:nvPr/>
        </p:nvCxnSpPr>
        <p:spPr>
          <a:xfrm flipH="1" flipV="1">
            <a:off x="3498477" y="5385432"/>
            <a:ext cx="1610" cy="62887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04" name="Google Shape;604;p51"/>
          <p:cNvCxnSpPr>
            <a:stCxn id="595" idx="0"/>
            <a:endCxn id="605" idx="2"/>
          </p:cNvCxnSpPr>
          <p:nvPr/>
        </p:nvCxnSpPr>
        <p:spPr>
          <a:xfrm flipV="1">
            <a:off x="4255915" y="5385432"/>
            <a:ext cx="5357" cy="63312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06" name="Google Shape;606;p51"/>
          <p:cNvSpPr txBox="1"/>
          <p:nvPr/>
        </p:nvSpPr>
        <p:spPr>
          <a:xfrm>
            <a:off x="304731" y="6021159"/>
            <a:ext cx="779381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&lt;SOS&gt;</a:t>
            </a:r>
            <a:endParaRPr/>
          </a:p>
        </p:txBody>
      </p:sp>
      <p:sp>
        <p:nvSpPr>
          <p:cNvPr id="607" name="Google Shape;607;p51"/>
          <p:cNvSpPr/>
          <p:nvPr/>
        </p:nvSpPr>
        <p:spPr>
          <a:xfrm>
            <a:off x="526612" y="4873326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608" name="Google Shape;608;p51"/>
          <p:cNvCxnSpPr>
            <a:stCxn id="606" idx="0"/>
            <a:endCxn id="607" idx="2"/>
          </p:cNvCxnSpPr>
          <p:nvPr/>
        </p:nvCxnSpPr>
        <p:spPr>
          <a:xfrm flipH="1" flipV="1">
            <a:off x="689132" y="5390631"/>
            <a:ext cx="5290" cy="63052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97" name="Google Shape;597;p51"/>
          <p:cNvSpPr/>
          <p:nvPr/>
        </p:nvSpPr>
        <p:spPr>
          <a:xfrm>
            <a:off x="1266061" y="4874966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9" name="Google Shape;599;p51"/>
          <p:cNvSpPr/>
          <p:nvPr/>
        </p:nvSpPr>
        <p:spPr>
          <a:xfrm>
            <a:off x="1981048" y="4870733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1" name="Google Shape;601;p51"/>
          <p:cNvSpPr/>
          <p:nvPr/>
        </p:nvSpPr>
        <p:spPr>
          <a:xfrm>
            <a:off x="2634218" y="4868127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3" name="Google Shape;603;p51"/>
          <p:cNvSpPr/>
          <p:nvPr/>
        </p:nvSpPr>
        <p:spPr>
          <a:xfrm>
            <a:off x="3335957" y="4868127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5" name="Google Shape;605;p51"/>
          <p:cNvSpPr/>
          <p:nvPr/>
        </p:nvSpPr>
        <p:spPr>
          <a:xfrm>
            <a:off x="4098752" y="4868127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9" name="Google Shape;609;p51"/>
          <p:cNvSpPr/>
          <p:nvPr/>
        </p:nvSpPr>
        <p:spPr>
          <a:xfrm>
            <a:off x="6074182" y="4880165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0" name="Google Shape;610;p51"/>
          <p:cNvSpPr txBox="1"/>
          <p:nvPr/>
        </p:nvSpPr>
        <p:spPr>
          <a:xfrm>
            <a:off x="4622516" y="6018553"/>
            <a:ext cx="782202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&lt;EOS&gt;</a:t>
            </a:r>
            <a:endParaRPr/>
          </a:p>
        </p:txBody>
      </p:sp>
      <p:cxnSp>
        <p:nvCxnSpPr>
          <p:cNvPr id="611" name="Google Shape;611;p51"/>
          <p:cNvCxnSpPr>
            <a:stCxn id="610" idx="0"/>
            <a:endCxn id="612" idx="2"/>
          </p:cNvCxnSpPr>
          <p:nvPr/>
        </p:nvCxnSpPr>
        <p:spPr>
          <a:xfrm flipV="1">
            <a:off x="5013617" y="5385432"/>
            <a:ext cx="1239" cy="63312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12" name="Google Shape;612;p51"/>
          <p:cNvSpPr/>
          <p:nvPr/>
        </p:nvSpPr>
        <p:spPr>
          <a:xfrm>
            <a:off x="4852336" y="4868127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3" name="Google Shape;613;p51"/>
          <p:cNvSpPr txBox="1"/>
          <p:nvPr/>
        </p:nvSpPr>
        <p:spPr>
          <a:xfrm>
            <a:off x="5847011" y="6008209"/>
            <a:ext cx="779381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&lt;SOS&gt;</a:t>
            </a:r>
            <a:endParaRPr/>
          </a:p>
        </p:txBody>
      </p:sp>
      <p:cxnSp>
        <p:nvCxnSpPr>
          <p:cNvPr id="614" name="Google Shape;614;p51"/>
          <p:cNvCxnSpPr>
            <a:stCxn id="613" idx="0"/>
            <a:endCxn id="609" idx="2"/>
          </p:cNvCxnSpPr>
          <p:nvPr/>
        </p:nvCxnSpPr>
        <p:spPr>
          <a:xfrm flipV="1">
            <a:off x="6236702" y="5397470"/>
            <a:ext cx="0" cy="61073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15" name="Google Shape;615;p51"/>
          <p:cNvCxnSpPr>
            <a:stCxn id="597" idx="3"/>
            <a:endCxn id="599" idx="1"/>
          </p:cNvCxnSpPr>
          <p:nvPr/>
        </p:nvCxnSpPr>
        <p:spPr>
          <a:xfrm rot="10800000" flipH="1">
            <a:off x="1591101" y="5129419"/>
            <a:ext cx="390000" cy="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16" name="Google Shape;616;p51"/>
          <p:cNvCxnSpPr>
            <a:stCxn id="599" idx="3"/>
            <a:endCxn id="601" idx="1"/>
          </p:cNvCxnSpPr>
          <p:nvPr/>
        </p:nvCxnSpPr>
        <p:spPr>
          <a:xfrm rot="10800000" flipH="1">
            <a:off x="2306088" y="5126686"/>
            <a:ext cx="328200" cy="2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17" name="Google Shape;617;p51"/>
          <p:cNvCxnSpPr>
            <a:stCxn id="601" idx="3"/>
            <a:endCxn id="603" idx="1"/>
          </p:cNvCxnSpPr>
          <p:nvPr/>
        </p:nvCxnSpPr>
        <p:spPr>
          <a:xfrm>
            <a:off x="2959258" y="5126780"/>
            <a:ext cx="376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18" name="Google Shape;618;p51"/>
          <p:cNvCxnSpPr>
            <a:stCxn id="603" idx="3"/>
            <a:endCxn id="605" idx="1"/>
          </p:cNvCxnSpPr>
          <p:nvPr/>
        </p:nvCxnSpPr>
        <p:spPr>
          <a:xfrm>
            <a:off x="3660997" y="5126780"/>
            <a:ext cx="4377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19" name="Google Shape;619;p51"/>
          <p:cNvCxnSpPr>
            <a:stCxn id="607" idx="3"/>
            <a:endCxn id="597" idx="1"/>
          </p:cNvCxnSpPr>
          <p:nvPr/>
        </p:nvCxnSpPr>
        <p:spPr>
          <a:xfrm>
            <a:off x="851652" y="5131979"/>
            <a:ext cx="414300" cy="1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20" name="Google Shape;620;p51"/>
          <p:cNvCxnSpPr>
            <a:stCxn id="605" idx="3"/>
            <a:endCxn id="612" idx="1"/>
          </p:cNvCxnSpPr>
          <p:nvPr/>
        </p:nvCxnSpPr>
        <p:spPr>
          <a:xfrm>
            <a:off x="4423792" y="5126780"/>
            <a:ext cx="428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21" name="Google Shape;621;p51"/>
          <p:cNvSpPr txBox="1"/>
          <p:nvPr/>
        </p:nvSpPr>
        <p:spPr>
          <a:xfrm>
            <a:off x="5776419" y="4438677"/>
            <a:ext cx="345544" cy="55399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622" name="Google Shape;622;p51"/>
          <p:cNvSpPr txBox="1"/>
          <p:nvPr/>
        </p:nvSpPr>
        <p:spPr>
          <a:xfrm>
            <a:off x="707672" y="4587154"/>
            <a:ext cx="283154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6666" r="-4166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623" name="Google Shape;623;p51"/>
          <p:cNvSpPr txBox="1"/>
          <p:nvPr/>
        </p:nvSpPr>
        <p:spPr>
          <a:xfrm>
            <a:off x="1469158" y="4587154"/>
            <a:ext cx="288477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20831" r="-4164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624" name="Google Shape;624;p51"/>
          <p:cNvSpPr txBox="1"/>
          <p:nvPr/>
        </p:nvSpPr>
        <p:spPr>
          <a:xfrm>
            <a:off x="2184144" y="4587154"/>
            <a:ext cx="288477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16666" r="-4166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625" name="Google Shape;625;p51"/>
          <p:cNvSpPr txBox="1"/>
          <p:nvPr/>
        </p:nvSpPr>
        <p:spPr>
          <a:xfrm>
            <a:off x="2851200" y="4587154"/>
            <a:ext cx="288477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20831" r="-4164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626" name="Google Shape;626;p51"/>
          <p:cNvSpPr txBox="1"/>
          <p:nvPr/>
        </p:nvSpPr>
        <p:spPr>
          <a:xfrm>
            <a:off x="3577768" y="4587154"/>
            <a:ext cx="288477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20831" r="-4164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627" name="Google Shape;627;p51"/>
          <p:cNvSpPr txBox="1"/>
          <p:nvPr/>
        </p:nvSpPr>
        <p:spPr>
          <a:xfrm>
            <a:off x="4327414" y="4587154"/>
            <a:ext cx="288477" cy="276999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l="-16666" r="-4166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628" name="Google Shape;628;p51"/>
          <p:cNvSpPr txBox="1"/>
          <p:nvPr/>
        </p:nvSpPr>
        <p:spPr>
          <a:xfrm>
            <a:off x="5077248" y="4587154"/>
            <a:ext cx="288477" cy="27699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l="-16666" r="-4166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cxnSp>
        <p:nvCxnSpPr>
          <p:cNvPr id="629" name="Google Shape;629;p51"/>
          <p:cNvCxnSpPr>
            <a:stCxn id="609" idx="0"/>
            <a:endCxn id="630" idx="2"/>
          </p:cNvCxnSpPr>
          <p:nvPr/>
        </p:nvCxnSpPr>
        <p:spPr>
          <a:xfrm rot="10800000">
            <a:off x="6228002" y="3587765"/>
            <a:ext cx="8700" cy="1292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30" name="Google Shape;630;p51"/>
          <p:cNvSpPr txBox="1"/>
          <p:nvPr/>
        </p:nvSpPr>
        <p:spPr>
          <a:xfrm>
            <a:off x="6083870" y="3310633"/>
            <a:ext cx="288477" cy="276999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l="-21738" r="-4347" b="-3043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grpSp>
        <p:nvGrpSpPr>
          <p:cNvPr id="631" name="Google Shape;631;p51"/>
          <p:cNvGrpSpPr/>
          <p:nvPr/>
        </p:nvGrpSpPr>
        <p:grpSpPr>
          <a:xfrm>
            <a:off x="369514" y="3800179"/>
            <a:ext cx="5867188" cy="1079986"/>
            <a:chOff x="369514" y="3800179"/>
            <a:chExt cx="5867188" cy="1079986"/>
          </a:xfrm>
        </p:grpSpPr>
        <p:cxnSp>
          <p:nvCxnSpPr>
            <p:cNvPr id="632" name="Google Shape;632;p51"/>
            <p:cNvCxnSpPr>
              <a:stCxn id="607" idx="0"/>
              <a:endCxn id="633" idx="2"/>
            </p:cNvCxnSpPr>
            <p:nvPr/>
          </p:nvCxnSpPr>
          <p:spPr>
            <a:xfrm rot="10800000">
              <a:off x="689132" y="4294326"/>
              <a:ext cx="0" cy="5790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34" name="Google Shape;634;p51"/>
            <p:cNvCxnSpPr>
              <a:stCxn id="609" idx="0"/>
              <a:endCxn id="633" idx="2"/>
            </p:cNvCxnSpPr>
            <p:nvPr/>
          </p:nvCxnSpPr>
          <p:spPr>
            <a:xfrm rot="10800000">
              <a:off x="689102" y="4294565"/>
              <a:ext cx="5547600" cy="585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633" name="Google Shape;633;p51"/>
            <p:cNvSpPr/>
            <p:nvPr/>
          </p:nvSpPr>
          <p:spPr>
            <a:xfrm>
              <a:off x="369514" y="3800179"/>
              <a:ext cx="639236" cy="494276"/>
            </a:xfrm>
            <a:prstGeom prst="roundRect">
              <a:avLst>
                <a:gd name="adj" fmla="val 16667"/>
              </a:avLst>
            </a:prstGeom>
            <a:blipFill rotWithShape="1">
              <a:blip r:embed="rId1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</p:grpSp>
      <p:grpSp>
        <p:nvGrpSpPr>
          <p:cNvPr id="635" name="Google Shape;635;p51"/>
          <p:cNvGrpSpPr/>
          <p:nvPr/>
        </p:nvGrpSpPr>
        <p:grpSpPr>
          <a:xfrm>
            <a:off x="1106504" y="3804976"/>
            <a:ext cx="5130198" cy="1075189"/>
            <a:chOff x="1106504" y="3804976"/>
            <a:chExt cx="5130198" cy="1075189"/>
          </a:xfrm>
        </p:grpSpPr>
        <p:cxnSp>
          <p:nvCxnSpPr>
            <p:cNvPr id="636" name="Google Shape;636;p51"/>
            <p:cNvCxnSpPr>
              <a:stCxn id="597" idx="0"/>
              <a:endCxn id="637" idx="2"/>
            </p:cNvCxnSpPr>
            <p:nvPr/>
          </p:nvCxnSpPr>
          <p:spPr>
            <a:xfrm rot="10800000">
              <a:off x="1426181" y="4299266"/>
              <a:ext cx="2400" cy="575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38" name="Google Shape;638;p51"/>
            <p:cNvCxnSpPr>
              <a:stCxn id="609" idx="0"/>
              <a:endCxn id="637" idx="2"/>
            </p:cNvCxnSpPr>
            <p:nvPr/>
          </p:nvCxnSpPr>
          <p:spPr>
            <a:xfrm rot="10800000">
              <a:off x="1426202" y="4299365"/>
              <a:ext cx="4810500" cy="580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637" name="Google Shape;637;p51"/>
            <p:cNvSpPr/>
            <p:nvPr/>
          </p:nvSpPr>
          <p:spPr>
            <a:xfrm>
              <a:off x="1106504" y="3804976"/>
              <a:ext cx="639236" cy="494276"/>
            </a:xfrm>
            <a:prstGeom prst="roundRect">
              <a:avLst>
                <a:gd name="adj" fmla="val 16667"/>
              </a:avLst>
            </a:prstGeom>
            <a:blipFill rotWithShape="1">
              <a:blip r:embed="rId1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</p:grpSp>
      <p:grpSp>
        <p:nvGrpSpPr>
          <p:cNvPr id="639" name="Google Shape;639;p51"/>
          <p:cNvGrpSpPr/>
          <p:nvPr/>
        </p:nvGrpSpPr>
        <p:grpSpPr>
          <a:xfrm>
            <a:off x="3197428" y="3799807"/>
            <a:ext cx="3039274" cy="1080358"/>
            <a:chOff x="3181032" y="3812559"/>
            <a:chExt cx="3039274" cy="1080358"/>
          </a:xfrm>
        </p:grpSpPr>
        <p:cxnSp>
          <p:nvCxnSpPr>
            <p:cNvPr id="640" name="Google Shape;640;p51"/>
            <p:cNvCxnSpPr>
              <a:stCxn id="603" idx="0"/>
              <a:endCxn id="641" idx="2"/>
            </p:cNvCxnSpPr>
            <p:nvPr/>
          </p:nvCxnSpPr>
          <p:spPr>
            <a:xfrm rot="10800000" flipH="1">
              <a:off x="3482081" y="4306979"/>
              <a:ext cx="18600" cy="573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42" name="Google Shape;642;p51"/>
            <p:cNvCxnSpPr>
              <a:stCxn id="609" idx="0"/>
              <a:endCxn id="641" idx="2"/>
            </p:cNvCxnSpPr>
            <p:nvPr/>
          </p:nvCxnSpPr>
          <p:spPr>
            <a:xfrm rot="10800000">
              <a:off x="3500506" y="4306717"/>
              <a:ext cx="2719800" cy="5862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641" name="Google Shape;641;p51"/>
            <p:cNvSpPr/>
            <p:nvPr/>
          </p:nvSpPr>
          <p:spPr>
            <a:xfrm>
              <a:off x="3181032" y="3812559"/>
              <a:ext cx="639236" cy="494276"/>
            </a:xfrm>
            <a:prstGeom prst="roundRect">
              <a:avLst>
                <a:gd name="adj" fmla="val 16667"/>
              </a:avLst>
            </a:prstGeom>
            <a:blipFill rotWithShape="1">
              <a:blip r:embed="rId1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</p:grpSp>
      <p:grpSp>
        <p:nvGrpSpPr>
          <p:cNvPr id="643" name="Google Shape;643;p51"/>
          <p:cNvGrpSpPr/>
          <p:nvPr/>
        </p:nvGrpSpPr>
        <p:grpSpPr>
          <a:xfrm>
            <a:off x="3938585" y="3804694"/>
            <a:ext cx="2298117" cy="1075471"/>
            <a:chOff x="3948264" y="3803933"/>
            <a:chExt cx="2298117" cy="1075471"/>
          </a:xfrm>
        </p:grpSpPr>
        <p:cxnSp>
          <p:nvCxnSpPr>
            <p:cNvPr id="644" name="Google Shape;644;p51"/>
            <p:cNvCxnSpPr>
              <a:stCxn id="609" idx="0"/>
              <a:endCxn id="645" idx="2"/>
            </p:cNvCxnSpPr>
            <p:nvPr/>
          </p:nvCxnSpPr>
          <p:spPr>
            <a:xfrm rot="10800000">
              <a:off x="4267881" y="4298304"/>
              <a:ext cx="1978500" cy="581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46" name="Google Shape;646;p51"/>
            <p:cNvCxnSpPr>
              <a:stCxn id="605" idx="0"/>
              <a:endCxn id="645" idx="2"/>
            </p:cNvCxnSpPr>
            <p:nvPr/>
          </p:nvCxnSpPr>
          <p:spPr>
            <a:xfrm rot="10800000">
              <a:off x="4267951" y="4298266"/>
              <a:ext cx="3000" cy="569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645" name="Google Shape;645;p51"/>
            <p:cNvSpPr/>
            <p:nvPr/>
          </p:nvSpPr>
          <p:spPr>
            <a:xfrm>
              <a:off x="3948264" y="3803933"/>
              <a:ext cx="639236" cy="494276"/>
            </a:xfrm>
            <a:prstGeom prst="roundRect">
              <a:avLst>
                <a:gd name="adj" fmla="val 16667"/>
              </a:avLst>
            </a:prstGeom>
            <a:blipFill rotWithShape="1">
              <a:blip r:embed="rId1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</p:grpSp>
      <p:grpSp>
        <p:nvGrpSpPr>
          <p:cNvPr id="647" name="Google Shape;647;p51"/>
          <p:cNvGrpSpPr/>
          <p:nvPr/>
        </p:nvGrpSpPr>
        <p:grpSpPr>
          <a:xfrm>
            <a:off x="689132" y="2780390"/>
            <a:ext cx="4329560" cy="1024586"/>
            <a:chOff x="689132" y="2780390"/>
            <a:chExt cx="4329560" cy="1024586"/>
          </a:xfrm>
        </p:grpSpPr>
        <p:cxnSp>
          <p:nvCxnSpPr>
            <p:cNvPr id="648" name="Google Shape;648;p51"/>
            <p:cNvCxnSpPr>
              <a:stCxn id="633" idx="0"/>
              <a:endCxn id="649" idx="2"/>
            </p:cNvCxnSpPr>
            <p:nvPr/>
          </p:nvCxnSpPr>
          <p:spPr>
            <a:xfrm rot="10800000" flipH="1">
              <a:off x="689132" y="3247279"/>
              <a:ext cx="1778700" cy="55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50" name="Google Shape;650;p51"/>
            <p:cNvCxnSpPr>
              <a:stCxn id="637" idx="0"/>
              <a:endCxn id="649" idx="2"/>
            </p:cNvCxnSpPr>
            <p:nvPr/>
          </p:nvCxnSpPr>
          <p:spPr>
            <a:xfrm rot="10800000" flipH="1">
              <a:off x="1426122" y="3247276"/>
              <a:ext cx="1041600" cy="557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51" name="Google Shape;651;p51"/>
            <p:cNvCxnSpPr>
              <a:stCxn id="652" idx="0"/>
              <a:endCxn id="649" idx="2"/>
            </p:cNvCxnSpPr>
            <p:nvPr/>
          </p:nvCxnSpPr>
          <p:spPr>
            <a:xfrm rot="10800000" flipH="1">
              <a:off x="2135994" y="3247237"/>
              <a:ext cx="331800" cy="553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53" name="Google Shape;653;p51"/>
            <p:cNvCxnSpPr>
              <a:stCxn id="654" idx="0"/>
              <a:endCxn id="649" idx="2"/>
            </p:cNvCxnSpPr>
            <p:nvPr/>
          </p:nvCxnSpPr>
          <p:spPr>
            <a:xfrm rot="10800000">
              <a:off x="2467887" y="3247078"/>
              <a:ext cx="357900" cy="55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55" name="Google Shape;655;p51"/>
            <p:cNvCxnSpPr>
              <a:stCxn id="641" idx="0"/>
              <a:endCxn id="649" idx="2"/>
            </p:cNvCxnSpPr>
            <p:nvPr/>
          </p:nvCxnSpPr>
          <p:spPr>
            <a:xfrm rot="10800000">
              <a:off x="2467946" y="3247207"/>
              <a:ext cx="1049100" cy="55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56" name="Google Shape;656;p51"/>
            <p:cNvCxnSpPr>
              <a:stCxn id="645" idx="0"/>
              <a:endCxn id="649" idx="2"/>
            </p:cNvCxnSpPr>
            <p:nvPr/>
          </p:nvCxnSpPr>
          <p:spPr>
            <a:xfrm rot="10800000">
              <a:off x="2467803" y="3247294"/>
              <a:ext cx="1790400" cy="557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57" name="Google Shape;657;p51"/>
            <p:cNvCxnSpPr>
              <a:stCxn id="658" idx="0"/>
              <a:endCxn id="649" idx="2"/>
            </p:cNvCxnSpPr>
            <p:nvPr/>
          </p:nvCxnSpPr>
          <p:spPr>
            <a:xfrm rot="10800000">
              <a:off x="2467792" y="3247128"/>
              <a:ext cx="2550900" cy="551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649" name="Google Shape;649;p51"/>
            <p:cNvSpPr/>
            <p:nvPr/>
          </p:nvSpPr>
          <p:spPr>
            <a:xfrm>
              <a:off x="1958808" y="2780390"/>
              <a:ext cx="1018071" cy="46679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softmax</a:t>
              </a:r>
              <a:endParaRPr sz="1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59" name="Google Shape;659;p51"/>
          <p:cNvGrpSpPr/>
          <p:nvPr/>
        </p:nvGrpSpPr>
        <p:grpSpPr>
          <a:xfrm>
            <a:off x="2506169" y="3799978"/>
            <a:ext cx="3730533" cy="1080187"/>
            <a:chOff x="2511775" y="3812278"/>
            <a:chExt cx="3730533" cy="1080187"/>
          </a:xfrm>
        </p:grpSpPr>
        <p:cxnSp>
          <p:nvCxnSpPr>
            <p:cNvPr id="660" name="Google Shape;660;p51"/>
            <p:cNvCxnSpPr>
              <a:stCxn id="601" idx="0"/>
              <a:endCxn id="654" idx="2"/>
            </p:cNvCxnSpPr>
            <p:nvPr/>
          </p:nvCxnSpPr>
          <p:spPr>
            <a:xfrm rot="10800000" flipH="1">
              <a:off x="2802344" y="4306527"/>
              <a:ext cx="29100" cy="573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654" name="Google Shape;654;p51"/>
            <p:cNvSpPr/>
            <p:nvPr/>
          </p:nvSpPr>
          <p:spPr>
            <a:xfrm>
              <a:off x="2511775" y="3812278"/>
              <a:ext cx="639236" cy="494276"/>
            </a:xfrm>
            <a:prstGeom prst="roundRect">
              <a:avLst>
                <a:gd name="adj" fmla="val 16667"/>
              </a:avLst>
            </a:prstGeom>
            <a:blipFill rotWithShape="1">
              <a:blip r:embed="rId1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  <p:cxnSp>
          <p:nvCxnSpPr>
            <p:cNvPr id="661" name="Google Shape;661;p51"/>
            <p:cNvCxnSpPr>
              <a:stCxn id="609" idx="0"/>
              <a:endCxn id="654" idx="2"/>
            </p:cNvCxnSpPr>
            <p:nvPr/>
          </p:nvCxnSpPr>
          <p:spPr>
            <a:xfrm rot="10800000">
              <a:off x="2831308" y="4306565"/>
              <a:ext cx="3411000" cy="585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662" name="Google Shape;662;p51"/>
          <p:cNvGrpSpPr/>
          <p:nvPr/>
        </p:nvGrpSpPr>
        <p:grpSpPr>
          <a:xfrm>
            <a:off x="1816376" y="3800737"/>
            <a:ext cx="4420326" cy="1079428"/>
            <a:chOff x="1816163" y="3814841"/>
            <a:chExt cx="4420326" cy="1079428"/>
          </a:xfrm>
        </p:grpSpPr>
        <p:cxnSp>
          <p:nvCxnSpPr>
            <p:cNvPr id="663" name="Google Shape;663;p51"/>
            <p:cNvCxnSpPr>
              <a:stCxn id="599" idx="0"/>
              <a:endCxn id="652" idx="2"/>
            </p:cNvCxnSpPr>
            <p:nvPr/>
          </p:nvCxnSpPr>
          <p:spPr>
            <a:xfrm rot="10800000">
              <a:off x="2135855" y="4309137"/>
              <a:ext cx="7500" cy="575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652" name="Google Shape;652;p51"/>
            <p:cNvSpPr/>
            <p:nvPr/>
          </p:nvSpPr>
          <p:spPr>
            <a:xfrm>
              <a:off x="1816163" y="3814841"/>
              <a:ext cx="639236" cy="494276"/>
            </a:xfrm>
            <a:prstGeom prst="roundRect">
              <a:avLst>
                <a:gd name="adj" fmla="val 16667"/>
              </a:avLst>
            </a:prstGeom>
            <a:blipFill rotWithShape="1">
              <a:blip r:embed="rId1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  <p:cxnSp>
          <p:nvCxnSpPr>
            <p:cNvPr id="664" name="Google Shape;664;p51"/>
            <p:cNvCxnSpPr>
              <a:stCxn id="609" idx="0"/>
              <a:endCxn id="652" idx="2"/>
            </p:cNvCxnSpPr>
            <p:nvPr/>
          </p:nvCxnSpPr>
          <p:spPr>
            <a:xfrm rot="10800000">
              <a:off x="2135789" y="4308969"/>
              <a:ext cx="4100700" cy="5853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665" name="Google Shape;665;p51"/>
          <p:cNvGrpSpPr/>
          <p:nvPr/>
        </p:nvGrpSpPr>
        <p:grpSpPr>
          <a:xfrm>
            <a:off x="4699074" y="3798828"/>
            <a:ext cx="1537628" cy="1081337"/>
            <a:chOff x="4699074" y="3798828"/>
            <a:chExt cx="1537628" cy="1081337"/>
          </a:xfrm>
        </p:grpSpPr>
        <p:sp>
          <p:nvSpPr>
            <p:cNvPr id="658" name="Google Shape;658;p51"/>
            <p:cNvSpPr/>
            <p:nvPr/>
          </p:nvSpPr>
          <p:spPr>
            <a:xfrm>
              <a:off x="4699074" y="3798828"/>
              <a:ext cx="639236" cy="494276"/>
            </a:xfrm>
            <a:prstGeom prst="roundRect">
              <a:avLst>
                <a:gd name="adj" fmla="val 16667"/>
              </a:avLst>
            </a:prstGeom>
            <a:blipFill rotWithShape="1">
              <a:blip r:embed="rId1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  <p:cxnSp>
          <p:nvCxnSpPr>
            <p:cNvPr id="666" name="Google Shape;666;p51"/>
            <p:cNvCxnSpPr>
              <a:stCxn id="612" idx="0"/>
              <a:endCxn id="658" idx="2"/>
            </p:cNvCxnSpPr>
            <p:nvPr/>
          </p:nvCxnSpPr>
          <p:spPr>
            <a:xfrm rot="10800000" flipH="1">
              <a:off x="5014856" y="4293027"/>
              <a:ext cx="3900" cy="575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67" name="Google Shape;667;p51"/>
            <p:cNvCxnSpPr>
              <a:stCxn id="609" idx="0"/>
              <a:endCxn id="658" idx="2"/>
            </p:cNvCxnSpPr>
            <p:nvPr/>
          </p:nvCxnSpPr>
          <p:spPr>
            <a:xfrm rot="10800000">
              <a:off x="5018702" y="4293065"/>
              <a:ext cx="1218000" cy="587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668" name="Google Shape;668;p51"/>
          <p:cNvGrpSpPr/>
          <p:nvPr/>
        </p:nvGrpSpPr>
        <p:grpSpPr>
          <a:xfrm>
            <a:off x="310606" y="1690688"/>
            <a:ext cx="5917373" cy="1897002"/>
            <a:chOff x="310606" y="1690688"/>
            <a:chExt cx="5917373" cy="1897002"/>
          </a:xfrm>
        </p:grpSpPr>
        <p:sp>
          <p:nvSpPr>
            <p:cNvPr id="669" name="Google Shape;669;p51"/>
            <p:cNvSpPr txBox="1"/>
            <p:nvPr/>
          </p:nvSpPr>
          <p:spPr>
            <a:xfrm>
              <a:off x="3945792" y="2784568"/>
              <a:ext cx="6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670" name="Google Shape;670;p51"/>
            <p:cNvCxnSpPr>
              <a:stCxn id="649" idx="3"/>
              <a:endCxn id="630" idx="2"/>
            </p:cNvCxnSpPr>
            <p:nvPr/>
          </p:nvCxnSpPr>
          <p:spPr>
            <a:xfrm>
              <a:off x="2976879" y="3013790"/>
              <a:ext cx="3251100" cy="573900"/>
            </a:xfrm>
            <a:prstGeom prst="curvedConnector4">
              <a:avLst>
                <a:gd name="adj1" fmla="val 81180"/>
                <a:gd name="adj2" fmla="val 204571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graphicFrame>
          <p:nvGraphicFramePr>
            <p:cNvPr id="671" name="Google Shape;671;p51"/>
            <p:cNvGraphicFramePr/>
            <p:nvPr/>
          </p:nvGraphicFramePr>
          <p:xfrm>
            <a:off x="310606" y="1690688"/>
            <a:ext cx="5100733" cy="101686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9"/>
            </a:graphicData>
          </a:graphic>
        </p:graphicFrame>
      </p:grpSp>
      <p:sp>
        <p:nvSpPr>
          <p:cNvPr id="672" name="Google Shape;672;p51"/>
          <p:cNvSpPr txBox="1"/>
          <p:nvPr/>
        </p:nvSpPr>
        <p:spPr>
          <a:xfrm>
            <a:off x="4321808" y="2817135"/>
            <a:ext cx="1202637" cy="291426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l="-3157" r="-1052" b="-3332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grpSp>
        <p:nvGrpSpPr>
          <p:cNvPr id="674" name="Google Shape;674;p51"/>
          <p:cNvGrpSpPr/>
          <p:nvPr/>
        </p:nvGrpSpPr>
        <p:grpSpPr>
          <a:xfrm>
            <a:off x="6074182" y="1820587"/>
            <a:ext cx="5544090" cy="755199"/>
            <a:chOff x="6198767" y="1259878"/>
            <a:chExt cx="5544090" cy="755199"/>
          </a:xfrm>
        </p:grpSpPr>
        <p:sp>
          <p:nvSpPr>
            <p:cNvPr id="675" name="Google Shape;675;p51"/>
            <p:cNvSpPr txBox="1"/>
            <p:nvPr/>
          </p:nvSpPr>
          <p:spPr>
            <a:xfrm>
              <a:off x="6198767" y="1703196"/>
              <a:ext cx="352982" cy="307736"/>
            </a:xfrm>
            <a:prstGeom prst="rect">
              <a:avLst/>
            </a:prstGeom>
            <a:noFill/>
            <a:ln w="9525" cap="flat" cmpd="sng">
              <a:solidFill>
                <a:srgbClr val="31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le</a:t>
              </a: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676" name="Google Shape;676;p51"/>
            <p:cNvSpPr txBox="1"/>
            <p:nvPr/>
          </p:nvSpPr>
          <p:spPr>
            <a:xfrm>
              <a:off x="6825823" y="1705780"/>
              <a:ext cx="589713" cy="307736"/>
            </a:xfrm>
            <a:prstGeom prst="rect">
              <a:avLst/>
            </a:prstGeom>
            <a:noFill/>
            <a:ln w="9525" cap="flat" cmpd="sng">
              <a:solidFill>
                <a:srgbClr val="31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chat</a:t>
              </a: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677" name="Google Shape;677;p51"/>
            <p:cNvSpPr txBox="1"/>
            <p:nvPr/>
          </p:nvSpPr>
          <p:spPr>
            <a:xfrm>
              <a:off x="7559853" y="1703196"/>
              <a:ext cx="561372" cy="307736"/>
            </a:xfrm>
            <a:prstGeom prst="rect">
              <a:avLst/>
            </a:prstGeom>
            <a:noFill/>
            <a:ln w="9525" cap="flat" cmpd="sng">
              <a:solidFill>
                <a:srgbClr val="31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noir</a:t>
              </a: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678" name="Google Shape;678;p51"/>
            <p:cNvSpPr txBox="1"/>
            <p:nvPr/>
          </p:nvSpPr>
          <p:spPr>
            <a:xfrm>
              <a:off x="8333596" y="1707341"/>
              <a:ext cx="295274" cy="307736"/>
            </a:xfrm>
            <a:prstGeom prst="rect">
              <a:avLst/>
            </a:prstGeom>
            <a:noFill/>
            <a:ln w="9525" cap="flat" cmpd="sng">
              <a:solidFill>
                <a:srgbClr val="31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</a:t>
              </a: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679" name="Google Shape;679;p51"/>
            <p:cNvSpPr txBox="1"/>
            <p:nvPr/>
          </p:nvSpPr>
          <p:spPr>
            <a:xfrm>
              <a:off x="8973655" y="1703795"/>
              <a:ext cx="428322" cy="307736"/>
            </a:xfrm>
            <a:prstGeom prst="rect">
              <a:avLst/>
            </a:prstGeom>
            <a:noFill/>
            <a:ln w="9525" cap="flat" cmpd="sng">
              <a:solidFill>
                <a:srgbClr val="31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bu</a:t>
              </a:r>
              <a:endParaRPr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0" name="Google Shape;680;p51"/>
            <p:cNvSpPr txBox="1"/>
            <p:nvPr/>
          </p:nvSpPr>
          <p:spPr>
            <a:xfrm>
              <a:off x="9689909" y="1704649"/>
              <a:ext cx="428322" cy="307736"/>
            </a:xfrm>
            <a:prstGeom prst="rect">
              <a:avLst/>
            </a:prstGeom>
            <a:noFill/>
            <a:ln w="9525" cap="flat" cmpd="sng">
              <a:solidFill>
                <a:srgbClr val="31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du</a:t>
              </a: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681" name="Google Shape;681;p51"/>
            <p:cNvSpPr txBox="1"/>
            <p:nvPr/>
          </p:nvSpPr>
          <p:spPr>
            <a:xfrm>
              <a:off x="10402380" y="1703196"/>
              <a:ext cx="478016" cy="307736"/>
            </a:xfrm>
            <a:prstGeom prst="rect">
              <a:avLst/>
            </a:prstGeom>
            <a:noFill/>
            <a:ln w="9525" cap="flat" cmpd="sng">
              <a:solidFill>
                <a:srgbClr val="31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lait</a:t>
              </a:r>
              <a:endParaRPr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2" name="Google Shape;682;p51"/>
            <p:cNvSpPr txBox="1"/>
            <p:nvPr/>
          </p:nvSpPr>
          <p:spPr>
            <a:xfrm>
              <a:off x="10960655" y="1685020"/>
              <a:ext cx="782202" cy="307736"/>
            </a:xfrm>
            <a:prstGeom prst="rect">
              <a:avLst/>
            </a:prstGeom>
            <a:noFill/>
            <a:ln w="9525" cap="flat" cmpd="sng">
              <a:solidFill>
                <a:srgbClr val="31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&lt;EOS&gt;</a:t>
              </a: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683" name="Google Shape;683;p51"/>
            <p:cNvSpPr txBox="1"/>
            <p:nvPr/>
          </p:nvSpPr>
          <p:spPr>
            <a:xfrm>
              <a:off x="6950786" y="1259878"/>
              <a:ext cx="384842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We</a:t>
              </a:r>
              <a:r>
                <a:rPr lang="ko-KR" sz="18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sz="18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hope</a:t>
              </a:r>
              <a:r>
                <a:rPr lang="ko-KR" sz="18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sz="18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to</a:t>
              </a:r>
              <a:r>
                <a:rPr lang="ko-KR" sz="18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sz="18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produce</a:t>
              </a:r>
              <a:r>
                <a:rPr lang="ko-KR" sz="18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sz="18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this</a:t>
              </a:r>
              <a:r>
                <a:rPr lang="ko-KR" sz="18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sz="18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output</a:t>
              </a:r>
              <a:r>
                <a:rPr lang="ko-KR" sz="18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:</a:t>
              </a:r>
              <a:endParaRPr dirty="0"/>
            </a:p>
          </p:txBody>
        </p:sp>
      </p:grpSp>
      <p:sp>
        <p:nvSpPr>
          <p:cNvPr id="684" name="Google Shape;684;p51"/>
          <p:cNvSpPr txBox="1"/>
          <p:nvPr/>
        </p:nvSpPr>
        <p:spPr>
          <a:xfrm>
            <a:off x="650787" y="1228788"/>
            <a:ext cx="11021350" cy="400110"/>
          </a:xfrm>
          <a:prstGeom prst="rect">
            <a:avLst/>
          </a:prstGeom>
          <a:noFill/>
          <a:ln w="28575" cap="flat" cmpd="sng">
            <a:solidFill>
              <a:srgbClr val="017F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i="1">
                <a:solidFill>
                  <a:srgbClr val="017F45"/>
                </a:solidFill>
                <a:latin typeface="Malgun Gothic"/>
                <a:ea typeface="Malgun Gothic"/>
                <a:cs typeface="Malgun Gothic"/>
                <a:sym typeface="Malgun Gothic"/>
              </a:rPr>
              <a:t>On this decoder timestep, we’re mostly focusing on the second encoder hidden state (“the”)</a:t>
            </a:r>
            <a:endParaRPr sz="2000" i="1">
              <a:solidFill>
                <a:srgbClr val="017F4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5" name="Google Shape;685;p51"/>
          <p:cNvSpPr txBox="1"/>
          <p:nvPr/>
        </p:nvSpPr>
        <p:spPr>
          <a:xfrm>
            <a:off x="6908509" y="2786847"/>
            <a:ext cx="4445204" cy="923330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l="-846" t="-2631" b="-6578"/>
            </a:stretch>
          </a:blipFill>
          <a:ln w="28575" cap="flat" cmpd="sng">
            <a:solidFill>
              <a:srgbClr val="FF6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4" name="Google Shape;585;p50">
            <a:extLst>
              <a:ext uri="{FF2B5EF4-FFF2-40B4-BE49-F238E27FC236}">
                <a16:creationId xmlns:a16="http://schemas.microsoft.com/office/drawing/2014/main" id="{640072CB-9EB6-AC4E-8B70-8D91243210FC}"/>
              </a:ext>
            </a:extLst>
          </p:cNvPr>
          <p:cNvSpPr txBox="1"/>
          <p:nvPr/>
        </p:nvSpPr>
        <p:spPr>
          <a:xfrm>
            <a:off x="838200" y="6412342"/>
            <a:ext cx="814054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Neural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Machine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Translation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by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Jointly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Learning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to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Align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and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Translate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(2014)</a:t>
            </a:r>
            <a:endParaRPr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2E5530-B127-84BF-01C7-290D7BF3F76A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47172" y="4382819"/>
            <a:ext cx="3291920" cy="6902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839A9D-331D-D54E-CCE9-861374633D3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001187" y="3755997"/>
            <a:ext cx="2928167" cy="7714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5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62</a:t>
            </a:fld>
            <a:endParaRPr/>
          </a:p>
        </p:txBody>
      </p:sp>
      <p:sp>
        <p:nvSpPr>
          <p:cNvPr id="692" name="Google Shape;692;p52"/>
          <p:cNvSpPr txBox="1"/>
          <p:nvPr/>
        </p:nvSpPr>
        <p:spPr>
          <a:xfrm>
            <a:off x="1184400" y="6010089"/>
            <a:ext cx="498855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the</a:t>
            </a:r>
            <a:endParaRPr/>
          </a:p>
        </p:txBody>
      </p:sp>
      <p:sp>
        <p:nvSpPr>
          <p:cNvPr id="693" name="Google Shape;693;p52"/>
          <p:cNvSpPr txBox="1"/>
          <p:nvPr/>
        </p:nvSpPr>
        <p:spPr>
          <a:xfrm>
            <a:off x="1812781" y="6008209"/>
            <a:ext cx="671979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black</a:t>
            </a:r>
            <a:endParaRPr/>
          </a:p>
        </p:txBody>
      </p:sp>
      <p:sp>
        <p:nvSpPr>
          <p:cNvPr id="694" name="Google Shape;694;p52"/>
          <p:cNvSpPr txBox="1"/>
          <p:nvPr/>
        </p:nvSpPr>
        <p:spPr>
          <a:xfrm>
            <a:off x="2570724" y="6009095"/>
            <a:ext cx="465961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cat</a:t>
            </a:r>
            <a:endParaRPr/>
          </a:p>
        </p:txBody>
      </p:sp>
      <p:sp>
        <p:nvSpPr>
          <p:cNvPr id="695" name="Google Shape;695;p52"/>
          <p:cNvSpPr txBox="1"/>
          <p:nvPr/>
        </p:nvSpPr>
        <p:spPr>
          <a:xfrm>
            <a:off x="3140822" y="6014302"/>
            <a:ext cx="718530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drank</a:t>
            </a:r>
            <a:endParaRPr/>
          </a:p>
        </p:txBody>
      </p:sp>
      <p:sp>
        <p:nvSpPr>
          <p:cNvPr id="696" name="Google Shape;696;p52"/>
          <p:cNvSpPr txBox="1"/>
          <p:nvPr/>
        </p:nvSpPr>
        <p:spPr>
          <a:xfrm>
            <a:off x="3966412" y="6018553"/>
            <a:ext cx="579005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milk</a:t>
            </a:r>
            <a:endParaRPr/>
          </a:p>
        </p:txBody>
      </p:sp>
      <p:cxnSp>
        <p:nvCxnSpPr>
          <p:cNvPr id="697" name="Google Shape;697;p52"/>
          <p:cNvCxnSpPr>
            <a:stCxn id="692" idx="0"/>
            <a:endCxn id="698" idx="2"/>
          </p:cNvCxnSpPr>
          <p:nvPr/>
        </p:nvCxnSpPr>
        <p:spPr>
          <a:xfrm flipH="1" flipV="1">
            <a:off x="1428581" y="5392271"/>
            <a:ext cx="5247" cy="61781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99" name="Google Shape;699;p52"/>
          <p:cNvCxnSpPr>
            <a:stCxn id="693" idx="0"/>
            <a:endCxn id="700" idx="2"/>
          </p:cNvCxnSpPr>
          <p:nvPr/>
        </p:nvCxnSpPr>
        <p:spPr>
          <a:xfrm flipH="1" flipV="1">
            <a:off x="2143568" y="5388038"/>
            <a:ext cx="5203" cy="62017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01" name="Google Shape;701;p52"/>
          <p:cNvCxnSpPr>
            <a:stCxn id="694" idx="0"/>
            <a:endCxn id="702" idx="2"/>
          </p:cNvCxnSpPr>
          <p:nvPr/>
        </p:nvCxnSpPr>
        <p:spPr>
          <a:xfrm flipH="1" flipV="1">
            <a:off x="2796738" y="5385432"/>
            <a:ext cx="6967" cy="62366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03" name="Google Shape;703;p52"/>
          <p:cNvCxnSpPr>
            <a:stCxn id="695" idx="0"/>
            <a:endCxn id="704" idx="2"/>
          </p:cNvCxnSpPr>
          <p:nvPr/>
        </p:nvCxnSpPr>
        <p:spPr>
          <a:xfrm flipH="1" flipV="1">
            <a:off x="3498477" y="5385432"/>
            <a:ext cx="1610" cy="62887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05" name="Google Shape;705;p52"/>
          <p:cNvCxnSpPr>
            <a:stCxn id="696" idx="0"/>
            <a:endCxn id="706" idx="2"/>
          </p:cNvCxnSpPr>
          <p:nvPr/>
        </p:nvCxnSpPr>
        <p:spPr>
          <a:xfrm flipV="1">
            <a:off x="4255915" y="5385432"/>
            <a:ext cx="5357" cy="63312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07" name="Google Shape;707;p52"/>
          <p:cNvSpPr txBox="1"/>
          <p:nvPr/>
        </p:nvSpPr>
        <p:spPr>
          <a:xfrm>
            <a:off x="304731" y="6021159"/>
            <a:ext cx="779381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&lt;SOS&gt;</a:t>
            </a:r>
            <a:endParaRPr dirty="0"/>
          </a:p>
        </p:txBody>
      </p:sp>
      <p:sp>
        <p:nvSpPr>
          <p:cNvPr id="708" name="Google Shape;708;p52"/>
          <p:cNvSpPr/>
          <p:nvPr/>
        </p:nvSpPr>
        <p:spPr>
          <a:xfrm>
            <a:off x="526612" y="4873326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09" name="Google Shape;709;p52"/>
          <p:cNvCxnSpPr>
            <a:stCxn id="707" idx="0"/>
            <a:endCxn id="708" idx="2"/>
          </p:cNvCxnSpPr>
          <p:nvPr/>
        </p:nvCxnSpPr>
        <p:spPr>
          <a:xfrm flipH="1" flipV="1">
            <a:off x="689132" y="5390631"/>
            <a:ext cx="5290" cy="63052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98" name="Google Shape;698;p52"/>
          <p:cNvSpPr/>
          <p:nvPr/>
        </p:nvSpPr>
        <p:spPr>
          <a:xfrm>
            <a:off x="1266061" y="4874966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0" name="Google Shape;700;p52"/>
          <p:cNvSpPr/>
          <p:nvPr/>
        </p:nvSpPr>
        <p:spPr>
          <a:xfrm>
            <a:off x="1981048" y="4870733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2" name="Google Shape;702;p52"/>
          <p:cNvSpPr/>
          <p:nvPr/>
        </p:nvSpPr>
        <p:spPr>
          <a:xfrm>
            <a:off x="2634218" y="4868127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4" name="Google Shape;704;p52"/>
          <p:cNvSpPr/>
          <p:nvPr/>
        </p:nvSpPr>
        <p:spPr>
          <a:xfrm>
            <a:off x="3335957" y="4868127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6" name="Google Shape;706;p52"/>
          <p:cNvSpPr/>
          <p:nvPr/>
        </p:nvSpPr>
        <p:spPr>
          <a:xfrm>
            <a:off x="4098752" y="4868127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10" name="Google Shape;710;p52"/>
          <p:cNvCxnSpPr>
            <a:stCxn id="711" idx="3"/>
            <a:endCxn id="712" idx="1"/>
          </p:cNvCxnSpPr>
          <p:nvPr/>
        </p:nvCxnSpPr>
        <p:spPr>
          <a:xfrm rot="10800000" flipH="1">
            <a:off x="7138671" y="5136258"/>
            <a:ext cx="390000" cy="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13" name="Google Shape;713;p52"/>
          <p:cNvCxnSpPr>
            <a:stCxn id="712" idx="3"/>
            <a:endCxn id="714" idx="1"/>
          </p:cNvCxnSpPr>
          <p:nvPr/>
        </p:nvCxnSpPr>
        <p:spPr>
          <a:xfrm rot="10800000" flipH="1">
            <a:off x="7853658" y="5133525"/>
            <a:ext cx="328200" cy="2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15" name="Google Shape;715;p52"/>
          <p:cNvCxnSpPr>
            <a:stCxn id="714" idx="3"/>
            <a:endCxn id="716" idx="1"/>
          </p:cNvCxnSpPr>
          <p:nvPr/>
        </p:nvCxnSpPr>
        <p:spPr>
          <a:xfrm>
            <a:off x="8506828" y="5133619"/>
            <a:ext cx="376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17" name="Google Shape;717;p52"/>
          <p:cNvCxnSpPr>
            <a:stCxn id="716" idx="3"/>
            <a:endCxn id="718" idx="1"/>
          </p:cNvCxnSpPr>
          <p:nvPr/>
        </p:nvCxnSpPr>
        <p:spPr>
          <a:xfrm>
            <a:off x="9208567" y="5133619"/>
            <a:ext cx="395100" cy="6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19" name="Google Shape;719;p52"/>
          <p:cNvSpPr/>
          <p:nvPr/>
        </p:nvSpPr>
        <p:spPr>
          <a:xfrm>
            <a:off x="6074182" y="4880165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20" name="Google Shape;720;p52"/>
          <p:cNvCxnSpPr>
            <a:stCxn id="719" idx="3"/>
            <a:endCxn id="711" idx="1"/>
          </p:cNvCxnSpPr>
          <p:nvPr/>
        </p:nvCxnSpPr>
        <p:spPr>
          <a:xfrm>
            <a:off x="6399222" y="5138818"/>
            <a:ext cx="414300" cy="1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11" name="Google Shape;711;p52"/>
          <p:cNvSpPr/>
          <p:nvPr/>
        </p:nvSpPr>
        <p:spPr>
          <a:xfrm>
            <a:off x="6813631" y="4881805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2" name="Google Shape;712;p52"/>
          <p:cNvSpPr/>
          <p:nvPr/>
        </p:nvSpPr>
        <p:spPr>
          <a:xfrm>
            <a:off x="7528618" y="4877572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4" name="Google Shape;714;p52"/>
          <p:cNvSpPr/>
          <p:nvPr/>
        </p:nvSpPr>
        <p:spPr>
          <a:xfrm>
            <a:off x="8181788" y="4874966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6" name="Google Shape;716;p52"/>
          <p:cNvSpPr/>
          <p:nvPr/>
        </p:nvSpPr>
        <p:spPr>
          <a:xfrm>
            <a:off x="8883527" y="4874966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8" name="Google Shape;718;p52"/>
          <p:cNvSpPr/>
          <p:nvPr/>
        </p:nvSpPr>
        <p:spPr>
          <a:xfrm>
            <a:off x="9603774" y="4881805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21" name="Google Shape;721;p52"/>
          <p:cNvCxnSpPr>
            <a:stCxn id="711" idx="0"/>
            <a:endCxn id="722" idx="2"/>
          </p:cNvCxnSpPr>
          <p:nvPr/>
        </p:nvCxnSpPr>
        <p:spPr>
          <a:xfrm rot="10800000">
            <a:off x="6968051" y="3596305"/>
            <a:ext cx="8100" cy="1285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23" name="Google Shape;723;p52"/>
          <p:cNvCxnSpPr>
            <a:stCxn id="712" idx="0"/>
            <a:endCxn id="724" idx="2"/>
          </p:cNvCxnSpPr>
          <p:nvPr/>
        </p:nvCxnSpPr>
        <p:spPr>
          <a:xfrm rot="10800000" flipH="1">
            <a:off x="7691138" y="3567472"/>
            <a:ext cx="3600" cy="1310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25" name="Google Shape;725;p52"/>
          <p:cNvCxnSpPr>
            <a:stCxn id="714" idx="0"/>
            <a:endCxn id="726" idx="2"/>
          </p:cNvCxnSpPr>
          <p:nvPr/>
        </p:nvCxnSpPr>
        <p:spPr>
          <a:xfrm rot="10800000">
            <a:off x="8338308" y="3567566"/>
            <a:ext cx="6000" cy="1307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27" name="Google Shape;727;p52"/>
          <p:cNvCxnSpPr>
            <a:stCxn id="716" idx="0"/>
            <a:endCxn id="728" idx="2"/>
          </p:cNvCxnSpPr>
          <p:nvPr/>
        </p:nvCxnSpPr>
        <p:spPr>
          <a:xfrm rot="10800000">
            <a:off x="9042447" y="3567566"/>
            <a:ext cx="3600" cy="1307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29" name="Google Shape;729;p52"/>
          <p:cNvCxnSpPr>
            <a:stCxn id="718" idx="0"/>
            <a:endCxn id="730" idx="2"/>
          </p:cNvCxnSpPr>
          <p:nvPr/>
        </p:nvCxnSpPr>
        <p:spPr>
          <a:xfrm rot="10800000">
            <a:off x="9758794" y="3567505"/>
            <a:ext cx="7500" cy="131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31" name="Google Shape;731;p52"/>
          <p:cNvSpPr txBox="1"/>
          <p:nvPr/>
        </p:nvSpPr>
        <p:spPr>
          <a:xfrm>
            <a:off x="4622516" y="6018553"/>
            <a:ext cx="782202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&lt;EOS&gt;</a:t>
            </a:r>
            <a:endParaRPr/>
          </a:p>
        </p:txBody>
      </p:sp>
      <p:cxnSp>
        <p:nvCxnSpPr>
          <p:cNvPr id="732" name="Google Shape;732;p52"/>
          <p:cNvCxnSpPr>
            <a:stCxn id="731" idx="0"/>
            <a:endCxn id="733" idx="2"/>
          </p:cNvCxnSpPr>
          <p:nvPr/>
        </p:nvCxnSpPr>
        <p:spPr>
          <a:xfrm flipV="1">
            <a:off x="5013617" y="5385432"/>
            <a:ext cx="1239" cy="63312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33" name="Google Shape;733;p52"/>
          <p:cNvSpPr/>
          <p:nvPr/>
        </p:nvSpPr>
        <p:spPr>
          <a:xfrm>
            <a:off x="4852336" y="4868127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34" name="Google Shape;734;p52"/>
          <p:cNvCxnSpPr>
            <a:stCxn id="735" idx="3"/>
            <a:endCxn id="736" idx="1"/>
          </p:cNvCxnSpPr>
          <p:nvPr/>
        </p:nvCxnSpPr>
        <p:spPr>
          <a:xfrm>
            <a:off x="10668263" y="5140458"/>
            <a:ext cx="376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35" name="Google Shape;735;p52"/>
          <p:cNvSpPr/>
          <p:nvPr/>
        </p:nvSpPr>
        <p:spPr>
          <a:xfrm>
            <a:off x="10343223" y="4881805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6" name="Google Shape;736;p52"/>
          <p:cNvSpPr/>
          <p:nvPr/>
        </p:nvSpPr>
        <p:spPr>
          <a:xfrm>
            <a:off x="11044962" y="4881805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37" name="Google Shape;737;p52"/>
          <p:cNvCxnSpPr>
            <a:stCxn id="735" idx="0"/>
            <a:endCxn id="738" idx="2"/>
          </p:cNvCxnSpPr>
          <p:nvPr/>
        </p:nvCxnSpPr>
        <p:spPr>
          <a:xfrm rot="10800000">
            <a:off x="10503343" y="3567505"/>
            <a:ext cx="2400" cy="131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39" name="Google Shape;739;p52"/>
          <p:cNvCxnSpPr>
            <a:stCxn id="736" idx="0"/>
            <a:endCxn id="740" idx="2"/>
          </p:cNvCxnSpPr>
          <p:nvPr/>
        </p:nvCxnSpPr>
        <p:spPr>
          <a:xfrm rot="10800000">
            <a:off x="11205082" y="3596305"/>
            <a:ext cx="2400" cy="1285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41" name="Google Shape;741;p52"/>
          <p:cNvCxnSpPr>
            <a:stCxn id="718" idx="3"/>
            <a:endCxn id="735" idx="1"/>
          </p:cNvCxnSpPr>
          <p:nvPr/>
        </p:nvCxnSpPr>
        <p:spPr>
          <a:xfrm>
            <a:off x="9928814" y="5140458"/>
            <a:ext cx="4143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42" name="Google Shape;742;p52"/>
          <p:cNvSpPr txBox="1"/>
          <p:nvPr/>
        </p:nvSpPr>
        <p:spPr>
          <a:xfrm>
            <a:off x="5847011" y="6008209"/>
            <a:ext cx="779381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&lt;SOS&gt;</a:t>
            </a:r>
            <a:endParaRPr/>
          </a:p>
        </p:txBody>
      </p:sp>
      <p:cxnSp>
        <p:nvCxnSpPr>
          <p:cNvPr id="743" name="Google Shape;743;p52"/>
          <p:cNvCxnSpPr>
            <a:stCxn id="742" idx="0"/>
            <a:endCxn id="719" idx="2"/>
          </p:cNvCxnSpPr>
          <p:nvPr/>
        </p:nvCxnSpPr>
        <p:spPr>
          <a:xfrm flipV="1">
            <a:off x="6236702" y="5397470"/>
            <a:ext cx="0" cy="61073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22" name="Google Shape;722;p52"/>
          <p:cNvSpPr txBox="1"/>
          <p:nvPr/>
        </p:nvSpPr>
        <p:spPr>
          <a:xfrm>
            <a:off x="6823846" y="3319311"/>
            <a:ext cx="288477" cy="2769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20831" r="-4164" b="-2608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726" name="Google Shape;726;p52"/>
          <p:cNvSpPr txBox="1"/>
          <p:nvPr/>
        </p:nvSpPr>
        <p:spPr>
          <a:xfrm>
            <a:off x="8194211" y="3290500"/>
            <a:ext cx="288477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6665" b="-3181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724" name="Google Shape;724;p52"/>
          <p:cNvSpPr txBox="1"/>
          <p:nvPr/>
        </p:nvSpPr>
        <p:spPr>
          <a:xfrm>
            <a:off x="7550620" y="3290500"/>
            <a:ext cx="288477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20831" r="-4164" b="-3181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730" name="Google Shape;730;p52"/>
          <p:cNvSpPr txBox="1"/>
          <p:nvPr/>
        </p:nvSpPr>
        <p:spPr>
          <a:xfrm>
            <a:off x="9614500" y="3290500"/>
            <a:ext cx="288477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16666" r="-4166" b="-3181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728" name="Google Shape;728;p52"/>
          <p:cNvSpPr txBox="1"/>
          <p:nvPr/>
        </p:nvSpPr>
        <p:spPr>
          <a:xfrm>
            <a:off x="8898333" y="3290500"/>
            <a:ext cx="288477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16666" r="-4166" b="-3181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738" name="Google Shape;738;p52"/>
          <p:cNvSpPr txBox="1"/>
          <p:nvPr/>
        </p:nvSpPr>
        <p:spPr>
          <a:xfrm>
            <a:off x="10359044" y="3290500"/>
            <a:ext cx="288477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16666" r="-4166" b="-3181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740" name="Google Shape;740;p52"/>
          <p:cNvSpPr txBox="1"/>
          <p:nvPr/>
        </p:nvSpPr>
        <p:spPr>
          <a:xfrm>
            <a:off x="11060783" y="3319311"/>
            <a:ext cx="288477" cy="276999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l="-16666" r="-4166" b="-2608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cxnSp>
        <p:nvCxnSpPr>
          <p:cNvPr id="744" name="Google Shape;744;p52"/>
          <p:cNvCxnSpPr>
            <a:stCxn id="698" idx="3"/>
            <a:endCxn id="700" idx="1"/>
          </p:cNvCxnSpPr>
          <p:nvPr/>
        </p:nvCxnSpPr>
        <p:spPr>
          <a:xfrm rot="10800000" flipH="1">
            <a:off x="1591101" y="5129419"/>
            <a:ext cx="390000" cy="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45" name="Google Shape;745;p52"/>
          <p:cNvCxnSpPr>
            <a:stCxn id="700" idx="3"/>
            <a:endCxn id="702" idx="1"/>
          </p:cNvCxnSpPr>
          <p:nvPr/>
        </p:nvCxnSpPr>
        <p:spPr>
          <a:xfrm rot="10800000" flipH="1">
            <a:off x="2306088" y="5126686"/>
            <a:ext cx="328200" cy="2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46" name="Google Shape;746;p52"/>
          <p:cNvCxnSpPr>
            <a:stCxn id="702" idx="3"/>
            <a:endCxn id="704" idx="1"/>
          </p:cNvCxnSpPr>
          <p:nvPr/>
        </p:nvCxnSpPr>
        <p:spPr>
          <a:xfrm>
            <a:off x="2959258" y="5126780"/>
            <a:ext cx="376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47" name="Google Shape;747;p52"/>
          <p:cNvCxnSpPr>
            <a:stCxn id="704" idx="3"/>
            <a:endCxn id="706" idx="1"/>
          </p:cNvCxnSpPr>
          <p:nvPr/>
        </p:nvCxnSpPr>
        <p:spPr>
          <a:xfrm>
            <a:off x="3660997" y="5126780"/>
            <a:ext cx="4377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48" name="Google Shape;748;p52"/>
          <p:cNvCxnSpPr>
            <a:stCxn id="708" idx="3"/>
            <a:endCxn id="698" idx="1"/>
          </p:cNvCxnSpPr>
          <p:nvPr/>
        </p:nvCxnSpPr>
        <p:spPr>
          <a:xfrm>
            <a:off x="851652" y="5131979"/>
            <a:ext cx="414300" cy="1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49" name="Google Shape;749;p52"/>
          <p:cNvCxnSpPr>
            <a:stCxn id="706" idx="3"/>
            <a:endCxn id="733" idx="1"/>
          </p:cNvCxnSpPr>
          <p:nvPr/>
        </p:nvCxnSpPr>
        <p:spPr>
          <a:xfrm>
            <a:off x="4423792" y="5126780"/>
            <a:ext cx="428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50" name="Google Shape;750;p52"/>
          <p:cNvSpPr txBox="1"/>
          <p:nvPr/>
        </p:nvSpPr>
        <p:spPr>
          <a:xfrm>
            <a:off x="5776419" y="4438677"/>
            <a:ext cx="345544" cy="553998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751" name="Google Shape;751;p52"/>
          <p:cNvSpPr txBox="1"/>
          <p:nvPr/>
        </p:nvSpPr>
        <p:spPr>
          <a:xfrm>
            <a:off x="707672" y="4587154"/>
            <a:ext cx="283154" cy="276999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l="-16666" r="-4166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752" name="Google Shape;752;p52"/>
          <p:cNvSpPr txBox="1"/>
          <p:nvPr/>
        </p:nvSpPr>
        <p:spPr>
          <a:xfrm>
            <a:off x="1469158" y="4587154"/>
            <a:ext cx="288477" cy="276999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l="-20831" r="-4164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753" name="Google Shape;753;p52"/>
          <p:cNvSpPr txBox="1"/>
          <p:nvPr/>
        </p:nvSpPr>
        <p:spPr>
          <a:xfrm>
            <a:off x="2184144" y="4587154"/>
            <a:ext cx="288477" cy="276999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l="-16666" r="-4166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754" name="Google Shape;754;p52"/>
          <p:cNvSpPr txBox="1"/>
          <p:nvPr/>
        </p:nvSpPr>
        <p:spPr>
          <a:xfrm>
            <a:off x="2851200" y="4587154"/>
            <a:ext cx="288477" cy="276999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l="-20831" r="-4164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755" name="Google Shape;755;p52"/>
          <p:cNvSpPr txBox="1"/>
          <p:nvPr/>
        </p:nvSpPr>
        <p:spPr>
          <a:xfrm>
            <a:off x="3577768" y="4587154"/>
            <a:ext cx="288477" cy="276999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l="-20831" r="-4164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756" name="Google Shape;756;p52"/>
          <p:cNvSpPr txBox="1"/>
          <p:nvPr/>
        </p:nvSpPr>
        <p:spPr>
          <a:xfrm>
            <a:off x="4327414" y="4587154"/>
            <a:ext cx="288477" cy="276999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l="-16666" r="-4166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757" name="Google Shape;757;p52"/>
          <p:cNvSpPr txBox="1"/>
          <p:nvPr/>
        </p:nvSpPr>
        <p:spPr>
          <a:xfrm>
            <a:off x="5077248" y="4587154"/>
            <a:ext cx="288477" cy="276999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l="-16666" r="-4166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cxnSp>
        <p:nvCxnSpPr>
          <p:cNvPr id="758" name="Google Shape;758;p52"/>
          <p:cNvCxnSpPr>
            <a:stCxn id="719" idx="0"/>
            <a:endCxn id="759" idx="2"/>
          </p:cNvCxnSpPr>
          <p:nvPr/>
        </p:nvCxnSpPr>
        <p:spPr>
          <a:xfrm rot="10800000">
            <a:off x="6228002" y="3587765"/>
            <a:ext cx="8700" cy="1292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59" name="Google Shape;759;p52"/>
          <p:cNvSpPr txBox="1"/>
          <p:nvPr/>
        </p:nvSpPr>
        <p:spPr>
          <a:xfrm>
            <a:off x="6083870" y="3310633"/>
            <a:ext cx="288477" cy="276999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l="-21738" r="-4347" b="-3043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grpSp>
        <p:nvGrpSpPr>
          <p:cNvPr id="760" name="Google Shape;760;p52"/>
          <p:cNvGrpSpPr/>
          <p:nvPr/>
        </p:nvGrpSpPr>
        <p:grpSpPr>
          <a:xfrm>
            <a:off x="369514" y="3800179"/>
            <a:ext cx="5867188" cy="1079986"/>
            <a:chOff x="369514" y="3800179"/>
            <a:chExt cx="5867188" cy="1079986"/>
          </a:xfrm>
        </p:grpSpPr>
        <p:cxnSp>
          <p:nvCxnSpPr>
            <p:cNvPr id="761" name="Google Shape;761;p52"/>
            <p:cNvCxnSpPr>
              <a:stCxn id="708" idx="0"/>
              <a:endCxn id="762" idx="2"/>
            </p:cNvCxnSpPr>
            <p:nvPr/>
          </p:nvCxnSpPr>
          <p:spPr>
            <a:xfrm rot="10800000">
              <a:off x="689132" y="4294326"/>
              <a:ext cx="0" cy="5790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63" name="Google Shape;763;p52"/>
            <p:cNvCxnSpPr>
              <a:stCxn id="719" idx="0"/>
              <a:endCxn id="762" idx="2"/>
            </p:cNvCxnSpPr>
            <p:nvPr/>
          </p:nvCxnSpPr>
          <p:spPr>
            <a:xfrm rot="10800000">
              <a:off x="689102" y="4294565"/>
              <a:ext cx="5547600" cy="585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762" name="Google Shape;762;p52"/>
            <p:cNvSpPr/>
            <p:nvPr/>
          </p:nvSpPr>
          <p:spPr>
            <a:xfrm>
              <a:off x="369514" y="3800179"/>
              <a:ext cx="639236" cy="494276"/>
            </a:xfrm>
            <a:prstGeom prst="roundRect">
              <a:avLst>
                <a:gd name="adj" fmla="val 16667"/>
              </a:avLst>
            </a:prstGeom>
            <a:blipFill rotWithShape="1">
              <a:blip r:embed="rId1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</p:grpSp>
      <p:grpSp>
        <p:nvGrpSpPr>
          <p:cNvPr id="764" name="Google Shape;764;p52"/>
          <p:cNvGrpSpPr/>
          <p:nvPr/>
        </p:nvGrpSpPr>
        <p:grpSpPr>
          <a:xfrm>
            <a:off x="1106504" y="3804976"/>
            <a:ext cx="5130198" cy="1075189"/>
            <a:chOff x="1106504" y="3804976"/>
            <a:chExt cx="5130198" cy="1075189"/>
          </a:xfrm>
        </p:grpSpPr>
        <p:cxnSp>
          <p:nvCxnSpPr>
            <p:cNvPr id="765" name="Google Shape;765;p52"/>
            <p:cNvCxnSpPr>
              <a:stCxn id="698" idx="0"/>
              <a:endCxn id="766" idx="2"/>
            </p:cNvCxnSpPr>
            <p:nvPr/>
          </p:nvCxnSpPr>
          <p:spPr>
            <a:xfrm rot="10800000">
              <a:off x="1426181" y="4299266"/>
              <a:ext cx="2400" cy="575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67" name="Google Shape;767;p52"/>
            <p:cNvCxnSpPr>
              <a:stCxn id="719" idx="0"/>
              <a:endCxn id="766" idx="2"/>
            </p:cNvCxnSpPr>
            <p:nvPr/>
          </p:nvCxnSpPr>
          <p:spPr>
            <a:xfrm rot="10800000">
              <a:off x="1426202" y="4299365"/>
              <a:ext cx="4810500" cy="580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766" name="Google Shape;766;p52"/>
            <p:cNvSpPr/>
            <p:nvPr/>
          </p:nvSpPr>
          <p:spPr>
            <a:xfrm>
              <a:off x="1106504" y="3804976"/>
              <a:ext cx="639236" cy="494276"/>
            </a:xfrm>
            <a:prstGeom prst="roundRect">
              <a:avLst>
                <a:gd name="adj" fmla="val 16667"/>
              </a:avLst>
            </a:prstGeom>
            <a:blipFill rotWithShape="1">
              <a:blip r:embed="rId20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</p:grpSp>
      <p:grpSp>
        <p:nvGrpSpPr>
          <p:cNvPr id="768" name="Google Shape;768;p52"/>
          <p:cNvGrpSpPr/>
          <p:nvPr/>
        </p:nvGrpSpPr>
        <p:grpSpPr>
          <a:xfrm>
            <a:off x="3197428" y="3799807"/>
            <a:ext cx="3039274" cy="1080358"/>
            <a:chOff x="3181032" y="3812559"/>
            <a:chExt cx="3039274" cy="1080358"/>
          </a:xfrm>
        </p:grpSpPr>
        <p:cxnSp>
          <p:nvCxnSpPr>
            <p:cNvPr id="769" name="Google Shape;769;p52"/>
            <p:cNvCxnSpPr>
              <a:stCxn id="704" idx="0"/>
              <a:endCxn id="770" idx="2"/>
            </p:cNvCxnSpPr>
            <p:nvPr/>
          </p:nvCxnSpPr>
          <p:spPr>
            <a:xfrm rot="10800000" flipH="1">
              <a:off x="3482081" y="4306979"/>
              <a:ext cx="18600" cy="573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71" name="Google Shape;771;p52"/>
            <p:cNvCxnSpPr>
              <a:stCxn id="719" idx="0"/>
              <a:endCxn id="770" idx="2"/>
            </p:cNvCxnSpPr>
            <p:nvPr/>
          </p:nvCxnSpPr>
          <p:spPr>
            <a:xfrm rot="10800000">
              <a:off x="3500506" y="4306717"/>
              <a:ext cx="2719800" cy="5862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770" name="Google Shape;770;p52"/>
            <p:cNvSpPr/>
            <p:nvPr/>
          </p:nvSpPr>
          <p:spPr>
            <a:xfrm>
              <a:off x="3181032" y="3812559"/>
              <a:ext cx="639236" cy="494276"/>
            </a:xfrm>
            <a:prstGeom prst="roundRect">
              <a:avLst>
                <a:gd name="adj" fmla="val 16667"/>
              </a:avLst>
            </a:prstGeom>
            <a:blipFill rotWithShape="1">
              <a:blip r:embed="rId21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</p:grpSp>
      <p:grpSp>
        <p:nvGrpSpPr>
          <p:cNvPr id="772" name="Google Shape;772;p52"/>
          <p:cNvGrpSpPr/>
          <p:nvPr/>
        </p:nvGrpSpPr>
        <p:grpSpPr>
          <a:xfrm>
            <a:off x="3938585" y="3804694"/>
            <a:ext cx="2298117" cy="1075471"/>
            <a:chOff x="3948264" y="3803933"/>
            <a:chExt cx="2298117" cy="1075471"/>
          </a:xfrm>
        </p:grpSpPr>
        <p:cxnSp>
          <p:nvCxnSpPr>
            <p:cNvPr id="773" name="Google Shape;773;p52"/>
            <p:cNvCxnSpPr>
              <a:stCxn id="719" idx="0"/>
              <a:endCxn id="774" idx="2"/>
            </p:cNvCxnSpPr>
            <p:nvPr/>
          </p:nvCxnSpPr>
          <p:spPr>
            <a:xfrm rot="10800000">
              <a:off x="4267881" y="4298304"/>
              <a:ext cx="1978500" cy="581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75" name="Google Shape;775;p52"/>
            <p:cNvCxnSpPr>
              <a:stCxn id="706" idx="0"/>
              <a:endCxn id="774" idx="2"/>
            </p:cNvCxnSpPr>
            <p:nvPr/>
          </p:nvCxnSpPr>
          <p:spPr>
            <a:xfrm rot="10800000">
              <a:off x="4267951" y="4298266"/>
              <a:ext cx="3000" cy="569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774" name="Google Shape;774;p52"/>
            <p:cNvSpPr/>
            <p:nvPr/>
          </p:nvSpPr>
          <p:spPr>
            <a:xfrm>
              <a:off x="3948264" y="3803933"/>
              <a:ext cx="639236" cy="494276"/>
            </a:xfrm>
            <a:prstGeom prst="roundRect">
              <a:avLst>
                <a:gd name="adj" fmla="val 16667"/>
              </a:avLst>
            </a:prstGeom>
            <a:blipFill rotWithShape="1">
              <a:blip r:embed="rId2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</p:grpSp>
      <p:grpSp>
        <p:nvGrpSpPr>
          <p:cNvPr id="776" name="Google Shape;776;p52"/>
          <p:cNvGrpSpPr/>
          <p:nvPr/>
        </p:nvGrpSpPr>
        <p:grpSpPr>
          <a:xfrm>
            <a:off x="689132" y="2780390"/>
            <a:ext cx="4329560" cy="1024586"/>
            <a:chOff x="689132" y="2780390"/>
            <a:chExt cx="4329560" cy="1024586"/>
          </a:xfrm>
        </p:grpSpPr>
        <p:cxnSp>
          <p:nvCxnSpPr>
            <p:cNvPr id="777" name="Google Shape;777;p52"/>
            <p:cNvCxnSpPr>
              <a:stCxn id="762" idx="0"/>
              <a:endCxn id="778" idx="2"/>
            </p:cNvCxnSpPr>
            <p:nvPr/>
          </p:nvCxnSpPr>
          <p:spPr>
            <a:xfrm rot="10800000" flipH="1">
              <a:off x="689132" y="3247279"/>
              <a:ext cx="1778700" cy="55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79" name="Google Shape;779;p52"/>
            <p:cNvCxnSpPr>
              <a:stCxn id="766" idx="0"/>
              <a:endCxn id="778" idx="2"/>
            </p:cNvCxnSpPr>
            <p:nvPr/>
          </p:nvCxnSpPr>
          <p:spPr>
            <a:xfrm rot="10800000" flipH="1">
              <a:off x="1426122" y="3247276"/>
              <a:ext cx="1041600" cy="557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80" name="Google Shape;780;p52"/>
            <p:cNvCxnSpPr>
              <a:stCxn id="781" idx="0"/>
              <a:endCxn id="778" idx="2"/>
            </p:cNvCxnSpPr>
            <p:nvPr/>
          </p:nvCxnSpPr>
          <p:spPr>
            <a:xfrm rot="10800000" flipH="1">
              <a:off x="2135994" y="3247237"/>
              <a:ext cx="331800" cy="553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82" name="Google Shape;782;p52"/>
            <p:cNvCxnSpPr>
              <a:stCxn id="783" idx="0"/>
              <a:endCxn id="778" idx="2"/>
            </p:cNvCxnSpPr>
            <p:nvPr/>
          </p:nvCxnSpPr>
          <p:spPr>
            <a:xfrm rot="10800000">
              <a:off x="2467887" y="3247078"/>
              <a:ext cx="357900" cy="552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84" name="Google Shape;784;p52"/>
            <p:cNvCxnSpPr>
              <a:stCxn id="770" idx="0"/>
              <a:endCxn id="778" idx="2"/>
            </p:cNvCxnSpPr>
            <p:nvPr/>
          </p:nvCxnSpPr>
          <p:spPr>
            <a:xfrm rot="10800000">
              <a:off x="2467946" y="3247207"/>
              <a:ext cx="1049100" cy="552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85" name="Google Shape;785;p52"/>
            <p:cNvCxnSpPr>
              <a:stCxn id="774" idx="0"/>
              <a:endCxn id="778" idx="2"/>
            </p:cNvCxnSpPr>
            <p:nvPr/>
          </p:nvCxnSpPr>
          <p:spPr>
            <a:xfrm rot="10800000">
              <a:off x="2467803" y="3247294"/>
              <a:ext cx="1790400" cy="557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86" name="Google Shape;786;p52"/>
            <p:cNvCxnSpPr>
              <a:stCxn id="787" idx="0"/>
              <a:endCxn id="778" idx="2"/>
            </p:cNvCxnSpPr>
            <p:nvPr/>
          </p:nvCxnSpPr>
          <p:spPr>
            <a:xfrm rot="10800000">
              <a:off x="2467792" y="3247128"/>
              <a:ext cx="2550900" cy="551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778" name="Google Shape;778;p52"/>
            <p:cNvSpPr/>
            <p:nvPr/>
          </p:nvSpPr>
          <p:spPr>
            <a:xfrm>
              <a:off x="1958808" y="2780390"/>
              <a:ext cx="1018071" cy="46679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softmax</a:t>
              </a:r>
              <a:endParaRPr sz="1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788" name="Google Shape;788;p52"/>
          <p:cNvGrpSpPr/>
          <p:nvPr/>
        </p:nvGrpSpPr>
        <p:grpSpPr>
          <a:xfrm>
            <a:off x="2506169" y="3799978"/>
            <a:ext cx="3730533" cy="1080187"/>
            <a:chOff x="2511775" y="3812278"/>
            <a:chExt cx="3730533" cy="1080187"/>
          </a:xfrm>
        </p:grpSpPr>
        <p:cxnSp>
          <p:nvCxnSpPr>
            <p:cNvPr id="789" name="Google Shape;789;p52"/>
            <p:cNvCxnSpPr>
              <a:stCxn id="702" idx="0"/>
              <a:endCxn id="783" idx="2"/>
            </p:cNvCxnSpPr>
            <p:nvPr/>
          </p:nvCxnSpPr>
          <p:spPr>
            <a:xfrm rot="10800000" flipH="1">
              <a:off x="2802344" y="4306527"/>
              <a:ext cx="29100" cy="573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783" name="Google Shape;783;p52"/>
            <p:cNvSpPr/>
            <p:nvPr/>
          </p:nvSpPr>
          <p:spPr>
            <a:xfrm>
              <a:off x="2511775" y="3812278"/>
              <a:ext cx="639236" cy="494276"/>
            </a:xfrm>
            <a:prstGeom prst="roundRect">
              <a:avLst>
                <a:gd name="adj" fmla="val 16667"/>
              </a:avLst>
            </a:prstGeom>
            <a:blipFill rotWithShape="1">
              <a:blip r:embed="rId2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  <p:cxnSp>
          <p:nvCxnSpPr>
            <p:cNvPr id="790" name="Google Shape;790;p52"/>
            <p:cNvCxnSpPr>
              <a:stCxn id="719" idx="0"/>
              <a:endCxn id="783" idx="2"/>
            </p:cNvCxnSpPr>
            <p:nvPr/>
          </p:nvCxnSpPr>
          <p:spPr>
            <a:xfrm rot="10800000">
              <a:off x="2831308" y="4306565"/>
              <a:ext cx="3411000" cy="585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791" name="Google Shape;791;p52"/>
          <p:cNvGrpSpPr/>
          <p:nvPr/>
        </p:nvGrpSpPr>
        <p:grpSpPr>
          <a:xfrm>
            <a:off x="1816376" y="3800737"/>
            <a:ext cx="4420326" cy="1079428"/>
            <a:chOff x="1816163" y="3814841"/>
            <a:chExt cx="4420326" cy="1079428"/>
          </a:xfrm>
        </p:grpSpPr>
        <p:cxnSp>
          <p:nvCxnSpPr>
            <p:cNvPr id="792" name="Google Shape;792;p52"/>
            <p:cNvCxnSpPr>
              <a:stCxn id="700" idx="0"/>
              <a:endCxn id="781" idx="2"/>
            </p:cNvCxnSpPr>
            <p:nvPr/>
          </p:nvCxnSpPr>
          <p:spPr>
            <a:xfrm rot="10800000">
              <a:off x="2135855" y="4309137"/>
              <a:ext cx="7500" cy="575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781" name="Google Shape;781;p52"/>
            <p:cNvSpPr/>
            <p:nvPr/>
          </p:nvSpPr>
          <p:spPr>
            <a:xfrm>
              <a:off x="1816163" y="3814841"/>
              <a:ext cx="639236" cy="494276"/>
            </a:xfrm>
            <a:prstGeom prst="roundRect">
              <a:avLst>
                <a:gd name="adj" fmla="val 16667"/>
              </a:avLst>
            </a:prstGeom>
            <a:blipFill rotWithShape="1">
              <a:blip r:embed="rId2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  <p:cxnSp>
          <p:nvCxnSpPr>
            <p:cNvPr id="793" name="Google Shape;793;p52"/>
            <p:cNvCxnSpPr>
              <a:stCxn id="719" idx="0"/>
              <a:endCxn id="781" idx="2"/>
            </p:cNvCxnSpPr>
            <p:nvPr/>
          </p:nvCxnSpPr>
          <p:spPr>
            <a:xfrm rot="10800000">
              <a:off x="2135789" y="4308969"/>
              <a:ext cx="4100700" cy="5853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794" name="Google Shape;794;p52"/>
          <p:cNvGrpSpPr/>
          <p:nvPr/>
        </p:nvGrpSpPr>
        <p:grpSpPr>
          <a:xfrm>
            <a:off x="4699074" y="3798828"/>
            <a:ext cx="1537628" cy="1081337"/>
            <a:chOff x="4699074" y="3798828"/>
            <a:chExt cx="1537628" cy="1081337"/>
          </a:xfrm>
        </p:grpSpPr>
        <p:sp>
          <p:nvSpPr>
            <p:cNvPr id="787" name="Google Shape;787;p52"/>
            <p:cNvSpPr/>
            <p:nvPr/>
          </p:nvSpPr>
          <p:spPr>
            <a:xfrm>
              <a:off x="4699074" y="3798828"/>
              <a:ext cx="639236" cy="494276"/>
            </a:xfrm>
            <a:prstGeom prst="roundRect">
              <a:avLst>
                <a:gd name="adj" fmla="val 16667"/>
              </a:avLst>
            </a:prstGeom>
            <a:blipFill rotWithShape="1">
              <a:blip r:embed="rId2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/>
            </a:p>
          </p:txBody>
        </p:sp>
        <p:cxnSp>
          <p:nvCxnSpPr>
            <p:cNvPr id="795" name="Google Shape;795;p52"/>
            <p:cNvCxnSpPr>
              <a:stCxn id="733" idx="0"/>
              <a:endCxn id="787" idx="2"/>
            </p:cNvCxnSpPr>
            <p:nvPr/>
          </p:nvCxnSpPr>
          <p:spPr>
            <a:xfrm rot="10800000" flipH="1">
              <a:off x="5014856" y="4293027"/>
              <a:ext cx="3900" cy="575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96" name="Google Shape;796;p52"/>
            <p:cNvCxnSpPr>
              <a:stCxn id="719" idx="0"/>
              <a:endCxn id="787" idx="2"/>
            </p:cNvCxnSpPr>
            <p:nvPr/>
          </p:nvCxnSpPr>
          <p:spPr>
            <a:xfrm rot="10800000">
              <a:off x="5018702" y="4293065"/>
              <a:ext cx="1218000" cy="587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797" name="Google Shape;797;p52"/>
          <p:cNvGrpSpPr/>
          <p:nvPr/>
        </p:nvGrpSpPr>
        <p:grpSpPr>
          <a:xfrm>
            <a:off x="310606" y="1690688"/>
            <a:ext cx="5917373" cy="1897002"/>
            <a:chOff x="310606" y="1690688"/>
            <a:chExt cx="5917373" cy="1897002"/>
          </a:xfrm>
        </p:grpSpPr>
        <p:sp>
          <p:nvSpPr>
            <p:cNvPr id="798" name="Google Shape;798;p52"/>
            <p:cNvSpPr txBox="1"/>
            <p:nvPr/>
          </p:nvSpPr>
          <p:spPr>
            <a:xfrm>
              <a:off x="3945792" y="2784568"/>
              <a:ext cx="6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799" name="Google Shape;799;p52"/>
            <p:cNvCxnSpPr>
              <a:stCxn id="778" idx="3"/>
              <a:endCxn id="759" idx="2"/>
            </p:cNvCxnSpPr>
            <p:nvPr/>
          </p:nvCxnSpPr>
          <p:spPr>
            <a:xfrm>
              <a:off x="2976879" y="3013790"/>
              <a:ext cx="3251100" cy="573900"/>
            </a:xfrm>
            <a:prstGeom prst="curvedConnector4">
              <a:avLst>
                <a:gd name="adj1" fmla="val 81180"/>
                <a:gd name="adj2" fmla="val 204571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graphicFrame>
          <p:nvGraphicFramePr>
            <p:cNvPr id="800" name="Google Shape;800;p52"/>
            <p:cNvGraphicFramePr/>
            <p:nvPr/>
          </p:nvGraphicFramePr>
          <p:xfrm>
            <a:off x="310606" y="1690688"/>
            <a:ext cx="5100733" cy="101686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6"/>
            </a:graphicData>
          </a:graphic>
        </p:graphicFrame>
      </p:grpSp>
      <p:sp>
        <p:nvSpPr>
          <p:cNvPr id="801" name="Google Shape;801;p52"/>
          <p:cNvSpPr txBox="1"/>
          <p:nvPr/>
        </p:nvSpPr>
        <p:spPr>
          <a:xfrm>
            <a:off x="4321808" y="2817135"/>
            <a:ext cx="1202637" cy="291426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l="-3157" r="-1052" b="-3332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cxnSp>
        <p:nvCxnSpPr>
          <p:cNvPr id="802" name="Google Shape;802;p52"/>
          <p:cNvCxnSpPr>
            <a:stCxn id="759" idx="3"/>
            <a:endCxn id="711" idx="2"/>
          </p:cNvCxnSpPr>
          <p:nvPr/>
        </p:nvCxnSpPr>
        <p:spPr>
          <a:xfrm>
            <a:off x="6372347" y="3449132"/>
            <a:ext cx="603900" cy="1950000"/>
          </a:xfrm>
          <a:prstGeom prst="curvedConnector4">
            <a:avLst>
              <a:gd name="adj1" fmla="val 36536"/>
              <a:gd name="adj2" fmla="val 111722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03" name="Google Shape;803;p52"/>
          <p:cNvCxnSpPr>
            <a:stCxn id="722" idx="3"/>
            <a:endCxn id="712" idx="2"/>
          </p:cNvCxnSpPr>
          <p:nvPr/>
        </p:nvCxnSpPr>
        <p:spPr>
          <a:xfrm>
            <a:off x="7112323" y="3457811"/>
            <a:ext cx="578700" cy="1937100"/>
          </a:xfrm>
          <a:prstGeom prst="curvedConnector4">
            <a:avLst>
              <a:gd name="adj1" fmla="val 35968"/>
              <a:gd name="adj2" fmla="val 111799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04" name="Google Shape;804;p52"/>
          <p:cNvCxnSpPr>
            <a:stCxn id="724" idx="3"/>
            <a:endCxn id="714" idx="2"/>
          </p:cNvCxnSpPr>
          <p:nvPr/>
        </p:nvCxnSpPr>
        <p:spPr>
          <a:xfrm>
            <a:off x="7839097" y="3429000"/>
            <a:ext cx="505200" cy="1963200"/>
          </a:xfrm>
          <a:prstGeom prst="curvedConnector4">
            <a:avLst>
              <a:gd name="adj1" fmla="val 33917"/>
              <a:gd name="adj2" fmla="val 111648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05" name="Google Shape;805;p52"/>
          <p:cNvCxnSpPr>
            <a:stCxn id="726" idx="3"/>
            <a:endCxn id="716" idx="2"/>
          </p:cNvCxnSpPr>
          <p:nvPr/>
        </p:nvCxnSpPr>
        <p:spPr>
          <a:xfrm>
            <a:off x="8482688" y="3429000"/>
            <a:ext cx="563400" cy="1963200"/>
          </a:xfrm>
          <a:prstGeom prst="curvedConnector4">
            <a:avLst>
              <a:gd name="adj1" fmla="val 35573"/>
              <a:gd name="adj2" fmla="val 111648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06" name="Google Shape;806;p52"/>
          <p:cNvCxnSpPr>
            <a:stCxn id="728" idx="3"/>
            <a:endCxn id="718" idx="2"/>
          </p:cNvCxnSpPr>
          <p:nvPr/>
        </p:nvCxnSpPr>
        <p:spPr>
          <a:xfrm>
            <a:off x="9186810" y="3429000"/>
            <a:ext cx="579600" cy="1970100"/>
          </a:xfrm>
          <a:prstGeom prst="curvedConnector4">
            <a:avLst>
              <a:gd name="adj1" fmla="val 35970"/>
              <a:gd name="adj2" fmla="val 111604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07" name="Google Shape;807;p52"/>
          <p:cNvCxnSpPr>
            <a:stCxn id="730" idx="3"/>
            <a:endCxn id="735" idx="2"/>
          </p:cNvCxnSpPr>
          <p:nvPr/>
        </p:nvCxnSpPr>
        <p:spPr>
          <a:xfrm>
            <a:off x="9902977" y="3429000"/>
            <a:ext cx="602700" cy="1970100"/>
          </a:xfrm>
          <a:prstGeom prst="curvedConnector4">
            <a:avLst>
              <a:gd name="adj1" fmla="val 36523"/>
              <a:gd name="adj2" fmla="val 111604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08" name="Google Shape;808;p52"/>
          <p:cNvCxnSpPr>
            <a:stCxn id="738" idx="3"/>
            <a:endCxn id="736" idx="2"/>
          </p:cNvCxnSpPr>
          <p:nvPr/>
        </p:nvCxnSpPr>
        <p:spPr>
          <a:xfrm>
            <a:off x="10647521" y="3429000"/>
            <a:ext cx="560100" cy="1970100"/>
          </a:xfrm>
          <a:prstGeom prst="curvedConnector4">
            <a:avLst>
              <a:gd name="adj1" fmla="val 35479"/>
              <a:gd name="adj2" fmla="val 111604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810" name="Google Shape;810;p52"/>
          <p:cNvGrpSpPr/>
          <p:nvPr/>
        </p:nvGrpSpPr>
        <p:grpSpPr>
          <a:xfrm>
            <a:off x="6074182" y="1820587"/>
            <a:ext cx="5544090" cy="755199"/>
            <a:chOff x="6198767" y="1259878"/>
            <a:chExt cx="5544090" cy="755199"/>
          </a:xfrm>
        </p:grpSpPr>
        <p:sp>
          <p:nvSpPr>
            <p:cNvPr id="811" name="Google Shape;811;p52"/>
            <p:cNvSpPr txBox="1"/>
            <p:nvPr/>
          </p:nvSpPr>
          <p:spPr>
            <a:xfrm>
              <a:off x="6198767" y="1703196"/>
              <a:ext cx="352982" cy="307736"/>
            </a:xfrm>
            <a:prstGeom prst="rect">
              <a:avLst/>
            </a:prstGeom>
            <a:noFill/>
            <a:ln w="9525" cap="flat" cmpd="sng">
              <a:solidFill>
                <a:srgbClr val="31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le</a:t>
              </a:r>
              <a:endParaRPr/>
            </a:p>
          </p:txBody>
        </p:sp>
        <p:sp>
          <p:nvSpPr>
            <p:cNvPr id="812" name="Google Shape;812;p52"/>
            <p:cNvSpPr txBox="1"/>
            <p:nvPr/>
          </p:nvSpPr>
          <p:spPr>
            <a:xfrm>
              <a:off x="6825823" y="1705780"/>
              <a:ext cx="589713" cy="307736"/>
            </a:xfrm>
            <a:prstGeom prst="rect">
              <a:avLst/>
            </a:prstGeom>
            <a:noFill/>
            <a:ln w="9525" cap="flat" cmpd="sng">
              <a:solidFill>
                <a:srgbClr val="31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chat</a:t>
              </a:r>
              <a:endParaRPr/>
            </a:p>
          </p:txBody>
        </p:sp>
        <p:sp>
          <p:nvSpPr>
            <p:cNvPr id="813" name="Google Shape;813;p52"/>
            <p:cNvSpPr txBox="1"/>
            <p:nvPr/>
          </p:nvSpPr>
          <p:spPr>
            <a:xfrm>
              <a:off x="7559853" y="1703196"/>
              <a:ext cx="561372" cy="307736"/>
            </a:xfrm>
            <a:prstGeom prst="rect">
              <a:avLst/>
            </a:prstGeom>
            <a:noFill/>
            <a:ln w="9525" cap="flat" cmpd="sng">
              <a:solidFill>
                <a:srgbClr val="31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noir</a:t>
              </a:r>
              <a:endParaRPr/>
            </a:p>
          </p:txBody>
        </p:sp>
        <p:sp>
          <p:nvSpPr>
            <p:cNvPr id="814" name="Google Shape;814;p52"/>
            <p:cNvSpPr txBox="1"/>
            <p:nvPr/>
          </p:nvSpPr>
          <p:spPr>
            <a:xfrm>
              <a:off x="8333596" y="1707341"/>
              <a:ext cx="295274" cy="307736"/>
            </a:xfrm>
            <a:prstGeom prst="rect">
              <a:avLst/>
            </a:prstGeom>
            <a:noFill/>
            <a:ln w="9525" cap="flat" cmpd="sng">
              <a:solidFill>
                <a:srgbClr val="31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</a:t>
              </a:r>
              <a:endParaRPr/>
            </a:p>
          </p:txBody>
        </p:sp>
        <p:sp>
          <p:nvSpPr>
            <p:cNvPr id="815" name="Google Shape;815;p52"/>
            <p:cNvSpPr txBox="1"/>
            <p:nvPr/>
          </p:nvSpPr>
          <p:spPr>
            <a:xfrm>
              <a:off x="8973655" y="1703795"/>
              <a:ext cx="428322" cy="307736"/>
            </a:xfrm>
            <a:prstGeom prst="rect">
              <a:avLst/>
            </a:prstGeom>
            <a:noFill/>
            <a:ln w="9525" cap="flat" cmpd="sng">
              <a:solidFill>
                <a:srgbClr val="31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bu</a:t>
              </a:r>
              <a:endParaRPr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16" name="Google Shape;816;p52"/>
            <p:cNvSpPr txBox="1"/>
            <p:nvPr/>
          </p:nvSpPr>
          <p:spPr>
            <a:xfrm>
              <a:off x="9689909" y="1704649"/>
              <a:ext cx="428322" cy="307736"/>
            </a:xfrm>
            <a:prstGeom prst="rect">
              <a:avLst/>
            </a:prstGeom>
            <a:noFill/>
            <a:ln w="9525" cap="flat" cmpd="sng">
              <a:solidFill>
                <a:srgbClr val="31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du</a:t>
              </a:r>
              <a:endParaRPr/>
            </a:p>
          </p:txBody>
        </p:sp>
        <p:sp>
          <p:nvSpPr>
            <p:cNvPr id="817" name="Google Shape;817;p52"/>
            <p:cNvSpPr txBox="1"/>
            <p:nvPr/>
          </p:nvSpPr>
          <p:spPr>
            <a:xfrm>
              <a:off x="10402380" y="1703196"/>
              <a:ext cx="478016" cy="307736"/>
            </a:xfrm>
            <a:prstGeom prst="rect">
              <a:avLst/>
            </a:prstGeom>
            <a:noFill/>
            <a:ln w="9525" cap="flat" cmpd="sng">
              <a:solidFill>
                <a:srgbClr val="31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lait</a:t>
              </a:r>
              <a:endParaRPr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18" name="Google Shape;818;p52"/>
            <p:cNvSpPr txBox="1"/>
            <p:nvPr/>
          </p:nvSpPr>
          <p:spPr>
            <a:xfrm>
              <a:off x="10960655" y="1685020"/>
              <a:ext cx="782202" cy="307736"/>
            </a:xfrm>
            <a:prstGeom prst="rect">
              <a:avLst/>
            </a:prstGeom>
            <a:noFill/>
            <a:ln w="9525" cap="flat" cmpd="sng">
              <a:solidFill>
                <a:srgbClr val="31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&lt;EOS&gt;</a:t>
              </a:r>
              <a:endParaRPr dirty="0"/>
            </a:p>
          </p:txBody>
        </p:sp>
        <p:sp>
          <p:nvSpPr>
            <p:cNvPr id="819" name="Google Shape;819;p52"/>
            <p:cNvSpPr txBox="1"/>
            <p:nvPr/>
          </p:nvSpPr>
          <p:spPr>
            <a:xfrm>
              <a:off x="6950786" y="1259878"/>
              <a:ext cx="384206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We</a:t>
              </a:r>
              <a:r>
                <a:rPr lang="ko-KR" sz="18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sz="18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hope</a:t>
              </a:r>
              <a:r>
                <a:rPr lang="ko-KR" sz="18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sz="18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to</a:t>
              </a:r>
              <a:r>
                <a:rPr lang="ko-KR" sz="18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sz="18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produce</a:t>
              </a:r>
              <a:r>
                <a:rPr lang="ko-KR" sz="18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sz="18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this</a:t>
              </a:r>
              <a:r>
                <a:rPr lang="ko-KR" sz="18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sz="18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output</a:t>
              </a:r>
              <a:r>
                <a:rPr lang="ko-KR" sz="18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:</a:t>
              </a:r>
              <a:endParaRPr dirty="0"/>
            </a:p>
          </p:txBody>
        </p:sp>
      </p:grpSp>
      <p:sp>
        <p:nvSpPr>
          <p:cNvPr id="820" name="Google Shape;820;p52"/>
          <p:cNvSpPr txBox="1"/>
          <p:nvPr/>
        </p:nvSpPr>
        <p:spPr>
          <a:xfrm>
            <a:off x="650787" y="1228788"/>
            <a:ext cx="11021350" cy="400110"/>
          </a:xfrm>
          <a:prstGeom prst="rect">
            <a:avLst/>
          </a:prstGeom>
          <a:noFill/>
          <a:ln w="28575" cap="flat" cmpd="sng">
            <a:solidFill>
              <a:srgbClr val="017F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i="1">
                <a:solidFill>
                  <a:srgbClr val="017F45"/>
                </a:solidFill>
                <a:latin typeface="Malgun Gothic"/>
                <a:ea typeface="Malgun Gothic"/>
                <a:cs typeface="Malgun Gothic"/>
                <a:sym typeface="Malgun Gothic"/>
              </a:rPr>
              <a:t>On this decoder timestep, we’re mostly focusing on the second encoder hidden state (“the”)</a:t>
            </a:r>
            <a:endParaRPr sz="2000" i="1">
              <a:solidFill>
                <a:srgbClr val="017F4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" name="Google Shape;686;p51">
            <a:extLst>
              <a:ext uri="{FF2B5EF4-FFF2-40B4-BE49-F238E27FC236}">
                <a16:creationId xmlns:a16="http://schemas.microsoft.com/office/drawing/2014/main" id="{DA6741D6-B464-ED7E-A4B1-2F307D99CE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43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b="1" dirty="0" err="1"/>
              <a:t>Attention</a:t>
            </a:r>
            <a:endParaRPr dirty="0"/>
          </a:p>
        </p:txBody>
      </p:sp>
      <p:sp>
        <p:nvSpPr>
          <p:cNvPr id="7" name="Google Shape;585;p50">
            <a:extLst>
              <a:ext uri="{FF2B5EF4-FFF2-40B4-BE49-F238E27FC236}">
                <a16:creationId xmlns:a16="http://schemas.microsoft.com/office/drawing/2014/main" id="{DF3919CE-7789-D467-F5A8-657B2B8966A9}"/>
              </a:ext>
            </a:extLst>
          </p:cNvPr>
          <p:cNvSpPr txBox="1"/>
          <p:nvPr/>
        </p:nvSpPr>
        <p:spPr>
          <a:xfrm>
            <a:off x="838200" y="6412342"/>
            <a:ext cx="814054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Neural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Machine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Translation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by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Jointly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Learning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to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Align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and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Translate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(2014)</a:t>
            </a:r>
            <a:endParaRPr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5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b="1"/>
              <a:t>Attention</a:t>
            </a:r>
            <a:endParaRPr/>
          </a:p>
        </p:txBody>
      </p:sp>
      <p:sp>
        <p:nvSpPr>
          <p:cNvPr id="826" name="Google Shape;826;p5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63</a:t>
            </a:fld>
            <a:endParaRPr/>
          </a:p>
        </p:txBody>
      </p:sp>
      <p:cxnSp>
        <p:nvCxnSpPr>
          <p:cNvPr id="827" name="Google Shape;827;p53"/>
          <p:cNvCxnSpPr>
            <a:stCxn id="828" idx="0"/>
            <a:endCxn id="829" idx="2"/>
          </p:cNvCxnSpPr>
          <p:nvPr/>
        </p:nvCxnSpPr>
        <p:spPr>
          <a:xfrm rot="10800000">
            <a:off x="5018651" y="4304005"/>
            <a:ext cx="1957500" cy="577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30" name="Google Shape;830;p53"/>
          <p:cNvSpPr txBox="1"/>
          <p:nvPr/>
        </p:nvSpPr>
        <p:spPr>
          <a:xfrm>
            <a:off x="1184400" y="6010089"/>
            <a:ext cx="498855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the</a:t>
            </a:r>
            <a:endParaRPr/>
          </a:p>
        </p:txBody>
      </p:sp>
      <p:sp>
        <p:nvSpPr>
          <p:cNvPr id="831" name="Google Shape;831;p53"/>
          <p:cNvSpPr txBox="1"/>
          <p:nvPr/>
        </p:nvSpPr>
        <p:spPr>
          <a:xfrm>
            <a:off x="1812781" y="6008209"/>
            <a:ext cx="671979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black</a:t>
            </a:r>
            <a:endParaRPr/>
          </a:p>
        </p:txBody>
      </p:sp>
      <p:sp>
        <p:nvSpPr>
          <p:cNvPr id="832" name="Google Shape;832;p53"/>
          <p:cNvSpPr txBox="1"/>
          <p:nvPr/>
        </p:nvSpPr>
        <p:spPr>
          <a:xfrm>
            <a:off x="2570724" y="6009095"/>
            <a:ext cx="465961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cat</a:t>
            </a:r>
            <a:endParaRPr/>
          </a:p>
        </p:txBody>
      </p:sp>
      <p:sp>
        <p:nvSpPr>
          <p:cNvPr id="833" name="Google Shape;833;p53"/>
          <p:cNvSpPr txBox="1"/>
          <p:nvPr/>
        </p:nvSpPr>
        <p:spPr>
          <a:xfrm>
            <a:off x="3140822" y="6014302"/>
            <a:ext cx="718530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drank</a:t>
            </a:r>
            <a:endParaRPr/>
          </a:p>
        </p:txBody>
      </p:sp>
      <p:sp>
        <p:nvSpPr>
          <p:cNvPr id="834" name="Google Shape;834;p53"/>
          <p:cNvSpPr txBox="1"/>
          <p:nvPr/>
        </p:nvSpPr>
        <p:spPr>
          <a:xfrm>
            <a:off x="3966412" y="6018553"/>
            <a:ext cx="579005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milk</a:t>
            </a:r>
            <a:endParaRPr/>
          </a:p>
        </p:txBody>
      </p:sp>
      <p:cxnSp>
        <p:nvCxnSpPr>
          <p:cNvPr id="835" name="Google Shape;835;p53"/>
          <p:cNvCxnSpPr>
            <a:stCxn id="830" idx="0"/>
            <a:endCxn id="836" idx="2"/>
          </p:cNvCxnSpPr>
          <p:nvPr/>
        </p:nvCxnSpPr>
        <p:spPr>
          <a:xfrm flipH="1" flipV="1">
            <a:off x="1428581" y="5392271"/>
            <a:ext cx="5247" cy="61781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37" name="Google Shape;837;p53"/>
          <p:cNvCxnSpPr>
            <a:stCxn id="831" idx="0"/>
            <a:endCxn id="838" idx="2"/>
          </p:cNvCxnSpPr>
          <p:nvPr/>
        </p:nvCxnSpPr>
        <p:spPr>
          <a:xfrm flipH="1" flipV="1">
            <a:off x="2143568" y="5388038"/>
            <a:ext cx="5203" cy="62017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39" name="Google Shape;839;p53"/>
          <p:cNvCxnSpPr>
            <a:stCxn id="832" idx="0"/>
            <a:endCxn id="840" idx="2"/>
          </p:cNvCxnSpPr>
          <p:nvPr/>
        </p:nvCxnSpPr>
        <p:spPr>
          <a:xfrm flipH="1" flipV="1">
            <a:off x="2796738" y="5385432"/>
            <a:ext cx="6967" cy="62366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41" name="Google Shape;841;p53"/>
          <p:cNvCxnSpPr>
            <a:stCxn id="833" idx="0"/>
            <a:endCxn id="842" idx="2"/>
          </p:cNvCxnSpPr>
          <p:nvPr/>
        </p:nvCxnSpPr>
        <p:spPr>
          <a:xfrm flipH="1" flipV="1">
            <a:off x="3498477" y="5385432"/>
            <a:ext cx="1610" cy="62887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43" name="Google Shape;843;p53"/>
          <p:cNvCxnSpPr>
            <a:stCxn id="834" idx="0"/>
            <a:endCxn id="844" idx="2"/>
          </p:cNvCxnSpPr>
          <p:nvPr/>
        </p:nvCxnSpPr>
        <p:spPr>
          <a:xfrm flipV="1">
            <a:off x="4255915" y="5385432"/>
            <a:ext cx="5357" cy="63312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45" name="Google Shape;845;p53"/>
          <p:cNvSpPr txBox="1"/>
          <p:nvPr/>
        </p:nvSpPr>
        <p:spPr>
          <a:xfrm>
            <a:off x="304731" y="6021159"/>
            <a:ext cx="779381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&lt;SOS&gt;</a:t>
            </a:r>
            <a:endParaRPr dirty="0"/>
          </a:p>
        </p:txBody>
      </p:sp>
      <p:sp>
        <p:nvSpPr>
          <p:cNvPr id="846" name="Google Shape;846;p53"/>
          <p:cNvSpPr/>
          <p:nvPr/>
        </p:nvSpPr>
        <p:spPr>
          <a:xfrm>
            <a:off x="526612" y="4873326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847" name="Google Shape;847;p53"/>
          <p:cNvCxnSpPr>
            <a:stCxn id="845" idx="0"/>
            <a:endCxn id="846" idx="2"/>
          </p:cNvCxnSpPr>
          <p:nvPr/>
        </p:nvCxnSpPr>
        <p:spPr>
          <a:xfrm flipH="1" flipV="1">
            <a:off x="689132" y="5390631"/>
            <a:ext cx="5290" cy="63052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36" name="Google Shape;836;p53"/>
          <p:cNvSpPr/>
          <p:nvPr/>
        </p:nvSpPr>
        <p:spPr>
          <a:xfrm>
            <a:off x="1266061" y="4874966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8" name="Google Shape;838;p53"/>
          <p:cNvSpPr/>
          <p:nvPr/>
        </p:nvSpPr>
        <p:spPr>
          <a:xfrm>
            <a:off x="1981048" y="4870733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0" name="Google Shape;840;p53"/>
          <p:cNvSpPr/>
          <p:nvPr/>
        </p:nvSpPr>
        <p:spPr>
          <a:xfrm>
            <a:off x="2634218" y="4868127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2" name="Google Shape;842;p53"/>
          <p:cNvSpPr/>
          <p:nvPr/>
        </p:nvSpPr>
        <p:spPr>
          <a:xfrm>
            <a:off x="3335957" y="4868127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4" name="Google Shape;844;p53"/>
          <p:cNvSpPr/>
          <p:nvPr/>
        </p:nvSpPr>
        <p:spPr>
          <a:xfrm>
            <a:off x="4098752" y="4868127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848" name="Google Shape;848;p53"/>
          <p:cNvCxnSpPr>
            <a:stCxn id="828" idx="3"/>
            <a:endCxn id="849" idx="1"/>
          </p:cNvCxnSpPr>
          <p:nvPr/>
        </p:nvCxnSpPr>
        <p:spPr>
          <a:xfrm rot="10800000" flipH="1">
            <a:off x="7138671" y="5136258"/>
            <a:ext cx="390000" cy="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50" name="Google Shape;850;p53"/>
          <p:cNvCxnSpPr>
            <a:stCxn id="849" idx="3"/>
            <a:endCxn id="851" idx="1"/>
          </p:cNvCxnSpPr>
          <p:nvPr/>
        </p:nvCxnSpPr>
        <p:spPr>
          <a:xfrm rot="10800000" flipH="1">
            <a:off x="7853658" y="5133525"/>
            <a:ext cx="328200" cy="2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52" name="Google Shape;852;p53"/>
          <p:cNvCxnSpPr>
            <a:stCxn id="851" idx="3"/>
            <a:endCxn id="853" idx="1"/>
          </p:cNvCxnSpPr>
          <p:nvPr/>
        </p:nvCxnSpPr>
        <p:spPr>
          <a:xfrm>
            <a:off x="8506828" y="5133619"/>
            <a:ext cx="376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54" name="Google Shape;854;p53"/>
          <p:cNvCxnSpPr>
            <a:stCxn id="853" idx="3"/>
            <a:endCxn id="855" idx="1"/>
          </p:cNvCxnSpPr>
          <p:nvPr/>
        </p:nvCxnSpPr>
        <p:spPr>
          <a:xfrm>
            <a:off x="9208567" y="5133619"/>
            <a:ext cx="395100" cy="6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56" name="Google Shape;856;p53"/>
          <p:cNvSpPr/>
          <p:nvPr/>
        </p:nvSpPr>
        <p:spPr>
          <a:xfrm>
            <a:off x="6074182" y="4880165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857" name="Google Shape;857;p53"/>
          <p:cNvCxnSpPr>
            <a:stCxn id="856" idx="3"/>
            <a:endCxn id="828" idx="1"/>
          </p:cNvCxnSpPr>
          <p:nvPr/>
        </p:nvCxnSpPr>
        <p:spPr>
          <a:xfrm>
            <a:off x="6399222" y="5138818"/>
            <a:ext cx="414300" cy="1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28" name="Google Shape;828;p53"/>
          <p:cNvSpPr/>
          <p:nvPr/>
        </p:nvSpPr>
        <p:spPr>
          <a:xfrm>
            <a:off x="6813631" y="4881805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9" name="Google Shape;849;p53"/>
          <p:cNvSpPr/>
          <p:nvPr/>
        </p:nvSpPr>
        <p:spPr>
          <a:xfrm>
            <a:off x="7528618" y="4877572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1" name="Google Shape;851;p53"/>
          <p:cNvSpPr/>
          <p:nvPr/>
        </p:nvSpPr>
        <p:spPr>
          <a:xfrm>
            <a:off x="8181788" y="4874966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3" name="Google Shape;853;p53"/>
          <p:cNvSpPr/>
          <p:nvPr/>
        </p:nvSpPr>
        <p:spPr>
          <a:xfrm>
            <a:off x="8883527" y="4874966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5" name="Google Shape;855;p53"/>
          <p:cNvSpPr/>
          <p:nvPr/>
        </p:nvSpPr>
        <p:spPr>
          <a:xfrm>
            <a:off x="9603774" y="4881805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858" name="Google Shape;858;p53"/>
          <p:cNvCxnSpPr>
            <a:stCxn id="828" idx="0"/>
            <a:endCxn id="859" idx="2"/>
          </p:cNvCxnSpPr>
          <p:nvPr/>
        </p:nvCxnSpPr>
        <p:spPr>
          <a:xfrm rot="10800000">
            <a:off x="6968051" y="3596305"/>
            <a:ext cx="8100" cy="1285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60" name="Google Shape;860;p53"/>
          <p:cNvCxnSpPr>
            <a:stCxn id="849" idx="0"/>
            <a:endCxn id="861" idx="2"/>
          </p:cNvCxnSpPr>
          <p:nvPr/>
        </p:nvCxnSpPr>
        <p:spPr>
          <a:xfrm rot="10800000" flipH="1">
            <a:off x="7691138" y="3567472"/>
            <a:ext cx="3600" cy="1310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62" name="Google Shape;862;p53"/>
          <p:cNvCxnSpPr>
            <a:stCxn id="851" idx="0"/>
            <a:endCxn id="863" idx="2"/>
          </p:cNvCxnSpPr>
          <p:nvPr/>
        </p:nvCxnSpPr>
        <p:spPr>
          <a:xfrm rot="10800000">
            <a:off x="8338308" y="3567566"/>
            <a:ext cx="6000" cy="1307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64" name="Google Shape;864;p53"/>
          <p:cNvCxnSpPr>
            <a:stCxn id="853" idx="0"/>
            <a:endCxn id="865" idx="2"/>
          </p:cNvCxnSpPr>
          <p:nvPr/>
        </p:nvCxnSpPr>
        <p:spPr>
          <a:xfrm rot="10800000">
            <a:off x="9042447" y="3567566"/>
            <a:ext cx="3600" cy="1307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66" name="Google Shape;866;p53"/>
          <p:cNvCxnSpPr>
            <a:stCxn id="855" idx="0"/>
            <a:endCxn id="867" idx="2"/>
          </p:cNvCxnSpPr>
          <p:nvPr/>
        </p:nvCxnSpPr>
        <p:spPr>
          <a:xfrm rot="10800000">
            <a:off x="9758794" y="3567505"/>
            <a:ext cx="7500" cy="131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68" name="Google Shape;868;p53"/>
          <p:cNvSpPr txBox="1"/>
          <p:nvPr/>
        </p:nvSpPr>
        <p:spPr>
          <a:xfrm>
            <a:off x="4622516" y="6018553"/>
            <a:ext cx="782202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&lt;EOS&gt;</a:t>
            </a:r>
            <a:endParaRPr/>
          </a:p>
        </p:txBody>
      </p:sp>
      <p:cxnSp>
        <p:nvCxnSpPr>
          <p:cNvPr id="869" name="Google Shape;869;p53"/>
          <p:cNvCxnSpPr>
            <a:stCxn id="868" idx="0"/>
            <a:endCxn id="870" idx="2"/>
          </p:cNvCxnSpPr>
          <p:nvPr/>
        </p:nvCxnSpPr>
        <p:spPr>
          <a:xfrm flipV="1">
            <a:off x="5013617" y="5385432"/>
            <a:ext cx="1239" cy="63312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70" name="Google Shape;870;p53"/>
          <p:cNvSpPr/>
          <p:nvPr/>
        </p:nvSpPr>
        <p:spPr>
          <a:xfrm>
            <a:off x="4852336" y="4868127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871" name="Google Shape;871;p53"/>
          <p:cNvCxnSpPr>
            <a:stCxn id="872" idx="3"/>
            <a:endCxn id="873" idx="1"/>
          </p:cNvCxnSpPr>
          <p:nvPr/>
        </p:nvCxnSpPr>
        <p:spPr>
          <a:xfrm>
            <a:off x="10668263" y="5140458"/>
            <a:ext cx="376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72" name="Google Shape;872;p53"/>
          <p:cNvSpPr/>
          <p:nvPr/>
        </p:nvSpPr>
        <p:spPr>
          <a:xfrm>
            <a:off x="10343223" y="4881805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3" name="Google Shape;873;p53"/>
          <p:cNvSpPr/>
          <p:nvPr/>
        </p:nvSpPr>
        <p:spPr>
          <a:xfrm>
            <a:off x="11044962" y="4881805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874" name="Google Shape;874;p53"/>
          <p:cNvCxnSpPr>
            <a:stCxn id="872" idx="0"/>
            <a:endCxn id="875" idx="2"/>
          </p:cNvCxnSpPr>
          <p:nvPr/>
        </p:nvCxnSpPr>
        <p:spPr>
          <a:xfrm rot="10800000">
            <a:off x="10503343" y="3567505"/>
            <a:ext cx="2400" cy="131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76" name="Google Shape;876;p53"/>
          <p:cNvCxnSpPr>
            <a:stCxn id="873" idx="0"/>
            <a:endCxn id="877" idx="2"/>
          </p:cNvCxnSpPr>
          <p:nvPr/>
        </p:nvCxnSpPr>
        <p:spPr>
          <a:xfrm rot="10800000">
            <a:off x="11205082" y="3596305"/>
            <a:ext cx="2400" cy="1285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78" name="Google Shape;878;p53"/>
          <p:cNvCxnSpPr>
            <a:stCxn id="855" idx="3"/>
            <a:endCxn id="872" idx="1"/>
          </p:cNvCxnSpPr>
          <p:nvPr/>
        </p:nvCxnSpPr>
        <p:spPr>
          <a:xfrm>
            <a:off x="9928814" y="5140458"/>
            <a:ext cx="4143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79" name="Google Shape;879;p53"/>
          <p:cNvSpPr txBox="1"/>
          <p:nvPr/>
        </p:nvSpPr>
        <p:spPr>
          <a:xfrm>
            <a:off x="5847011" y="6008209"/>
            <a:ext cx="779381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&lt;SOS&gt;</a:t>
            </a:r>
            <a:endParaRPr/>
          </a:p>
        </p:txBody>
      </p:sp>
      <p:cxnSp>
        <p:nvCxnSpPr>
          <p:cNvPr id="880" name="Google Shape;880;p53"/>
          <p:cNvCxnSpPr>
            <a:stCxn id="879" idx="0"/>
            <a:endCxn id="856" idx="2"/>
          </p:cNvCxnSpPr>
          <p:nvPr/>
        </p:nvCxnSpPr>
        <p:spPr>
          <a:xfrm flipV="1">
            <a:off x="6236702" y="5397470"/>
            <a:ext cx="0" cy="61073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59" name="Google Shape;859;p53"/>
          <p:cNvSpPr txBox="1"/>
          <p:nvPr/>
        </p:nvSpPr>
        <p:spPr>
          <a:xfrm>
            <a:off x="6823846" y="3319311"/>
            <a:ext cx="288477" cy="2769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20831" r="-4164" b="-2608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863" name="Google Shape;863;p53"/>
          <p:cNvSpPr txBox="1"/>
          <p:nvPr/>
        </p:nvSpPr>
        <p:spPr>
          <a:xfrm>
            <a:off x="8194211" y="3290500"/>
            <a:ext cx="288477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6665" b="-3181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861" name="Google Shape;861;p53"/>
          <p:cNvSpPr txBox="1"/>
          <p:nvPr/>
        </p:nvSpPr>
        <p:spPr>
          <a:xfrm>
            <a:off x="7550620" y="3290500"/>
            <a:ext cx="288477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20831" r="-4164" b="-3181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867" name="Google Shape;867;p53"/>
          <p:cNvSpPr txBox="1"/>
          <p:nvPr/>
        </p:nvSpPr>
        <p:spPr>
          <a:xfrm>
            <a:off x="9614500" y="3290500"/>
            <a:ext cx="288477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16666" r="-4166" b="-3181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865" name="Google Shape;865;p53"/>
          <p:cNvSpPr txBox="1"/>
          <p:nvPr/>
        </p:nvSpPr>
        <p:spPr>
          <a:xfrm>
            <a:off x="8898333" y="3290500"/>
            <a:ext cx="288477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16666" r="-4166" b="-3181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875" name="Google Shape;875;p53"/>
          <p:cNvSpPr txBox="1"/>
          <p:nvPr/>
        </p:nvSpPr>
        <p:spPr>
          <a:xfrm>
            <a:off x="10359044" y="3290500"/>
            <a:ext cx="288477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16666" r="-4166" b="-3181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877" name="Google Shape;877;p53"/>
          <p:cNvSpPr txBox="1"/>
          <p:nvPr/>
        </p:nvSpPr>
        <p:spPr>
          <a:xfrm>
            <a:off x="11060783" y="3319311"/>
            <a:ext cx="288477" cy="276999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l="-16666" r="-4166" b="-2608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cxnSp>
        <p:nvCxnSpPr>
          <p:cNvPr id="882" name="Google Shape;882;p53"/>
          <p:cNvCxnSpPr>
            <a:stCxn id="836" idx="3"/>
            <a:endCxn id="838" idx="1"/>
          </p:cNvCxnSpPr>
          <p:nvPr/>
        </p:nvCxnSpPr>
        <p:spPr>
          <a:xfrm rot="10800000" flipH="1">
            <a:off x="1591101" y="5129419"/>
            <a:ext cx="390000" cy="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83" name="Google Shape;883;p53"/>
          <p:cNvCxnSpPr>
            <a:stCxn id="838" idx="3"/>
            <a:endCxn id="840" idx="1"/>
          </p:cNvCxnSpPr>
          <p:nvPr/>
        </p:nvCxnSpPr>
        <p:spPr>
          <a:xfrm rot="10800000" flipH="1">
            <a:off x="2306088" y="5126686"/>
            <a:ext cx="328200" cy="2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84" name="Google Shape;884;p53"/>
          <p:cNvCxnSpPr>
            <a:stCxn id="840" idx="3"/>
            <a:endCxn id="842" idx="1"/>
          </p:cNvCxnSpPr>
          <p:nvPr/>
        </p:nvCxnSpPr>
        <p:spPr>
          <a:xfrm>
            <a:off x="2959258" y="5126780"/>
            <a:ext cx="376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85" name="Google Shape;885;p53"/>
          <p:cNvCxnSpPr>
            <a:stCxn id="842" idx="3"/>
            <a:endCxn id="844" idx="1"/>
          </p:cNvCxnSpPr>
          <p:nvPr/>
        </p:nvCxnSpPr>
        <p:spPr>
          <a:xfrm>
            <a:off x="3660997" y="5126780"/>
            <a:ext cx="4377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86" name="Google Shape;886;p53"/>
          <p:cNvCxnSpPr>
            <a:stCxn id="846" idx="3"/>
            <a:endCxn id="836" idx="1"/>
          </p:cNvCxnSpPr>
          <p:nvPr/>
        </p:nvCxnSpPr>
        <p:spPr>
          <a:xfrm>
            <a:off x="851652" y="5131979"/>
            <a:ext cx="414300" cy="1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87" name="Google Shape;887;p53"/>
          <p:cNvCxnSpPr>
            <a:stCxn id="844" idx="3"/>
            <a:endCxn id="870" idx="1"/>
          </p:cNvCxnSpPr>
          <p:nvPr/>
        </p:nvCxnSpPr>
        <p:spPr>
          <a:xfrm>
            <a:off x="4423792" y="5126780"/>
            <a:ext cx="428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88" name="Google Shape;888;p53"/>
          <p:cNvSpPr txBox="1"/>
          <p:nvPr/>
        </p:nvSpPr>
        <p:spPr>
          <a:xfrm>
            <a:off x="6446885" y="4369794"/>
            <a:ext cx="340158" cy="553998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889" name="Google Shape;889;p53"/>
          <p:cNvSpPr txBox="1"/>
          <p:nvPr/>
        </p:nvSpPr>
        <p:spPr>
          <a:xfrm>
            <a:off x="707672" y="4587154"/>
            <a:ext cx="283154" cy="276999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l="-16666" r="-4166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890" name="Google Shape;890;p53"/>
          <p:cNvSpPr txBox="1"/>
          <p:nvPr/>
        </p:nvSpPr>
        <p:spPr>
          <a:xfrm>
            <a:off x="1469158" y="4587154"/>
            <a:ext cx="288477" cy="276999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l="-20831" r="-4164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891" name="Google Shape;891;p53"/>
          <p:cNvSpPr txBox="1"/>
          <p:nvPr/>
        </p:nvSpPr>
        <p:spPr>
          <a:xfrm>
            <a:off x="2184144" y="4587154"/>
            <a:ext cx="288477" cy="276999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l="-16666" r="-4166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892" name="Google Shape;892;p53"/>
          <p:cNvSpPr txBox="1"/>
          <p:nvPr/>
        </p:nvSpPr>
        <p:spPr>
          <a:xfrm>
            <a:off x="2851200" y="4587154"/>
            <a:ext cx="288477" cy="276999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l="-20831" r="-4164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893" name="Google Shape;893;p53"/>
          <p:cNvSpPr txBox="1"/>
          <p:nvPr/>
        </p:nvSpPr>
        <p:spPr>
          <a:xfrm>
            <a:off x="3577768" y="4587154"/>
            <a:ext cx="288477" cy="276999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l="-20831" r="-4164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894" name="Google Shape;894;p53"/>
          <p:cNvSpPr txBox="1"/>
          <p:nvPr/>
        </p:nvSpPr>
        <p:spPr>
          <a:xfrm>
            <a:off x="4327414" y="4587154"/>
            <a:ext cx="288477" cy="276999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l="-16666" r="-4166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895" name="Google Shape;895;p53"/>
          <p:cNvSpPr txBox="1"/>
          <p:nvPr/>
        </p:nvSpPr>
        <p:spPr>
          <a:xfrm>
            <a:off x="5077248" y="4587154"/>
            <a:ext cx="288477" cy="276999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l="-16666" r="-4166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cxnSp>
        <p:nvCxnSpPr>
          <p:cNvPr id="896" name="Google Shape;896;p53"/>
          <p:cNvCxnSpPr>
            <a:stCxn id="828" idx="0"/>
            <a:endCxn id="897" idx="2"/>
          </p:cNvCxnSpPr>
          <p:nvPr/>
        </p:nvCxnSpPr>
        <p:spPr>
          <a:xfrm rot="10800000">
            <a:off x="4267751" y="4309105"/>
            <a:ext cx="2708400" cy="572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98" name="Google Shape;898;p53"/>
          <p:cNvCxnSpPr>
            <a:stCxn id="846" idx="0"/>
            <a:endCxn id="899" idx="2"/>
          </p:cNvCxnSpPr>
          <p:nvPr/>
        </p:nvCxnSpPr>
        <p:spPr>
          <a:xfrm rot="10800000">
            <a:off x="689132" y="4303026"/>
            <a:ext cx="0" cy="570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00" name="Google Shape;900;p53"/>
          <p:cNvCxnSpPr>
            <a:stCxn id="856" idx="0"/>
            <a:endCxn id="901" idx="2"/>
          </p:cNvCxnSpPr>
          <p:nvPr/>
        </p:nvCxnSpPr>
        <p:spPr>
          <a:xfrm rot="10800000">
            <a:off x="6228002" y="3587765"/>
            <a:ext cx="8700" cy="1292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02" name="Google Shape;902;p53"/>
          <p:cNvCxnSpPr>
            <a:stCxn id="838" idx="0"/>
            <a:endCxn id="903" idx="2"/>
          </p:cNvCxnSpPr>
          <p:nvPr/>
        </p:nvCxnSpPr>
        <p:spPr>
          <a:xfrm rot="10800000">
            <a:off x="2135768" y="4309133"/>
            <a:ext cx="7800" cy="561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04" name="Google Shape;904;p53"/>
          <p:cNvCxnSpPr>
            <a:stCxn id="836" idx="0"/>
            <a:endCxn id="905" idx="2"/>
          </p:cNvCxnSpPr>
          <p:nvPr/>
        </p:nvCxnSpPr>
        <p:spPr>
          <a:xfrm rot="10800000">
            <a:off x="1426181" y="4299266"/>
            <a:ext cx="2400" cy="575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06" name="Google Shape;906;p53"/>
          <p:cNvCxnSpPr>
            <a:stCxn id="842" idx="0"/>
            <a:endCxn id="907" idx="2"/>
          </p:cNvCxnSpPr>
          <p:nvPr/>
        </p:nvCxnSpPr>
        <p:spPr>
          <a:xfrm rot="10800000" flipH="1">
            <a:off x="3498477" y="4309227"/>
            <a:ext cx="2100" cy="558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08" name="Google Shape;908;p53"/>
          <p:cNvCxnSpPr>
            <a:stCxn id="844" idx="0"/>
            <a:endCxn id="897" idx="2"/>
          </p:cNvCxnSpPr>
          <p:nvPr/>
        </p:nvCxnSpPr>
        <p:spPr>
          <a:xfrm rot="10800000" flipH="1">
            <a:off x="4261272" y="4309227"/>
            <a:ext cx="6600" cy="558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09" name="Google Shape;909;p53"/>
          <p:cNvCxnSpPr>
            <a:stCxn id="840" idx="0"/>
            <a:endCxn id="910" idx="2"/>
          </p:cNvCxnSpPr>
          <p:nvPr/>
        </p:nvCxnSpPr>
        <p:spPr>
          <a:xfrm rot="10800000" flipH="1">
            <a:off x="2796738" y="4306527"/>
            <a:ext cx="34800" cy="561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11" name="Google Shape;911;p53"/>
          <p:cNvCxnSpPr>
            <a:stCxn id="828" idx="0"/>
            <a:endCxn id="899" idx="2"/>
          </p:cNvCxnSpPr>
          <p:nvPr/>
        </p:nvCxnSpPr>
        <p:spPr>
          <a:xfrm rot="10800000">
            <a:off x="689051" y="4303105"/>
            <a:ext cx="6287100" cy="578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12" name="Google Shape;912;p53"/>
          <p:cNvCxnSpPr>
            <a:stCxn id="828" idx="0"/>
            <a:endCxn id="905" idx="2"/>
          </p:cNvCxnSpPr>
          <p:nvPr/>
        </p:nvCxnSpPr>
        <p:spPr>
          <a:xfrm rot="10800000">
            <a:off x="1426151" y="4299205"/>
            <a:ext cx="5550000" cy="58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13" name="Google Shape;913;p53"/>
          <p:cNvCxnSpPr>
            <a:stCxn id="828" idx="0"/>
            <a:endCxn id="907" idx="2"/>
          </p:cNvCxnSpPr>
          <p:nvPr/>
        </p:nvCxnSpPr>
        <p:spPr>
          <a:xfrm rot="10800000">
            <a:off x="3500651" y="4309105"/>
            <a:ext cx="3475500" cy="572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01" name="Google Shape;901;p53"/>
          <p:cNvSpPr txBox="1"/>
          <p:nvPr/>
        </p:nvSpPr>
        <p:spPr>
          <a:xfrm>
            <a:off x="6083870" y="3310633"/>
            <a:ext cx="288477" cy="276999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l="-21738" r="-4347" b="-3043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cxnSp>
        <p:nvCxnSpPr>
          <p:cNvPr id="914" name="Google Shape;914;p53"/>
          <p:cNvCxnSpPr>
            <a:stCxn id="899" idx="0"/>
            <a:endCxn id="915" idx="2"/>
          </p:cNvCxnSpPr>
          <p:nvPr/>
        </p:nvCxnSpPr>
        <p:spPr>
          <a:xfrm rot="10800000" flipH="1">
            <a:off x="689132" y="3247205"/>
            <a:ext cx="1778700" cy="561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16" name="Google Shape;916;p53"/>
          <p:cNvCxnSpPr>
            <a:stCxn id="905" idx="0"/>
            <a:endCxn id="915" idx="2"/>
          </p:cNvCxnSpPr>
          <p:nvPr/>
        </p:nvCxnSpPr>
        <p:spPr>
          <a:xfrm rot="10800000" flipH="1">
            <a:off x="1426122" y="3247276"/>
            <a:ext cx="1041600" cy="557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17" name="Google Shape;917;p53"/>
          <p:cNvCxnSpPr>
            <a:stCxn id="903" idx="0"/>
            <a:endCxn id="915" idx="2"/>
          </p:cNvCxnSpPr>
          <p:nvPr/>
        </p:nvCxnSpPr>
        <p:spPr>
          <a:xfrm rot="10800000" flipH="1">
            <a:off x="2135781" y="3247241"/>
            <a:ext cx="332100" cy="567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18" name="Google Shape;918;p53"/>
          <p:cNvCxnSpPr>
            <a:stCxn id="910" idx="0"/>
            <a:endCxn id="915" idx="2"/>
          </p:cNvCxnSpPr>
          <p:nvPr/>
        </p:nvCxnSpPr>
        <p:spPr>
          <a:xfrm rot="10800000">
            <a:off x="2467793" y="3247078"/>
            <a:ext cx="363600" cy="565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19" name="Google Shape;919;p53"/>
          <p:cNvCxnSpPr>
            <a:stCxn id="907" idx="0"/>
            <a:endCxn id="915" idx="2"/>
          </p:cNvCxnSpPr>
          <p:nvPr/>
        </p:nvCxnSpPr>
        <p:spPr>
          <a:xfrm rot="10800000">
            <a:off x="2467750" y="3247043"/>
            <a:ext cx="1032900" cy="567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20" name="Google Shape;920;p53"/>
          <p:cNvCxnSpPr>
            <a:stCxn id="897" idx="0"/>
            <a:endCxn id="915" idx="2"/>
          </p:cNvCxnSpPr>
          <p:nvPr/>
        </p:nvCxnSpPr>
        <p:spPr>
          <a:xfrm rot="10800000">
            <a:off x="2467882" y="3247043"/>
            <a:ext cx="1800000" cy="567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21" name="Google Shape;921;p53"/>
          <p:cNvCxnSpPr>
            <a:stCxn id="829" idx="0"/>
            <a:endCxn id="915" idx="2"/>
          </p:cNvCxnSpPr>
          <p:nvPr/>
        </p:nvCxnSpPr>
        <p:spPr>
          <a:xfrm rot="10800000">
            <a:off x="2467792" y="3247338"/>
            <a:ext cx="2550900" cy="562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99" name="Google Shape;899;p53"/>
          <p:cNvSpPr/>
          <p:nvPr/>
        </p:nvSpPr>
        <p:spPr>
          <a:xfrm>
            <a:off x="369514" y="3808805"/>
            <a:ext cx="639236" cy="494276"/>
          </a:xfrm>
          <a:prstGeom prst="roundRect">
            <a:avLst>
              <a:gd name="adj" fmla="val 16667"/>
            </a:avLst>
          </a:prstGeom>
          <a:blipFill rotWithShape="1">
            <a:blip r:embed="rId1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915" name="Google Shape;915;p53"/>
          <p:cNvSpPr/>
          <p:nvPr/>
        </p:nvSpPr>
        <p:spPr>
          <a:xfrm>
            <a:off x="1958808" y="2780390"/>
            <a:ext cx="1018071" cy="46679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softmax</a:t>
            </a:r>
            <a:endParaRPr sz="16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5" name="Google Shape;905;p53"/>
          <p:cNvSpPr/>
          <p:nvPr/>
        </p:nvSpPr>
        <p:spPr>
          <a:xfrm>
            <a:off x="1106504" y="3804976"/>
            <a:ext cx="639236" cy="494276"/>
          </a:xfrm>
          <a:prstGeom prst="roundRect">
            <a:avLst>
              <a:gd name="adj" fmla="val 16667"/>
            </a:avLst>
          </a:prstGeom>
          <a:blipFill rotWithShape="1">
            <a:blip r:embed="rId2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903" name="Google Shape;903;p53"/>
          <p:cNvSpPr/>
          <p:nvPr/>
        </p:nvSpPr>
        <p:spPr>
          <a:xfrm>
            <a:off x="1816163" y="3814841"/>
            <a:ext cx="639236" cy="494276"/>
          </a:xfrm>
          <a:prstGeom prst="roundRect">
            <a:avLst>
              <a:gd name="adj" fmla="val 16667"/>
            </a:avLst>
          </a:prstGeom>
          <a:blipFill rotWithShape="1">
            <a:blip r:embed="rId21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910" name="Google Shape;910;p53"/>
          <p:cNvSpPr/>
          <p:nvPr/>
        </p:nvSpPr>
        <p:spPr>
          <a:xfrm>
            <a:off x="2511775" y="3812278"/>
            <a:ext cx="639236" cy="494276"/>
          </a:xfrm>
          <a:prstGeom prst="roundRect">
            <a:avLst>
              <a:gd name="adj" fmla="val 16667"/>
            </a:avLst>
          </a:prstGeom>
          <a:blipFill rotWithShape="1">
            <a:blip r:embed="rId2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907" name="Google Shape;907;p53"/>
          <p:cNvSpPr/>
          <p:nvPr/>
        </p:nvSpPr>
        <p:spPr>
          <a:xfrm>
            <a:off x="3181032" y="3814943"/>
            <a:ext cx="639236" cy="494276"/>
          </a:xfrm>
          <a:prstGeom prst="roundRect">
            <a:avLst>
              <a:gd name="adj" fmla="val 16667"/>
            </a:avLst>
          </a:prstGeom>
          <a:blipFill rotWithShape="1">
            <a:blip r:embed="rId2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897" name="Google Shape;897;p53"/>
          <p:cNvSpPr/>
          <p:nvPr/>
        </p:nvSpPr>
        <p:spPr>
          <a:xfrm>
            <a:off x="3948264" y="3814943"/>
            <a:ext cx="639236" cy="494276"/>
          </a:xfrm>
          <a:prstGeom prst="roundRect">
            <a:avLst>
              <a:gd name="adj" fmla="val 16667"/>
            </a:avLst>
          </a:prstGeom>
          <a:blipFill rotWithShape="1">
            <a:blip r:embed="rId2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829" name="Google Shape;829;p53"/>
          <p:cNvSpPr/>
          <p:nvPr/>
        </p:nvSpPr>
        <p:spPr>
          <a:xfrm>
            <a:off x="4699074" y="3809838"/>
            <a:ext cx="639236" cy="494276"/>
          </a:xfrm>
          <a:prstGeom prst="roundRect">
            <a:avLst>
              <a:gd name="adj" fmla="val 16667"/>
            </a:avLst>
          </a:prstGeom>
          <a:blipFill rotWithShape="1">
            <a:blip r:embed="rId2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cxnSp>
        <p:nvCxnSpPr>
          <p:cNvPr id="922" name="Google Shape;922;p53"/>
          <p:cNvCxnSpPr>
            <a:stCxn id="870" idx="0"/>
            <a:endCxn id="829" idx="2"/>
          </p:cNvCxnSpPr>
          <p:nvPr/>
        </p:nvCxnSpPr>
        <p:spPr>
          <a:xfrm rot="10800000" flipH="1">
            <a:off x="5014856" y="4304127"/>
            <a:ext cx="3900" cy="564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23" name="Google Shape;923;p53"/>
          <p:cNvCxnSpPr>
            <a:stCxn id="915" idx="3"/>
            <a:endCxn id="859" idx="2"/>
          </p:cNvCxnSpPr>
          <p:nvPr/>
        </p:nvCxnSpPr>
        <p:spPr>
          <a:xfrm>
            <a:off x="2976879" y="3013790"/>
            <a:ext cx="3991200" cy="582600"/>
          </a:xfrm>
          <a:prstGeom prst="curvedConnector4">
            <a:avLst>
              <a:gd name="adj1" fmla="val 70387"/>
              <a:gd name="adj2" fmla="val 188271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24" name="Google Shape;924;p53"/>
          <p:cNvCxnSpPr>
            <a:stCxn id="828" idx="0"/>
            <a:endCxn id="903" idx="2"/>
          </p:cNvCxnSpPr>
          <p:nvPr/>
        </p:nvCxnSpPr>
        <p:spPr>
          <a:xfrm rot="10800000">
            <a:off x="2135651" y="4309105"/>
            <a:ext cx="4840500" cy="572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25" name="Google Shape;925;p53"/>
          <p:cNvCxnSpPr>
            <a:stCxn id="828" idx="0"/>
            <a:endCxn id="910" idx="2"/>
          </p:cNvCxnSpPr>
          <p:nvPr/>
        </p:nvCxnSpPr>
        <p:spPr>
          <a:xfrm rot="10800000">
            <a:off x="2831351" y="4306405"/>
            <a:ext cx="4144800" cy="575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926" name="Google Shape;926;p53"/>
          <p:cNvGraphicFramePr/>
          <p:nvPr/>
        </p:nvGraphicFramePr>
        <p:xfrm>
          <a:off x="299851" y="1529304"/>
          <a:ext cx="5095600" cy="12150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sp>
        <p:nvSpPr>
          <p:cNvPr id="927" name="Google Shape;927;p53"/>
          <p:cNvSpPr txBox="1"/>
          <p:nvPr/>
        </p:nvSpPr>
        <p:spPr>
          <a:xfrm>
            <a:off x="4570928" y="2797822"/>
            <a:ext cx="1212896" cy="292003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l="-3123" r="-1040" b="-3332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cxnSp>
        <p:nvCxnSpPr>
          <p:cNvPr id="928" name="Google Shape;928;p53"/>
          <p:cNvCxnSpPr>
            <a:stCxn id="901" idx="3"/>
            <a:endCxn id="828" idx="2"/>
          </p:cNvCxnSpPr>
          <p:nvPr/>
        </p:nvCxnSpPr>
        <p:spPr>
          <a:xfrm>
            <a:off x="6372347" y="3449132"/>
            <a:ext cx="603900" cy="1950000"/>
          </a:xfrm>
          <a:prstGeom prst="curvedConnector4">
            <a:avLst>
              <a:gd name="adj1" fmla="val 36536"/>
              <a:gd name="adj2" fmla="val 111722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29" name="Google Shape;929;p53"/>
          <p:cNvCxnSpPr>
            <a:stCxn id="859" idx="3"/>
            <a:endCxn id="849" idx="2"/>
          </p:cNvCxnSpPr>
          <p:nvPr/>
        </p:nvCxnSpPr>
        <p:spPr>
          <a:xfrm>
            <a:off x="7112323" y="3457811"/>
            <a:ext cx="578700" cy="1937100"/>
          </a:xfrm>
          <a:prstGeom prst="curvedConnector4">
            <a:avLst>
              <a:gd name="adj1" fmla="val 35968"/>
              <a:gd name="adj2" fmla="val 111799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30" name="Google Shape;930;p53"/>
          <p:cNvCxnSpPr>
            <a:stCxn id="861" idx="3"/>
            <a:endCxn id="851" idx="2"/>
          </p:cNvCxnSpPr>
          <p:nvPr/>
        </p:nvCxnSpPr>
        <p:spPr>
          <a:xfrm>
            <a:off x="7839097" y="3429000"/>
            <a:ext cx="505200" cy="1963200"/>
          </a:xfrm>
          <a:prstGeom prst="curvedConnector4">
            <a:avLst>
              <a:gd name="adj1" fmla="val 33917"/>
              <a:gd name="adj2" fmla="val 111648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31" name="Google Shape;931;p53"/>
          <p:cNvCxnSpPr>
            <a:stCxn id="863" idx="3"/>
            <a:endCxn id="853" idx="2"/>
          </p:cNvCxnSpPr>
          <p:nvPr/>
        </p:nvCxnSpPr>
        <p:spPr>
          <a:xfrm>
            <a:off x="8482688" y="3429000"/>
            <a:ext cx="563400" cy="1963200"/>
          </a:xfrm>
          <a:prstGeom prst="curvedConnector4">
            <a:avLst>
              <a:gd name="adj1" fmla="val 35573"/>
              <a:gd name="adj2" fmla="val 111648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32" name="Google Shape;932;p53"/>
          <p:cNvCxnSpPr>
            <a:stCxn id="865" idx="3"/>
            <a:endCxn id="855" idx="2"/>
          </p:cNvCxnSpPr>
          <p:nvPr/>
        </p:nvCxnSpPr>
        <p:spPr>
          <a:xfrm>
            <a:off x="9186810" y="3429000"/>
            <a:ext cx="579600" cy="1970100"/>
          </a:xfrm>
          <a:prstGeom prst="curvedConnector4">
            <a:avLst>
              <a:gd name="adj1" fmla="val 35970"/>
              <a:gd name="adj2" fmla="val 111604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33" name="Google Shape;933;p53"/>
          <p:cNvCxnSpPr>
            <a:stCxn id="867" idx="3"/>
            <a:endCxn id="872" idx="2"/>
          </p:cNvCxnSpPr>
          <p:nvPr/>
        </p:nvCxnSpPr>
        <p:spPr>
          <a:xfrm>
            <a:off x="9902977" y="3429000"/>
            <a:ext cx="602700" cy="1970100"/>
          </a:xfrm>
          <a:prstGeom prst="curvedConnector4">
            <a:avLst>
              <a:gd name="adj1" fmla="val 36523"/>
              <a:gd name="adj2" fmla="val 111604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34" name="Google Shape;934;p53"/>
          <p:cNvCxnSpPr>
            <a:stCxn id="875" idx="3"/>
            <a:endCxn id="873" idx="2"/>
          </p:cNvCxnSpPr>
          <p:nvPr/>
        </p:nvCxnSpPr>
        <p:spPr>
          <a:xfrm>
            <a:off x="10647521" y="3429000"/>
            <a:ext cx="560100" cy="1970100"/>
          </a:xfrm>
          <a:prstGeom prst="curvedConnector4">
            <a:avLst>
              <a:gd name="adj1" fmla="val 35479"/>
              <a:gd name="adj2" fmla="val 111604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935" name="Google Shape;935;p53"/>
          <p:cNvGrpSpPr/>
          <p:nvPr/>
        </p:nvGrpSpPr>
        <p:grpSpPr>
          <a:xfrm>
            <a:off x="6074182" y="1820587"/>
            <a:ext cx="5544090" cy="755199"/>
            <a:chOff x="6198767" y="1259878"/>
            <a:chExt cx="5544090" cy="755199"/>
          </a:xfrm>
        </p:grpSpPr>
        <p:sp>
          <p:nvSpPr>
            <p:cNvPr id="936" name="Google Shape;936;p53"/>
            <p:cNvSpPr txBox="1"/>
            <p:nvPr/>
          </p:nvSpPr>
          <p:spPr>
            <a:xfrm>
              <a:off x="6198767" y="1703196"/>
              <a:ext cx="352982" cy="307736"/>
            </a:xfrm>
            <a:prstGeom prst="rect">
              <a:avLst/>
            </a:prstGeom>
            <a:noFill/>
            <a:ln w="9525" cap="flat" cmpd="sng">
              <a:solidFill>
                <a:srgbClr val="31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le</a:t>
              </a:r>
              <a:endParaRPr dirty="0"/>
            </a:p>
          </p:txBody>
        </p:sp>
        <p:sp>
          <p:nvSpPr>
            <p:cNvPr id="937" name="Google Shape;937;p53"/>
            <p:cNvSpPr txBox="1"/>
            <p:nvPr/>
          </p:nvSpPr>
          <p:spPr>
            <a:xfrm>
              <a:off x="6825823" y="1705780"/>
              <a:ext cx="589713" cy="307736"/>
            </a:xfrm>
            <a:prstGeom prst="rect">
              <a:avLst/>
            </a:prstGeom>
            <a:noFill/>
            <a:ln w="9525" cap="flat" cmpd="sng">
              <a:solidFill>
                <a:srgbClr val="31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chat</a:t>
              </a:r>
              <a:endParaRPr/>
            </a:p>
          </p:txBody>
        </p:sp>
        <p:sp>
          <p:nvSpPr>
            <p:cNvPr id="938" name="Google Shape;938;p53"/>
            <p:cNvSpPr txBox="1"/>
            <p:nvPr/>
          </p:nvSpPr>
          <p:spPr>
            <a:xfrm>
              <a:off x="7559853" y="1703196"/>
              <a:ext cx="561372" cy="307736"/>
            </a:xfrm>
            <a:prstGeom prst="rect">
              <a:avLst/>
            </a:prstGeom>
            <a:noFill/>
            <a:ln w="9525" cap="flat" cmpd="sng">
              <a:solidFill>
                <a:srgbClr val="31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noir</a:t>
              </a:r>
              <a:endParaRPr/>
            </a:p>
          </p:txBody>
        </p:sp>
        <p:sp>
          <p:nvSpPr>
            <p:cNvPr id="939" name="Google Shape;939;p53"/>
            <p:cNvSpPr txBox="1"/>
            <p:nvPr/>
          </p:nvSpPr>
          <p:spPr>
            <a:xfrm>
              <a:off x="8333596" y="1707341"/>
              <a:ext cx="295274" cy="307736"/>
            </a:xfrm>
            <a:prstGeom prst="rect">
              <a:avLst/>
            </a:prstGeom>
            <a:noFill/>
            <a:ln w="9525" cap="flat" cmpd="sng">
              <a:solidFill>
                <a:srgbClr val="31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</a:t>
              </a:r>
              <a:endParaRPr/>
            </a:p>
          </p:txBody>
        </p:sp>
        <p:sp>
          <p:nvSpPr>
            <p:cNvPr id="940" name="Google Shape;940;p53"/>
            <p:cNvSpPr txBox="1"/>
            <p:nvPr/>
          </p:nvSpPr>
          <p:spPr>
            <a:xfrm>
              <a:off x="8973655" y="1703795"/>
              <a:ext cx="428322" cy="307736"/>
            </a:xfrm>
            <a:prstGeom prst="rect">
              <a:avLst/>
            </a:prstGeom>
            <a:noFill/>
            <a:ln w="9525" cap="flat" cmpd="sng">
              <a:solidFill>
                <a:srgbClr val="31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bu</a:t>
              </a:r>
              <a:endParaRPr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41" name="Google Shape;941;p53"/>
            <p:cNvSpPr txBox="1"/>
            <p:nvPr/>
          </p:nvSpPr>
          <p:spPr>
            <a:xfrm>
              <a:off x="9689909" y="1704649"/>
              <a:ext cx="428322" cy="307736"/>
            </a:xfrm>
            <a:prstGeom prst="rect">
              <a:avLst/>
            </a:prstGeom>
            <a:noFill/>
            <a:ln w="9525" cap="flat" cmpd="sng">
              <a:solidFill>
                <a:srgbClr val="31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du</a:t>
              </a:r>
              <a:endParaRPr/>
            </a:p>
          </p:txBody>
        </p:sp>
        <p:sp>
          <p:nvSpPr>
            <p:cNvPr id="942" name="Google Shape;942;p53"/>
            <p:cNvSpPr txBox="1"/>
            <p:nvPr/>
          </p:nvSpPr>
          <p:spPr>
            <a:xfrm>
              <a:off x="10402380" y="1703196"/>
              <a:ext cx="478016" cy="307736"/>
            </a:xfrm>
            <a:prstGeom prst="rect">
              <a:avLst/>
            </a:prstGeom>
            <a:noFill/>
            <a:ln w="9525" cap="flat" cmpd="sng">
              <a:solidFill>
                <a:srgbClr val="31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lait</a:t>
              </a:r>
              <a:endParaRPr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43" name="Google Shape;943;p53"/>
            <p:cNvSpPr txBox="1"/>
            <p:nvPr/>
          </p:nvSpPr>
          <p:spPr>
            <a:xfrm>
              <a:off x="10960655" y="1685020"/>
              <a:ext cx="782202" cy="307736"/>
            </a:xfrm>
            <a:prstGeom prst="rect">
              <a:avLst/>
            </a:prstGeom>
            <a:noFill/>
            <a:ln w="9525" cap="flat" cmpd="sng">
              <a:solidFill>
                <a:srgbClr val="31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&lt;EOS&gt;</a:t>
              </a:r>
              <a:endParaRPr/>
            </a:p>
          </p:txBody>
        </p:sp>
        <p:sp>
          <p:nvSpPr>
            <p:cNvPr id="944" name="Google Shape;944;p53"/>
            <p:cNvSpPr txBox="1"/>
            <p:nvPr/>
          </p:nvSpPr>
          <p:spPr>
            <a:xfrm>
              <a:off x="6950786" y="1259878"/>
              <a:ext cx="384206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We</a:t>
              </a:r>
              <a:r>
                <a:rPr lang="ko-KR" sz="18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sz="18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hope</a:t>
              </a:r>
              <a:r>
                <a:rPr lang="ko-KR" sz="18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sz="18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to</a:t>
              </a:r>
              <a:r>
                <a:rPr lang="ko-KR" sz="18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sz="18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produce</a:t>
              </a:r>
              <a:r>
                <a:rPr lang="ko-KR" sz="18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sz="18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this</a:t>
              </a:r>
              <a:r>
                <a:rPr lang="ko-KR" sz="18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sz="18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output</a:t>
              </a:r>
              <a:r>
                <a:rPr lang="ko-KR" sz="18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:</a:t>
              </a:r>
              <a:endParaRPr dirty="0"/>
            </a:p>
          </p:txBody>
        </p:sp>
      </p:grpSp>
      <p:sp>
        <p:nvSpPr>
          <p:cNvPr id="4" name="Google Shape;585;p50">
            <a:extLst>
              <a:ext uri="{FF2B5EF4-FFF2-40B4-BE49-F238E27FC236}">
                <a16:creationId xmlns:a16="http://schemas.microsoft.com/office/drawing/2014/main" id="{435BCBF5-36B7-1C92-6899-07BF1E350059}"/>
              </a:ext>
            </a:extLst>
          </p:cNvPr>
          <p:cNvSpPr txBox="1"/>
          <p:nvPr/>
        </p:nvSpPr>
        <p:spPr>
          <a:xfrm>
            <a:off x="838200" y="6412342"/>
            <a:ext cx="814054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Neural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Machine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Translation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by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Jointly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Learning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to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Align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and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Translate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(2014)</a:t>
            </a:r>
            <a:endParaRPr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9">
          <a:extLst>
            <a:ext uri="{FF2B5EF4-FFF2-40B4-BE49-F238E27FC236}">
              <a16:creationId xmlns:a16="http://schemas.microsoft.com/office/drawing/2014/main" id="{6D51C7EC-4D7D-B965-8179-EFF9E88FF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7735EF-1E49-EB52-5E72-D263053E7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b="1" dirty="0"/>
              <a:t>Attention</a:t>
            </a:r>
          </a:p>
        </p:txBody>
      </p:sp>
      <p:sp>
        <p:nvSpPr>
          <p:cNvPr id="950" name="Google Shape;950;p54">
            <a:extLst>
              <a:ext uri="{FF2B5EF4-FFF2-40B4-BE49-F238E27FC236}">
                <a16:creationId xmlns:a16="http://schemas.microsoft.com/office/drawing/2014/main" id="{27B68E6D-D50F-7052-CE29-EC1C256CF62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64</a:t>
            </a:fld>
            <a:endParaRPr/>
          </a:p>
        </p:txBody>
      </p:sp>
      <p:sp>
        <p:nvSpPr>
          <p:cNvPr id="951" name="Google Shape;951;p54">
            <a:extLst>
              <a:ext uri="{FF2B5EF4-FFF2-40B4-BE49-F238E27FC236}">
                <a16:creationId xmlns:a16="http://schemas.microsoft.com/office/drawing/2014/main" id="{B9831345-87F5-5A68-D4A4-96524630D7A7}"/>
              </a:ext>
            </a:extLst>
          </p:cNvPr>
          <p:cNvSpPr txBox="1"/>
          <p:nvPr/>
        </p:nvSpPr>
        <p:spPr>
          <a:xfrm>
            <a:off x="1184400" y="6010089"/>
            <a:ext cx="498855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the</a:t>
            </a:r>
            <a:endParaRPr/>
          </a:p>
        </p:txBody>
      </p:sp>
      <p:sp>
        <p:nvSpPr>
          <p:cNvPr id="952" name="Google Shape;952;p54">
            <a:extLst>
              <a:ext uri="{FF2B5EF4-FFF2-40B4-BE49-F238E27FC236}">
                <a16:creationId xmlns:a16="http://schemas.microsoft.com/office/drawing/2014/main" id="{4046606C-2297-57E9-4CB0-64F432E2890F}"/>
              </a:ext>
            </a:extLst>
          </p:cNvPr>
          <p:cNvSpPr txBox="1"/>
          <p:nvPr/>
        </p:nvSpPr>
        <p:spPr>
          <a:xfrm>
            <a:off x="1812781" y="6008209"/>
            <a:ext cx="671979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black</a:t>
            </a:r>
            <a:endParaRPr/>
          </a:p>
        </p:txBody>
      </p:sp>
      <p:sp>
        <p:nvSpPr>
          <p:cNvPr id="953" name="Google Shape;953;p54">
            <a:extLst>
              <a:ext uri="{FF2B5EF4-FFF2-40B4-BE49-F238E27FC236}">
                <a16:creationId xmlns:a16="http://schemas.microsoft.com/office/drawing/2014/main" id="{D64B9647-3F91-E770-F5E4-1D620BFEF936}"/>
              </a:ext>
            </a:extLst>
          </p:cNvPr>
          <p:cNvSpPr txBox="1"/>
          <p:nvPr/>
        </p:nvSpPr>
        <p:spPr>
          <a:xfrm>
            <a:off x="2570724" y="6009095"/>
            <a:ext cx="465961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cat</a:t>
            </a:r>
            <a:endParaRPr/>
          </a:p>
        </p:txBody>
      </p:sp>
      <p:sp>
        <p:nvSpPr>
          <p:cNvPr id="954" name="Google Shape;954;p54">
            <a:extLst>
              <a:ext uri="{FF2B5EF4-FFF2-40B4-BE49-F238E27FC236}">
                <a16:creationId xmlns:a16="http://schemas.microsoft.com/office/drawing/2014/main" id="{3F3A499E-DBC3-C5D0-C7EC-FAE43612FE7E}"/>
              </a:ext>
            </a:extLst>
          </p:cNvPr>
          <p:cNvSpPr txBox="1"/>
          <p:nvPr/>
        </p:nvSpPr>
        <p:spPr>
          <a:xfrm>
            <a:off x="3140822" y="6014302"/>
            <a:ext cx="718530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drank</a:t>
            </a:r>
            <a:endParaRPr/>
          </a:p>
        </p:txBody>
      </p:sp>
      <p:sp>
        <p:nvSpPr>
          <p:cNvPr id="955" name="Google Shape;955;p54">
            <a:extLst>
              <a:ext uri="{FF2B5EF4-FFF2-40B4-BE49-F238E27FC236}">
                <a16:creationId xmlns:a16="http://schemas.microsoft.com/office/drawing/2014/main" id="{F3C8C139-F0C6-37B3-2B21-F20574A385B2}"/>
              </a:ext>
            </a:extLst>
          </p:cNvPr>
          <p:cNvSpPr txBox="1"/>
          <p:nvPr/>
        </p:nvSpPr>
        <p:spPr>
          <a:xfrm>
            <a:off x="3966412" y="6018553"/>
            <a:ext cx="579005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milk</a:t>
            </a:r>
            <a:endParaRPr/>
          </a:p>
        </p:txBody>
      </p:sp>
      <p:cxnSp>
        <p:nvCxnSpPr>
          <p:cNvPr id="956" name="Google Shape;956;p54">
            <a:extLst>
              <a:ext uri="{FF2B5EF4-FFF2-40B4-BE49-F238E27FC236}">
                <a16:creationId xmlns:a16="http://schemas.microsoft.com/office/drawing/2014/main" id="{9238310E-02CE-D182-3E0E-74954D748D96}"/>
              </a:ext>
            </a:extLst>
          </p:cNvPr>
          <p:cNvCxnSpPr>
            <a:stCxn id="951" idx="0"/>
            <a:endCxn id="957" idx="2"/>
          </p:cNvCxnSpPr>
          <p:nvPr/>
        </p:nvCxnSpPr>
        <p:spPr>
          <a:xfrm flipH="1" flipV="1">
            <a:off x="1428581" y="5392271"/>
            <a:ext cx="5247" cy="61781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58" name="Google Shape;958;p54">
            <a:extLst>
              <a:ext uri="{FF2B5EF4-FFF2-40B4-BE49-F238E27FC236}">
                <a16:creationId xmlns:a16="http://schemas.microsoft.com/office/drawing/2014/main" id="{6BD2DFAA-0468-6836-126E-370EAE72C5C5}"/>
              </a:ext>
            </a:extLst>
          </p:cNvPr>
          <p:cNvCxnSpPr>
            <a:stCxn id="952" idx="0"/>
            <a:endCxn id="959" idx="2"/>
          </p:cNvCxnSpPr>
          <p:nvPr/>
        </p:nvCxnSpPr>
        <p:spPr>
          <a:xfrm flipH="1" flipV="1">
            <a:off x="2143568" y="5388038"/>
            <a:ext cx="5203" cy="62017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60" name="Google Shape;960;p54">
            <a:extLst>
              <a:ext uri="{FF2B5EF4-FFF2-40B4-BE49-F238E27FC236}">
                <a16:creationId xmlns:a16="http://schemas.microsoft.com/office/drawing/2014/main" id="{5F9E13B4-B245-3EBA-5D2B-398B9DDD7EC1}"/>
              </a:ext>
            </a:extLst>
          </p:cNvPr>
          <p:cNvCxnSpPr>
            <a:stCxn id="953" idx="0"/>
            <a:endCxn id="961" idx="2"/>
          </p:cNvCxnSpPr>
          <p:nvPr/>
        </p:nvCxnSpPr>
        <p:spPr>
          <a:xfrm flipH="1" flipV="1">
            <a:off x="2796738" y="5385432"/>
            <a:ext cx="6967" cy="62366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62" name="Google Shape;962;p54">
            <a:extLst>
              <a:ext uri="{FF2B5EF4-FFF2-40B4-BE49-F238E27FC236}">
                <a16:creationId xmlns:a16="http://schemas.microsoft.com/office/drawing/2014/main" id="{EAE73D13-33E9-7E87-E6CA-EC71121A3776}"/>
              </a:ext>
            </a:extLst>
          </p:cNvPr>
          <p:cNvCxnSpPr>
            <a:stCxn id="954" idx="0"/>
            <a:endCxn id="963" idx="2"/>
          </p:cNvCxnSpPr>
          <p:nvPr/>
        </p:nvCxnSpPr>
        <p:spPr>
          <a:xfrm flipH="1" flipV="1">
            <a:off x="3498477" y="5385432"/>
            <a:ext cx="1610" cy="62887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64" name="Google Shape;964;p54">
            <a:extLst>
              <a:ext uri="{FF2B5EF4-FFF2-40B4-BE49-F238E27FC236}">
                <a16:creationId xmlns:a16="http://schemas.microsoft.com/office/drawing/2014/main" id="{F89CB0DF-3215-2BF5-AD9D-EA49C0CFF7DB}"/>
              </a:ext>
            </a:extLst>
          </p:cNvPr>
          <p:cNvCxnSpPr>
            <a:stCxn id="955" idx="0"/>
            <a:endCxn id="965" idx="2"/>
          </p:cNvCxnSpPr>
          <p:nvPr/>
        </p:nvCxnSpPr>
        <p:spPr>
          <a:xfrm flipV="1">
            <a:off x="4255915" y="5385432"/>
            <a:ext cx="5357" cy="63312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66" name="Google Shape;966;p54">
            <a:extLst>
              <a:ext uri="{FF2B5EF4-FFF2-40B4-BE49-F238E27FC236}">
                <a16:creationId xmlns:a16="http://schemas.microsoft.com/office/drawing/2014/main" id="{3AD489F1-C64A-D556-9B7D-F6243248C075}"/>
              </a:ext>
            </a:extLst>
          </p:cNvPr>
          <p:cNvSpPr txBox="1"/>
          <p:nvPr/>
        </p:nvSpPr>
        <p:spPr>
          <a:xfrm>
            <a:off x="304731" y="6021159"/>
            <a:ext cx="779381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&lt;SOS&gt;</a:t>
            </a:r>
            <a:endParaRPr dirty="0"/>
          </a:p>
        </p:txBody>
      </p:sp>
      <p:sp>
        <p:nvSpPr>
          <p:cNvPr id="967" name="Google Shape;967;p54">
            <a:extLst>
              <a:ext uri="{FF2B5EF4-FFF2-40B4-BE49-F238E27FC236}">
                <a16:creationId xmlns:a16="http://schemas.microsoft.com/office/drawing/2014/main" id="{2F161AB1-77E0-BBCF-9416-C51FB0C66E18}"/>
              </a:ext>
            </a:extLst>
          </p:cNvPr>
          <p:cNvSpPr/>
          <p:nvPr/>
        </p:nvSpPr>
        <p:spPr>
          <a:xfrm>
            <a:off x="526612" y="4873326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68" name="Google Shape;968;p54">
            <a:extLst>
              <a:ext uri="{FF2B5EF4-FFF2-40B4-BE49-F238E27FC236}">
                <a16:creationId xmlns:a16="http://schemas.microsoft.com/office/drawing/2014/main" id="{8333719C-5600-AA89-D0F2-EAA75345DEA1}"/>
              </a:ext>
            </a:extLst>
          </p:cNvPr>
          <p:cNvCxnSpPr>
            <a:stCxn id="966" idx="0"/>
            <a:endCxn id="967" idx="2"/>
          </p:cNvCxnSpPr>
          <p:nvPr/>
        </p:nvCxnSpPr>
        <p:spPr>
          <a:xfrm flipH="1" flipV="1">
            <a:off x="689132" y="5390631"/>
            <a:ext cx="5290" cy="63052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57" name="Google Shape;957;p54">
            <a:extLst>
              <a:ext uri="{FF2B5EF4-FFF2-40B4-BE49-F238E27FC236}">
                <a16:creationId xmlns:a16="http://schemas.microsoft.com/office/drawing/2014/main" id="{881E15A7-EA37-C146-8BE7-E59CC33FA349}"/>
              </a:ext>
            </a:extLst>
          </p:cNvPr>
          <p:cNvSpPr/>
          <p:nvPr/>
        </p:nvSpPr>
        <p:spPr>
          <a:xfrm>
            <a:off x="1266061" y="4874966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59" name="Google Shape;959;p54">
            <a:extLst>
              <a:ext uri="{FF2B5EF4-FFF2-40B4-BE49-F238E27FC236}">
                <a16:creationId xmlns:a16="http://schemas.microsoft.com/office/drawing/2014/main" id="{598BA88F-5328-62EB-026E-E9C442886588}"/>
              </a:ext>
            </a:extLst>
          </p:cNvPr>
          <p:cNvSpPr/>
          <p:nvPr/>
        </p:nvSpPr>
        <p:spPr>
          <a:xfrm>
            <a:off x="1981048" y="4870733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61" name="Google Shape;961;p54">
            <a:extLst>
              <a:ext uri="{FF2B5EF4-FFF2-40B4-BE49-F238E27FC236}">
                <a16:creationId xmlns:a16="http://schemas.microsoft.com/office/drawing/2014/main" id="{99333BD9-A2A1-EB2C-45E7-EB3D7CBC9B40}"/>
              </a:ext>
            </a:extLst>
          </p:cNvPr>
          <p:cNvSpPr/>
          <p:nvPr/>
        </p:nvSpPr>
        <p:spPr>
          <a:xfrm>
            <a:off x="2634218" y="4868127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63" name="Google Shape;963;p54">
            <a:extLst>
              <a:ext uri="{FF2B5EF4-FFF2-40B4-BE49-F238E27FC236}">
                <a16:creationId xmlns:a16="http://schemas.microsoft.com/office/drawing/2014/main" id="{BA9323BF-46B4-E1C1-139A-2FDDBD09F5F0}"/>
              </a:ext>
            </a:extLst>
          </p:cNvPr>
          <p:cNvSpPr/>
          <p:nvPr/>
        </p:nvSpPr>
        <p:spPr>
          <a:xfrm>
            <a:off x="3335957" y="4868127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65" name="Google Shape;965;p54">
            <a:extLst>
              <a:ext uri="{FF2B5EF4-FFF2-40B4-BE49-F238E27FC236}">
                <a16:creationId xmlns:a16="http://schemas.microsoft.com/office/drawing/2014/main" id="{7F157725-03EB-5BDA-3DFF-CCA5B6302F1E}"/>
              </a:ext>
            </a:extLst>
          </p:cNvPr>
          <p:cNvSpPr/>
          <p:nvPr/>
        </p:nvSpPr>
        <p:spPr>
          <a:xfrm>
            <a:off x="4098752" y="4868127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69" name="Google Shape;969;p54">
            <a:extLst>
              <a:ext uri="{FF2B5EF4-FFF2-40B4-BE49-F238E27FC236}">
                <a16:creationId xmlns:a16="http://schemas.microsoft.com/office/drawing/2014/main" id="{EF266088-DD48-C381-8B67-F24EEE4D7B5B}"/>
              </a:ext>
            </a:extLst>
          </p:cNvPr>
          <p:cNvCxnSpPr>
            <a:stCxn id="970" idx="3"/>
            <a:endCxn id="971" idx="1"/>
          </p:cNvCxnSpPr>
          <p:nvPr/>
        </p:nvCxnSpPr>
        <p:spPr>
          <a:xfrm rot="10800000" flipH="1">
            <a:off x="7138671" y="5136258"/>
            <a:ext cx="390000" cy="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72" name="Google Shape;972;p54">
            <a:extLst>
              <a:ext uri="{FF2B5EF4-FFF2-40B4-BE49-F238E27FC236}">
                <a16:creationId xmlns:a16="http://schemas.microsoft.com/office/drawing/2014/main" id="{40E9E1E0-2F33-BB70-A8D3-C297A0E27195}"/>
              </a:ext>
            </a:extLst>
          </p:cNvPr>
          <p:cNvCxnSpPr>
            <a:stCxn id="971" idx="3"/>
            <a:endCxn id="973" idx="1"/>
          </p:cNvCxnSpPr>
          <p:nvPr/>
        </p:nvCxnSpPr>
        <p:spPr>
          <a:xfrm rot="10800000" flipH="1">
            <a:off x="7853658" y="5133525"/>
            <a:ext cx="328200" cy="2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74" name="Google Shape;974;p54">
            <a:extLst>
              <a:ext uri="{FF2B5EF4-FFF2-40B4-BE49-F238E27FC236}">
                <a16:creationId xmlns:a16="http://schemas.microsoft.com/office/drawing/2014/main" id="{1BE197EB-F2EF-0107-9379-4B68717ACE42}"/>
              </a:ext>
            </a:extLst>
          </p:cNvPr>
          <p:cNvCxnSpPr>
            <a:stCxn id="973" idx="3"/>
            <a:endCxn id="975" idx="1"/>
          </p:cNvCxnSpPr>
          <p:nvPr/>
        </p:nvCxnSpPr>
        <p:spPr>
          <a:xfrm>
            <a:off x="8506828" y="5133619"/>
            <a:ext cx="376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76" name="Google Shape;976;p54">
            <a:extLst>
              <a:ext uri="{FF2B5EF4-FFF2-40B4-BE49-F238E27FC236}">
                <a16:creationId xmlns:a16="http://schemas.microsoft.com/office/drawing/2014/main" id="{FE36E46D-D6E1-6FB9-4407-DC924FCA646F}"/>
              </a:ext>
            </a:extLst>
          </p:cNvPr>
          <p:cNvCxnSpPr>
            <a:stCxn id="975" idx="3"/>
            <a:endCxn id="977" idx="1"/>
          </p:cNvCxnSpPr>
          <p:nvPr/>
        </p:nvCxnSpPr>
        <p:spPr>
          <a:xfrm>
            <a:off x="9208567" y="5133619"/>
            <a:ext cx="395100" cy="6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78" name="Google Shape;978;p54">
            <a:extLst>
              <a:ext uri="{FF2B5EF4-FFF2-40B4-BE49-F238E27FC236}">
                <a16:creationId xmlns:a16="http://schemas.microsoft.com/office/drawing/2014/main" id="{564C6D76-E336-AC53-00E4-65DE7ECB651C}"/>
              </a:ext>
            </a:extLst>
          </p:cNvPr>
          <p:cNvSpPr/>
          <p:nvPr/>
        </p:nvSpPr>
        <p:spPr>
          <a:xfrm>
            <a:off x="6074182" y="4880165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79" name="Google Shape;979;p54">
            <a:extLst>
              <a:ext uri="{FF2B5EF4-FFF2-40B4-BE49-F238E27FC236}">
                <a16:creationId xmlns:a16="http://schemas.microsoft.com/office/drawing/2014/main" id="{E37A1E6E-5925-9512-CD6F-44886452EDE8}"/>
              </a:ext>
            </a:extLst>
          </p:cNvPr>
          <p:cNvCxnSpPr>
            <a:stCxn id="978" idx="3"/>
            <a:endCxn id="970" idx="1"/>
          </p:cNvCxnSpPr>
          <p:nvPr/>
        </p:nvCxnSpPr>
        <p:spPr>
          <a:xfrm>
            <a:off x="6399222" y="5138818"/>
            <a:ext cx="414300" cy="1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70" name="Google Shape;970;p54">
            <a:extLst>
              <a:ext uri="{FF2B5EF4-FFF2-40B4-BE49-F238E27FC236}">
                <a16:creationId xmlns:a16="http://schemas.microsoft.com/office/drawing/2014/main" id="{FF2B22BC-A7A7-4C0D-1C13-382870247FA6}"/>
              </a:ext>
            </a:extLst>
          </p:cNvPr>
          <p:cNvSpPr/>
          <p:nvPr/>
        </p:nvSpPr>
        <p:spPr>
          <a:xfrm>
            <a:off x="6813631" y="4881805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1" name="Google Shape;971;p54">
            <a:extLst>
              <a:ext uri="{FF2B5EF4-FFF2-40B4-BE49-F238E27FC236}">
                <a16:creationId xmlns:a16="http://schemas.microsoft.com/office/drawing/2014/main" id="{B0E4C73E-641D-689B-E6AD-AAC50B55A58E}"/>
              </a:ext>
            </a:extLst>
          </p:cNvPr>
          <p:cNvSpPr/>
          <p:nvPr/>
        </p:nvSpPr>
        <p:spPr>
          <a:xfrm>
            <a:off x="7528618" y="4877572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3" name="Google Shape;973;p54">
            <a:extLst>
              <a:ext uri="{FF2B5EF4-FFF2-40B4-BE49-F238E27FC236}">
                <a16:creationId xmlns:a16="http://schemas.microsoft.com/office/drawing/2014/main" id="{9C6C959C-ADCC-672C-885F-8064AFF111FD}"/>
              </a:ext>
            </a:extLst>
          </p:cNvPr>
          <p:cNvSpPr/>
          <p:nvPr/>
        </p:nvSpPr>
        <p:spPr>
          <a:xfrm>
            <a:off x="8181788" y="4874966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5" name="Google Shape;975;p54">
            <a:extLst>
              <a:ext uri="{FF2B5EF4-FFF2-40B4-BE49-F238E27FC236}">
                <a16:creationId xmlns:a16="http://schemas.microsoft.com/office/drawing/2014/main" id="{1185429A-B510-2E78-5A61-4CFAAC7D7A5C}"/>
              </a:ext>
            </a:extLst>
          </p:cNvPr>
          <p:cNvSpPr/>
          <p:nvPr/>
        </p:nvSpPr>
        <p:spPr>
          <a:xfrm>
            <a:off x="8883527" y="4874966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7" name="Google Shape;977;p54">
            <a:extLst>
              <a:ext uri="{FF2B5EF4-FFF2-40B4-BE49-F238E27FC236}">
                <a16:creationId xmlns:a16="http://schemas.microsoft.com/office/drawing/2014/main" id="{C3913237-69A6-E91E-614A-1639C7B3F554}"/>
              </a:ext>
            </a:extLst>
          </p:cNvPr>
          <p:cNvSpPr/>
          <p:nvPr/>
        </p:nvSpPr>
        <p:spPr>
          <a:xfrm>
            <a:off x="9603774" y="4881805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80" name="Google Shape;980;p54">
            <a:extLst>
              <a:ext uri="{FF2B5EF4-FFF2-40B4-BE49-F238E27FC236}">
                <a16:creationId xmlns:a16="http://schemas.microsoft.com/office/drawing/2014/main" id="{20CFBF1F-50E3-7377-6AAB-577F34908816}"/>
              </a:ext>
            </a:extLst>
          </p:cNvPr>
          <p:cNvCxnSpPr>
            <a:stCxn id="970" idx="0"/>
            <a:endCxn id="981" idx="2"/>
          </p:cNvCxnSpPr>
          <p:nvPr/>
        </p:nvCxnSpPr>
        <p:spPr>
          <a:xfrm rot="10800000">
            <a:off x="6968051" y="3596305"/>
            <a:ext cx="8100" cy="1285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82" name="Google Shape;982;p54">
            <a:extLst>
              <a:ext uri="{FF2B5EF4-FFF2-40B4-BE49-F238E27FC236}">
                <a16:creationId xmlns:a16="http://schemas.microsoft.com/office/drawing/2014/main" id="{FA0EB787-E34A-B95A-BD40-DF9676AF4A10}"/>
              </a:ext>
            </a:extLst>
          </p:cNvPr>
          <p:cNvCxnSpPr>
            <a:stCxn id="971" idx="0"/>
            <a:endCxn id="983" idx="2"/>
          </p:cNvCxnSpPr>
          <p:nvPr/>
        </p:nvCxnSpPr>
        <p:spPr>
          <a:xfrm rot="10800000" flipH="1">
            <a:off x="7691138" y="3567472"/>
            <a:ext cx="3600" cy="1310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84" name="Google Shape;984;p54">
            <a:extLst>
              <a:ext uri="{FF2B5EF4-FFF2-40B4-BE49-F238E27FC236}">
                <a16:creationId xmlns:a16="http://schemas.microsoft.com/office/drawing/2014/main" id="{A1B9E004-F282-01D4-4635-6941A3C55A8E}"/>
              </a:ext>
            </a:extLst>
          </p:cNvPr>
          <p:cNvCxnSpPr>
            <a:stCxn id="973" idx="0"/>
            <a:endCxn id="985" idx="2"/>
          </p:cNvCxnSpPr>
          <p:nvPr/>
        </p:nvCxnSpPr>
        <p:spPr>
          <a:xfrm rot="10800000">
            <a:off x="8338308" y="3567566"/>
            <a:ext cx="6000" cy="1307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86" name="Google Shape;986;p54">
            <a:extLst>
              <a:ext uri="{FF2B5EF4-FFF2-40B4-BE49-F238E27FC236}">
                <a16:creationId xmlns:a16="http://schemas.microsoft.com/office/drawing/2014/main" id="{6F2A8492-06D8-087E-ADE4-1A556D0427C3}"/>
              </a:ext>
            </a:extLst>
          </p:cNvPr>
          <p:cNvCxnSpPr>
            <a:stCxn id="975" idx="0"/>
            <a:endCxn id="987" idx="2"/>
          </p:cNvCxnSpPr>
          <p:nvPr/>
        </p:nvCxnSpPr>
        <p:spPr>
          <a:xfrm rot="10800000">
            <a:off x="9042447" y="3567566"/>
            <a:ext cx="3600" cy="1307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88" name="Google Shape;988;p54">
            <a:extLst>
              <a:ext uri="{FF2B5EF4-FFF2-40B4-BE49-F238E27FC236}">
                <a16:creationId xmlns:a16="http://schemas.microsoft.com/office/drawing/2014/main" id="{73170FEF-52EF-4D56-AEB2-76B59F1BE10F}"/>
              </a:ext>
            </a:extLst>
          </p:cNvPr>
          <p:cNvCxnSpPr>
            <a:stCxn id="977" idx="0"/>
            <a:endCxn id="989" idx="2"/>
          </p:cNvCxnSpPr>
          <p:nvPr/>
        </p:nvCxnSpPr>
        <p:spPr>
          <a:xfrm rot="10800000">
            <a:off x="9758794" y="3567505"/>
            <a:ext cx="7500" cy="131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90" name="Google Shape;990;p54">
            <a:extLst>
              <a:ext uri="{FF2B5EF4-FFF2-40B4-BE49-F238E27FC236}">
                <a16:creationId xmlns:a16="http://schemas.microsoft.com/office/drawing/2014/main" id="{AA5867D7-8AAB-7DF4-A723-B8966A24758E}"/>
              </a:ext>
            </a:extLst>
          </p:cNvPr>
          <p:cNvSpPr txBox="1"/>
          <p:nvPr/>
        </p:nvSpPr>
        <p:spPr>
          <a:xfrm>
            <a:off x="4622516" y="6018553"/>
            <a:ext cx="782202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&lt;EOS&gt;</a:t>
            </a:r>
            <a:endParaRPr/>
          </a:p>
        </p:txBody>
      </p:sp>
      <p:cxnSp>
        <p:nvCxnSpPr>
          <p:cNvPr id="991" name="Google Shape;991;p54">
            <a:extLst>
              <a:ext uri="{FF2B5EF4-FFF2-40B4-BE49-F238E27FC236}">
                <a16:creationId xmlns:a16="http://schemas.microsoft.com/office/drawing/2014/main" id="{4C403860-ED0B-576B-A311-55EE3F6D377B}"/>
              </a:ext>
            </a:extLst>
          </p:cNvPr>
          <p:cNvCxnSpPr>
            <a:stCxn id="990" idx="0"/>
            <a:endCxn id="992" idx="2"/>
          </p:cNvCxnSpPr>
          <p:nvPr/>
        </p:nvCxnSpPr>
        <p:spPr>
          <a:xfrm flipV="1">
            <a:off x="5013617" y="5385432"/>
            <a:ext cx="1239" cy="63312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92" name="Google Shape;992;p54">
            <a:extLst>
              <a:ext uri="{FF2B5EF4-FFF2-40B4-BE49-F238E27FC236}">
                <a16:creationId xmlns:a16="http://schemas.microsoft.com/office/drawing/2014/main" id="{ED167D0A-7D28-650E-C5BD-19CC76D9D715}"/>
              </a:ext>
            </a:extLst>
          </p:cNvPr>
          <p:cNvSpPr/>
          <p:nvPr/>
        </p:nvSpPr>
        <p:spPr>
          <a:xfrm>
            <a:off x="4852336" y="4868127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93" name="Google Shape;993;p54">
            <a:extLst>
              <a:ext uri="{FF2B5EF4-FFF2-40B4-BE49-F238E27FC236}">
                <a16:creationId xmlns:a16="http://schemas.microsoft.com/office/drawing/2014/main" id="{66CB2AFA-18DE-5EB2-B82B-BC0442116393}"/>
              </a:ext>
            </a:extLst>
          </p:cNvPr>
          <p:cNvCxnSpPr>
            <a:stCxn id="994" idx="3"/>
            <a:endCxn id="995" idx="1"/>
          </p:cNvCxnSpPr>
          <p:nvPr/>
        </p:nvCxnSpPr>
        <p:spPr>
          <a:xfrm>
            <a:off x="10668263" y="5140458"/>
            <a:ext cx="376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94" name="Google Shape;994;p54">
            <a:extLst>
              <a:ext uri="{FF2B5EF4-FFF2-40B4-BE49-F238E27FC236}">
                <a16:creationId xmlns:a16="http://schemas.microsoft.com/office/drawing/2014/main" id="{515D1558-4783-2AD0-98D9-85F3E1150883}"/>
              </a:ext>
            </a:extLst>
          </p:cNvPr>
          <p:cNvSpPr/>
          <p:nvPr/>
        </p:nvSpPr>
        <p:spPr>
          <a:xfrm>
            <a:off x="10343223" y="4881805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5" name="Google Shape;995;p54">
            <a:extLst>
              <a:ext uri="{FF2B5EF4-FFF2-40B4-BE49-F238E27FC236}">
                <a16:creationId xmlns:a16="http://schemas.microsoft.com/office/drawing/2014/main" id="{B2D4B2E4-1B82-999D-5214-25CCB7D19D0D}"/>
              </a:ext>
            </a:extLst>
          </p:cNvPr>
          <p:cNvSpPr/>
          <p:nvPr/>
        </p:nvSpPr>
        <p:spPr>
          <a:xfrm>
            <a:off x="11044962" y="4881805"/>
            <a:ext cx="325040" cy="517305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96" name="Google Shape;996;p54">
            <a:extLst>
              <a:ext uri="{FF2B5EF4-FFF2-40B4-BE49-F238E27FC236}">
                <a16:creationId xmlns:a16="http://schemas.microsoft.com/office/drawing/2014/main" id="{C882F464-B462-37DA-E2D1-A2044D267219}"/>
              </a:ext>
            </a:extLst>
          </p:cNvPr>
          <p:cNvCxnSpPr>
            <a:stCxn id="994" idx="0"/>
            <a:endCxn id="997" idx="2"/>
          </p:cNvCxnSpPr>
          <p:nvPr/>
        </p:nvCxnSpPr>
        <p:spPr>
          <a:xfrm rot="10800000">
            <a:off x="10503343" y="3567505"/>
            <a:ext cx="2400" cy="131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98" name="Google Shape;998;p54">
            <a:extLst>
              <a:ext uri="{FF2B5EF4-FFF2-40B4-BE49-F238E27FC236}">
                <a16:creationId xmlns:a16="http://schemas.microsoft.com/office/drawing/2014/main" id="{5327D4D5-3DB7-4DF1-0D44-FEAA97CCA98C}"/>
              </a:ext>
            </a:extLst>
          </p:cNvPr>
          <p:cNvCxnSpPr>
            <a:stCxn id="995" idx="0"/>
            <a:endCxn id="999" idx="2"/>
          </p:cNvCxnSpPr>
          <p:nvPr/>
        </p:nvCxnSpPr>
        <p:spPr>
          <a:xfrm rot="10800000">
            <a:off x="11205082" y="3596305"/>
            <a:ext cx="2400" cy="1285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00" name="Google Shape;1000;p54">
            <a:extLst>
              <a:ext uri="{FF2B5EF4-FFF2-40B4-BE49-F238E27FC236}">
                <a16:creationId xmlns:a16="http://schemas.microsoft.com/office/drawing/2014/main" id="{EF7D5940-CD5A-1C24-2A11-E75725442B20}"/>
              </a:ext>
            </a:extLst>
          </p:cNvPr>
          <p:cNvCxnSpPr>
            <a:stCxn id="977" idx="3"/>
            <a:endCxn id="994" idx="1"/>
          </p:cNvCxnSpPr>
          <p:nvPr/>
        </p:nvCxnSpPr>
        <p:spPr>
          <a:xfrm>
            <a:off x="9928814" y="5140458"/>
            <a:ext cx="4143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81" name="Google Shape;981;p54">
            <a:extLst>
              <a:ext uri="{FF2B5EF4-FFF2-40B4-BE49-F238E27FC236}">
                <a16:creationId xmlns:a16="http://schemas.microsoft.com/office/drawing/2014/main" id="{A8965A18-6136-148D-3C0B-F93CB0B6FCCA}"/>
              </a:ext>
            </a:extLst>
          </p:cNvPr>
          <p:cNvSpPr txBox="1"/>
          <p:nvPr/>
        </p:nvSpPr>
        <p:spPr>
          <a:xfrm>
            <a:off x="6823846" y="3319311"/>
            <a:ext cx="288477" cy="2769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20831" r="-4164" b="-2608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985" name="Google Shape;985;p54">
            <a:extLst>
              <a:ext uri="{FF2B5EF4-FFF2-40B4-BE49-F238E27FC236}">
                <a16:creationId xmlns:a16="http://schemas.microsoft.com/office/drawing/2014/main" id="{F3BCA1F4-D525-8690-E9FB-B6AECD2BB63F}"/>
              </a:ext>
            </a:extLst>
          </p:cNvPr>
          <p:cNvSpPr txBox="1"/>
          <p:nvPr/>
        </p:nvSpPr>
        <p:spPr>
          <a:xfrm>
            <a:off x="8194211" y="3290500"/>
            <a:ext cx="288477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6665" b="-3181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983" name="Google Shape;983;p54">
            <a:extLst>
              <a:ext uri="{FF2B5EF4-FFF2-40B4-BE49-F238E27FC236}">
                <a16:creationId xmlns:a16="http://schemas.microsoft.com/office/drawing/2014/main" id="{5552F899-AD55-C922-FC4F-1A080BAF2F1D}"/>
              </a:ext>
            </a:extLst>
          </p:cNvPr>
          <p:cNvSpPr txBox="1"/>
          <p:nvPr/>
        </p:nvSpPr>
        <p:spPr>
          <a:xfrm>
            <a:off x="7550620" y="3290500"/>
            <a:ext cx="288477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20831" r="-4164" b="-3181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989" name="Google Shape;989;p54">
            <a:extLst>
              <a:ext uri="{FF2B5EF4-FFF2-40B4-BE49-F238E27FC236}">
                <a16:creationId xmlns:a16="http://schemas.microsoft.com/office/drawing/2014/main" id="{DFCF2DD9-2891-D840-0265-10070E01E12B}"/>
              </a:ext>
            </a:extLst>
          </p:cNvPr>
          <p:cNvSpPr txBox="1"/>
          <p:nvPr/>
        </p:nvSpPr>
        <p:spPr>
          <a:xfrm>
            <a:off x="9614500" y="3290500"/>
            <a:ext cx="288477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16666" r="-4166" b="-3181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987" name="Google Shape;987;p54">
            <a:extLst>
              <a:ext uri="{FF2B5EF4-FFF2-40B4-BE49-F238E27FC236}">
                <a16:creationId xmlns:a16="http://schemas.microsoft.com/office/drawing/2014/main" id="{6D874491-6A08-2706-1B99-1D52EB6FA171}"/>
              </a:ext>
            </a:extLst>
          </p:cNvPr>
          <p:cNvSpPr txBox="1"/>
          <p:nvPr/>
        </p:nvSpPr>
        <p:spPr>
          <a:xfrm>
            <a:off x="8898333" y="3290500"/>
            <a:ext cx="288477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16666" r="-4166" b="-3181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997" name="Google Shape;997;p54">
            <a:extLst>
              <a:ext uri="{FF2B5EF4-FFF2-40B4-BE49-F238E27FC236}">
                <a16:creationId xmlns:a16="http://schemas.microsoft.com/office/drawing/2014/main" id="{4C07FE2E-0A61-3370-11E7-D82EA764C7DE}"/>
              </a:ext>
            </a:extLst>
          </p:cNvPr>
          <p:cNvSpPr txBox="1"/>
          <p:nvPr/>
        </p:nvSpPr>
        <p:spPr>
          <a:xfrm>
            <a:off x="10359044" y="3290500"/>
            <a:ext cx="288477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16666" r="-4166" b="-3181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999" name="Google Shape;999;p54">
            <a:extLst>
              <a:ext uri="{FF2B5EF4-FFF2-40B4-BE49-F238E27FC236}">
                <a16:creationId xmlns:a16="http://schemas.microsoft.com/office/drawing/2014/main" id="{7656458D-F646-C24D-3FA9-7115B9B459CF}"/>
              </a:ext>
            </a:extLst>
          </p:cNvPr>
          <p:cNvSpPr txBox="1"/>
          <p:nvPr/>
        </p:nvSpPr>
        <p:spPr>
          <a:xfrm>
            <a:off x="11060783" y="3319311"/>
            <a:ext cx="288477" cy="276999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l="-16666" r="-4166" b="-2608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cxnSp>
        <p:nvCxnSpPr>
          <p:cNvPr id="1002" name="Google Shape;1002;p54">
            <a:extLst>
              <a:ext uri="{FF2B5EF4-FFF2-40B4-BE49-F238E27FC236}">
                <a16:creationId xmlns:a16="http://schemas.microsoft.com/office/drawing/2014/main" id="{753CDFF6-5F8D-657A-7919-E3C915ADC9C3}"/>
              </a:ext>
            </a:extLst>
          </p:cNvPr>
          <p:cNvCxnSpPr>
            <a:stCxn id="957" idx="3"/>
            <a:endCxn id="959" idx="1"/>
          </p:cNvCxnSpPr>
          <p:nvPr/>
        </p:nvCxnSpPr>
        <p:spPr>
          <a:xfrm rot="10800000" flipH="1">
            <a:off x="1591101" y="5129419"/>
            <a:ext cx="390000" cy="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03" name="Google Shape;1003;p54">
            <a:extLst>
              <a:ext uri="{FF2B5EF4-FFF2-40B4-BE49-F238E27FC236}">
                <a16:creationId xmlns:a16="http://schemas.microsoft.com/office/drawing/2014/main" id="{6A41B22F-9064-7833-DDBC-EC353DDE215D}"/>
              </a:ext>
            </a:extLst>
          </p:cNvPr>
          <p:cNvCxnSpPr>
            <a:stCxn id="959" idx="3"/>
            <a:endCxn id="961" idx="1"/>
          </p:cNvCxnSpPr>
          <p:nvPr/>
        </p:nvCxnSpPr>
        <p:spPr>
          <a:xfrm rot="10800000" flipH="1">
            <a:off x="2306088" y="5126686"/>
            <a:ext cx="328200" cy="2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04" name="Google Shape;1004;p54">
            <a:extLst>
              <a:ext uri="{FF2B5EF4-FFF2-40B4-BE49-F238E27FC236}">
                <a16:creationId xmlns:a16="http://schemas.microsoft.com/office/drawing/2014/main" id="{44896274-73DB-EEA4-BB5A-CB02593636FC}"/>
              </a:ext>
            </a:extLst>
          </p:cNvPr>
          <p:cNvCxnSpPr>
            <a:stCxn id="961" idx="3"/>
            <a:endCxn id="963" idx="1"/>
          </p:cNvCxnSpPr>
          <p:nvPr/>
        </p:nvCxnSpPr>
        <p:spPr>
          <a:xfrm>
            <a:off x="2959258" y="5126780"/>
            <a:ext cx="376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05" name="Google Shape;1005;p54">
            <a:extLst>
              <a:ext uri="{FF2B5EF4-FFF2-40B4-BE49-F238E27FC236}">
                <a16:creationId xmlns:a16="http://schemas.microsoft.com/office/drawing/2014/main" id="{6226CDA6-F96E-9ED7-2030-9B2F84DB661F}"/>
              </a:ext>
            </a:extLst>
          </p:cNvPr>
          <p:cNvCxnSpPr>
            <a:stCxn id="963" idx="3"/>
            <a:endCxn id="965" idx="1"/>
          </p:cNvCxnSpPr>
          <p:nvPr/>
        </p:nvCxnSpPr>
        <p:spPr>
          <a:xfrm>
            <a:off x="3660997" y="5126780"/>
            <a:ext cx="4377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06" name="Google Shape;1006;p54">
            <a:extLst>
              <a:ext uri="{FF2B5EF4-FFF2-40B4-BE49-F238E27FC236}">
                <a16:creationId xmlns:a16="http://schemas.microsoft.com/office/drawing/2014/main" id="{2579CA84-8C2A-4A21-424A-E69C1E5E41E6}"/>
              </a:ext>
            </a:extLst>
          </p:cNvPr>
          <p:cNvCxnSpPr>
            <a:stCxn id="967" idx="3"/>
            <a:endCxn id="957" idx="1"/>
          </p:cNvCxnSpPr>
          <p:nvPr/>
        </p:nvCxnSpPr>
        <p:spPr>
          <a:xfrm>
            <a:off x="851652" y="5131979"/>
            <a:ext cx="414300" cy="1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07" name="Google Shape;1007;p54">
            <a:extLst>
              <a:ext uri="{FF2B5EF4-FFF2-40B4-BE49-F238E27FC236}">
                <a16:creationId xmlns:a16="http://schemas.microsoft.com/office/drawing/2014/main" id="{9C3526C1-43FA-DD31-CDC8-2C1F458B8468}"/>
              </a:ext>
            </a:extLst>
          </p:cNvPr>
          <p:cNvCxnSpPr>
            <a:stCxn id="965" idx="3"/>
            <a:endCxn id="992" idx="1"/>
          </p:cNvCxnSpPr>
          <p:nvPr/>
        </p:nvCxnSpPr>
        <p:spPr>
          <a:xfrm>
            <a:off x="4423792" y="5126780"/>
            <a:ext cx="428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08" name="Google Shape;1008;p54">
            <a:extLst>
              <a:ext uri="{FF2B5EF4-FFF2-40B4-BE49-F238E27FC236}">
                <a16:creationId xmlns:a16="http://schemas.microsoft.com/office/drawing/2014/main" id="{F0D2E567-142F-C503-B3DB-C6694B857B2E}"/>
              </a:ext>
            </a:extLst>
          </p:cNvPr>
          <p:cNvSpPr txBox="1"/>
          <p:nvPr/>
        </p:nvSpPr>
        <p:spPr>
          <a:xfrm>
            <a:off x="7290864" y="3981131"/>
            <a:ext cx="340158" cy="553998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1009" name="Google Shape;1009;p54">
            <a:extLst>
              <a:ext uri="{FF2B5EF4-FFF2-40B4-BE49-F238E27FC236}">
                <a16:creationId xmlns:a16="http://schemas.microsoft.com/office/drawing/2014/main" id="{18C75498-87B0-1082-9BE7-A9CA75BD0B0C}"/>
              </a:ext>
            </a:extLst>
          </p:cNvPr>
          <p:cNvSpPr txBox="1"/>
          <p:nvPr/>
        </p:nvSpPr>
        <p:spPr>
          <a:xfrm>
            <a:off x="707672" y="4587154"/>
            <a:ext cx="283154" cy="276999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l="-16666" r="-4166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1010" name="Google Shape;1010;p54">
            <a:extLst>
              <a:ext uri="{FF2B5EF4-FFF2-40B4-BE49-F238E27FC236}">
                <a16:creationId xmlns:a16="http://schemas.microsoft.com/office/drawing/2014/main" id="{3359A4CF-4995-10E1-56FF-CA0895CDFF6B}"/>
              </a:ext>
            </a:extLst>
          </p:cNvPr>
          <p:cNvSpPr txBox="1"/>
          <p:nvPr/>
        </p:nvSpPr>
        <p:spPr>
          <a:xfrm>
            <a:off x="1469158" y="4587154"/>
            <a:ext cx="288477" cy="276999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l="-20831" r="-4164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1011" name="Google Shape;1011;p54">
            <a:extLst>
              <a:ext uri="{FF2B5EF4-FFF2-40B4-BE49-F238E27FC236}">
                <a16:creationId xmlns:a16="http://schemas.microsoft.com/office/drawing/2014/main" id="{F3867B2C-C2CB-BA64-5D79-819C28CABC97}"/>
              </a:ext>
            </a:extLst>
          </p:cNvPr>
          <p:cNvSpPr txBox="1"/>
          <p:nvPr/>
        </p:nvSpPr>
        <p:spPr>
          <a:xfrm>
            <a:off x="2184144" y="4587154"/>
            <a:ext cx="288477" cy="276999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l="-16666" r="-4166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1012" name="Google Shape;1012;p54">
            <a:extLst>
              <a:ext uri="{FF2B5EF4-FFF2-40B4-BE49-F238E27FC236}">
                <a16:creationId xmlns:a16="http://schemas.microsoft.com/office/drawing/2014/main" id="{B0D711AF-FA74-19E6-49C5-C39D06555005}"/>
              </a:ext>
            </a:extLst>
          </p:cNvPr>
          <p:cNvSpPr txBox="1"/>
          <p:nvPr/>
        </p:nvSpPr>
        <p:spPr>
          <a:xfrm>
            <a:off x="2851200" y="4587154"/>
            <a:ext cx="288477" cy="276999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l="-20831" r="-4164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1013" name="Google Shape;1013;p54">
            <a:extLst>
              <a:ext uri="{FF2B5EF4-FFF2-40B4-BE49-F238E27FC236}">
                <a16:creationId xmlns:a16="http://schemas.microsoft.com/office/drawing/2014/main" id="{2569B700-89CE-72FC-9317-5A7D650ECCE9}"/>
              </a:ext>
            </a:extLst>
          </p:cNvPr>
          <p:cNvSpPr txBox="1"/>
          <p:nvPr/>
        </p:nvSpPr>
        <p:spPr>
          <a:xfrm>
            <a:off x="3577768" y="4587154"/>
            <a:ext cx="288477" cy="276999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l="-20831" r="-4164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1014" name="Google Shape;1014;p54">
            <a:extLst>
              <a:ext uri="{FF2B5EF4-FFF2-40B4-BE49-F238E27FC236}">
                <a16:creationId xmlns:a16="http://schemas.microsoft.com/office/drawing/2014/main" id="{1304DF1F-5C12-B130-B8A0-EBCA7F5F85F8}"/>
              </a:ext>
            </a:extLst>
          </p:cNvPr>
          <p:cNvSpPr txBox="1"/>
          <p:nvPr/>
        </p:nvSpPr>
        <p:spPr>
          <a:xfrm>
            <a:off x="4327414" y="4587154"/>
            <a:ext cx="288477" cy="276999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l="-16666" r="-4166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1015" name="Google Shape;1015;p54">
            <a:extLst>
              <a:ext uri="{FF2B5EF4-FFF2-40B4-BE49-F238E27FC236}">
                <a16:creationId xmlns:a16="http://schemas.microsoft.com/office/drawing/2014/main" id="{E90AE907-740B-D846-F330-C63618686625}"/>
              </a:ext>
            </a:extLst>
          </p:cNvPr>
          <p:cNvSpPr txBox="1"/>
          <p:nvPr/>
        </p:nvSpPr>
        <p:spPr>
          <a:xfrm>
            <a:off x="5077248" y="4587154"/>
            <a:ext cx="288477" cy="276999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l="-16666" r="-4166" b="-124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cxnSp>
        <p:nvCxnSpPr>
          <p:cNvPr id="1016" name="Google Shape;1016;p54">
            <a:extLst>
              <a:ext uri="{FF2B5EF4-FFF2-40B4-BE49-F238E27FC236}">
                <a16:creationId xmlns:a16="http://schemas.microsoft.com/office/drawing/2014/main" id="{1B6770E2-05FB-133B-7408-279BA80C3186}"/>
              </a:ext>
            </a:extLst>
          </p:cNvPr>
          <p:cNvCxnSpPr>
            <a:stCxn id="971" idx="0"/>
            <a:endCxn id="1017" idx="2"/>
          </p:cNvCxnSpPr>
          <p:nvPr/>
        </p:nvCxnSpPr>
        <p:spPr>
          <a:xfrm rot="10800000">
            <a:off x="4267838" y="4309072"/>
            <a:ext cx="3423300" cy="568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18" name="Google Shape;1018;p54">
            <a:extLst>
              <a:ext uri="{FF2B5EF4-FFF2-40B4-BE49-F238E27FC236}">
                <a16:creationId xmlns:a16="http://schemas.microsoft.com/office/drawing/2014/main" id="{3348B5FA-0903-D6A6-9088-B78C6B879B0B}"/>
              </a:ext>
            </a:extLst>
          </p:cNvPr>
          <p:cNvCxnSpPr>
            <a:stCxn id="967" idx="0"/>
            <a:endCxn id="1019" idx="2"/>
          </p:cNvCxnSpPr>
          <p:nvPr/>
        </p:nvCxnSpPr>
        <p:spPr>
          <a:xfrm rot="10800000">
            <a:off x="689132" y="4303026"/>
            <a:ext cx="0" cy="570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20" name="Google Shape;1020;p54">
            <a:extLst>
              <a:ext uri="{FF2B5EF4-FFF2-40B4-BE49-F238E27FC236}">
                <a16:creationId xmlns:a16="http://schemas.microsoft.com/office/drawing/2014/main" id="{8FB66D79-E97B-EF54-ED77-7D5AA12E0717}"/>
              </a:ext>
            </a:extLst>
          </p:cNvPr>
          <p:cNvCxnSpPr>
            <a:stCxn id="978" idx="0"/>
            <a:endCxn id="1021" idx="2"/>
          </p:cNvCxnSpPr>
          <p:nvPr/>
        </p:nvCxnSpPr>
        <p:spPr>
          <a:xfrm rot="10800000">
            <a:off x="6228002" y="3587765"/>
            <a:ext cx="8700" cy="1292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22" name="Google Shape;1022;p54">
            <a:extLst>
              <a:ext uri="{FF2B5EF4-FFF2-40B4-BE49-F238E27FC236}">
                <a16:creationId xmlns:a16="http://schemas.microsoft.com/office/drawing/2014/main" id="{F5E396B2-8F04-658D-8E75-C3DB5F0B51BF}"/>
              </a:ext>
            </a:extLst>
          </p:cNvPr>
          <p:cNvCxnSpPr>
            <a:stCxn id="959" idx="0"/>
            <a:endCxn id="1023" idx="2"/>
          </p:cNvCxnSpPr>
          <p:nvPr/>
        </p:nvCxnSpPr>
        <p:spPr>
          <a:xfrm rot="10800000">
            <a:off x="2135768" y="4309133"/>
            <a:ext cx="7800" cy="561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24" name="Google Shape;1024;p54">
            <a:extLst>
              <a:ext uri="{FF2B5EF4-FFF2-40B4-BE49-F238E27FC236}">
                <a16:creationId xmlns:a16="http://schemas.microsoft.com/office/drawing/2014/main" id="{8D8CA795-DDA0-20BD-9F7F-592E294038B1}"/>
              </a:ext>
            </a:extLst>
          </p:cNvPr>
          <p:cNvCxnSpPr>
            <a:stCxn id="957" idx="0"/>
            <a:endCxn id="1025" idx="2"/>
          </p:cNvCxnSpPr>
          <p:nvPr/>
        </p:nvCxnSpPr>
        <p:spPr>
          <a:xfrm rot="10800000">
            <a:off x="1426181" y="4299266"/>
            <a:ext cx="2400" cy="575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26" name="Google Shape;1026;p54">
            <a:extLst>
              <a:ext uri="{FF2B5EF4-FFF2-40B4-BE49-F238E27FC236}">
                <a16:creationId xmlns:a16="http://schemas.microsoft.com/office/drawing/2014/main" id="{BB9B71C3-5961-0C9E-5C6A-C428CBC9B107}"/>
              </a:ext>
            </a:extLst>
          </p:cNvPr>
          <p:cNvCxnSpPr>
            <a:stCxn id="963" idx="0"/>
            <a:endCxn id="1027" idx="2"/>
          </p:cNvCxnSpPr>
          <p:nvPr/>
        </p:nvCxnSpPr>
        <p:spPr>
          <a:xfrm rot="10800000" flipH="1">
            <a:off x="3498477" y="4299627"/>
            <a:ext cx="69900" cy="568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28" name="Google Shape;1028;p54">
            <a:extLst>
              <a:ext uri="{FF2B5EF4-FFF2-40B4-BE49-F238E27FC236}">
                <a16:creationId xmlns:a16="http://schemas.microsoft.com/office/drawing/2014/main" id="{CD89C673-C960-C3E5-0175-F6D09087A721}"/>
              </a:ext>
            </a:extLst>
          </p:cNvPr>
          <p:cNvCxnSpPr>
            <a:stCxn id="965" idx="0"/>
            <a:endCxn id="1017" idx="2"/>
          </p:cNvCxnSpPr>
          <p:nvPr/>
        </p:nvCxnSpPr>
        <p:spPr>
          <a:xfrm rot="10800000" flipH="1">
            <a:off x="4261272" y="4309227"/>
            <a:ext cx="6600" cy="558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29" name="Google Shape;1029;p54">
            <a:extLst>
              <a:ext uri="{FF2B5EF4-FFF2-40B4-BE49-F238E27FC236}">
                <a16:creationId xmlns:a16="http://schemas.microsoft.com/office/drawing/2014/main" id="{4279C7F9-E7F5-D6BE-DC28-456CF90B1D89}"/>
              </a:ext>
            </a:extLst>
          </p:cNvPr>
          <p:cNvCxnSpPr>
            <a:stCxn id="961" idx="0"/>
            <a:endCxn id="1030" idx="2"/>
          </p:cNvCxnSpPr>
          <p:nvPr/>
        </p:nvCxnSpPr>
        <p:spPr>
          <a:xfrm rot="10800000" flipH="1">
            <a:off x="2796738" y="4308627"/>
            <a:ext cx="59100" cy="559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31" name="Google Shape;1031;p54">
            <a:extLst>
              <a:ext uri="{FF2B5EF4-FFF2-40B4-BE49-F238E27FC236}">
                <a16:creationId xmlns:a16="http://schemas.microsoft.com/office/drawing/2014/main" id="{8EC3B9C1-6C80-E424-78BE-431692A3E0A0}"/>
              </a:ext>
            </a:extLst>
          </p:cNvPr>
          <p:cNvCxnSpPr>
            <a:stCxn id="971" idx="0"/>
            <a:endCxn id="1019" idx="2"/>
          </p:cNvCxnSpPr>
          <p:nvPr/>
        </p:nvCxnSpPr>
        <p:spPr>
          <a:xfrm rot="10800000">
            <a:off x="689138" y="4303072"/>
            <a:ext cx="7002000" cy="574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32" name="Google Shape;1032;p54">
            <a:extLst>
              <a:ext uri="{FF2B5EF4-FFF2-40B4-BE49-F238E27FC236}">
                <a16:creationId xmlns:a16="http://schemas.microsoft.com/office/drawing/2014/main" id="{61729C63-A387-2CFB-89AE-31FD5835B902}"/>
              </a:ext>
            </a:extLst>
          </p:cNvPr>
          <p:cNvCxnSpPr>
            <a:stCxn id="971" idx="0"/>
            <a:endCxn id="1025" idx="2"/>
          </p:cNvCxnSpPr>
          <p:nvPr/>
        </p:nvCxnSpPr>
        <p:spPr>
          <a:xfrm rot="10800000">
            <a:off x="1426238" y="4299172"/>
            <a:ext cx="6264900" cy="578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33" name="Google Shape;1033;p54">
            <a:extLst>
              <a:ext uri="{FF2B5EF4-FFF2-40B4-BE49-F238E27FC236}">
                <a16:creationId xmlns:a16="http://schemas.microsoft.com/office/drawing/2014/main" id="{6597C76E-4D6F-11A4-C757-55589AB18A68}"/>
              </a:ext>
            </a:extLst>
          </p:cNvPr>
          <p:cNvCxnSpPr>
            <a:stCxn id="971" idx="0"/>
            <a:endCxn id="1027" idx="2"/>
          </p:cNvCxnSpPr>
          <p:nvPr/>
        </p:nvCxnSpPr>
        <p:spPr>
          <a:xfrm rot="10800000">
            <a:off x="3568238" y="4299772"/>
            <a:ext cx="4122900" cy="577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21" name="Google Shape;1021;p54">
            <a:extLst>
              <a:ext uri="{FF2B5EF4-FFF2-40B4-BE49-F238E27FC236}">
                <a16:creationId xmlns:a16="http://schemas.microsoft.com/office/drawing/2014/main" id="{A66B1B6E-5187-1F17-1784-1CCE0DD07FB1}"/>
              </a:ext>
            </a:extLst>
          </p:cNvPr>
          <p:cNvSpPr txBox="1"/>
          <p:nvPr/>
        </p:nvSpPr>
        <p:spPr>
          <a:xfrm>
            <a:off x="6083870" y="3310633"/>
            <a:ext cx="288477" cy="276999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l="-21738" r="-4347" b="-3043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cxnSp>
        <p:nvCxnSpPr>
          <p:cNvPr id="1034" name="Google Shape;1034;p54">
            <a:extLst>
              <a:ext uri="{FF2B5EF4-FFF2-40B4-BE49-F238E27FC236}">
                <a16:creationId xmlns:a16="http://schemas.microsoft.com/office/drawing/2014/main" id="{D34CC142-946D-B538-030A-8FC7723EFE70}"/>
              </a:ext>
            </a:extLst>
          </p:cNvPr>
          <p:cNvCxnSpPr>
            <a:stCxn id="1019" idx="0"/>
            <a:endCxn id="1035" idx="2"/>
          </p:cNvCxnSpPr>
          <p:nvPr/>
        </p:nvCxnSpPr>
        <p:spPr>
          <a:xfrm rot="10800000" flipH="1">
            <a:off x="689132" y="3247205"/>
            <a:ext cx="1778700" cy="561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36" name="Google Shape;1036;p54">
            <a:extLst>
              <a:ext uri="{FF2B5EF4-FFF2-40B4-BE49-F238E27FC236}">
                <a16:creationId xmlns:a16="http://schemas.microsoft.com/office/drawing/2014/main" id="{F065A38B-4010-2513-33C4-BBA6E3620865}"/>
              </a:ext>
            </a:extLst>
          </p:cNvPr>
          <p:cNvCxnSpPr>
            <a:stCxn id="1025" idx="0"/>
            <a:endCxn id="1035" idx="2"/>
          </p:cNvCxnSpPr>
          <p:nvPr/>
        </p:nvCxnSpPr>
        <p:spPr>
          <a:xfrm rot="10800000" flipH="1">
            <a:off x="1426122" y="3247276"/>
            <a:ext cx="1041600" cy="557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37" name="Google Shape;1037;p54">
            <a:extLst>
              <a:ext uri="{FF2B5EF4-FFF2-40B4-BE49-F238E27FC236}">
                <a16:creationId xmlns:a16="http://schemas.microsoft.com/office/drawing/2014/main" id="{0AB5A1A2-803E-C008-DD46-9765B5B1C227}"/>
              </a:ext>
            </a:extLst>
          </p:cNvPr>
          <p:cNvCxnSpPr>
            <a:stCxn id="1023" idx="0"/>
            <a:endCxn id="1035" idx="2"/>
          </p:cNvCxnSpPr>
          <p:nvPr/>
        </p:nvCxnSpPr>
        <p:spPr>
          <a:xfrm rot="10800000" flipH="1">
            <a:off x="2135781" y="3247241"/>
            <a:ext cx="332100" cy="567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38" name="Google Shape;1038;p54">
            <a:extLst>
              <a:ext uri="{FF2B5EF4-FFF2-40B4-BE49-F238E27FC236}">
                <a16:creationId xmlns:a16="http://schemas.microsoft.com/office/drawing/2014/main" id="{51119EB2-9837-4FBA-6156-34AE5E474C2F}"/>
              </a:ext>
            </a:extLst>
          </p:cNvPr>
          <p:cNvCxnSpPr>
            <a:stCxn id="1030" idx="0"/>
            <a:endCxn id="1035" idx="2"/>
          </p:cNvCxnSpPr>
          <p:nvPr/>
        </p:nvCxnSpPr>
        <p:spPr>
          <a:xfrm rot="10800000">
            <a:off x="2467791" y="3247273"/>
            <a:ext cx="387900" cy="567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39" name="Google Shape;1039;p54">
            <a:extLst>
              <a:ext uri="{FF2B5EF4-FFF2-40B4-BE49-F238E27FC236}">
                <a16:creationId xmlns:a16="http://schemas.microsoft.com/office/drawing/2014/main" id="{9E2C5F00-FAAB-8BE6-211B-7FD1FAA4B07D}"/>
              </a:ext>
            </a:extLst>
          </p:cNvPr>
          <p:cNvCxnSpPr>
            <a:stCxn id="1027" idx="0"/>
            <a:endCxn id="1035" idx="2"/>
          </p:cNvCxnSpPr>
          <p:nvPr/>
        </p:nvCxnSpPr>
        <p:spPr>
          <a:xfrm rot="10800000">
            <a:off x="2467983" y="3247127"/>
            <a:ext cx="1100400" cy="558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40" name="Google Shape;1040;p54">
            <a:extLst>
              <a:ext uri="{FF2B5EF4-FFF2-40B4-BE49-F238E27FC236}">
                <a16:creationId xmlns:a16="http://schemas.microsoft.com/office/drawing/2014/main" id="{041DA971-DCEF-A284-FAA5-F66722F56385}"/>
              </a:ext>
            </a:extLst>
          </p:cNvPr>
          <p:cNvCxnSpPr>
            <a:stCxn id="1017" idx="0"/>
            <a:endCxn id="1035" idx="2"/>
          </p:cNvCxnSpPr>
          <p:nvPr/>
        </p:nvCxnSpPr>
        <p:spPr>
          <a:xfrm rot="10800000">
            <a:off x="2467882" y="3247043"/>
            <a:ext cx="1800000" cy="567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41" name="Google Shape;1041;p54">
            <a:extLst>
              <a:ext uri="{FF2B5EF4-FFF2-40B4-BE49-F238E27FC236}">
                <a16:creationId xmlns:a16="http://schemas.microsoft.com/office/drawing/2014/main" id="{DBF14AA7-718C-D408-DB20-A6BAC8708FC8}"/>
              </a:ext>
            </a:extLst>
          </p:cNvPr>
          <p:cNvCxnSpPr>
            <a:stCxn id="1042" idx="0"/>
            <a:endCxn id="1035" idx="2"/>
          </p:cNvCxnSpPr>
          <p:nvPr/>
        </p:nvCxnSpPr>
        <p:spPr>
          <a:xfrm rot="10800000">
            <a:off x="2467792" y="3247338"/>
            <a:ext cx="2550900" cy="562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19" name="Google Shape;1019;p54">
            <a:extLst>
              <a:ext uri="{FF2B5EF4-FFF2-40B4-BE49-F238E27FC236}">
                <a16:creationId xmlns:a16="http://schemas.microsoft.com/office/drawing/2014/main" id="{E5D8C580-E005-545E-1D30-FD5ED503D096}"/>
              </a:ext>
            </a:extLst>
          </p:cNvPr>
          <p:cNvSpPr/>
          <p:nvPr/>
        </p:nvSpPr>
        <p:spPr>
          <a:xfrm>
            <a:off x="369514" y="3808805"/>
            <a:ext cx="639236" cy="494276"/>
          </a:xfrm>
          <a:prstGeom prst="roundRect">
            <a:avLst>
              <a:gd name="adj" fmla="val 16667"/>
            </a:avLst>
          </a:prstGeom>
          <a:blipFill rotWithShape="1">
            <a:blip r:embed="rId1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1035" name="Google Shape;1035;p54">
            <a:extLst>
              <a:ext uri="{FF2B5EF4-FFF2-40B4-BE49-F238E27FC236}">
                <a16:creationId xmlns:a16="http://schemas.microsoft.com/office/drawing/2014/main" id="{D5F96825-65DD-3963-C7A1-7AE21DE5319C}"/>
              </a:ext>
            </a:extLst>
          </p:cNvPr>
          <p:cNvSpPr/>
          <p:nvPr/>
        </p:nvSpPr>
        <p:spPr>
          <a:xfrm>
            <a:off x="1958808" y="2780390"/>
            <a:ext cx="1018071" cy="46679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softmax</a:t>
            </a:r>
            <a:endParaRPr sz="16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25" name="Google Shape;1025;p54">
            <a:extLst>
              <a:ext uri="{FF2B5EF4-FFF2-40B4-BE49-F238E27FC236}">
                <a16:creationId xmlns:a16="http://schemas.microsoft.com/office/drawing/2014/main" id="{36B9FD6D-8540-0330-CAEB-59B33E1D912C}"/>
              </a:ext>
            </a:extLst>
          </p:cNvPr>
          <p:cNvSpPr/>
          <p:nvPr/>
        </p:nvSpPr>
        <p:spPr>
          <a:xfrm>
            <a:off x="1106504" y="3804976"/>
            <a:ext cx="639236" cy="494276"/>
          </a:xfrm>
          <a:prstGeom prst="roundRect">
            <a:avLst>
              <a:gd name="adj" fmla="val 16667"/>
            </a:avLst>
          </a:prstGeom>
          <a:blipFill rotWithShape="1">
            <a:blip r:embed="rId2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1023" name="Google Shape;1023;p54">
            <a:extLst>
              <a:ext uri="{FF2B5EF4-FFF2-40B4-BE49-F238E27FC236}">
                <a16:creationId xmlns:a16="http://schemas.microsoft.com/office/drawing/2014/main" id="{906E06A3-82C7-5779-FD36-66D64FDFDD49}"/>
              </a:ext>
            </a:extLst>
          </p:cNvPr>
          <p:cNvSpPr/>
          <p:nvPr/>
        </p:nvSpPr>
        <p:spPr>
          <a:xfrm>
            <a:off x="1816163" y="3814841"/>
            <a:ext cx="639236" cy="494276"/>
          </a:xfrm>
          <a:prstGeom prst="roundRect">
            <a:avLst>
              <a:gd name="adj" fmla="val 16667"/>
            </a:avLst>
          </a:prstGeom>
          <a:blipFill rotWithShape="1">
            <a:blip r:embed="rId21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1030" name="Google Shape;1030;p54">
            <a:extLst>
              <a:ext uri="{FF2B5EF4-FFF2-40B4-BE49-F238E27FC236}">
                <a16:creationId xmlns:a16="http://schemas.microsoft.com/office/drawing/2014/main" id="{B486DE50-2A06-6AA9-88ED-9FABC07C80D2}"/>
              </a:ext>
            </a:extLst>
          </p:cNvPr>
          <p:cNvSpPr/>
          <p:nvPr/>
        </p:nvSpPr>
        <p:spPr>
          <a:xfrm>
            <a:off x="2536073" y="3814273"/>
            <a:ext cx="639236" cy="494276"/>
          </a:xfrm>
          <a:prstGeom prst="roundRect">
            <a:avLst>
              <a:gd name="adj" fmla="val 16667"/>
            </a:avLst>
          </a:prstGeom>
          <a:blipFill rotWithShape="1">
            <a:blip r:embed="rId2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1027" name="Google Shape;1027;p54">
            <a:extLst>
              <a:ext uri="{FF2B5EF4-FFF2-40B4-BE49-F238E27FC236}">
                <a16:creationId xmlns:a16="http://schemas.microsoft.com/office/drawing/2014/main" id="{90B15971-E0E7-CF1B-8E64-FC4D509A094D}"/>
              </a:ext>
            </a:extLst>
          </p:cNvPr>
          <p:cNvSpPr/>
          <p:nvPr/>
        </p:nvSpPr>
        <p:spPr>
          <a:xfrm>
            <a:off x="3248765" y="3805427"/>
            <a:ext cx="639236" cy="494276"/>
          </a:xfrm>
          <a:prstGeom prst="roundRect">
            <a:avLst>
              <a:gd name="adj" fmla="val 16667"/>
            </a:avLst>
          </a:prstGeom>
          <a:blipFill rotWithShape="1">
            <a:blip r:embed="rId2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1017" name="Google Shape;1017;p54">
            <a:extLst>
              <a:ext uri="{FF2B5EF4-FFF2-40B4-BE49-F238E27FC236}">
                <a16:creationId xmlns:a16="http://schemas.microsoft.com/office/drawing/2014/main" id="{F649BF84-58F0-4EEE-C7E7-33B163873CF9}"/>
              </a:ext>
            </a:extLst>
          </p:cNvPr>
          <p:cNvSpPr/>
          <p:nvPr/>
        </p:nvSpPr>
        <p:spPr>
          <a:xfrm>
            <a:off x="3948264" y="3814943"/>
            <a:ext cx="639236" cy="494276"/>
          </a:xfrm>
          <a:prstGeom prst="roundRect">
            <a:avLst>
              <a:gd name="adj" fmla="val 16667"/>
            </a:avLst>
          </a:prstGeom>
          <a:blipFill rotWithShape="1">
            <a:blip r:embed="rId2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sp>
        <p:nvSpPr>
          <p:cNvPr id="1042" name="Google Shape;1042;p54">
            <a:extLst>
              <a:ext uri="{FF2B5EF4-FFF2-40B4-BE49-F238E27FC236}">
                <a16:creationId xmlns:a16="http://schemas.microsoft.com/office/drawing/2014/main" id="{53BD2F34-ACF2-6D55-D1E8-C3C8CC870B5B}"/>
              </a:ext>
            </a:extLst>
          </p:cNvPr>
          <p:cNvSpPr/>
          <p:nvPr/>
        </p:nvSpPr>
        <p:spPr>
          <a:xfrm>
            <a:off x="4699074" y="3809838"/>
            <a:ext cx="639236" cy="494276"/>
          </a:xfrm>
          <a:prstGeom prst="roundRect">
            <a:avLst>
              <a:gd name="adj" fmla="val 16667"/>
            </a:avLst>
          </a:prstGeom>
          <a:blipFill rotWithShape="1">
            <a:blip r:embed="rId2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cxnSp>
        <p:nvCxnSpPr>
          <p:cNvPr id="1043" name="Google Shape;1043;p54">
            <a:extLst>
              <a:ext uri="{FF2B5EF4-FFF2-40B4-BE49-F238E27FC236}">
                <a16:creationId xmlns:a16="http://schemas.microsoft.com/office/drawing/2014/main" id="{C2DCE2FC-52C4-4A6D-6409-CA7E07261AFC}"/>
              </a:ext>
            </a:extLst>
          </p:cNvPr>
          <p:cNvCxnSpPr>
            <a:stCxn id="992" idx="0"/>
            <a:endCxn id="1042" idx="2"/>
          </p:cNvCxnSpPr>
          <p:nvPr/>
        </p:nvCxnSpPr>
        <p:spPr>
          <a:xfrm rot="10800000" flipH="1">
            <a:off x="5014856" y="4304127"/>
            <a:ext cx="3900" cy="564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44" name="Google Shape;1044;p54">
            <a:extLst>
              <a:ext uri="{FF2B5EF4-FFF2-40B4-BE49-F238E27FC236}">
                <a16:creationId xmlns:a16="http://schemas.microsoft.com/office/drawing/2014/main" id="{5CD09844-0AB3-F3EB-43FA-729C61BFE30A}"/>
              </a:ext>
            </a:extLst>
          </p:cNvPr>
          <p:cNvCxnSpPr>
            <a:stCxn id="1035" idx="3"/>
            <a:endCxn id="983" idx="2"/>
          </p:cNvCxnSpPr>
          <p:nvPr/>
        </p:nvCxnSpPr>
        <p:spPr>
          <a:xfrm>
            <a:off x="2976879" y="3013790"/>
            <a:ext cx="4718100" cy="553800"/>
          </a:xfrm>
          <a:prstGeom prst="curvedConnector4">
            <a:avLst>
              <a:gd name="adj1" fmla="val 55132"/>
              <a:gd name="adj2" fmla="val 205759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45" name="Google Shape;1045;p54">
            <a:extLst>
              <a:ext uri="{FF2B5EF4-FFF2-40B4-BE49-F238E27FC236}">
                <a16:creationId xmlns:a16="http://schemas.microsoft.com/office/drawing/2014/main" id="{17A10135-F836-F406-EEE2-25B4F00C5305}"/>
              </a:ext>
            </a:extLst>
          </p:cNvPr>
          <p:cNvCxnSpPr>
            <a:stCxn id="971" idx="0"/>
            <a:endCxn id="1023" idx="2"/>
          </p:cNvCxnSpPr>
          <p:nvPr/>
        </p:nvCxnSpPr>
        <p:spPr>
          <a:xfrm rot="10800000">
            <a:off x="2135738" y="4309072"/>
            <a:ext cx="5555400" cy="568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46" name="Google Shape;1046;p54">
            <a:extLst>
              <a:ext uri="{FF2B5EF4-FFF2-40B4-BE49-F238E27FC236}">
                <a16:creationId xmlns:a16="http://schemas.microsoft.com/office/drawing/2014/main" id="{471B71A9-F05A-CF51-DC74-26DD65B273B1}"/>
              </a:ext>
            </a:extLst>
          </p:cNvPr>
          <p:cNvCxnSpPr>
            <a:stCxn id="971" idx="0"/>
            <a:endCxn id="1030" idx="2"/>
          </p:cNvCxnSpPr>
          <p:nvPr/>
        </p:nvCxnSpPr>
        <p:spPr>
          <a:xfrm rot="10800000">
            <a:off x="2855738" y="4308472"/>
            <a:ext cx="4835400" cy="569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47" name="Google Shape;1047;p54">
            <a:extLst>
              <a:ext uri="{FF2B5EF4-FFF2-40B4-BE49-F238E27FC236}">
                <a16:creationId xmlns:a16="http://schemas.microsoft.com/office/drawing/2014/main" id="{385ABC7A-FDD8-F936-C32F-C28F4130566F}"/>
              </a:ext>
            </a:extLst>
          </p:cNvPr>
          <p:cNvCxnSpPr>
            <a:stCxn id="971" idx="0"/>
            <a:endCxn id="1042" idx="2"/>
          </p:cNvCxnSpPr>
          <p:nvPr/>
        </p:nvCxnSpPr>
        <p:spPr>
          <a:xfrm rot="10800000">
            <a:off x="5018738" y="4303972"/>
            <a:ext cx="2672400" cy="573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1048" name="Google Shape;1048;p54">
            <a:extLst>
              <a:ext uri="{FF2B5EF4-FFF2-40B4-BE49-F238E27FC236}">
                <a16:creationId xmlns:a16="http://schemas.microsoft.com/office/drawing/2014/main" id="{4B0D1661-FBD3-6A57-4863-7BE1FE5097C9}"/>
              </a:ext>
            </a:extLst>
          </p:cNvPr>
          <p:cNvGraphicFramePr/>
          <p:nvPr/>
        </p:nvGraphicFramePr>
        <p:xfrm>
          <a:off x="309389" y="1399111"/>
          <a:ext cx="5095329" cy="1314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sp>
        <p:nvSpPr>
          <p:cNvPr id="1049" name="Google Shape;1049;p54">
            <a:extLst>
              <a:ext uri="{FF2B5EF4-FFF2-40B4-BE49-F238E27FC236}">
                <a16:creationId xmlns:a16="http://schemas.microsoft.com/office/drawing/2014/main" id="{FE02EC62-18BA-CC6A-5D1E-58ECB9DD8FBF}"/>
              </a:ext>
            </a:extLst>
          </p:cNvPr>
          <p:cNvSpPr txBox="1"/>
          <p:nvPr/>
        </p:nvSpPr>
        <p:spPr>
          <a:xfrm>
            <a:off x="4587500" y="2846075"/>
            <a:ext cx="1212896" cy="293414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l="-2082" r="-1041" b="-2916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/>
          </a:p>
        </p:txBody>
      </p:sp>
      <p:cxnSp>
        <p:nvCxnSpPr>
          <p:cNvPr id="1050" name="Google Shape;1050;p54">
            <a:extLst>
              <a:ext uri="{FF2B5EF4-FFF2-40B4-BE49-F238E27FC236}">
                <a16:creationId xmlns:a16="http://schemas.microsoft.com/office/drawing/2014/main" id="{17BC1954-3A2C-4443-A397-CC1B3B8A2073}"/>
              </a:ext>
            </a:extLst>
          </p:cNvPr>
          <p:cNvCxnSpPr>
            <a:stCxn id="1021" idx="3"/>
            <a:endCxn id="970" idx="2"/>
          </p:cNvCxnSpPr>
          <p:nvPr/>
        </p:nvCxnSpPr>
        <p:spPr>
          <a:xfrm>
            <a:off x="6372347" y="3449132"/>
            <a:ext cx="603900" cy="1950000"/>
          </a:xfrm>
          <a:prstGeom prst="curvedConnector4">
            <a:avLst>
              <a:gd name="adj1" fmla="val 36536"/>
              <a:gd name="adj2" fmla="val 111722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51" name="Google Shape;1051;p54">
            <a:extLst>
              <a:ext uri="{FF2B5EF4-FFF2-40B4-BE49-F238E27FC236}">
                <a16:creationId xmlns:a16="http://schemas.microsoft.com/office/drawing/2014/main" id="{9B872626-FE1A-A2FE-B9F6-FF60CAA36126}"/>
              </a:ext>
            </a:extLst>
          </p:cNvPr>
          <p:cNvCxnSpPr>
            <a:stCxn id="981" idx="3"/>
            <a:endCxn id="971" idx="2"/>
          </p:cNvCxnSpPr>
          <p:nvPr/>
        </p:nvCxnSpPr>
        <p:spPr>
          <a:xfrm>
            <a:off x="7112323" y="3457811"/>
            <a:ext cx="578700" cy="1937100"/>
          </a:xfrm>
          <a:prstGeom prst="curvedConnector4">
            <a:avLst>
              <a:gd name="adj1" fmla="val 35968"/>
              <a:gd name="adj2" fmla="val 111799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52" name="Google Shape;1052;p54">
            <a:extLst>
              <a:ext uri="{FF2B5EF4-FFF2-40B4-BE49-F238E27FC236}">
                <a16:creationId xmlns:a16="http://schemas.microsoft.com/office/drawing/2014/main" id="{066830AA-16C2-9693-B3B1-8C6C2ECA1980}"/>
              </a:ext>
            </a:extLst>
          </p:cNvPr>
          <p:cNvCxnSpPr>
            <a:stCxn id="983" idx="3"/>
            <a:endCxn id="973" idx="2"/>
          </p:cNvCxnSpPr>
          <p:nvPr/>
        </p:nvCxnSpPr>
        <p:spPr>
          <a:xfrm>
            <a:off x="7839097" y="3429000"/>
            <a:ext cx="505200" cy="1963200"/>
          </a:xfrm>
          <a:prstGeom prst="curvedConnector4">
            <a:avLst>
              <a:gd name="adj1" fmla="val 33917"/>
              <a:gd name="adj2" fmla="val 111648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53" name="Google Shape;1053;p54">
            <a:extLst>
              <a:ext uri="{FF2B5EF4-FFF2-40B4-BE49-F238E27FC236}">
                <a16:creationId xmlns:a16="http://schemas.microsoft.com/office/drawing/2014/main" id="{68ACAC60-321A-C19B-1F6B-4823703692E4}"/>
              </a:ext>
            </a:extLst>
          </p:cNvPr>
          <p:cNvCxnSpPr>
            <a:stCxn id="985" idx="3"/>
            <a:endCxn id="975" idx="2"/>
          </p:cNvCxnSpPr>
          <p:nvPr/>
        </p:nvCxnSpPr>
        <p:spPr>
          <a:xfrm>
            <a:off x="8482688" y="3429000"/>
            <a:ext cx="563400" cy="1963200"/>
          </a:xfrm>
          <a:prstGeom prst="curvedConnector4">
            <a:avLst>
              <a:gd name="adj1" fmla="val 35573"/>
              <a:gd name="adj2" fmla="val 111648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54" name="Google Shape;1054;p54">
            <a:extLst>
              <a:ext uri="{FF2B5EF4-FFF2-40B4-BE49-F238E27FC236}">
                <a16:creationId xmlns:a16="http://schemas.microsoft.com/office/drawing/2014/main" id="{C3EA9F94-7699-8FDA-8AF2-7C6AD6E814EC}"/>
              </a:ext>
            </a:extLst>
          </p:cNvPr>
          <p:cNvCxnSpPr>
            <a:stCxn id="987" idx="3"/>
            <a:endCxn id="977" idx="2"/>
          </p:cNvCxnSpPr>
          <p:nvPr/>
        </p:nvCxnSpPr>
        <p:spPr>
          <a:xfrm>
            <a:off x="9186810" y="3429000"/>
            <a:ext cx="579600" cy="1970100"/>
          </a:xfrm>
          <a:prstGeom prst="curvedConnector4">
            <a:avLst>
              <a:gd name="adj1" fmla="val 35970"/>
              <a:gd name="adj2" fmla="val 111604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55" name="Google Shape;1055;p54">
            <a:extLst>
              <a:ext uri="{FF2B5EF4-FFF2-40B4-BE49-F238E27FC236}">
                <a16:creationId xmlns:a16="http://schemas.microsoft.com/office/drawing/2014/main" id="{B9A37239-34C8-44DE-FFBA-F2737CB15F46}"/>
              </a:ext>
            </a:extLst>
          </p:cNvPr>
          <p:cNvCxnSpPr>
            <a:stCxn id="989" idx="3"/>
            <a:endCxn id="994" idx="2"/>
          </p:cNvCxnSpPr>
          <p:nvPr/>
        </p:nvCxnSpPr>
        <p:spPr>
          <a:xfrm>
            <a:off x="9902977" y="3429000"/>
            <a:ext cx="602700" cy="1970100"/>
          </a:xfrm>
          <a:prstGeom prst="curvedConnector4">
            <a:avLst>
              <a:gd name="adj1" fmla="val 36523"/>
              <a:gd name="adj2" fmla="val 111604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56" name="Google Shape;1056;p54">
            <a:extLst>
              <a:ext uri="{FF2B5EF4-FFF2-40B4-BE49-F238E27FC236}">
                <a16:creationId xmlns:a16="http://schemas.microsoft.com/office/drawing/2014/main" id="{591881D7-66FE-A108-ADE4-C787DB29DCF3}"/>
              </a:ext>
            </a:extLst>
          </p:cNvPr>
          <p:cNvCxnSpPr>
            <a:stCxn id="997" idx="3"/>
            <a:endCxn id="995" idx="2"/>
          </p:cNvCxnSpPr>
          <p:nvPr/>
        </p:nvCxnSpPr>
        <p:spPr>
          <a:xfrm>
            <a:off x="10647521" y="3429000"/>
            <a:ext cx="560100" cy="1970100"/>
          </a:xfrm>
          <a:prstGeom prst="curvedConnector4">
            <a:avLst>
              <a:gd name="adj1" fmla="val 35479"/>
              <a:gd name="adj2" fmla="val 111604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57" name="Google Shape;1057;p54">
            <a:extLst>
              <a:ext uri="{FF2B5EF4-FFF2-40B4-BE49-F238E27FC236}">
                <a16:creationId xmlns:a16="http://schemas.microsoft.com/office/drawing/2014/main" id="{9087FBA8-086B-F837-7AA0-019CF65D0E05}"/>
              </a:ext>
            </a:extLst>
          </p:cNvPr>
          <p:cNvSpPr txBox="1"/>
          <p:nvPr/>
        </p:nvSpPr>
        <p:spPr>
          <a:xfrm>
            <a:off x="5847011" y="6008209"/>
            <a:ext cx="779381" cy="307736"/>
          </a:xfrm>
          <a:prstGeom prst="rect">
            <a:avLst/>
          </a:prstGeom>
          <a:noFill/>
          <a:ln w="952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&lt;SOS&gt;</a:t>
            </a:r>
            <a:endParaRPr/>
          </a:p>
        </p:txBody>
      </p:sp>
      <p:cxnSp>
        <p:nvCxnSpPr>
          <p:cNvPr id="1058" name="Google Shape;1058;p54">
            <a:extLst>
              <a:ext uri="{FF2B5EF4-FFF2-40B4-BE49-F238E27FC236}">
                <a16:creationId xmlns:a16="http://schemas.microsoft.com/office/drawing/2014/main" id="{487C61BF-A573-F297-936B-B4B80164B1C9}"/>
              </a:ext>
            </a:extLst>
          </p:cNvPr>
          <p:cNvCxnSpPr>
            <a:stCxn id="1057" idx="0"/>
          </p:cNvCxnSpPr>
          <p:nvPr/>
        </p:nvCxnSpPr>
        <p:spPr>
          <a:xfrm flipV="1">
            <a:off x="6236702" y="5397409"/>
            <a:ext cx="0" cy="610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059" name="Google Shape;1059;p54">
            <a:extLst>
              <a:ext uri="{FF2B5EF4-FFF2-40B4-BE49-F238E27FC236}">
                <a16:creationId xmlns:a16="http://schemas.microsoft.com/office/drawing/2014/main" id="{565FFDC1-E1D8-511D-BB7D-53EED5C12991}"/>
              </a:ext>
            </a:extLst>
          </p:cNvPr>
          <p:cNvGrpSpPr/>
          <p:nvPr/>
        </p:nvGrpSpPr>
        <p:grpSpPr>
          <a:xfrm>
            <a:off x="6074182" y="1820587"/>
            <a:ext cx="5544090" cy="755199"/>
            <a:chOff x="6198767" y="1259878"/>
            <a:chExt cx="5544090" cy="755199"/>
          </a:xfrm>
        </p:grpSpPr>
        <p:sp>
          <p:nvSpPr>
            <p:cNvPr id="1060" name="Google Shape;1060;p54">
              <a:extLst>
                <a:ext uri="{FF2B5EF4-FFF2-40B4-BE49-F238E27FC236}">
                  <a16:creationId xmlns:a16="http://schemas.microsoft.com/office/drawing/2014/main" id="{F6BCEDB5-E30C-42E8-56A5-B5B5D554435B}"/>
                </a:ext>
              </a:extLst>
            </p:cNvPr>
            <p:cNvSpPr txBox="1"/>
            <p:nvPr/>
          </p:nvSpPr>
          <p:spPr>
            <a:xfrm>
              <a:off x="6198767" y="1703196"/>
              <a:ext cx="352982" cy="307736"/>
            </a:xfrm>
            <a:prstGeom prst="rect">
              <a:avLst/>
            </a:prstGeom>
            <a:noFill/>
            <a:ln w="9525" cap="flat" cmpd="sng">
              <a:solidFill>
                <a:srgbClr val="31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le</a:t>
              </a:r>
              <a:endParaRPr/>
            </a:p>
          </p:txBody>
        </p:sp>
        <p:sp>
          <p:nvSpPr>
            <p:cNvPr id="1061" name="Google Shape;1061;p54">
              <a:extLst>
                <a:ext uri="{FF2B5EF4-FFF2-40B4-BE49-F238E27FC236}">
                  <a16:creationId xmlns:a16="http://schemas.microsoft.com/office/drawing/2014/main" id="{806AD175-4F72-BE81-FBAD-B6A4BD49FDDC}"/>
                </a:ext>
              </a:extLst>
            </p:cNvPr>
            <p:cNvSpPr txBox="1"/>
            <p:nvPr/>
          </p:nvSpPr>
          <p:spPr>
            <a:xfrm>
              <a:off x="6825823" y="1705780"/>
              <a:ext cx="589713" cy="307736"/>
            </a:xfrm>
            <a:prstGeom prst="rect">
              <a:avLst/>
            </a:prstGeom>
            <a:noFill/>
            <a:ln w="9525" cap="flat" cmpd="sng">
              <a:solidFill>
                <a:srgbClr val="31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chat</a:t>
              </a:r>
              <a:endParaRPr/>
            </a:p>
          </p:txBody>
        </p:sp>
        <p:sp>
          <p:nvSpPr>
            <p:cNvPr id="1062" name="Google Shape;1062;p54">
              <a:extLst>
                <a:ext uri="{FF2B5EF4-FFF2-40B4-BE49-F238E27FC236}">
                  <a16:creationId xmlns:a16="http://schemas.microsoft.com/office/drawing/2014/main" id="{39E49ACC-124E-5DC4-77F8-6E19EF6A59B3}"/>
                </a:ext>
              </a:extLst>
            </p:cNvPr>
            <p:cNvSpPr txBox="1"/>
            <p:nvPr/>
          </p:nvSpPr>
          <p:spPr>
            <a:xfrm>
              <a:off x="7559853" y="1703196"/>
              <a:ext cx="561372" cy="307736"/>
            </a:xfrm>
            <a:prstGeom prst="rect">
              <a:avLst/>
            </a:prstGeom>
            <a:noFill/>
            <a:ln w="9525" cap="flat" cmpd="sng">
              <a:solidFill>
                <a:srgbClr val="31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noir</a:t>
              </a:r>
              <a:endParaRPr/>
            </a:p>
          </p:txBody>
        </p:sp>
        <p:sp>
          <p:nvSpPr>
            <p:cNvPr id="1063" name="Google Shape;1063;p54">
              <a:extLst>
                <a:ext uri="{FF2B5EF4-FFF2-40B4-BE49-F238E27FC236}">
                  <a16:creationId xmlns:a16="http://schemas.microsoft.com/office/drawing/2014/main" id="{48547335-2DC6-DF1B-5093-C61BBF5AB846}"/>
                </a:ext>
              </a:extLst>
            </p:cNvPr>
            <p:cNvSpPr txBox="1"/>
            <p:nvPr/>
          </p:nvSpPr>
          <p:spPr>
            <a:xfrm>
              <a:off x="8333596" y="1707341"/>
              <a:ext cx="295274" cy="307736"/>
            </a:xfrm>
            <a:prstGeom prst="rect">
              <a:avLst/>
            </a:prstGeom>
            <a:noFill/>
            <a:ln w="9525" cap="flat" cmpd="sng">
              <a:solidFill>
                <a:srgbClr val="31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</a:t>
              </a:r>
              <a:endParaRPr/>
            </a:p>
          </p:txBody>
        </p:sp>
        <p:sp>
          <p:nvSpPr>
            <p:cNvPr id="1064" name="Google Shape;1064;p54">
              <a:extLst>
                <a:ext uri="{FF2B5EF4-FFF2-40B4-BE49-F238E27FC236}">
                  <a16:creationId xmlns:a16="http://schemas.microsoft.com/office/drawing/2014/main" id="{46C74604-24FE-D97B-3F58-0ECE3D44D5E7}"/>
                </a:ext>
              </a:extLst>
            </p:cNvPr>
            <p:cNvSpPr txBox="1"/>
            <p:nvPr/>
          </p:nvSpPr>
          <p:spPr>
            <a:xfrm>
              <a:off x="8973655" y="1703795"/>
              <a:ext cx="428322" cy="307736"/>
            </a:xfrm>
            <a:prstGeom prst="rect">
              <a:avLst/>
            </a:prstGeom>
            <a:noFill/>
            <a:ln w="9525" cap="flat" cmpd="sng">
              <a:solidFill>
                <a:srgbClr val="31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bu</a:t>
              </a:r>
              <a:endParaRPr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65" name="Google Shape;1065;p54">
              <a:extLst>
                <a:ext uri="{FF2B5EF4-FFF2-40B4-BE49-F238E27FC236}">
                  <a16:creationId xmlns:a16="http://schemas.microsoft.com/office/drawing/2014/main" id="{A602ACD5-C52D-17C3-90C9-C1FE1CDA0014}"/>
                </a:ext>
              </a:extLst>
            </p:cNvPr>
            <p:cNvSpPr txBox="1"/>
            <p:nvPr/>
          </p:nvSpPr>
          <p:spPr>
            <a:xfrm>
              <a:off x="9689909" y="1704649"/>
              <a:ext cx="428322" cy="307736"/>
            </a:xfrm>
            <a:prstGeom prst="rect">
              <a:avLst/>
            </a:prstGeom>
            <a:noFill/>
            <a:ln w="9525" cap="flat" cmpd="sng">
              <a:solidFill>
                <a:srgbClr val="31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du</a:t>
              </a:r>
              <a:endParaRPr/>
            </a:p>
          </p:txBody>
        </p:sp>
        <p:sp>
          <p:nvSpPr>
            <p:cNvPr id="1066" name="Google Shape;1066;p54">
              <a:extLst>
                <a:ext uri="{FF2B5EF4-FFF2-40B4-BE49-F238E27FC236}">
                  <a16:creationId xmlns:a16="http://schemas.microsoft.com/office/drawing/2014/main" id="{DF2C1185-6CD2-3C05-0042-0426930BBB11}"/>
                </a:ext>
              </a:extLst>
            </p:cNvPr>
            <p:cNvSpPr txBox="1"/>
            <p:nvPr/>
          </p:nvSpPr>
          <p:spPr>
            <a:xfrm>
              <a:off x="10402380" y="1703196"/>
              <a:ext cx="478016" cy="307736"/>
            </a:xfrm>
            <a:prstGeom prst="rect">
              <a:avLst/>
            </a:prstGeom>
            <a:noFill/>
            <a:ln w="9525" cap="flat" cmpd="sng">
              <a:solidFill>
                <a:srgbClr val="31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lait</a:t>
              </a:r>
              <a:endParaRPr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67" name="Google Shape;1067;p54">
              <a:extLst>
                <a:ext uri="{FF2B5EF4-FFF2-40B4-BE49-F238E27FC236}">
                  <a16:creationId xmlns:a16="http://schemas.microsoft.com/office/drawing/2014/main" id="{C3E47D70-F9E7-46E2-AF4C-C79A0628E951}"/>
                </a:ext>
              </a:extLst>
            </p:cNvPr>
            <p:cNvSpPr txBox="1"/>
            <p:nvPr/>
          </p:nvSpPr>
          <p:spPr>
            <a:xfrm>
              <a:off x="10960655" y="1685020"/>
              <a:ext cx="782202" cy="307736"/>
            </a:xfrm>
            <a:prstGeom prst="rect">
              <a:avLst/>
            </a:prstGeom>
            <a:noFill/>
            <a:ln w="9525" cap="flat" cmpd="sng">
              <a:solidFill>
                <a:srgbClr val="31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&lt;EOS&gt;</a:t>
              </a:r>
              <a:endParaRPr/>
            </a:p>
          </p:txBody>
        </p:sp>
        <p:sp>
          <p:nvSpPr>
            <p:cNvPr id="1068" name="Google Shape;1068;p54">
              <a:extLst>
                <a:ext uri="{FF2B5EF4-FFF2-40B4-BE49-F238E27FC236}">
                  <a16:creationId xmlns:a16="http://schemas.microsoft.com/office/drawing/2014/main" id="{D366DB79-1F76-3308-BE4C-4E2A8F5C3CDC}"/>
                </a:ext>
              </a:extLst>
            </p:cNvPr>
            <p:cNvSpPr txBox="1"/>
            <p:nvPr/>
          </p:nvSpPr>
          <p:spPr>
            <a:xfrm>
              <a:off x="6950786" y="1259878"/>
              <a:ext cx="404720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We</a:t>
              </a:r>
              <a:r>
                <a:rPr lang="ko-KR" sz="18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sz="18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hope</a:t>
              </a:r>
              <a:r>
                <a:rPr lang="ko-KR" sz="18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sz="18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to</a:t>
              </a:r>
              <a:r>
                <a:rPr lang="ko-KR" sz="18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sz="18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produce</a:t>
              </a:r>
              <a:r>
                <a:rPr lang="ko-KR" sz="18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sz="18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this</a:t>
              </a:r>
              <a:r>
                <a:rPr lang="ko-KR" sz="18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sz="1800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output</a:t>
              </a:r>
              <a:r>
                <a:rPr lang="ko-KR" sz="18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:</a:t>
              </a:r>
              <a:endParaRPr dirty="0"/>
            </a:p>
          </p:txBody>
        </p:sp>
      </p:grpSp>
      <p:sp>
        <p:nvSpPr>
          <p:cNvPr id="6" name="Google Shape;585;p50">
            <a:extLst>
              <a:ext uri="{FF2B5EF4-FFF2-40B4-BE49-F238E27FC236}">
                <a16:creationId xmlns:a16="http://schemas.microsoft.com/office/drawing/2014/main" id="{7A2011F9-AD88-08B5-54E3-E9939ADFFB66}"/>
              </a:ext>
            </a:extLst>
          </p:cNvPr>
          <p:cNvSpPr txBox="1"/>
          <p:nvPr/>
        </p:nvSpPr>
        <p:spPr>
          <a:xfrm>
            <a:off x="838200" y="6412342"/>
            <a:ext cx="814054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Neural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Machine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Translation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by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Jointly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Learning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to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Align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and </a:t>
            </a:r>
            <a:r>
              <a:rPr lang="ko-KR" sz="1000" dirty="0" err="1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Translate</a:t>
            </a:r>
            <a:r>
              <a:rPr lang="ko-KR" sz="1000" dirty="0">
                <a:solidFill>
                  <a:schemeClr val="dk1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000" dirty="0">
                <a:solidFill>
                  <a:srgbClr val="000000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(2014)</a:t>
            </a:r>
            <a:endParaRPr sz="1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12C50F-B241-B957-4FD7-29D025B49A1F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761461" y="2698379"/>
            <a:ext cx="2573458" cy="58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95981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66668EF4-BEE6-7D89-FA6D-660257A3E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6">
            <a:extLst>
              <a:ext uri="{FF2B5EF4-FFF2-40B4-BE49-F238E27FC236}">
                <a16:creationId xmlns:a16="http://schemas.microsoft.com/office/drawing/2014/main" id="{21B55ABD-5487-71AA-5579-0C7902E86F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 altLang="ko-KR" b="1" dirty="0">
                <a:latin typeface="+mj-ea"/>
                <a:ea typeface="+mj-ea"/>
              </a:rPr>
              <a:t>Task</a:t>
            </a:r>
            <a:r>
              <a:rPr lang="ko-KR" b="1" dirty="0">
                <a:latin typeface="+mj-ea"/>
                <a:ea typeface="+mj-ea"/>
              </a:rPr>
              <a:t> </a:t>
            </a:r>
            <a:r>
              <a:rPr lang="en-US" altLang="ko-KR" b="1" dirty="0">
                <a:latin typeface="+mj-ea"/>
                <a:ea typeface="+mj-ea"/>
              </a:rPr>
              <a:t>3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472" name="Google Shape;472;p46">
            <a:extLst>
              <a:ext uri="{FF2B5EF4-FFF2-40B4-BE49-F238E27FC236}">
                <a16:creationId xmlns:a16="http://schemas.microsoft.com/office/drawing/2014/main" id="{43509E2E-D600-577A-A508-BFC227B580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목표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LSTM &amp;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RNN으로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seq2seq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 구조로 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영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어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-프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랑스어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번역기를 만들어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보기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473" name="Google Shape;473;p46">
            <a:extLst>
              <a:ext uri="{FF2B5EF4-FFF2-40B4-BE49-F238E27FC236}">
                <a16:creationId xmlns:a16="http://schemas.microsoft.com/office/drawing/2014/main" id="{EF811F10-4CC4-BA4B-6202-9F150B8FB1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65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182932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 altLang="ko-KR" b="1" dirty="0">
                <a:latin typeface="+mj-ea"/>
                <a:ea typeface="+mj-ea"/>
              </a:rPr>
              <a:t>Practice 5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472" name="Google Shape;472;p4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목표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Seq2Seq으로 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영어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-한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국어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번역기 만들어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보기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473" name="Google Shape;473;p4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66</a:t>
            </a:fld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5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 b="1" dirty="0">
                <a:latin typeface="+mj-ea"/>
                <a:ea typeface="+mj-ea"/>
              </a:rPr>
              <a:t>Task </a:t>
            </a:r>
            <a:r>
              <a:rPr lang="en-US" altLang="ko-KR" b="1" dirty="0">
                <a:latin typeface="+mj-ea"/>
                <a:ea typeface="+mj-ea"/>
              </a:rPr>
              <a:t>4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1075" name="Google Shape;1075;p5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Attention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을 사용해 영어</a:t>
            </a:r>
            <a:r>
              <a:rPr lang="en-US" altLang="ko-KR" sz="1800" dirty="0">
                <a:latin typeface="+mj-ea"/>
                <a:ea typeface="+mj-ea"/>
                <a:cs typeface="Arial"/>
                <a:sym typeface="Arial"/>
              </a:rPr>
              <a:t>-</a:t>
            </a:r>
            <a:r>
              <a:rPr lang="ko-KR" altLang="en-US" sz="1800" dirty="0">
                <a:latin typeface="+mj-ea"/>
                <a:ea typeface="+mj-ea"/>
                <a:cs typeface="Arial"/>
                <a:sym typeface="Arial"/>
              </a:rPr>
              <a:t>한국어 번역기를 만들어보기</a:t>
            </a:r>
            <a:endParaRPr lang="en-US" altLang="ko-KR" sz="1800" dirty="0">
              <a:latin typeface="+mj-ea"/>
              <a:ea typeface="+mj-ea"/>
              <a:cs typeface="Arial"/>
              <a:sym typeface="Arial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endParaRPr lang="en-US" altLang="ko-KR" sz="1800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1076" name="Google Shape;1076;p5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67</a:t>
            </a:fld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 altLang="ko-KR" b="1" dirty="0">
                <a:latin typeface="+mj-ea"/>
                <a:ea typeface="+mj-ea"/>
              </a:rPr>
              <a:t>Task 5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1082" name="Google Shape;1082;p5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We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are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now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in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multimodal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era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!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Multimodal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: </a:t>
            </a:r>
            <a:r>
              <a:rPr lang="ko-KR" sz="1800" dirty="0">
                <a:latin typeface="+mj-ea"/>
                <a:ea typeface="+mj-ea"/>
              </a:rPr>
              <a:t>텍스트, 이미지, 음성 등 다양한 형태의 데이터를 통합하여 이해하고 처리하는 방식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입력받은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Image를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이해해서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Text를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출력할 수는 없을까?</a:t>
            </a:r>
            <a:endParaRPr sz="1800" dirty="0">
              <a:latin typeface="+mj-ea"/>
              <a:ea typeface="+mj-ea"/>
            </a:endParaRPr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1083" name="Google Shape;1083;p5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68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5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 altLang="ko-KR" b="1" dirty="0">
                <a:latin typeface="+mj-ea"/>
                <a:ea typeface="+mj-ea"/>
              </a:rPr>
              <a:t>Task 5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1089" name="Google Shape;1089;p5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Image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Captioning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with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LSTM</a:t>
            </a:r>
            <a:endParaRPr sz="1800" dirty="0">
              <a:latin typeface="+mj-ea"/>
              <a:ea typeface="+mj-ea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dirty="0">
                <a:latin typeface="+mj-ea"/>
                <a:ea typeface="+mj-ea"/>
              </a:rPr>
              <a:t>VGG16으로 이미지 특징을 추출하고, </a:t>
            </a:r>
            <a:r>
              <a:rPr lang="ko-KR" sz="1800" dirty="0" err="1">
                <a:latin typeface="+mj-ea"/>
                <a:ea typeface="+mj-ea"/>
              </a:rPr>
              <a:t>LSTM으로</a:t>
            </a:r>
            <a:r>
              <a:rPr lang="ko-KR" sz="1800" dirty="0">
                <a:latin typeface="+mj-ea"/>
                <a:ea typeface="+mj-ea"/>
              </a:rPr>
              <a:t> 캡션을 생성하는 이미지 </a:t>
            </a:r>
            <a:r>
              <a:rPr lang="ko-KR" sz="1800" dirty="0" err="1">
                <a:latin typeface="+mj-ea"/>
                <a:ea typeface="+mj-ea"/>
              </a:rPr>
              <a:t>captioning</a:t>
            </a:r>
            <a:r>
              <a:rPr lang="ko-KR" sz="1800" dirty="0">
                <a:latin typeface="+mj-ea"/>
                <a:ea typeface="+mj-ea"/>
              </a:rPr>
              <a:t> 모델 설계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228600" lvl="0" indent="-50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>
                <a:latin typeface="+mj-ea"/>
                <a:ea typeface="+mj-ea"/>
              </a:rPr>
              <a:t>VGG16 </a:t>
            </a:r>
            <a:r>
              <a:rPr lang="ko-KR" sz="1800" dirty="0" err="1">
                <a:latin typeface="+mj-ea"/>
                <a:ea typeface="+mj-ea"/>
              </a:rPr>
              <a:t>encoder</a:t>
            </a:r>
            <a:endParaRPr sz="1800" dirty="0">
              <a:latin typeface="+mj-ea"/>
              <a:ea typeface="+mj-ea"/>
            </a:endParaRPr>
          </a:p>
          <a:p>
            <a:pPr marL="228600" lvl="0" indent="-50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None/>
            </a:pPr>
            <a:endParaRPr lang="en-US" sz="1800" dirty="0">
              <a:latin typeface="+mj-ea"/>
              <a:ea typeface="+mj-ea"/>
            </a:endParaRPr>
          </a:p>
          <a:p>
            <a:pPr marL="228600" lvl="0" indent="-50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None/>
            </a:pPr>
            <a:endParaRPr sz="1800" dirty="0">
              <a:latin typeface="+mj-ea"/>
              <a:ea typeface="+mj-ea"/>
            </a:endParaRPr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>
                <a:latin typeface="+mj-ea"/>
                <a:ea typeface="+mj-ea"/>
              </a:rPr>
              <a:t>LSTM </a:t>
            </a:r>
            <a:r>
              <a:rPr lang="ko-KR" sz="1800" dirty="0" err="1">
                <a:latin typeface="+mj-ea"/>
                <a:ea typeface="+mj-ea"/>
              </a:rPr>
              <a:t>decoder</a:t>
            </a:r>
            <a:endParaRPr sz="1800" dirty="0">
              <a:latin typeface="+mj-ea"/>
              <a:ea typeface="+mj-ea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1090" name="Google Shape;1090;p5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69</a:t>
            </a:fld>
            <a:endParaRPr/>
          </a:p>
        </p:txBody>
      </p:sp>
      <p:pic>
        <p:nvPicPr>
          <p:cNvPr id="1091" name="Google Shape;1091;p57"/>
          <p:cNvPicPr preferRelativeResize="0"/>
          <p:nvPr/>
        </p:nvPicPr>
        <p:blipFill rotWithShape="1">
          <a:blip r:embed="rId3">
            <a:alphaModFix/>
          </a:blip>
          <a:srcRect t="21929" r="58184" b="9216"/>
          <a:stretch/>
        </p:blipFill>
        <p:spPr>
          <a:xfrm>
            <a:off x="3299485" y="2389071"/>
            <a:ext cx="2267656" cy="152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2" name="Google Shape;1092;p57"/>
          <p:cNvPicPr preferRelativeResize="0"/>
          <p:nvPr/>
        </p:nvPicPr>
        <p:blipFill rotWithShape="1">
          <a:blip r:embed="rId3">
            <a:alphaModFix/>
          </a:blip>
          <a:srcRect l="59719" t="28050" b="19415"/>
          <a:stretch/>
        </p:blipFill>
        <p:spPr>
          <a:xfrm>
            <a:off x="3382741" y="4197096"/>
            <a:ext cx="2184400" cy="1162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5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 altLang="ko-KR" b="1" dirty="0">
                <a:latin typeface="+mj-ea"/>
                <a:ea typeface="+mj-ea"/>
              </a:rPr>
              <a:t>Task</a:t>
            </a:r>
            <a:r>
              <a:rPr lang="ko-KR" altLang="en-US" b="1" dirty="0">
                <a:latin typeface="+mj-ea"/>
                <a:ea typeface="+mj-ea"/>
              </a:rPr>
              <a:t> </a:t>
            </a:r>
            <a:r>
              <a:rPr lang="en-US" altLang="ko-KR" b="1" dirty="0">
                <a:latin typeface="+mj-ea"/>
                <a:ea typeface="+mj-ea"/>
              </a:rPr>
              <a:t>5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1098" name="Google Shape;1098;p5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Image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Captioning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1800" dirty="0" err="1">
                <a:latin typeface="+mj-ea"/>
                <a:ea typeface="+mj-ea"/>
                <a:cs typeface="Arial"/>
                <a:sym typeface="Arial"/>
              </a:rPr>
              <a:t>with</a:t>
            </a:r>
            <a:r>
              <a:rPr lang="ko-KR" sz="1800" dirty="0">
                <a:latin typeface="+mj-ea"/>
                <a:ea typeface="+mj-ea"/>
                <a:cs typeface="Arial"/>
                <a:sym typeface="Arial"/>
              </a:rPr>
              <a:t> LSTM</a:t>
            </a:r>
            <a:endParaRPr sz="1800" dirty="0">
              <a:latin typeface="+mj-ea"/>
              <a:ea typeface="+mj-ea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800" dirty="0">
                <a:latin typeface="+mj-ea"/>
                <a:ea typeface="+mj-ea"/>
              </a:rPr>
              <a:t>VGG16으로 이미지 특징을 추출하고, </a:t>
            </a:r>
            <a:r>
              <a:rPr lang="ko-KR" sz="1800" dirty="0" err="1">
                <a:latin typeface="+mj-ea"/>
                <a:ea typeface="+mj-ea"/>
              </a:rPr>
              <a:t>LSTM으로</a:t>
            </a:r>
            <a:r>
              <a:rPr lang="ko-KR" sz="1800" dirty="0">
                <a:latin typeface="+mj-ea"/>
                <a:ea typeface="+mj-ea"/>
              </a:rPr>
              <a:t> 캡션을 생성하는 이미지 </a:t>
            </a:r>
            <a:r>
              <a:rPr lang="ko-KR" sz="1800" dirty="0" err="1">
                <a:latin typeface="+mj-ea"/>
                <a:ea typeface="+mj-ea"/>
              </a:rPr>
              <a:t>captioning</a:t>
            </a:r>
            <a:r>
              <a:rPr lang="ko-KR" sz="1800" dirty="0">
                <a:latin typeface="+mj-ea"/>
                <a:ea typeface="+mj-ea"/>
              </a:rPr>
              <a:t> 모델 설계</a:t>
            </a: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 err="1">
                <a:latin typeface="+mj-ea"/>
                <a:ea typeface="+mj-ea"/>
              </a:rPr>
              <a:t>Image</a:t>
            </a:r>
            <a:r>
              <a:rPr lang="ko-KR" sz="1800" dirty="0">
                <a:latin typeface="+mj-ea"/>
                <a:ea typeface="+mj-ea"/>
              </a:rPr>
              <a:t> : Flickr8k_Dataset</a:t>
            </a:r>
            <a:endParaRPr sz="1800" dirty="0">
              <a:latin typeface="+mj-ea"/>
              <a:ea typeface="+mj-ea"/>
            </a:endParaRPr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Char char="•"/>
            </a:pPr>
            <a:r>
              <a:rPr lang="ko-KR" sz="1800" dirty="0" err="1">
                <a:latin typeface="+mj-ea"/>
                <a:ea typeface="+mj-ea"/>
              </a:rPr>
              <a:t>Let’s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test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with</a:t>
            </a:r>
            <a:r>
              <a:rPr lang="ko-KR" sz="1800" dirty="0">
                <a:latin typeface="+mj-ea"/>
                <a:ea typeface="+mj-ea"/>
              </a:rPr>
              <a:t> </a:t>
            </a:r>
            <a:r>
              <a:rPr lang="ko-KR" sz="1800" dirty="0" err="1">
                <a:latin typeface="+mj-ea"/>
                <a:ea typeface="+mj-ea"/>
              </a:rPr>
              <a:t>image</a:t>
            </a:r>
            <a:r>
              <a:rPr lang="ko-KR" sz="1800" dirty="0">
                <a:latin typeface="+mj-ea"/>
                <a:ea typeface="+mj-ea"/>
              </a:rPr>
              <a:t>!</a:t>
            </a:r>
            <a:endParaRPr sz="1800" dirty="0">
              <a:latin typeface="+mj-ea"/>
              <a:ea typeface="+mj-ea"/>
            </a:endParaRPr>
          </a:p>
          <a:p>
            <a:pPr marL="228600" lvl="0" indent="-50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800" dirty="0">
              <a:latin typeface="+mj-ea"/>
              <a:ea typeface="+mj-ea"/>
              <a:cs typeface="Arial"/>
              <a:sym typeface="Arial"/>
            </a:endParaRPr>
          </a:p>
          <a:p>
            <a:pPr marL="685800" lvl="1" indent="-762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1099" name="Google Shape;1099;p5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70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3">
          <a:extLst>
            <a:ext uri="{FF2B5EF4-FFF2-40B4-BE49-F238E27FC236}">
              <a16:creationId xmlns:a16="http://schemas.microsoft.com/office/drawing/2014/main" id="{43C730B4-114F-04C7-D258-6A98D5DD2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59">
            <a:extLst>
              <a:ext uri="{FF2B5EF4-FFF2-40B4-BE49-F238E27FC236}">
                <a16:creationId xmlns:a16="http://schemas.microsoft.com/office/drawing/2014/main" id="{7AD02422-BA29-7F4B-15BA-D27721CB28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2717263"/>
            <a:ext cx="10515600" cy="1423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en-US" altLang="ko-KR" sz="4400" b="1" dirty="0">
                <a:latin typeface="+mj-ea"/>
                <a:ea typeface="+mj-ea"/>
                <a:cs typeface="Arial"/>
                <a:sym typeface="Arial"/>
              </a:rPr>
              <a:t>Next Lecture: 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en-US" altLang="ko-KR" sz="3800" b="1" dirty="0">
                <a:latin typeface="+mj-ea"/>
                <a:ea typeface="+mj-ea"/>
                <a:cs typeface="Arial"/>
                <a:sym typeface="Arial"/>
              </a:rPr>
              <a:t>Language Model after Transformer</a:t>
            </a:r>
            <a:endParaRPr sz="3800" b="1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1105" name="Google Shape;1105;p59">
            <a:extLst>
              <a:ext uri="{FF2B5EF4-FFF2-40B4-BE49-F238E27FC236}">
                <a16:creationId xmlns:a16="http://schemas.microsoft.com/office/drawing/2014/main" id="{A8D1B1E2-6516-C3F3-0F0E-BAC3121DCE8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71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655197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59"/>
          <p:cNvSpPr txBox="1">
            <a:spLocks noGrp="1"/>
          </p:cNvSpPr>
          <p:nvPr>
            <p:ph type="body" idx="1"/>
          </p:nvPr>
        </p:nvSpPr>
        <p:spPr>
          <a:xfrm>
            <a:off x="838200" y="2999670"/>
            <a:ext cx="10515600" cy="85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ko-KR" sz="4400" b="1" dirty="0" err="1">
                <a:latin typeface="+mj-ea"/>
                <a:ea typeface="+mj-ea"/>
                <a:cs typeface="Arial"/>
                <a:sym typeface="Arial"/>
              </a:rPr>
              <a:t>Thank</a:t>
            </a:r>
            <a:r>
              <a:rPr lang="ko-KR" sz="4400" b="1" dirty="0">
                <a:latin typeface="+mj-ea"/>
                <a:ea typeface="+mj-ea"/>
                <a:cs typeface="Arial"/>
                <a:sym typeface="Arial"/>
              </a:rPr>
              <a:t> </a:t>
            </a:r>
            <a:r>
              <a:rPr lang="ko-KR" sz="4400" b="1" dirty="0" err="1">
                <a:latin typeface="+mj-ea"/>
                <a:ea typeface="+mj-ea"/>
                <a:cs typeface="Arial"/>
                <a:sym typeface="Arial"/>
              </a:rPr>
              <a:t>you</a:t>
            </a:r>
            <a:endParaRPr sz="4400" b="1" dirty="0"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1105" name="Google Shape;1105;p5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72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1515</TotalTime>
  <Words>2545</Words>
  <Application>Microsoft Macintosh PowerPoint</Application>
  <PresentationFormat>Widescreen</PresentationFormat>
  <Paragraphs>641</Paragraphs>
  <Slides>72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7" baseType="lpstr">
      <vt:lpstr>Malgun Gothic</vt:lpstr>
      <vt:lpstr>Arial</vt:lpstr>
      <vt:lpstr>Cambria Math</vt:lpstr>
      <vt:lpstr>Wingdings</vt:lpstr>
      <vt:lpstr>Office 테마</vt:lpstr>
      <vt:lpstr>Word Embedding  &amp; Sequential Learning</vt:lpstr>
      <vt:lpstr>Contents</vt:lpstr>
      <vt:lpstr>PowerPoint Presentation</vt:lpstr>
      <vt:lpstr>Welcome to the NLP!</vt:lpstr>
      <vt:lpstr>Welcome to the NLP!</vt:lpstr>
      <vt:lpstr>Welcome to the NLP!</vt:lpstr>
      <vt:lpstr>Welcome to the NLP!</vt:lpstr>
      <vt:lpstr>PowerPoint Presentation</vt:lpstr>
      <vt:lpstr>Word Vector</vt:lpstr>
      <vt:lpstr>Word Embedding</vt:lpstr>
      <vt:lpstr>One-hot Encoding</vt:lpstr>
      <vt:lpstr>One-hot Encoding</vt:lpstr>
      <vt:lpstr>Good Word Vector?</vt:lpstr>
      <vt:lpstr>Word Embedding</vt:lpstr>
      <vt:lpstr>Word Embedding</vt:lpstr>
      <vt:lpstr>Word Embedding</vt:lpstr>
      <vt:lpstr>Word Embedding</vt:lpstr>
      <vt:lpstr>Word2Vec</vt:lpstr>
      <vt:lpstr>GloVe</vt:lpstr>
      <vt:lpstr>Cosine Similarity</vt:lpstr>
      <vt:lpstr>Word Embedding</vt:lpstr>
      <vt:lpstr>Practice 1</vt:lpstr>
      <vt:lpstr>Practice 2</vt:lpstr>
      <vt:lpstr>Practice 3</vt:lpstr>
      <vt:lpstr>Task 1</vt:lpstr>
      <vt:lpstr>Word Embedding</vt:lpstr>
      <vt:lpstr>Word Embedding</vt:lpstr>
      <vt:lpstr>Task 1</vt:lpstr>
      <vt:lpstr>How about sentence?</vt:lpstr>
      <vt:lpstr>Tokenization</vt:lpstr>
      <vt:lpstr>Tokenization</vt:lpstr>
      <vt:lpstr>Tokenization</vt:lpstr>
      <vt:lpstr>PowerPoint Presentation</vt:lpstr>
      <vt:lpstr>Sequential Learning</vt:lpstr>
      <vt:lpstr>Sequential Learning</vt:lpstr>
      <vt:lpstr>Sequential Learning</vt:lpstr>
      <vt:lpstr>Recurrent Neural Networks</vt:lpstr>
      <vt:lpstr>RNN</vt:lpstr>
      <vt:lpstr>RNN</vt:lpstr>
      <vt:lpstr>RNN</vt:lpstr>
      <vt:lpstr>LSTM</vt:lpstr>
      <vt:lpstr>LSTM</vt:lpstr>
      <vt:lpstr>LSTM</vt:lpstr>
      <vt:lpstr>LSTM</vt:lpstr>
      <vt:lpstr>Task 2.1</vt:lpstr>
      <vt:lpstr>Task 2.2</vt:lpstr>
      <vt:lpstr>Neural Machine Translation</vt:lpstr>
      <vt:lpstr>Moving onto Seq2Seq</vt:lpstr>
      <vt:lpstr>Seq2Seq</vt:lpstr>
      <vt:lpstr>Seq2Seq</vt:lpstr>
      <vt:lpstr>How can we evaluate?</vt:lpstr>
      <vt:lpstr>How can we evaluate?</vt:lpstr>
      <vt:lpstr>Benchmark</vt:lpstr>
      <vt:lpstr>한계</vt:lpstr>
      <vt:lpstr>한계</vt:lpstr>
      <vt:lpstr>New Paradigm “Attention”</vt:lpstr>
      <vt:lpstr>PowerPoint Presentation</vt:lpstr>
      <vt:lpstr>PowerPoint Presentation</vt:lpstr>
      <vt:lpstr>Attention</vt:lpstr>
      <vt:lpstr>Attention</vt:lpstr>
      <vt:lpstr>Attention</vt:lpstr>
      <vt:lpstr>Attention</vt:lpstr>
      <vt:lpstr>Attention</vt:lpstr>
      <vt:lpstr>Attention</vt:lpstr>
      <vt:lpstr>Task 3</vt:lpstr>
      <vt:lpstr>Practice 5</vt:lpstr>
      <vt:lpstr>Task 4</vt:lpstr>
      <vt:lpstr>Task 5</vt:lpstr>
      <vt:lpstr>Task 5</vt:lpstr>
      <vt:lpstr>Task 5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금민 가</dc:creator>
  <cp:lastModifiedBy>최동욱</cp:lastModifiedBy>
  <cp:revision>22</cp:revision>
  <dcterms:created xsi:type="dcterms:W3CDTF">2024-06-19T05:33:31Z</dcterms:created>
  <dcterms:modified xsi:type="dcterms:W3CDTF">2025-06-16T03:05:14Z</dcterms:modified>
</cp:coreProperties>
</file>
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3" r:id="rId1"/>
  </p:sldMasterIdLst>
  <p:notesMasterIdLst>
    <p:notesMasterId r:id="rId11"/>
  </p:notesMasterIdLst>
  <p:sldIdLst>
    <p:sldId id="259" r:id="rId2"/>
    <p:sldId id="272" r:id="rId3"/>
    <p:sldId id="277" r:id="rId4"/>
    <p:sldId id="292" r:id="rId5"/>
    <p:sldId id="290" r:id="rId6"/>
    <p:sldId id="291" r:id="rId7"/>
    <p:sldId id="294" r:id="rId8"/>
    <p:sldId id="293" r:id="rId9"/>
    <p:sldId id="258" r:id="rId10"/>
  </p:sldIdLst>
  <p:sldSz cx="9144000" cy="6858000" type="screen4x3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989E573D-705E-4555-A7EE-9007891D1473}">
          <p14:sldIdLst>
            <p14:sldId id="259"/>
          </p14:sldIdLst>
        </p14:section>
        <p14:section name="Main Contents" id="{AC915067-C5D9-4B4C-9082-4C5BB6147319}">
          <p14:sldIdLst>
            <p14:sldId id="272"/>
            <p14:sldId id="277"/>
            <p14:sldId id="292"/>
            <p14:sldId id="290"/>
            <p14:sldId id="291"/>
            <p14:sldId id="294"/>
            <p14:sldId id="293"/>
          </p14:sldIdLst>
        </p14:section>
        <p14:section name="EOD" id="{A4FE001B-1352-448E-A3C5-9407CCBCC5EA}">
          <p14:sldIdLst>
            <p14:sldId id="25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jang" initials="s" lastIdx="1" clrIdx="0">
    <p:extLst>
      <p:ext uri="{19B8F6BF-5375-455C-9EA6-DF929625EA0E}">
        <p15:presenceInfo xmlns:p15="http://schemas.microsoft.com/office/powerpoint/2012/main" userId="6a5a95b64679a6f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7BA"/>
    <a:srgbClr val="FFFF66"/>
    <a:srgbClr val="F5DFE2"/>
    <a:srgbClr val="F9F9F9"/>
    <a:srgbClr val="0070C0"/>
    <a:srgbClr val="EA76A8"/>
    <a:srgbClr val="A4A4A4"/>
    <a:srgbClr val="5858C0"/>
    <a:srgbClr val="7740E4"/>
    <a:srgbClr val="652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41" autoAdjust="0"/>
    <p:restoredTop sz="89180" autoAdjust="0"/>
  </p:normalViewPr>
  <p:slideViewPr>
    <p:cSldViewPr>
      <p:cViewPr varScale="1">
        <p:scale>
          <a:sx n="143" d="100"/>
          <a:sy n="143" d="100"/>
        </p:scale>
        <p:origin x="2648" y="2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0" d="100"/>
          <a:sy n="80" d="100"/>
        </p:scale>
        <p:origin x="316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7A38A3-B371-4CEC-A96A-8DC212F70699}" type="datetimeFigureOut">
              <a:rPr lang="ko-KR" altLang="en-US" smtClean="0"/>
              <a:t>2025. 6. 1.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AEBA58-A133-4637-9B4D-DFC7F8FBC7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8389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부제목 2"/>
          <p:cNvSpPr txBox="1">
            <a:spLocks/>
          </p:cNvSpPr>
          <p:nvPr userDrawn="1"/>
        </p:nvSpPr>
        <p:spPr>
          <a:xfrm>
            <a:off x="1371600" y="4246240"/>
            <a:ext cx="6400800" cy="6229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3000" kern="1200">
                <a:solidFill>
                  <a:schemeClr val="tx1">
                    <a:tint val="75000"/>
                  </a:schemeClr>
                </a:solidFill>
                <a:latin typeface="Candara" pitchFamily="34" charset="0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Candara" pitchFamily="34" charset="0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Candara" pitchFamily="34" charset="0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Candara" pitchFamily="34" charset="0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Candara" pitchFamily="34" charset="0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i="1" dirty="0"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rPr>
              <a:t>Data</a:t>
            </a:r>
            <a:r>
              <a:rPr lang="en-US" altLang="ko-KR" sz="1400" i="1" baseline="0" dirty="0"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rPr>
              <a:t> Science and Artificial Intelligence </a:t>
            </a:r>
            <a:r>
              <a:rPr lang="en-US" altLang="ko-KR" sz="1400" i="1" dirty="0"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rPr>
              <a:t>Laboratory</a:t>
            </a:r>
          </a:p>
          <a:p>
            <a:r>
              <a:rPr lang="en-US" altLang="ko-KR" sz="1400" i="1" dirty="0"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rPr>
              <a:t>Seoul National University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144000" y="1542268"/>
            <a:ext cx="8856000" cy="1296144"/>
          </a:xfrm>
        </p:spPr>
        <p:txBody>
          <a:bodyPr>
            <a:normAutofit/>
          </a:bodyPr>
          <a:lstStyle>
            <a:lvl1pPr algn="ctr">
              <a:defRPr sz="3600">
                <a:solidFill>
                  <a:schemeClr val="tx1">
                    <a:lumMod val="85000"/>
                    <a:lumOff val="15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pic>
        <p:nvPicPr>
          <p:cNvPr id="10" name="Picture 4" descr="http://www.snu.ac.kr/images/common/img/img01_mark_ab0102.gif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7650" y="4869160"/>
            <a:ext cx="1028700" cy="1068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부제목 2">
            <a:extLst>
              <a:ext uri="{FF2B5EF4-FFF2-40B4-BE49-F238E27FC236}">
                <a16:creationId xmlns:a16="http://schemas.microsoft.com/office/drawing/2014/main" id="{AFA5BF4B-0929-4E32-AE82-71F6DD3C6D42}"/>
              </a:ext>
            </a:extLst>
          </p:cNvPr>
          <p:cNvSpPr txBox="1">
            <a:spLocks/>
          </p:cNvSpPr>
          <p:nvPr userDrawn="1"/>
        </p:nvSpPr>
        <p:spPr>
          <a:xfrm>
            <a:off x="1352099" y="3382057"/>
            <a:ext cx="6400800" cy="4789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3000" kern="1200">
                <a:solidFill>
                  <a:schemeClr val="tx1">
                    <a:tint val="75000"/>
                  </a:schemeClr>
                </a:solidFill>
                <a:latin typeface="Candara" pitchFamily="34" charset="0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Candara" pitchFamily="34" charset="0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Candara" pitchFamily="34" charset="0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Candara" pitchFamily="34" charset="0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Candara" pitchFamily="34" charset="0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Clr>
                <a:srgbClr val="00B0F0">
                  <a:lumMod val="75000"/>
                </a:srgbClr>
              </a:buClr>
            </a:pPr>
            <a:r>
              <a:rPr lang="en-US" altLang="ko-KR" sz="2200" spc="-30" dirty="0">
                <a:solidFill>
                  <a:srgbClr val="4747BA"/>
                </a:solidFill>
                <a:latin typeface="Corbel" panose="020B0503020204020204" pitchFamily="34" charset="0"/>
              </a:rPr>
              <a:t>Soohyuk Jang</a:t>
            </a:r>
            <a:endParaRPr lang="ko-KR" altLang="en-US" sz="2200" spc="-30" dirty="0">
              <a:solidFill>
                <a:srgbClr val="4747BA"/>
              </a:solidFill>
              <a:latin typeface="Corbel" panose="020B05030202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DDEB26-64CC-43B0-97DF-BAB124A4EE46}"/>
              </a:ext>
            </a:extLst>
          </p:cNvPr>
          <p:cNvSpPr txBox="1"/>
          <p:nvPr userDrawn="1"/>
        </p:nvSpPr>
        <p:spPr>
          <a:xfrm>
            <a:off x="4095299" y="3742184"/>
            <a:ext cx="914400" cy="288032"/>
          </a:xfrm>
          <a:prstGeom prst="rect">
            <a:avLst/>
          </a:prstGeom>
        </p:spPr>
        <p:txBody>
          <a:bodyPr vert="horz" wrap="none" lIns="91440" tIns="45720" rIns="91440" bIns="45720" rtlCol="0">
            <a:noAutofit/>
          </a:bodyPr>
          <a:lstStyle/>
          <a:p>
            <a:pPr algn="l"/>
            <a:endParaRPr lang="ko-KR" altLang="en-US" sz="1600" i="1" dirty="0">
              <a:latin typeface="Corbel" panose="020B0503020204020204" pitchFamily="34" charset="0"/>
              <a:ea typeface="함초롬돋움" pitchFamily="18" charset="-127"/>
              <a:cs typeface="함초롬돋움" pitchFamily="18" charset="-127"/>
            </a:endParaRPr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0B9D040C-1CDD-42E7-9238-2D1DF27C9E09}"/>
              </a:ext>
            </a:extLst>
          </p:cNvPr>
          <p:cNvSpPr txBox="1">
            <a:spLocks/>
          </p:cNvSpPr>
          <p:nvPr userDrawn="1"/>
        </p:nvSpPr>
        <p:spPr>
          <a:xfrm>
            <a:off x="3563888" y="3848365"/>
            <a:ext cx="2016224" cy="3714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pPr algn="ctr"/>
            <a:fld id="{2C3193A6-3C47-4007-95C9-E783E6AA08A7}" type="datetime3">
              <a:rPr lang="en-US" altLang="ko-KR" sz="1400" kern="1200" smtClean="0">
                <a:solidFill>
                  <a:schemeClr val="bg1">
                    <a:lumMod val="50000"/>
                  </a:schemeClr>
                </a:solidFill>
                <a:latin typeface="+mj-lt"/>
                <a:ea typeface="함초롬돋움" pitchFamily="18" charset="-127"/>
                <a:cs typeface="함초롬돋움" pitchFamily="18" charset="-127"/>
              </a:rPr>
              <a:t>1 June 2025</a:t>
            </a:fld>
            <a:endParaRPr lang="ko-KR" altLang="en-US" sz="1400" i="0" kern="1200" dirty="0">
              <a:solidFill>
                <a:schemeClr val="bg1">
                  <a:lumMod val="50000"/>
                </a:schemeClr>
              </a:solidFill>
              <a:latin typeface="+mj-lt"/>
              <a:ea typeface="함초롬돋움" pitchFamily="18" charset="-127"/>
              <a:cs typeface="함초롬돋움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45374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BF8B898B-2BCC-41F4-AECF-5FC29A8187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98" y="6291108"/>
            <a:ext cx="1701376" cy="495605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342000" y="980728"/>
            <a:ext cx="8460000" cy="5112000"/>
          </a:xfrm>
        </p:spPr>
        <p:txBody>
          <a:bodyPr/>
          <a:lstStyle>
            <a:lvl1pPr>
              <a:buClr>
                <a:srgbClr val="5858C0"/>
              </a:buClr>
              <a:defRPr sz="1600" baseline="0">
                <a:latin typeface="+mn-ea"/>
                <a:ea typeface="+mn-ea"/>
              </a:defRPr>
            </a:lvl1pPr>
            <a:lvl2pPr>
              <a:buClr>
                <a:srgbClr val="5858C0"/>
              </a:buClr>
              <a:defRPr sz="1400" baseline="0">
                <a:latin typeface="+mn-ea"/>
                <a:ea typeface="+mn-ea"/>
              </a:defRPr>
            </a:lvl2pPr>
            <a:lvl3pPr>
              <a:buClr>
                <a:srgbClr val="5858C0"/>
              </a:buClr>
              <a:defRPr sz="1200" baseline="0">
                <a:latin typeface="+mn-ea"/>
                <a:ea typeface="+mn-ea"/>
              </a:defRPr>
            </a:lvl3pPr>
            <a:lvl4pPr>
              <a:defRPr sz="1200" baseline="0">
                <a:latin typeface="Corbel" panose="020B0503020204020204" pitchFamily="34" charset="0"/>
              </a:defRPr>
            </a:lvl4pPr>
            <a:lvl5pPr>
              <a:defRPr baseline="0">
                <a:latin typeface="Corbel" panose="020B0503020204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13" name="제목 개체 틀 1"/>
          <p:cNvSpPr>
            <a:spLocks noGrp="1"/>
          </p:cNvSpPr>
          <p:nvPr>
            <p:ph type="title" hasCustomPrompt="1"/>
          </p:nvPr>
        </p:nvSpPr>
        <p:spPr>
          <a:xfrm>
            <a:off x="144000" y="0"/>
            <a:ext cx="8856000" cy="68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 b="1" baseline="0">
                <a:solidFill>
                  <a:srgbClr val="4747BA"/>
                </a:solidFill>
                <a:latin typeface="+mj-lt"/>
                <a:ea typeface="함초롬돋움" pitchFamily="18" charset="-127"/>
                <a:cs typeface="함초롬돋움" pitchFamily="18" charset="-127"/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15" name="바닥글 개체 틀 4"/>
          <p:cNvSpPr txBox="1">
            <a:spLocks/>
          </p:cNvSpPr>
          <p:nvPr userDrawn="1"/>
        </p:nvSpPr>
        <p:spPr>
          <a:xfrm>
            <a:off x="8493506" y="6356350"/>
            <a:ext cx="791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ndara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1" name="슬라이드 번호 개체 틀 5">
            <a:extLst>
              <a:ext uri="{FF2B5EF4-FFF2-40B4-BE49-F238E27FC236}">
                <a16:creationId xmlns:a16="http://schemas.microsoft.com/office/drawing/2014/main" id="{0A259965-FA02-42E5-AA9A-91ABFCC253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84368" y="6356350"/>
            <a:ext cx="9812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ndara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fld id="{CF8480F8-0D16-4650-9CD0-D3D2A4C6033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Google Shape;32;p18">
            <a:extLst>
              <a:ext uri="{FF2B5EF4-FFF2-40B4-BE49-F238E27FC236}">
                <a16:creationId xmlns:a16="http://schemas.microsoft.com/office/drawing/2014/main" id="{E987DA16-5F4D-4FB0-BF45-DA85806EDBAC}"/>
              </a:ext>
            </a:extLst>
          </p:cNvPr>
          <p:cNvSpPr txBox="1">
            <a:spLocks noGrp="1"/>
          </p:cNvSpPr>
          <p:nvPr>
            <p:ph type="body" idx="2" hasCustomPrompt="1"/>
          </p:nvPr>
        </p:nvSpPr>
        <p:spPr>
          <a:xfrm>
            <a:off x="2051720" y="6356349"/>
            <a:ext cx="568863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800">
                <a:solidFill>
                  <a:srgbClr val="7F7F7F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914400" lvl="1" indent="-381000" algn="l">
              <a:lnSpc>
                <a:spcPct val="120000"/>
              </a:lnSpc>
              <a:spcBef>
                <a:spcPts val="480"/>
              </a:spcBef>
              <a:spcAft>
                <a:spcPts val="0"/>
              </a:spcAft>
              <a:buSzPts val="2400"/>
              <a:buChar char="–"/>
              <a:defRPr/>
            </a:lvl2pPr>
            <a:lvl3pPr marL="1371600" lvl="2" indent="-355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55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42900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r>
              <a:rPr lang="en-US" altLang="ko-KR" dirty="0"/>
              <a:t>1) source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71269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O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바닥글 개체 틀 4"/>
          <p:cNvSpPr txBox="1">
            <a:spLocks/>
          </p:cNvSpPr>
          <p:nvPr userDrawn="1"/>
        </p:nvSpPr>
        <p:spPr>
          <a:xfrm>
            <a:off x="8493506" y="6356350"/>
            <a:ext cx="791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ndara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부제목 2">
            <a:extLst>
              <a:ext uri="{FF2B5EF4-FFF2-40B4-BE49-F238E27FC236}">
                <a16:creationId xmlns:a16="http://schemas.microsoft.com/office/drawing/2014/main" id="{E245F7FB-54EB-4580-BFF5-218386F71EDA}"/>
              </a:ext>
            </a:extLst>
          </p:cNvPr>
          <p:cNvSpPr txBox="1">
            <a:spLocks/>
          </p:cNvSpPr>
          <p:nvPr userDrawn="1"/>
        </p:nvSpPr>
        <p:spPr>
          <a:xfrm>
            <a:off x="1371600" y="3093228"/>
            <a:ext cx="6400800" cy="6715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3000" kern="1200">
                <a:solidFill>
                  <a:schemeClr val="tx1">
                    <a:tint val="75000"/>
                  </a:schemeClr>
                </a:solidFill>
                <a:latin typeface="Candara" pitchFamily="34" charset="0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Candara" pitchFamily="34" charset="0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Candara" pitchFamily="34" charset="0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Candara" pitchFamily="34" charset="0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Candara" pitchFamily="34" charset="0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Clr>
                <a:srgbClr val="00B0F0">
                  <a:lumMod val="75000"/>
                </a:srgbClr>
              </a:buClr>
            </a:pPr>
            <a:r>
              <a:rPr lang="en-US" altLang="ko-KR" sz="4000" b="1" spc="-30" dirty="0">
                <a:solidFill>
                  <a:srgbClr val="4747BA"/>
                </a:solidFill>
                <a:latin typeface="Corbel" panose="020B0503020204020204" pitchFamily="34" charset="0"/>
              </a:rPr>
              <a:t>Thank You</a:t>
            </a:r>
            <a:endParaRPr lang="ko-KR" altLang="en-US" sz="4000" b="1" spc="-30" dirty="0">
              <a:solidFill>
                <a:srgbClr val="4747BA"/>
              </a:solidFill>
              <a:latin typeface="Corbel" panose="020B0503020204020204" pitchFamily="34" charset="0"/>
            </a:endParaRPr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951966E7-5FF5-4BC1-84C8-6DBCAA704B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84368" y="6356350"/>
            <a:ext cx="9812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ndara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fld id="{CF8480F8-0D16-4650-9CD0-D3D2A4C6033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61526152-6A2C-4FA5-87EC-50969EE4CA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ko-KR">
                <a:solidFill>
                  <a:prstClr val="black">
                    <a:tint val="75000"/>
                  </a:prstClr>
                </a:solidFill>
              </a:rPr>
              <a:t>Source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7016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000" y="980728"/>
            <a:ext cx="8460000" cy="511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884368" y="6356350"/>
            <a:ext cx="9812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ndara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fld id="{CF8480F8-0D16-4650-9CD0-D3D2A4C6033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44000" y="0"/>
            <a:ext cx="8856000" cy="68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페이지 제목</a:t>
            </a:r>
          </a:p>
        </p:txBody>
      </p:sp>
      <p:sp>
        <p:nvSpPr>
          <p:cNvPr id="10" name="바닥글 개체 틀 4">
            <a:extLst>
              <a:ext uri="{FF2B5EF4-FFF2-40B4-BE49-F238E27FC236}">
                <a16:creationId xmlns:a16="http://schemas.microsoft.com/office/drawing/2014/main" id="{8E05F0AA-7400-4E3B-BD05-644BE74FAA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79712" y="6356350"/>
            <a:ext cx="57606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228600" indent="-228600" algn="l">
              <a:buFont typeface="+mj-lt"/>
              <a:buAutoNum type="arabicParenR"/>
              <a:defRPr sz="800">
                <a:solidFill>
                  <a:schemeClr val="tx1">
                    <a:tint val="75000"/>
                  </a:schemeClr>
                </a:solidFill>
                <a:latin typeface="Candara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Source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369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4" r:id="rId2"/>
    <p:sldLayoutId id="2147483671" r:id="rId3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bg1"/>
          </a:solidFill>
          <a:latin typeface="Corbel" panose="020B0503020204020204" pitchFamily="34" charset="0"/>
          <a:ea typeface="함초롬돋움" pitchFamily="18" charset="-127"/>
          <a:cs typeface="함초롬돋움" pitchFamily="18" charset="-127"/>
        </a:defRPr>
      </a:lvl1pPr>
    </p:titleStyle>
    <p:bodyStyle>
      <a:lvl1pPr marL="342900" indent="-34290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4"/>
        </a:buClr>
        <a:buFont typeface="Arial" pitchFamily="34" charset="0"/>
        <a:buChar char="•"/>
        <a:defRPr sz="2400" kern="1200">
          <a:solidFill>
            <a:schemeClr val="tx1"/>
          </a:solidFill>
          <a:latin typeface="Corbel" panose="020B0503020204020204" pitchFamily="34" charset="0"/>
          <a:ea typeface="함초롬돋움" pitchFamily="18" charset="-127"/>
          <a:cs typeface="함초롬돋움" pitchFamily="18" charset="-127"/>
        </a:defRPr>
      </a:lvl1pPr>
      <a:lvl2pPr marL="742950" indent="-28575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4"/>
        </a:buClr>
        <a:buFont typeface="Arial" pitchFamily="34" charset="0"/>
        <a:buChar char="–"/>
        <a:defRPr sz="2400" kern="1200">
          <a:solidFill>
            <a:schemeClr val="tx1"/>
          </a:solidFill>
          <a:latin typeface="Corbel" panose="020B0503020204020204" pitchFamily="34" charset="0"/>
          <a:ea typeface="함초롬돋움" pitchFamily="18" charset="-127"/>
          <a:cs typeface="함초롬돋움" pitchFamily="18" charset="-127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4"/>
        </a:buClr>
        <a:buFont typeface="Arial" pitchFamily="34" charset="0"/>
        <a:buChar char="•"/>
        <a:defRPr sz="2000" kern="1200">
          <a:solidFill>
            <a:schemeClr val="tx1"/>
          </a:solidFill>
          <a:latin typeface="Corbel" panose="020B0503020204020204" pitchFamily="34" charset="0"/>
          <a:ea typeface="함초롬돋움" pitchFamily="18" charset="-127"/>
          <a:cs typeface="함초롬돋움" pitchFamily="18" charset="-127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Corbel" panose="020B0503020204020204" pitchFamily="34" charset="0"/>
          <a:ea typeface="함초롬돋움" pitchFamily="18" charset="-127"/>
          <a:cs typeface="함초롬돋움" pitchFamily="18" charset="-127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Corbel" panose="020B0503020204020204" pitchFamily="34" charset="0"/>
          <a:ea typeface="함초롬돋움" pitchFamily="18" charset="-127"/>
          <a:cs typeface="함초롬돋움" pitchFamily="18" charset="-127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cs231n.github.io/assignments2025/assignment2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AB05B0-7451-42EF-A12D-5C9E42B9E08E}"/>
              </a:ext>
            </a:extLst>
          </p:cNvPr>
          <p:cNvSpPr txBox="1"/>
          <p:nvPr/>
        </p:nvSpPr>
        <p:spPr>
          <a:xfrm>
            <a:off x="1727684" y="1844824"/>
            <a:ext cx="5688632" cy="1440160"/>
          </a:xfrm>
          <a:prstGeom prst="rect">
            <a:avLst/>
          </a:prstGeom>
        </p:spPr>
        <p:txBody>
          <a:bodyPr vert="horz" wrap="none" lIns="91440" tIns="45720" rIns="91440" bIns="45720" rtlCol="0">
            <a:noAutofit/>
          </a:bodyPr>
          <a:lstStyle/>
          <a:p>
            <a:pPr algn="ctr"/>
            <a:r>
              <a:rPr lang="en-US" altLang="ko-KR" sz="2800" b="1" i="1" dirty="0"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rPr>
              <a:t>Convolutional Neural Networks</a:t>
            </a:r>
          </a:p>
          <a:p>
            <a:pPr algn="ctr"/>
            <a:endParaRPr lang="en-US" altLang="ko-KR" sz="1100" b="1" i="1" dirty="0">
              <a:latin typeface="Corbel" panose="020B0503020204020204" pitchFamily="34" charset="0"/>
              <a:ea typeface="함초롬돋움" pitchFamily="18" charset="-127"/>
              <a:cs typeface="함초롬돋움" pitchFamily="18" charset="-127"/>
            </a:endParaRPr>
          </a:p>
          <a:p>
            <a:pPr algn="ctr"/>
            <a:r>
              <a:rPr lang="en-US" altLang="ko-KR" dirty="0">
                <a:latin typeface="+mj-lt"/>
                <a:ea typeface="함초롬돋움" pitchFamily="18" charset="-127"/>
                <a:cs typeface="함초롬돋움" pitchFamily="18" charset="-127"/>
              </a:rPr>
              <a:t>’25</a:t>
            </a:r>
            <a:r>
              <a:rPr lang="ko-KR" altLang="en-US" dirty="0">
                <a:latin typeface="+mj-lt"/>
                <a:ea typeface="함초롬돋움" pitchFamily="18" charset="-127"/>
                <a:cs typeface="함초롬돋움" pitchFamily="18" charset="-127"/>
              </a:rPr>
              <a:t>년 </a:t>
            </a:r>
            <a:r>
              <a:rPr lang="en-US" altLang="ko-KR" dirty="0">
                <a:latin typeface="+mj-lt"/>
                <a:ea typeface="함초롬돋움" pitchFamily="18" charset="-127"/>
                <a:cs typeface="함초롬돋움" pitchFamily="18" charset="-127"/>
              </a:rPr>
              <a:t>Samsung AI Expert 7</a:t>
            </a:r>
            <a:r>
              <a:rPr lang="ko-KR" altLang="en-US" dirty="0">
                <a:latin typeface="+mj-lt"/>
                <a:ea typeface="함초롬돋움" pitchFamily="18" charset="-127"/>
                <a:cs typeface="함초롬돋움" pitchFamily="18" charset="-127"/>
              </a:rPr>
              <a:t>기</a:t>
            </a:r>
          </a:p>
        </p:txBody>
      </p:sp>
    </p:spTree>
    <p:extLst>
      <p:ext uri="{BB962C8B-B14F-4D97-AF65-F5344CB8AC3E}">
        <p14:creationId xmlns:p14="http://schemas.microsoft.com/office/powerpoint/2010/main" val="3064918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B8FD845-5B06-4745-B2AE-CF5F2077C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Let’s implement convolution forward </a:t>
            </a:r>
            <a:r>
              <a:rPr lang="en-US" altLang="ko-KR" b="1" dirty="0">
                <a:solidFill>
                  <a:srgbClr val="FF0000"/>
                </a:solidFill>
              </a:rPr>
              <a:t>on your own</a:t>
            </a:r>
          </a:p>
          <a:p>
            <a:r>
              <a:rPr lang="en-US" altLang="ko-KR" dirty="0"/>
              <a:t>Part of CS231n assignment2 from Stanford</a:t>
            </a:r>
          </a:p>
          <a:p>
            <a:pPr lvl="1"/>
            <a:r>
              <a:rPr lang="en-US" altLang="ko-KR" dirty="0">
                <a:hlinkClick r:id="rId2"/>
              </a:rPr>
              <a:t>https://cs231n.github.io/assignments2025/assignment2/</a:t>
            </a:r>
            <a:r>
              <a:rPr lang="en-US" altLang="ko-KR" dirty="0"/>
              <a:t> </a:t>
            </a:r>
          </a:p>
          <a:p>
            <a:pPr marL="0" indent="0">
              <a:buNone/>
            </a:pPr>
            <a:endParaRPr lang="en-US" altLang="ko-KR" sz="1800" b="1" dirty="0">
              <a:solidFill>
                <a:srgbClr val="4747BA"/>
              </a:solidFill>
            </a:endParaRPr>
          </a:p>
          <a:p>
            <a:pPr marL="0" indent="0">
              <a:buNone/>
            </a:pPr>
            <a:endParaRPr lang="en-US" altLang="ko-KR" sz="1800" b="1" dirty="0">
              <a:solidFill>
                <a:srgbClr val="4747BA"/>
              </a:solidFill>
            </a:endParaRPr>
          </a:p>
          <a:p>
            <a:endParaRPr lang="en-US" altLang="ko-KR" sz="1800" b="1" dirty="0">
              <a:solidFill>
                <a:srgbClr val="4747BA"/>
              </a:solidFill>
            </a:endParaRPr>
          </a:p>
          <a:p>
            <a:endParaRPr lang="ko-KR" altLang="en-US" sz="1800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692B543-D090-4C52-AF52-1E99B9887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Objective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EED55D-0CE3-4ABC-9225-7FA41699B1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F8480F8-0D16-4650-9CD0-D3D2A4C6033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E608F4B1-1551-45F6-80D5-1C135CE9D0F3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4BD99DE-1863-4987-9DBC-058D05426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5562" y="2204864"/>
            <a:ext cx="3372876" cy="3466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623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B8FD845-5B06-4745-B2AE-CF5F2077C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692B543-D090-4C52-AF52-1E99B9887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Convolution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EED55D-0CE3-4ABC-9225-7FA41699B1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F8480F8-0D16-4650-9CD0-D3D2A4C6033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F5A6DAD-CD08-4B5F-AD03-71605A4743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345" y="1376630"/>
            <a:ext cx="7147309" cy="4104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E0BE8BA6-E86F-4AD6-A841-DF6B7C0DE87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9071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B8FD845-5B06-4745-B2AE-CF5F2077C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 fontAlgn="base">
              <a:spcBef>
                <a:spcPts val="3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ko-KR" dirty="0"/>
              <a:t>Filter (aka kernel or convolution matrix)</a:t>
            </a:r>
          </a:p>
          <a:p>
            <a:pPr marL="742950" lvl="1" indent="-285750" rtl="0" fontAlgn="base">
              <a:spcBef>
                <a:spcPts val="32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ko-KR" dirty="0"/>
              <a:t>Different filters extract different features (e.g. edges)</a:t>
            </a:r>
          </a:p>
          <a:p>
            <a:pPr marL="742950" lvl="1" indent="-285750" rtl="0" fontAlgn="base">
              <a:spcBef>
                <a:spcPts val="32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ko-KR" dirty="0"/>
              <a:t>Filter weights: trained with data</a:t>
            </a:r>
          </a:p>
          <a:p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692B543-D090-4C52-AF52-1E99B9887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Convolution: Filter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EED55D-0CE3-4ABC-9225-7FA41699B1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F8480F8-0D16-4650-9CD0-D3D2A4C6033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E0BE8BA6-E86F-4AD6-A841-DF6B7C0DE87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Picture 13">
            <a:extLst>
              <a:ext uri="{FF2B5EF4-FFF2-40B4-BE49-F238E27FC236}">
                <a16:creationId xmlns:a16="http://schemas.microsoft.com/office/drawing/2014/main" id="{91470E07-5F6E-4B61-A510-2054601359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75"/>
          <a:stretch/>
        </p:blipFill>
        <p:spPr bwMode="auto">
          <a:xfrm>
            <a:off x="4211960" y="2313808"/>
            <a:ext cx="4136088" cy="2445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47FE0991-87F2-41ED-AD71-AF67EA795E47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711" y="2325690"/>
            <a:ext cx="3456384" cy="2523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6352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B8FD845-5B06-4745-B2AE-CF5F2077C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3688" y="909530"/>
            <a:ext cx="3168352" cy="5112000"/>
          </a:xfrm>
        </p:spPr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7x7 input</a:t>
            </a:r>
          </a:p>
          <a:p>
            <a:r>
              <a:rPr lang="en-US" altLang="ko-KR" dirty="0"/>
              <a:t>3x3 filter w/ stride=1</a:t>
            </a:r>
          </a:p>
          <a:p>
            <a:pPr marL="0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  5x5 output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692B543-D090-4C52-AF52-1E99B9887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Convolution: Stride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EED55D-0CE3-4ABC-9225-7FA41699B1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F8480F8-0D16-4650-9CD0-D3D2A4C6033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E0BE8BA6-E86F-4AD6-A841-DF6B7C0DE87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2053" name="Picture 5">
            <a:extLst>
              <a:ext uri="{FF2B5EF4-FFF2-40B4-BE49-F238E27FC236}">
                <a16:creationId xmlns:a16="http://schemas.microsoft.com/office/drawing/2014/main" id="{BA4CE773-D968-4961-89AC-E5C817044BE7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9" y="2015062"/>
            <a:ext cx="2311910" cy="2363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5" name="Picture 7">
            <a:extLst>
              <a:ext uri="{FF2B5EF4-FFF2-40B4-BE49-F238E27FC236}">
                <a16:creationId xmlns:a16="http://schemas.microsoft.com/office/drawing/2014/main" id="{32EDD7D4-8FBD-4614-9C86-582B6B5EDECF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2015061"/>
            <a:ext cx="2311910" cy="2363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내용 개체 틀 1">
            <a:extLst>
              <a:ext uri="{FF2B5EF4-FFF2-40B4-BE49-F238E27FC236}">
                <a16:creationId xmlns:a16="http://schemas.microsoft.com/office/drawing/2014/main" id="{3A497285-0328-47A2-BA5C-5BE5261A2BBE}"/>
              </a:ext>
            </a:extLst>
          </p:cNvPr>
          <p:cNvSpPr txBox="1">
            <a:spLocks/>
          </p:cNvSpPr>
          <p:nvPr/>
        </p:nvSpPr>
        <p:spPr>
          <a:xfrm>
            <a:off x="4932040" y="964174"/>
            <a:ext cx="3014290" cy="50573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5858C0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ea"/>
                <a:ea typeface="+mn-ea"/>
                <a:cs typeface="함초롬돋움" pitchFamily="18" charset="-127"/>
              </a:defRPr>
            </a:lvl1pPr>
            <a:lvl2pPr marL="742950" indent="-28575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5858C0"/>
              </a:buClr>
              <a:buFont typeface="Arial" pitchFamily="34" charset="0"/>
              <a:buChar char="–"/>
              <a:defRPr sz="1400" kern="1200" baseline="0">
                <a:solidFill>
                  <a:schemeClr val="tx1"/>
                </a:solidFill>
                <a:latin typeface="+mn-ea"/>
                <a:ea typeface="+mn-ea"/>
                <a:cs typeface="함초롬돋움" pitchFamily="18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5858C0"/>
              </a:buClr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ea"/>
                <a:ea typeface="+mn-ea"/>
                <a:cs typeface="함초롬돋움" pitchFamily="18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200" kern="1200" baseline="0">
                <a:solidFill>
                  <a:schemeClr val="tx1"/>
                </a:solidFill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kern="1200" baseline="0">
                <a:solidFill>
                  <a:schemeClr val="tx1"/>
                </a:solidFill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7x7 input</a:t>
            </a:r>
          </a:p>
          <a:p>
            <a:r>
              <a:rPr lang="en-US" altLang="ko-KR" dirty="0"/>
              <a:t>3x3 filter w/ stride=2</a:t>
            </a:r>
          </a:p>
          <a:p>
            <a:pPr marL="0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  3x3 output</a:t>
            </a:r>
            <a:endParaRPr lang="ko-KR" altLang="en-US" dirty="0"/>
          </a:p>
        </p:txBody>
      </p:sp>
      <p:sp>
        <p:nvSpPr>
          <p:cNvPr id="15" name="내용 개체 틀 6">
            <a:extLst>
              <a:ext uri="{FF2B5EF4-FFF2-40B4-BE49-F238E27FC236}">
                <a16:creationId xmlns:a16="http://schemas.microsoft.com/office/drawing/2014/main" id="{A84E6BFD-398A-4776-BEC6-8680820695B0}"/>
              </a:ext>
            </a:extLst>
          </p:cNvPr>
          <p:cNvSpPr txBox="1">
            <a:spLocks/>
          </p:cNvSpPr>
          <p:nvPr/>
        </p:nvSpPr>
        <p:spPr>
          <a:xfrm>
            <a:off x="342000" y="980728"/>
            <a:ext cx="8460000" cy="511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5858C0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ea"/>
                <a:ea typeface="+mn-ea"/>
                <a:cs typeface="함초롬돋움" pitchFamily="18" charset="-127"/>
              </a:defRPr>
            </a:lvl1pPr>
            <a:lvl2pPr marL="742950" indent="-28575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5858C0"/>
              </a:buClr>
              <a:buFont typeface="Arial" pitchFamily="34" charset="0"/>
              <a:buChar char="–"/>
              <a:defRPr sz="1400" kern="1200" baseline="0">
                <a:solidFill>
                  <a:schemeClr val="tx1"/>
                </a:solidFill>
                <a:latin typeface="+mn-ea"/>
                <a:ea typeface="+mn-ea"/>
                <a:cs typeface="함초롬돋움" pitchFamily="18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5858C0"/>
              </a:buClr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ea"/>
                <a:ea typeface="+mn-ea"/>
                <a:cs typeface="함초롬돋움" pitchFamily="18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200" kern="1200" baseline="0">
                <a:solidFill>
                  <a:schemeClr val="tx1"/>
                </a:solidFill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kern="1200" baseline="0">
                <a:solidFill>
                  <a:schemeClr val="tx1"/>
                </a:solidFill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dirty="0"/>
              <a:t>The number of pixels between adjacent receptive fields</a:t>
            </a:r>
          </a:p>
          <a:p>
            <a:pPr fontAlgn="base"/>
            <a:r>
              <a:rPr lang="en-US" altLang="ko-KR" dirty="0"/>
              <a:t>down-sampling the output of full convolution function</a:t>
            </a:r>
          </a:p>
        </p:txBody>
      </p:sp>
    </p:spTree>
    <p:extLst>
      <p:ext uri="{BB962C8B-B14F-4D97-AF65-F5344CB8AC3E}">
        <p14:creationId xmlns:p14="http://schemas.microsoft.com/office/powerpoint/2010/main" val="2243399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B8FD845-5B06-4745-B2AE-CF5F2077C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692B543-D090-4C52-AF52-1E99B9887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Convolution: Padding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EED55D-0CE3-4ABC-9225-7FA41699B1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F8480F8-0D16-4650-9CD0-D3D2A4C6033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E0BE8BA6-E86F-4AD6-A841-DF6B7C0DE87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081" name="Picture 9">
            <a:extLst>
              <a:ext uri="{FF2B5EF4-FFF2-40B4-BE49-F238E27FC236}">
                <a16:creationId xmlns:a16="http://schemas.microsoft.com/office/drawing/2014/main" id="{7B27EE98-218A-41C0-A89F-A38BE2CBE7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3436" y="1821597"/>
            <a:ext cx="5597128" cy="3430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5395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156C0-28E3-737E-FE77-5465831F3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내용 개체 틀 5" descr="텍스트, 폰트, 화이트, 타이포그래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2D88F15-D548-D160-89BC-E6305F2228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410330"/>
            <a:ext cx="1800200" cy="879873"/>
          </a:xfr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DF662D77-749A-E9D6-A789-C58AE952F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Appendix: </a:t>
            </a:r>
            <a:r>
              <a:rPr lang="en-US" altLang="ko-KR" dirty="0" err="1"/>
              <a:t>Numpy</a:t>
            </a:r>
            <a:r>
              <a:rPr lang="en-US" altLang="ko-KR" dirty="0"/>
              <a:t> Operations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044CAE-4FFE-0C69-4DE0-E0197A26A0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F8480F8-0D16-4650-9CD0-D3D2A4C6033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0416C58F-DCAB-BB82-F1EB-BB3CCF081D33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 descr="텍스트, 폰트, 스크린샷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13F2D48-4865-35B6-5FF9-013F2F0A5C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2769111"/>
            <a:ext cx="3456384" cy="1177331"/>
          </a:xfrm>
          <a:prstGeom prst="rect">
            <a:avLst/>
          </a:prstGeom>
        </p:spPr>
      </p:pic>
      <p:pic>
        <p:nvPicPr>
          <p:cNvPr id="11" name="그림 10" descr="텍스트, 폰트, 스크린샷, 대수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AFD18AE-4C38-6C33-FA97-5062D5A5F4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48" b="23579"/>
          <a:stretch>
            <a:fillRect/>
          </a:stretch>
        </p:blipFill>
        <p:spPr>
          <a:xfrm>
            <a:off x="683568" y="4473223"/>
            <a:ext cx="6774938" cy="1169246"/>
          </a:xfrm>
          <a:prstGeom prst="rect">
            <a:avLst/>
          </a:prstGeom>
        </p:spPr>
      </p:pic>
      <p:pic>
        <p:nvPicPr>
          <p:cNvPr id="13" name="그림 12" descr="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3D006B-69F3-1E6B-50E4-DA7449E43B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8212" y="4572750"/>
            <a:ext cx="1247388" cy="970191"/>
          </a:xfrm>
          <a:prstGeom prst="rect">
            <a:avLst/>
          </a:prstGeom>
        </p:spPr>
      </p:pic>
      <p:sp>
        <p:nvSpPr>
          <p:cNvPr id="15" name="내용 개체 틀 6">
            <a:extLst>
              <a:ext uri="{FF2B5EF4-FFF2-40B4-BE49-F238E27FC236}">
                <a16:creationId xmlns:a16="http://schemas.microsoft.com/office/drawing/2014/main" id="{F204986E-45E7-8630-83C3-20CE8C4D0C75}"/>
              </a:ext>
            </a:extLst>
          </p:cNvPr>
          <p:cNvSpPr txBox="1">
            <a:spLocks/>
          </p:cNvSpPr>
          <p:nvPr/>
        </p:nvSpPr>
        <p:spPr>
          <a:xfrm>
            <a:off x="342000" y="980728"/>
            <a:ext cx="3797952" cy="511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5858C0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ea"/>
                <a:ea typeface="+mn-ea"/>
                <a:cs typeface="함초롬돋움" pitchFamily="18" charset="-127"/>
              </a:defRPr>
            </a:lvl1pPr>
            <a:lvl2pPr marL="742950" indent="-28575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5858C0"/>
              </a:buClr>
              <a:buFont typeface="Arial" pitchFamily="34" charset="0"/>
              <a:buChar char="–"/>
              <a:defRPr sz="1400" kern="1200" baseline="0">
                <a:solidFill>
                  <a:schemeClr val="tx1"/>
                </a:solidFill>
                <a:latin typeface="+mn-ea"/>
                <a:ea typeface="+mn-ea"/>
                <a:cs typeface="함초롬돋움" pitchFamily="18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5858C0"/>
              </a:buClr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ea"/>
                <a:ea typeface="+mn-ea"/>
                <a:cs typeface="함초롬돋움" pitchFamily="18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200" kern="1200" baseline="0">
                <a:solidFill>
                  <a:schemeClr val="tx1"/>
                </a:solidFill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kern="1200" baseline="0">
                <a:solidFill>
                  <a:schemeClr val="tx1"/>
                </a:solidFill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dirty="0"/>
              <a:t>zeros</a:t>
            </a:r>
          </a:p>
          <a:p>
            <a:pPr fontAlgn="base"/>
            <a:endParaRPr lang="en-US" altLang="ko-KR" dirty="0"/>
          </a:p>
          <a:p>
            <a:pPr fontAlgn="base"/>
            <a:endParaRPr lang="en-US" altLang="ko-KR" dirty="0"/>
          </a:p>
          <a:p>
            <a:pPr marL="0" indent="0" fontAlgn="base">
              <a:buNone/>
            </a:pPr>
            <a:endParaRPr lang="en-US" altLang="ko-KR" dirty="0"/>
          </a:p>
          <a:p>
            <a:pPr fontAlgn="base"/>
            <a:r>
              <a:rPr lang="en-US" altLang="ko-KR" dirty="0"/>
              <a:t>summation</a:t>
            </a:r>
          </a:p>
          <a:p>
            <a:pPr fontAlgn="base"/>
            <a:endParaRPr lang="en-US" altLang="ko-KR" dirty="0"/>
          </a:p>
          <a:p>
            <a:pPr fontAlgn="base"/>
            <a:endParaRPr lang="en-US" altLang="ko-KR" dirty="0"/>
          </a:p>
          <a:p>
            <a:pPr fontAlgn="base"/>
            <a:endParaRPr lang="en-US" altLang="ko-KR" dirty="0"/>
          </a:p>
          <a:p>
            <a:pPr fontAlgn="base"/>
            <a:endParaRPr lang="en-US" altLang="ko-KR" dirty="0"/>
          </a:p>
          <a:p>
            <a:pPr fontAlgn="base"/>
            <a:r>
              <a:rPr lang="en-US" altLang="ko-KR" dirty="0"/>
              <a:t>pad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9A2D5103-2DFE-CB25-0D84-1F971F6399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7013" y="1397880"/>
            <a:ext cx="4398034" cy="496392"/>
          </a:xfrm>
          <a:prstGeom prst="rect">
            <a:avLst/>
          </a:prstGeom>
        </p:spPr>
      </p:pic>
      <p:sp>
        <p:nvSpPr>
          <p:cNvPr id="18" name="내용 개체 틀 6">
            <a:extLst>
              <a:ext uri="{FF2B5EF4-FFF2-40B4-BE49-F238E27FC236}">
                <a16:creationId xmlns:a16="http://schemas.microsoft.com/office/drawing/2014/main" id="{19AA76B4-5B42-F279-3211-F7A5D1C235FE}"/>
              </a:ext>
            </a:extLst>
          </p:cNvPr>
          <p:cNvSpPr txBox="1">
            <a:spLocks/>
          </p:cNvSpPr>
          <p:nvPr/>
        </p:nvSpPr>
        <p:spPr>
          <a:xfrm>
            <a:off x="4416638" y="980728"/>
            <a:ext cx="3797952" cy="511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5858C0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ea"/>
                <a:ea typeface="+mn-ea"/>
                <a:cs typeface="함초롬돋움" pitchFamily="18" charset="-127"/>
              </a:defRPr>
            </a:lvl1pPr>
            <a:lvl2pPr marL="742950" indent="-28575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5858C0"/>
              </a:buClr>
              <a:buFont typeface="Arial" pitchFamily="34" charset="0"/>
              <a:buChar char="–"/>
              <a:defRPr sz="1400" kern="1200" baseline="0">
                <a:solidFill>
                  <a:schemeClr val="tx1"/>
                </a:solidFill>
                <a:latin typeface="+mn-ea"/>
                <a:ea typeface="+mn-ea"/>
                <a:cs typeface="함초롬돋움" pitchFamily="18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5858C0"/>
              </a:buClr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ea"/>
                <a:ea typeface="+mn-ea"/>
                <a:cs typeface="함초롬돋움" pitchFamily="18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200" kern="1200" baseline="0">
                <a:solidFill>
                  <a:schemeClr val="tx1"/>
                </a:solidFill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kern="1200" baseline="0">
                <a:solidFill>
                  <a:schemeClr val="tx1"/>
                </a:solidFill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dirty="0"/>
              <a:t>shape</a:t>
            </a:r>
          </a:p>
          <a:p>
            <a:pPr fontAlgn="base"/>
            <a:endParaRPr lang="en-US" altLang="ko-KR" dirty="0"/>
          </a:p>
          <a:p>
            <a:pPr fontAlgn="base"/>
            <a:endParaRPr lang="en-US" altLang="ko-KR" dirty="0"/>
          </a:p>
          <a:p>
            <a:pPr marL="0" indent="0" fontAlgn="base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27417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D78B7-B169-250D-12D8-BB1D6C314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76C1956-CDE2-EF39-5DBD-B317ED1B5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Let's move on to </a:t>
            </a:r>
            <a:r>
              <a:rPr lang="en-US" altLang="ko-KR" dirty="0" err="1"/>
              <a:t>CNN_forward.ipynb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FD4ADF7-F60B-FEA6-EED6-3CEA9031E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Tutorial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18CE59-F1FE-94AD-43F7-2BDFB79FB8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F8480F8-0D16-4650-9CD0-D3D2A4C6033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96D98804-51CB-D435-4715-62FA361A6E25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5876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1F2FB7F-ADF1-4959-A76B-49ED334716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32000" y="6356350"/>
            <a:ext cx="2133600" cy="365125"/>
          </a:xfrm>
        </p:spPr>
        <p:txBody>
          <a:bodyPr/>
          <a:lstStyle/>
          <a:p>
            <a:fld id="{CF8480F8-0D16-4650-9CD0-D3D2A4C6033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0747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Taehoon Lee">
      <a:dk1>
        <a:sysClr val="windowText" lastClr="000000"/>
      </a:dk1>
      <a:lt1>
        <a:sysClr val="window" lastClr="FFFFFF"/>
      </a:lt1>
      <a:dk2>
        <a:srgbClr val="433021"/>
      </a:dk2>
      <a:lt2>
        <a:srgbClr val="E8D8CA"/>
      </a:lt2>
      <a:accent1>
        <a:srgbClr val="9A57CD"/>
      </a:accent1>
      <a:accent2>
        <a:srgbClr val="0070C0"/>
      </a:accent2>
      <a:accent3>
        <a:srgbClr val="00B0F0"/>
      </a:accent3>
      <a:accent4>
        <a:srgbClr val="F1C10F"/>
      </a:accent4>
      <a:accent5>
        <a:srgbClr val="FBA305"/>
      </a:accent5>
      <a:accent6>
        <a:srgbClr val="EA76A8"/>
      </a:accent6>
      <a:hlink>
        <a:srgbClr val="008685"/>
      </a:hlink>
      <a:folHlink>
        <a:srgbClr val="EA5A23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wrap="none" lIns="91440" tIns="45720" rIns="91440" bIns="45720" rtlCol="0">
        <a:noAutofit/>
      </a:bodyPr>
      <a:lstStyle>
        <a:defPPr algn="l">
          <a:defRPr sz="800" i="1" dirty="0" smtClean="0">
            <a:latin typeface="Corbel" panose="020B0503020204020204" pitchFamily="34" charset="0"/>
            <a:ea typeface="함초롬돋움" pitchFamily="18" charset="-127"/>
            <a:cs typeface="함초롬돋움" pitchFamily="18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28474</TotalTime>
  <Words>137</Words>
  <Application>Microsoft Macintosh PowerPoint</Application>
  <PresentationFormat>화면 슬라이드 쇼(4:3)</PresentationFormat>
  <Paragraphs>69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맑은 고딕</vt:lpstr>
      <vt:lpstr>Arial</vt:lpstr>
      <vt:lpstr>Candara</vt:lpstr>
      <vt:lpstr>Corbel</vt:lpstr>
      <vt:lpstr>Wingdings</vt:lpstr>
      <vt:lpstr>Office 테마</vt:lpstr>
      <vt:lpstr>PowerPoint 프레젠테이션</vt:lpstr>
      <vt:lpstr>Objective</vt:lpstr>
      <vt:lpstr>Convolution</vt:lpstr>
      <vt:lpstr>Convolution: Filter</vt:lpstr>
      <vt:lpstr>Convolution: Stride</vt:lpstr>
      <vt:lpstr>Convolution: Padding</vt:lpstr>
      <vt:lpstr>Appendix: Numpy Operations</vt:lpstr>
      <vt:lpstr>Tutorial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Mgt 강화 : 對外 문서보안 관련</dc:title>
  <dc:creator>samsung</dc:creator>
  <cp:lastModifiedBy>장수혁</cp:lastModifiedBy>
  <cp:revision>889</cp:revision>
  <cp:lastPrinted>2014-03-13T10:30:46Z</cp:lastPrinted>
  <dcterms:created xsi:type="dcterms:W3CDTF">2013-06-12T00:16:49Z</dcterms:created>
  <dcterms:modified xsi:type="dcterms:W3CDTF">2025-06-01T14:43:02Z</dcterms:modified>
</cp:coreProperties>
</file>
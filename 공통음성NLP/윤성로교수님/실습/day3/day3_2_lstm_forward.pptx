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5"/>
  </p:notesMasterIdLst>
  <p:sldIdLst>
    <p:sldId id="259" r:id="rId2"/>
    <p:sldId id="272" r:id="rId3"/>
    <p:sldId id="277" r:id="rId4"/>
    <p:sldId id="292" r:id="rId5"/>
    <p:sldId id="298" r:id="rId6"/>
    <p:sldId id="299" r:id="rId7"/>
    <p:sldId id="300" r:id="rId8"/>
    <p:sldId id="301" r:id="rId9"/>
    <p:sldId id="302" r:id="rId10"/>
    <p:sldId id="303" r:id="rId11"/>
    <p:sldId id="293" r:id="rId12"/>
    <p:sldId id="294" r:id="rId13"/>
    <p:sldId id="258" r:id="rId14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89E573D-705E-4555-A7EE-9007891D1473}">
          <p14:sldIdLst>
            <p14:sldId id="259"/>
          </p14:sldIdLst>
        </p14:section>
        <p14:section name="Main Contents" id="{AC915067-C5D9-4B4C-9082-4C5BB6147319}">
          <p14:sldIdLst>
            <p14:sldId id="272"/>
            <p14:sldId id="277"/>
            <p14:sldId id="292"/>
            <p14:sldId id="298"/>
            <p14:sldId id="299"/>
            <p14:sldId id="300"/>
            <p14:sldId id="301"/>
            <p14:sldId id="302"/>
            <p14:sldId id="303"/>
            <p14:sldId id="293"/>
            <p14:sldId id="294"/>
          </p14:sldIdLst>
        </p14:section>
        <p14:section name="EOD" id="{A4FE001B-1352-448E-A3C5-9407CCBCC5E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jang" initials="s" lastIdx="1" clrIdx="0">
    <p:extLst>
      <p:ext uri="{19B8F6BF-5375-455C-9EA6-DF929625EA0E}">
        <p15:presenceInfo xmlns:p15="http://schemas.microsoft.com/office/powerpoint/2012/main" userId="6a5a95b64679a6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BA"/>
    <a:srgbClr val="FFFF66"/>
    <a:srgbClr val="F5DFE2"/>
    <a:srgbClr val="F9F9F9"/>
    <a:srgbClr val="0070C0"/>
    <a:srgbClr val="EA76A8"/>
    <a:srgbClr val="A4A4A4"/>
    <a:srgbClr val="5858C0"/>
    <a:srgbClr val="7740E4"/>
    <a:srgbClr val="652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92787" autoAdjust="0"/>
  </p:normalViewPr>
  <p:slideViewPr>
    <p:cSldViewPr>
      <p:cViewPr varScale="1">
        <p:scale>
          <a:sx n="149" d="100"/>
          <a:sy n="149" d="100"/>
        </p:scale>
        <p:origin x="22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16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A38A3-B371-4CEC-A96A-8DC212F70699}" type="datetimeFigureOut">
              <a:rPr lang="ko-KR" altLang="en-US" smtClean="0"/>
              <a:t>2025. 6. 2.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BA58-A133-4637-9B4D-DFC7F8FBC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8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EBA58-A133-4637-9B4D-DFC7F8FBC7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4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부제목 2"/>
          <p:cNvSpPr txBox="1">
            <a:spLocks/>
          </p:cNvSpPr>
          <p:nvPr userDrawn="1"/>
        </p:nvSpPr>
        <p:spPr>
          <a:xfrm>
            <a:off x="1371600" y="4246240"/>
            <a:ext cx="6400800" cy="622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Data</a:t>
            </a:r>
            <a:r>
              <a:rPr lang="en-US" altLang="ko-KR" sz="1400" i="1" baseline="0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 Science and Artificial Intelligence </a:t>
            </a:r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Laboratory</a:t>
            </a:r>
          </a:p>
          <a:p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Seoul National University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44000" y="1542268"/>
            <a:ext cx="8856000" cy="1296144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pic>
        <p:nvPicPr>
          <p:cNvPr id="10" name="Picture 4" descr="http://www.snu.ac.kr/images/common/img/img01_mark_ab0102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869160"/>
            <a:ext cx="1028700" cy="106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부제목 2">
            <a:extLst>
              <a:ext uri="{FF2B5EF4-FFF2-40B4-BE49-F238E27FC236}">
                <a16:creationId xmlns:a16="http://schemas.microsoft.com/office/drawing/2014/main" id="{AFA5BF4B-0929-4E32-AE82-71F6DD3C6D42}"/>
              </a:ext>
            </a:extLst>
          </p:cNvPr>
          <p:cNvSpPr txBox="1">
            <a:spLocks/>
          </p:cNvSpPr>
          <p:nvPr userDrawn="1"/>
        </p:nvSpPr>
        <p:spPr>
          <a:xfrm>
            <a:off x="1352099" y="3382057"/>
            <a:ext cx="6400800" cy="4789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B0F0">
                  <a:lumMod val="75000"/>
                </a:srgbClr>
              </a:buClr>
            </a:pPr>
            <a:r>
              <a:rPr lang="en-US" altLang="ko-KR" sz="2200" spc="-30" dirty="0">
                <a:solidFill>
                  <a:srgbClr val="4747BA"/>
                </a:solidFill>
                <a:latin typeface="Corbel" panose="020B0503020204020204" pitchFamily="34" charset="0"/>
              </a:rPr>
              <a:t>Soohyuk Jang</a:t>
            </a:r>
            <a:endParaRPr lang="ko-KR" altLang="en-US" sz="2200" spc="-30" dirty="0">
              <a:solidFill>
                <a:srgbClr val="4747BA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DEB26-64CC-43B0-97DF-BAB124A4EE46}"/>
              </a:ext>
            </a:extLst>
          </p:cNvPr>
          <p:cNvSpPr txBox="1"/>
          <p:nvPr userDrawn="1"/>
        </p:nvSpPr>
        <p:spPr>
          <a:xfrm>
            <a:off x="4095299" y="3742184"/>
            <a:ext cx="914400" cy="288032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lang="ko-KR" altLang="en-US" sz="16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0B9D040C-1CDD-42E7-9238-2D1DF27C9E09}"/>
              </a:ext>
            </a:extLst>
          </p:cNvPr>
          <p:cNvSpPr txBox="1">
            <a:spLocks/>
          </p:cNvSpPr>
          <p:nvPr userDrawn="1"/>
        </p:nvSpPr>
        <p:spPr>
          <a:xfrm>
            <a:off x="3563888" y="3848365"/>
            <a:ext cx="2016224" cy="371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pPr algn="ctr"/>
            <a:fld id="{2C3193A6-3C47-4007-95C9-E783E6AA08A7}" type="datetime3">
              <a:rPr lang="en-US" altLang="ko-KR" sz="1400" kern="1200" smtClean="0">
                <a:solidFill>
                  <a:schemeClr val="bg1">
                    <a:lumMod val="50000"/>
                  </a:schemeClr>
                </a:solidFill>
                <a:latin typeface="+mj-lt"/>
                <a:ea typeface="함초롬돋움" pitchFamily="18" charset="-127"/>
                <a:cs typeface="함초롬돋움" pitchFamily="18" charset="-127"/>
              </a:rPr>
              <a:t>2 June 2025</a:t>
            </a:fld>
            <a:endParaRPr lang="ko-KR" altLang="en-US" sz="1400" i="0" kern="1200" dirty="0">
              <a:solidFill>
                <a:schemeClr val="bg1">
                  <a:lumMod val="50000"/>
                </a:schemeClr>
              </a:solidFill>
              <a:latin typeface="+mj-lt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37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BF8B898B-2BCC-41F4-AECF-5FC29A8187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8" y="6291108"/>
            <a:ext cx="1701376" cy="49560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000" y="980728"/>
            <a:ext cx="8460000" cy="5112000"/>
          </a:xfrm>
        </p:spPr>
        <p:txBody>
          <a:bodyPr/>
          <a:lstStyle>
            <a:lvl1pPr>
              <a:buClr>
                <a:srgbClr val="5858C0"/>
              </a:buClr>
              <a:defRPr sz="1600" baseline="0">
                <a:latin typeface="+mn-ea"/>
                <a:ea typeface="+mn-ea"/>
              </a:defRPr>
            </a:lvl1pPr>
            <a:lvl2pPr>
              <a:buClr>
                <a:srgbClr val="5858C0"/>
              </a:buClr>
              <a:defRPr sz="1400" baseline="0">
                <a:latin typeface="+mn-ea"/>
                <a:ea typeface="+mn-ea"/>
              </a:defRPr>
            </a:lvl2pPr>
            <a:lvl3pPr>
              <a:buClr>
                <a:srgbClr val="5858C0"/>
              </a:buClr>
              <a:defRPr sz="1200" baseline="0">
                <a:latin typeface="+mn-ea"/>
                <a:ea typeface="+mn-ea"/>
              </a:defRPr>
            </a:lvl3pPr>
            <a:lvl4pPr>
              <a:defRPr sz="1200" baseline="0">
                <a:latin typeface="Corbel" panose="020B0503020204020204" pitchFamily="34" charset="0"/>
              </a:defRPr>
            </a:lvl4pPr>
            <a:lvl5pPr>
              <a:defRPr baseline="0">
                <a:latin typeface="Corbel" panose="020B0503020204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144000" y="0"/>
            <a:ext cx="8856000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baseline="0">
                <a:solidFill>
                  <a:srgbClr val="4747BA"/>
                </a:solidFill>
                <a:latin typeface="+mj-lt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8493506" y="6356350"/>
            <a:ext cx="791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슬라이드 번호 개체 틀 5">
            <a:extLst>
              <a:ext uri="{FF2B5EF4-FFF2-40B4-BE49-F238E27FC236}">
                <a16:creationId xmlns:a16="http://schemas.microsoft.com/office/drawing/2014/main" id="{0A259965-FA02-42E5-AA9A-91ABFCC25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Google Shape;32;p18">
            <a:extLst>
              <a:ext uri="{FF2B5EF4-FFF2-40B4-BE49-F238E27FC236}">
                <a16:creationId xmlns:a16="http://schemas.microsoft.com/office/drawing/2014/main" id="{E987DA16-5F4D-4FB0-BF45-DA85806EDBAC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800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38100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55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r>
              <a:rPr lang="en-US" altLang="ko-KR" dirty="0"/>
              <a:t>1) source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269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 txBox="1">
            <a:spLocks/>
          </p:cNvSpPr>
          <p:nvPr userDrawn="1"/>
        </p:nvSpPr>
        <p:spPr>
          <a:xfrm>
            <a:off x="8493506" y="6356350"/>
            <a:ext cx="791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245F7FB-54EB-4580-BFF5-218386F71EDA}"/>
              </a:ext>
            </a:extLst>
          </p:cNvPr>
          <p:cNvSpPr txBox="1">
            <a:spLocks/>
          </p:cNvSpPr>
          <p:nvPr userDrawn="1"/>
        </p:nvSpPr>
        <p:spPr>
          <a:xfrm>
            <a:off x="1371600" y="3093228"/>
            <a:ext cx="6400800" cy="671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B0F0">
                  <a:lumMod val="75000"/>
                </a:srgbClr>
              </a:buClr>
            </a:pPr>
            <a:r>
              <a:rPr lang="en-US" altLang="ko-KR" sz="4000" b="1" spc="-30" dirty="0">
                <a:solidFill>
                  <a:srgbClr val="4747BA"/>
                </a:solidFill>
                <a:latin typeface="Corbel" panose="020B0503020204020204" pitchFamily="34" charset="0"/>
              </a:rPr>
              <a:t>Thank You</a:t>
            </a:r>
            <a:endParaRPr lang="ko-KR" altLang="en-US" sz="4000" b="1" spc="-30" dirty="0">
              <a:solidFill>
                <a:srgbClr val="4747BA"/>
              </a:solidFill>
              <a:latin typeface="Corbel" panose="020B0503020204020204" pitchFamily="34" charset="0"/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951966E7-5FF5-4BC1-84C8-6DBCAA70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1526152-6A2C-4FA5-87EC-50969EE4CA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Source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01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8E05F0AA-7400-4E3B-BD05-644BE74FA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79712" y="6356350"/>
            <a:ext cx="5760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228600" indent="-228600" algn="l">
              <a:buFont typeface="+mj-lt"/>
              <a:buAutoNum type="arabicParenR"/>
              <a:defRPr sz="8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Source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3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71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bg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•"/>
        <a:defRPr sz="24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–"/>
        <a:defRPr sz="24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s231n.github.io/assignments2024/assignment3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B05B0-7451-42EF-A12D-5C9E42B9E08E}"/>
              </a:ext>
            </a:extLst>
          </p:cNvPr>
          <p:cNvSpPr txBox="1"/>
          <p:nvPr/>
        </p:nvSpPr>
        <p:spPr>
          <a:xfrm>
            <a:off x="1727684" y="1844824"/>
            <a:ext cx="5688632" cy="144016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ctr"/>
            <a:r>
              <a:rPr lang="en-US" altLang="ko-KR" sz="2800" b="1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Long Short-Term Memory</a:t>
            </a:r>
          </a:p>
          <a:p>
            <a:pPr algn="ctr"/>
            <a:endParaRPr lang="en-US" altLang="ko-KR" sz="1100" b="1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  <a:p>
            <a:pPr algn="ctr"/>
            <a:r>
              <a:rPr lang="en-US" altLang="ko-KR" dirty="0">
                <a:latin typeface="+mj-lt"/>
                <a:ea typeface="함초롬돋움" pitchFamily="18" charset="-127"/>
                <a:cs typeface="함초롬돋움" pitchFamily="18" charset="-127"/>
              </a:rPr>
              <a:t>’25</a:t>
            </a:r>
            <a:r>
              <a:rPr lang="ko-KR" altLang="en-US" dirty="0">
                <a:latin typeface="+mj-lt"/>
                <a:ea typeface="함초롬돋움" pitchFamily="18" charset="-127"/>
                <a:cs typeface="함초롬돋움" pitchFamily="18" charset="-127"/>
              </a:rPr>
              <a:t>년 </a:t>
            </a:r>
            <a:r>
              <a:rPr lang="en-US" altLang="ko-KR" dirty="0">
                <a:latin typeface="+mj-lt"/>
                <a:ea typeface="함초롬돋움" pitchFamily="18" charset="-127"/>
                <a:cs typeface="함초롬돋움" pitchFamily="18" charset="-127"/>
              </a:rPr>
              <a:t>Samsung AI Expert 7</a:t>
            </a:r>
            <a:r>
              <a:rPr lang="ko-KR" altLang="en-US" dirty="0">
                <a:latin typeface="+mj-lt"/>
                <a:ea typeface="함초롬돋움" pitchFamily="18" charset="-127"/>
                <a:cs typeface="함초롬돋움" pitchFamily="18" charset="-127"/>
              </a:rPr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val="306491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implement LSTM forward </a:t>
            </a:r>
            <a:r>
              <a:rPr lang="en-US" altLang="ko-KR" b="1" dirty="0">
                <a:solidFill>
                  <a:srgbClr val="FF0000"/>
                </a:solidFill>
              </a:rPr>
              <a:t>on your own</a:t>
            </a:r>
          </a:p>
          <a:p>
            <a:r>
              <a:rPr lang="en-US" altLang="ko-KR" dirty="0"/>
              <a:t>Part of CS231n assignment3 from Stanford</a:t>
            </a:r>
          </a:p>
          <a:p>
            <a:pPr lvl="1"/>
            <a:r>
              <a:rPr lang="en-US" altLang="ko-KR" dirty="0">
                <a:hlinkClick r:id="rId2"/>
              </a:rPr>
              <a:t>https://cs231n.github.io/assignments2024/assignment3/</a:t>
            </a:r>
            <a:r>
              <a:rPr lang="en-US" altLang="ko-KR" dirty="0"/>
              <a:t> </a:t>
            </a:r>
            <a:endParaRPr lang="en-US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4747BA"/>
              </a:solidFill>
            </a:endParaRPr>
          </a:p>
          <a:p>
            <a:endParaRPr lang="en-US" altLang="ko-KR" sz="1800" b="1" dirty="0">
              <a:solidFill>
                <a:srgbClr val="4747BA"/>
              </a:solidFill>
            </a:endParaRPr>
          </a:p>
          <a:p>
            <a:endParaRPr lang="ko-KR" altLang="en-US" sz="18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08F4B1-1551-45F6-80D5-1C135CE9D0F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0E9578-76A3-7D71-01D8-6D0D1FED1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452129"/>
            <a:ext cx="3445041" cy="3167215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C029D1-EA60-D403-32D7-27A50DF2B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867" y="2452128"/>
            <a:ext cx="4025115" cy="316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A85877-E129-D33C-A6C8-D9673444B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0" t="9562" r="12988" b="38509"/>
          <a:stretch>
            <a:fillRect/>
          </a:stretch>
        </p:blipFill>
        <p:spPr bwMode="auto">
          <a:xfrm>
            <a:off x="1060920" y="1520788"/>
            <a:ext cx="7022159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7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도표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C7E0AD-04F5-F94E-25B3-B86F22BFF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47" y="2104428"/>
            <a:ext cx="4090506" cy="2649144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80FE178E-F9D3-6515-6DEC-1BF3AFD0A84D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Cell state</a:t>
            </a:r>
          </a:p>
          <a:p>
            <a:r>
              <a:rPr lang="en" altLang="ko-KR" dirty="0"/>
              <a:t>The key to LSTMs is the cell state, the horizontal line running through the top of the diagram.</a:t>
            </a: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99635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174A-3ECE-77E4-304A-75897DC3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2DDB1D0-0058-6383-5F40-F6A4404E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2AF75-7457-C75C-ADB7-9EF548D7C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1525587-2A9B-92D7-96A4-7C9F25644C7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064C3E6D-9251-BC63-D71C-DAA51EC67425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Gate</a:t>
            </a:r>
          </a:p>
          <a:p>
            <a:r>
              <a:rPr lang="en" altLang="ko-KR" sz="1800" dirty="0"/>
              <a:t>Gates are a way to </a:t>
            </a:r>
            <a:r>
              <a:rPr lang="en" altLang="ko-KR" sz="1800" b="1" dirty="0"/>
              <a:t>optionally let information through</a:t>
            </a:r>
            <a:r>
              <a:rPr lang="en" altLang="ko-KR" sz="1800" dirty="0"/>
              <a:t>. They are composed out of a sigmoid neural net layer and a pointwise multiplication operation.</a:t>
            </a: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EF2A8-3257-141F-5935-765784E9507C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11" name="내용 개체 틀 10" descr="상징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98A4AB-E6FF-EE82-0FEF-0E288E477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713" y="2492896"/>
            <a:ext cx="2488573" cy="2448272"/>
          </a:xfrm>
        </p:spPr>
      </p:pic>
    </p:spTree>
    <p:extLst>
      <p:ext uri="{BB962C8B-B14F-4D97-AF65-F5344CB8AC3E}">
        <p14:creationId xmlns:p14="http://schemas.microsoft.com/office/powerpoint/2010/main" val="59514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4548-C122-F83C-54A2-2EC13B78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4394D1C-AFCD-190B-778A-2E622179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FFD4E-B78A-6559-D3B2-3E1338E27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55F84AF-EA4C-9ACF-867E-1BEE2DDF266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030ECAC5-86F7-1A86-133D-C51314AF9387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Forget Gate</a:t>
            </a: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94E98-FD80-D529-17E8-1C686D298144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8" name="그림 7" descr="도표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22A031-573D-42D9-B5D9-EB9FAC0BF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82626"/>
            <a:ext cx="7772400" cy="269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5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47CC-9FA6-CCE9-27D0-7199ADA0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211B704-8F88-EE35-D02D-D93759DF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05803-4763-F363-35D1-99CE2CAC3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DB14CEC-972F-D428-FE4B-2874088F7BD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B5789D92-6E68-1013-7BF0-6648319A0C00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Input Gate</a:t>
            </a: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658B96-B982-879F-4452-CDD8E93BFED8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6" name="그림 5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FF291-2A39-61F8-4102-BB5F77FE8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95" y="2168325"/>
            <a:ext cx="7997410" cy="252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6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2346-5F9D-28CC-B8E3-63D4A2B7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DA2433D-75E9-262B-D211-5F27D7CC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33EA67-479C-5D7D-385A-1598322F0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22EAE41-FE24-9EEB-E9FE-FE8DF1FBA90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EF1CD979-5C73-3F3B-BDEA-2F850736BB7E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Cell State Update</a:t>
            </a: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569745-093E-5D89-2048-3ADCA09998FE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5" name="그림 4" descr="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DCDF1B-8CCA-4ED1-A1E3-B52240AAF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69966"/>
            <a:ext cx="7772400" cy="293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63F5-7520-C60C-3D20-8A651597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CFC6758-C393-23DC-1C47-C0EBDB52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CBA91-7629-05A2-8EE4-D66A153BF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4B0E383-4DEB-7E5E-BBB5-66B527BB68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web.stanford.edu</a:t>
            </a:r>
            <a:r>
              <a:rPr lang="en" altLang="ko-KR" dirty="0"/>
              <a:t>/class/cs379c/archive/2018/</a:t>
            </a:r>
            <a:r>
              <a:rPr lang="en" altLang="ko-KR" dirty="0" err="1"/>
              <a:t>class_messages_listing</a:t>
            </a:r>
            <a:r>
              <a:rPr lang="en" altLang="ko-KR" dirty="0"/>
              <a:t>/content/</a:t>
            </a:r>
            <a:r>
              <a:rPr lang="en" altLang="ko-KR" dirty="0" err="1"/>
              <a:t>Artificial_Neural_Network_Technology_Tutorials</a:t>
            </a:r>
            <a:r>
              <a:rPr lang="en" altLang="ko-KR" dirty="0"/>
              <a:t>/OlahLSTM-NEURAL-NETWORK-TUTORIAL-15.pdf</a:t>
            </a:r>
            <a:endParaRPr lang="ko-KR" altLang="en-US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14FF138C-CFE5-A07F-23F5-E1542B6F1145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b="1" dirty="0">
                <a:solidFill>
                  <a:srgbClr val="4747BA"/>
                </a:solidFill>
              </a:rPr>
              <a:t>Output Gate</a:t>
            </a: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F8EEB-4664-7F38-4143-5D8998C54982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8" name="그림 7" descr="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710B6F-4830-92B4-6377-AD6363B17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130244"/>
            <a:ext cx="7772400" cy="259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18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F190-42B4-55AB-26D6-75562981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6F11F02-B2E7-69F5-2A74-541015E0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E0FB92-0D0E-5EDF-E50C-5B9B870D6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53B3608-E312-C408-AF51-F25D444B62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816F3DD1-FB06-59E1-2210-37593AFB53B8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b="1" dirty="0">
                <a:solidFill>
                  <a:srgbClr val="4747BA"/>
                </a:solidFill>
              </a:rPr>
              <a:t>Forward Propagation</a:t>
            </a:r>
          </a:p>
          <a:p>
            <a:r>
              <a:rPr lang="en-US" altLang="ko-KR" dirty="0"/>
              <a:t>Both are fine…</a:t>
            </a:r>
            <a:endParaRPr lang="en" altLang="ko-KR" dirty="0"/>
          </a:p>
          <a:p>
            <a:pPr marL="0" indent="0">
              <a:buFont typeface="Arial" pitchFamily="34" charset="0"/>
              <a:buNone/>
            </a:pPr>
            <a:endParaRPr lang="en" altLang="ko-KR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DBFC8-711D-CDC9-AAD0-A305EBCB9952}"/>
              </a:ext>
            </a:extLst>
          </p:cNvPr>
          <p:cNvSpPr txBox="1"/>
          <p:nvPr/>
        </p:nvSpPr>
        <p:spPr>
          <a:xfrm>
            <a:off x="692209" y="120495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kumimoji="1" lang="ko-KR" altLang="en-US" sz="8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B04239-C1A6-BDCC-74C1-E4C5AD04C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899" y="2502999"/>
            <a:ext cx="4162638" cy="175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030D617-0F05-F012-D4CF-E927452857BE}"/>
              </a:ext>
            </a:extLst>
          </p:cNvPr>
          <p:cNvGrpSpPr/>
          <p:nvPr/>
        </p:nvGrpSpPr>
        <p:grpSpPr>
          <a:xfrm>
            <a:off x="621721" y="2112420"/>
            <a:ext cx="3691451" cy="2468708"/>
            <a:chOff x="604556" y="1749883"/>
            <a:chExt cx="3937356" cy="2633160"/>
          </a:xfrm>
        </p:grpSpPr>
        <p:pic>
          <p:nvPicPr>
            <p:cNvPr id="5" name="그림 4" descr="도표, 라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436201F-9ED3-7646-1FD0-6CBF44C56F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316" t="44256" b="39700"/>
            <a:stretch>
              <a:fillRect/>
            </a:stretch>
          </p:blipFill>
          <p:spPr>
            <a:xfrm>
              <a:off x="683568" y="1749883"/>
              <a:ext cx="3473037" cy="432048"/>
            </a:xfrm>
            <a:prstGeom prst="rect">
              <a:avLst/>
            </a:prstGeom>
          </p:spPr>
        </p:pic>
        <p:pic>
          <p:nvPicPr>
            <p:cNvPr id="6" name="그림 5" descr="텍스트, 도표, 라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9D0582-EE57-7E7E-2515-618EA4414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0" t="33761" b="27153"/>
            <a:stretch>
              <a:fillRect/>
            </a:stretch>
          </p:blipFill>
          <p:spPr>
            <a:xfrm>
              <a:off x="683221" y="2181931"/>
              <a:ext cx="3858691" cy="985513"/>
            </a:xfrm>
            <a:prstGeom prst="rect">
              <a:avLst/>
            </a:prstGeom>
          </p:spPr>
        </p:pic>
        <p:pic>
          <p:nvPicPr>
            <p:cNvPr id="10" name="그림 9" descr="도표, 라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867FB7-2FFA-408B-05F5-1234912A4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264" t="43401" b="37096"/>
            <a:stretch>
              <a:fillRect/>
            </a:stretch>
          </p:blipFill>
          <p:spPr>
            <a:xfrm>
              <a:off x="604556" y="3017384"/>
              <a:ext cx="3166120" cy="572125"/>
            </a:xfrm>
            <a:prstGeom prst="rect">
              <a:avLst/>
            </a:prstGeom>
          </p:spPr>
        </p:pic>
        <p:pic>
          <p:nvPicPr>
            <p:cNvPr id="11" name="그림 10" descr="도표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1F3E55B-14A7-CB17-51FD-460981262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61" t="36139" b="31279"/>
            <a:stretch>
              <a:fillRect/>
            </a:stretch>
          </p:blipFill>
          <p:spPr>
            <a:xfrm>
              <a:off x="632366" y="3536728"/>
              <a:ext cx="3523928" cy="846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467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78B7-B169-250D-12D8-BB1D6C31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6C1956-CDE2-EF39-5DBD-B317ED1B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altLang="ko-KR" sz="1800" b="1" dirty="0">
                <a:solidFill>
                  <a:srgbClr val="4747BA"/>
                </a:solidFill>
              </a:rPr>
              <a:t>sigmoid</a:t>
            </a:r>
          </a:p>
          <a:p>
            <a:pPr marL="0" indent="0">
              <a:buNone/>
            </a:pP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4747BA"/>
                </a:solidFill>
              </a:rPr>
              <a:t>split			</a:t>
            </a:r>
            <a:r>
              <a:rPr lang="ko-KR" altLang="en-US" sz="1800" b="1" dirty="0">
                <a:solidFill>
                  <a:srgbClr val="4747BA"/>
                </a:solidFill>
              </a:rPr>
              <a:t>* </a:t>
            </a:r>
            <a:r>
              <a:rPr lang="en-US" altLang="ko-KR" sz="1800" b="1" dirty="0">
                <a:solidFill>
                  <a:srgbClr val="4747BA"/>
                </a:solidFill>
              </a:rPr>
              <a:t>(element-wise multiplication)</a:t>
            </a: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" altLang="ko-KR" sz="1800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D4ADF7-F60B-FEA6-EED6-3CEA9031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Appendix: </a:t>
            </a:r>
            <a:r>
              <a:rPr lang="en-US" altLang="ko-KR" dirty="0" err="1"/>
              <a:t>PyTorch</a:t>
            </a:r>
            <a:r>
              <a:rPr lang="en-US" altLang="ko-KR" dirty="0"/>
              <a:t> Operations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8CE59-F1FE-94AD-43F7-2BDFB79FB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D98804-51CB-D435-4715-62FA361A6E2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A2C977-3184-1712-66BC-10E872BD7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4" b="34445"/>
          <a:stretch>
            <a:fillRect/>
          </a:stretch>
        </p:blipFill>
        <p:spPr>
          <a:xfrm>
            <a:off x="342000" y="1427949"/>
            <a:ext cx="5112568" cy="776916"/>
          </a:xfrm>
          <a:prstGeom prst="rect">
            <a:avLst/>
          </a:prstGeom>
        </p:spPr>
      </p:pic>
      <p:pic>
        <p:nvPicPr>
          <p:cNvPr id="13" name="그림 12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4854A-EE50-56A9-AC0A-4D683F37A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"/>
          <a:stretch>
            <a:fillRect/>
          </a:stretch>
        </p:blipFill>
        <p:spPr>
          <a:xfrm>
            <a:off x="683568" y="3521473"/>
            <a:ext cx="1870734" cy="2139775"/>
          </a:xfrm>
          <a:prstGeom prst="rect">
            <a:avLst/>
          </a:prstGeom>
        </p:spPr>
      </p:pic>
      <p:pic>
        <p:nvPicPr>
          <p:cNvPr id="15" name="그림 1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11D016-6BE2-DFAE-A195-8A8E50F67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536728"/>
            <a:ext cx="3788069" cy="1391724"/>
          </a:xfrm>
          <a:prstGeom prst="rect">
            <a:avLst/>
          </a:prstGeom>
        </p:spPr>
      </p:pic>
      <p:pic>
        <p:nvPicPr>
          <p:cNvPr id="17" name="그림 16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3B346B-0130-949D-53D9-04395D0E1E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68" y="3940037"/>
            <a:ext cx="1805756" cy="585105"/>
          </a:xfrm>
          <a:prstGeom prst="rect">
            <a:avLst/>
          </a:prstGeom>
        </p:spPr>
      </p:pic>
      <p:pic>
        <p:nvPicPr>
          <p:cNvPr id="19" name="그림 1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0C686C-E731-CC2C-D73F-C76FBB84EE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5047721"/>
            <a:ext cx="3788069" cy="895701"/>
          </a:xfrm>
          <a:prstGeom prst="rect">
            <a:avLst/>
          </a:prstGeom>
        </p:spPr>
      </p:pic>
      <p:pic>
        <p:nvPicPr>
          <p:cNvPr id="21" name="그림 20" descr="폰트, 텍스트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CC33B4-6E17-C0E5-201B-17ED6832D3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68" y="5206822"/>
            <a:ext cx="1819432" cy="579819"/>
          </a:xfrm>
          <a:prstGeom prst="rect">
            <a:avLst/>
          </a:prstGeom>
        </p:spPr>
      </p:pic>
      <p:pic>
        <p:nvPicPr>
          <p:cNvPr id="22" name="그림 2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299A4-E2D9-19B3-EF9E-E8982CD79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5" t="71340"/>
          <a:stretch>
            <a:fillRect/>
          </a:stretch>
        </p:blipFill>
        <p:spPr>
          <a:xfrm>
            <a:off x="899592" y="2204865"/>
            <a:ext cx="2649599" cy="53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7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38B1-D773-1A4A-FDFF-2964A2D2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108BE9-998E-21B1-1AC8-EC171E864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Let's move on to </a:t>
            </a:r>
            <a:r>
              <a:rPr lang="en-US" altLang="ko-KR" sz="1800" dirty="0" err="1"/>
              <a:t>LSTM_forward.ipynb</a:t>
            </a:r>
            <a:endParaRPr lang="ko-KR" altLang="en-US" sz="18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B8D7073-4167-A007-29DE-C6363C014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F0EE6-DC95-71D1-AF11-BEA0F3840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723C14B-F2DF-AFD5-4D9A-10FF519865A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295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F2FB7F-ADF1-4959-A76B-49ED33471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32000" y="6356350"/>
            <a:ext cx="2133600" cy="365125"/>
          </a:xfrm>
        </p:spPr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4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none" lIns="91440" tIns="45720" rIns="91440" bIns="45720" rtlCol="0">
        <a:noAutofit/>
      </a:bodyPr>
      <a:lstStyle>
        <a:defPPr algn="l">
          <a:defRPr sz="800" i="1" dirty="0" smtClean="0">
            <a:latin typeface="Corbel" panose="020B0503020204020204" pitchFamily="34" charset="0"/>
            <a:ea typeface="함초롬돋움" pitchFamily="18" charset="-127"/>
            <a:cs typeface="함초롬돋움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28226</TotalTime>
  <Words>404</Words>
  <Application>Microsoft Macintosh PowerPoint</Application>
  <PresentationFormat>화면 슬라이드 쇼(4:3)</PresentationFormat>
  <Paragraphs>55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Candara</vt:lpstr>
      <vt:lpstr>Corbel</vt:lpstr>
      <vt:lpstr>Office 테마</vt:lpstr>
      <vt:lpstr>PowerPoint 프레젠테이션</vt:lpstr>
      <vt:lpstr>Objective</vt:lpstr>
      <vt:lpstr>LSTM </vt:lpstr>
      <vt:lpstr>LSTM</vt:lpstr>
      <vt:lpstr>LSTM</vt:lpstr>
      <vt:lpstr>LSTM</vt:lpstr>
      <vt:lpstr>LSTM</vt:lpstr>
      <vt:lpstr>LSTM</vt:lpstr>
      <vt:lpstr>LSTM</vt:lpstr>
      <vt:lpstr>LSTM</vt:lpstr>
      <vt:lpstr>Appendix: PyTorch Operations</vt:lpstr>
      <vt:lpstr>Tutorial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Mgt 강화 : 對外 문서보안 관련</dc:title>
  <dc:creator>samsung</dc:creator>
  <cp:lastModifiedBy>장수혁</cp:lastModifiedBy>
  <cp:revision>892</cp:revision>
  <cp:lastPrinted>2014-03-13T10:30:46Z</cp:lastPrinted>
  <dcterms:created xsi:type="dcterms:W3CDTF">2013-06-12T00:16:49Z</dcterms:created>
  <dcterms:modified xsi:type="dcterms:W3CDTF">2025-06-01T16:01:24Z</dcterms:modified>
</cp:coreProperties>
</file>
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6797675" cy="9926625"/>
  <p:embeddedFontLst>
    <p:embeddedFont>
      <p:font typeface="Corbel"/>
      <p:regular r:id="rId17"/>
      <p:bold r:id="rId18"/>
      <p:italic r:id="rId19"/>
      <p:boldItalic r:id="rId20"/>
    </p:embeddedFont>
    <p:embeddedFont>
      <p:font typeface="Candara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jr646FrZQBSSxL4q4eKvqFzPiV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rbel-boldItalic.fntdata"/><Relationship Id="rId22" Type="http://schemas.openxmlformats.org/officeDocument/2006/relationships/font" Target="fonts/Candara-bold.fntdata"/><Relationship Id="rId21" Type="http://schemas.openxmlformats.org/officeDocument/2006/relationships/font" Target="fonts/Candara-regular.fntdata"/><Relationship Id="rId24" Type="http://schemas.openxmlformats.org/officeDocument/2006/relationships/font" Target="fonts/Candara-boldItalic.fntdata"/><Relationship Id="rId23" Type="http://schemas.openxmlformats.org/officeDocument/2006/relationships/font" Target="fonts/Candara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Corbel-regular.fntdata"/><Relationship Id="rId16" Type="http://schemas.openxmlformats.org/officeDocument/2006/relationships/slide" Target="slides/slide11.xml"/><Relationship Id="rId19" Type="http://schemas.openxmlformats.org/officeDocument/2006/relationships/font" Target="fonts/Corbel-italic.fntdata"/><Relationship Id="rId18" Type="http://schemas.openxmlformats.org/officeDocument/2006/relationships/font" Target="fonts/Corbel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50443" y="0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28583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7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8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9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0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1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1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gif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3"/>
          <p:cNvSpPr txBox="1"/>
          <p:nvPr/>
        </p:nvSpPr>
        <p:spPr>
          <a:xfrm>
            <a:off x="1371600" y="4246240"/>
            <a:ext cx="6400800" cy="62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rgbClr val="888888"/>
                </a:solidFill>
                <a:latin typeface="Corbel"/>
                <a:ea typeface="Corbel"/>
                <a:cs typeface="Corbel"/>
                <a:sym typeface="Corbel"/>
              </a:rPr>
              <a:t>Data Science and Artificial Intelligence Laboratory</a:t>
            </a:r>
            <a:endParaRPr/>
          </a:p>
          <a:p>
            <a:pPr indent="0" lvl="0" marL="0" marR="0" rtl="0" algn="ctr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rgbClr val="888888"/>
                </a:solidFill>
                <a:latin typeface="Corbel"/>
                <a:ea typeface="Corbel"/>
                <a:cs typeface="Corbel"/>
                <a:sym typeface="Corbel"/>
              </a:rPr>
              <a:t>Seoul National University</a:t>
            </a:r>
            <a:endParaRPr/>
          </a:p>
        </p:txBody>
      </p:sp>
      <p:sp>
        <p:nvSpPr>
          <p:cNvPr id="16" name="Google Shape;16;p13"/>
          <p:cNvSpPr txBox="1"/>
          <p:nvPr>
            <p:ph type="title"/>
          </p:nvPr>
        </p:nvSpPr>
        <p:spPr>
          <a:xfrm>
            <a:off x="144000" y="1542268"/>
            <a:ext cx="8856000" cy="12961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orbel"/>
              <a:buNone/>
              <a:defRPr sz="3600">
                <a:solidFill>
                  <a:srgbClr val="262626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http://www.snu.ac.kr/images/common/img/img01_mark_ab0102.gif" id="17" name="Google Shape;17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57650" y="4869160"/>
            <a:ext cx="1028700" cy="106870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3"/>
          <p:cNvSpPr txBox="1"/>
          <p:nvPr/>
        </p:nvSpPr>
        <p:spPr>
          <a:xfrm>
            <a:off x="1352099" y="3382057"/>
            <a:ext cx="6400800" cy="478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84B4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4747BA"/>
                </a:solidFill>
                <a:latin typeface="Corbel"/>
                <a:ea typeface="Corbel"/>
                <a:cs typeface="Corbel"/>
                <a:sym typeface="Corbel"/>
              </a:rPr>
              <a:t>Soohyuk Jang</a:t>
            </a:r>
            <a:endParaRPr b="0" i="0" sz="2200" u="none" cap="none" strike="noStrike">
              <a:solidFill>
                <a:srgbClr val="4747BA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9" name="Google Shape;19;p13"/>
          <p:cNvSpPr txBox="1"/>
          <p:nvPr/>
        </p:nvSpPr>
        <p:spPr>
          <a:xfrm>
            <a:off x="4095299" y="3742184"/>
            <a:ext cx="9144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6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" name="Google Shape;20;p13"/>
          <p:cNvSpPr txBox="1"/>
          <p:nvPr/>
        </p:nvSpPr>
        <p:spPr>
          <a:xfrm>
            <a:off x="3563888" y="3848365"/>
            <a:ext cx="2016224" cy="3714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Malgun Gothic"/>
              <a:buNone/>
            </a:pPr>
            <a:r>
              <a:rPr b="0" i="0" lang="en" sz="14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2 June 2025</a:t>
            </a:r>
            <a:endParaRPr b="0" i="0" sz="1400" u="none" cap="none" strike="noStrik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>
  <p:cSld name="제목 및 내용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67398" y="6291108"/>
            <a:ext cx="1701376" cy="49560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342000" y="980728"/>
            <a:ext cx="8460000" cy="51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120000"/>
              </a:lnSpc>
              <a:spcBef>
                <a:spcPts val="320"/>
              </a:spcBef>
              <a:spcAft>
                <a:spcPts val="0"/>
              </a:spcAft>
              <a:buClr>
                <a:srgbClr val="5858C0"/>
              </a:buClr>
              <a:buSzPts val="1600"/>
              <a:buChar char="•"/>
              <a:defRPr sz="1600"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17500" lvl="1" marL="914400" algn="l">
              <a:lnSpc>
                <a:spcPct val="120000"/>
              </a:lnSpc>
              <a:spcBef>
                <a:spcPts val="280"/>
              </a:spcBef>
              <a:spcAft>
                <a:spcPts val="0"/>
              </a:spcAft>
              <a:buClr>
                <a:srgbClr val="5858C0"/>
              </a:buClr>
              <a:buSzPts val="1400"/>
              <a:buChar char="–"/>
              <a:defRPr sz="1400"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04800" lvl="2" marL="1371600" algn="l">
              <a:lnSpc>
                <a:spcPct val="120000"/>
              </a:lnSpc>
              <a:spcBef>
                <a:spcPts val="240"/>
              </a:spcBef>
              <a:spcAft>
                <a:spcPts val="0"/>
              </a:spcAft>
              <a:buClr>
                <a:srgbClr val="5858C0"/>
              </a:buClr>
              <a:buSzPts val="1200"/>
              <a:buChar char="•"/>
              <a:defRPr sz="1200"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04800" lvl="3" marL="1828800" algn="l">
              <a:lnSpc>
                <a:spcPct val="12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>
                <a:latin typeface="Corbel"/>
                <a:ea typeface="Corbel"/>
                <a:cs typeface="Corbel"/>
                <a:sym typeface="Corbel"/>
              </a:defRPr>
            </a:lvl4pPr>
            <a:lvl5pPr indent="-342900" lvl="4" marL="228600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>
                <a:latin typeface="Corbel"/>
                <a:ea typeface="Corbel"/>
                <a:cs typeface="Corbel"/>
                <a:sym typeface="Corbe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type="title"/>
          </p:nvPr>
        </p:nvSpPr>
        <p:spPr>
          <a:xfrm>
            <a:off x="144000" y="0"/>
            <a:ext cx="8856000" cy="6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4747BA"/>
              </a:buClr>
              <a:buSzPts val="2400"/>
              <a:buFont typeface="Malgun Gothic"/>
              <a:buNone/>
              <a:defRPr b="1" sz="2400">
                <a:solidFill>
                  <a:srgbClr val="4747B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/>
        </p:nvSpPr>
        <p:spPr>
          <a:xfrm>
            <a:off x="8493506" y="6356350"/>
            <a:ext cx="7916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888888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7884368" y="6356350"/>
            <a:ext cx="9812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14"/>
          <p:cNvSpPr txBox="1"/>
          <p:nvPr>
            <p:ph idx="2" type="body"/>
          </p:nvPr>
        </p:nvSpPr>
        <p:spPr>
          <a:xfrm>
            <a:off x="2051720" y="6356349"/>
            <a:ext cx="56886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800">
                <a:solidFill>
                  <a:srgbClr val="7F7F7F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-381000" lvl="1" marL="914400" algn="l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  <a:defRPr/>
            </a:lvl2pPr>
            <a:lvl3pPr indent="-355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3pPr>
            <a:lvl4pPr indent="-355600" lvl="3" marL="1828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indent="-342900" lvl="4" marL="228600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OD" typ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/>
        </p:nvSpPr>
        <p:spPr>
          <a:xfrm>
            <a:off x="8493506" y="6356350"/>
            <a:ext cx="7916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888888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30" name="Google Shape;30;p15"/>
          <p:cNvSpPr txBox="1"/>
          <p:nvPr/>
        </p:nvSpPr>
        <p:spPr>
          <a:xfrm>
            <a:off x="1371600" y="3093228"/>
            <a:ext cx="6400800" cy="671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84B4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4747BA"/>
                </a:solidFill>
                <a:latin typeface="Corbel"/>
                <a:ea typeface="Corbel"/>
                <a:cs typeface="Corbel"/>
                <a:sym typeface="Corbel"/>
              </a:rPr>
              <a:t>Thank You</a:t>
            </a:r>
            <a:endParaRPr b="1" i="0" sz="4000" u="none" cap="none" strike="noStrike">
              <a:solidFill>
                <a:srgbClr val="4747BA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1" name="Google Shape;31;p15"/>
          <p:cNvSpPr txBox="1"/>
          <p:nvPr>
            <p:ph idx="12" type="sldNum"/>
          </p:nvPr>
        </p:nvSpPr>
        <p:spPr>
          <a:xfrm>
            <a:off x="7884368" y="6356350"/>
            <a:ext cx="9812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15"/>
          <p:cNvSpPr txBox="1"/>
          <p:nvPr>
            <p:ph idx="11" type="ftr"/>
          </p:nvPr>
        </p:nvSpPr>
        <p:spPr>
          <a:xfrm>
            <a:off x="1979712" y="6356350"/>
            <a:ext cx="57606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AutoNum type="arabicParenR"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idx="1" type="body"/>
          </p:nvPr>
        </p:nvSpPr>
        <p:spPr>
          <a:xfrm>
            <a:off x="342000" y="980728"/>
            <a:ext cx="8460000" cy="51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81000" lvl="1" marL="914400" marR="0" rtl="0" algn="l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55600" lvl="2" marL="137160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55600" lvl="3" marL="182880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42900" lvl="4" marL="2286000" marR="0" rtl="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1" name="Google Shape;11;p12"/>
          <p:cNvSpPr txBox="1"/>
          <p:nvPr>
            <p:ph idx="12" type="sldNum"/>
          </p:nvPr>
        </p:nvSpPr>
        <p:spPr>
          <a:xfrm>
            <a:off x="7884368" y="6356350"/>
            <a:ext cx="9812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" name="Google Shape;12;p12"/>
          <p:cNvSpPr txBox="1"/>
          <p:nvPr>
            <p:ph type="title"/>
          </p:nvPr>
        </p:nvSpPr>
        <p:spPr>
          <a:xfrm>
            <a:off x="144000" y="0"/>
            <a:ext cx="8856000" cy="6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orbel"/>
              <a:buNone/>
              <a:defRPr b="0" i="0" sz="2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1979712" y="6356350"/>
            <a:ext cx="57606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AutoNum type="arabicParenR"/>
              <a:defRPr b="0" i="0" sz="800" u="none" cap="none" strike="noStrik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s231n.github.io/assignments2025/assignment2/" TargetMode="External"/><Relationship Id="rId4" Type="http://schemas.openxmlformats.org/officeDocument/2006/relationships/image" Target="../media/image12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"/>
          <p:cNvSpPr txBox="1"/>
          <p:nvPr/>
        </p:nvSpPr>
        <p:spPr>
          <a:xfrm>
            <a:off x="1727684" y="1844824"/>
            <a:ext cx="5688632" cy="144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Recurrent Neural Networks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1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’25년 Samsung AI Expert 7기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"/>
          <p:cNvSpPr txBox="1"/>
          <p:nvPr>
            <p:ph idx="1" type="body"/>
          </p:nvPr>
        </p:nvSpPr>
        <p:spPr>
          <a:xfrm>
            <a:off x="342000" y="980728"/>
            <a:ext cx="8460000" cy="51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858C0"/>
              </a:buClr>
              <a:buSzPts val="1600"/>
              <a:buChar char="•"/>
            </a:pPr>
            <a:r>
              <a:rPr lang="en"/>
              <a:t>Let’s implement RNN forward </a:t>
            </a:r>
            <a:r>
              <a:rPr b="1" lang="en">
                <a:solidFill>
                  <a:srgbClr val="FF0000"/>
                </a:solidFill>
              </a:rPr>
              <a:t>on your own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320"/>
              </a:spcBef>
              <a:spcAft>
                <a:spcPts val="0"/>
              </a:spcAft>
              <a:buClr>
                <a:srgbClr val="5858C0"/>
              </a:buClr>
              <a:buSzPts val="1600"/>
              <a:buChar char="•"/>
            </a:pPr>
            <a:r>
              <a:rPr lang="en"/>
              <a:t>Part of CS231n assignment2 from Stanford</a:t>
            </a:r>
            <a:endParaRPr/>
          </a:p>
          <a:p>
            <a:pPr indent="-285750" lvl="1" marL="742950" rtl="0" algn="l">
              <a:lnSpc>
                <a:spcPct val="120000"/>
              </a:lnSpc>
              <a:spcBef>
                <a:spcPts val="280"/>
              </a:spcBef>
              <a:spcAft>
                <a:spcPts val="0"/>
              </a:spcAft>
              <a:buSzPts val="1400"/>
              <a:buChar char="–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https://cs231n.github.io/assignments2025/assignment2/</a:t>
            </a: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800">
              <a:solidFill>
                <a:srgbClr val="4747BA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800">
              <a:solidFill>
                <a:srgbClr val="4747BA"/>
              </a:solidFill>
            </a:endParaRPr>
          </a:p>
          <a:p>
            <a:pPr indent="-228600" lvl="0" marL="342900" rtl="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rgbClr val="5858C0"/>
              </a:buClr>
              <a:buSzPts val="1800"/>
              <a:buNone/>
            </a:pPr>
            <a:r>
              <a:t/>
            </a:r>
            <a:endParaRPr b="1" sz="1800">
              <a:solidFill>
                <a:srgbClr val="4747BA"/>
              </a:solidFill>
            </a:endParaRPr>
          </a:p>
          <a:p>
            <a:pPr indent="-228600" lvl="0" marL="342900" rtl="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rgbClr val="5858C0"/>
              </a:buClr>
              <a:buSzPts val="1800"/>
              <a:buNone/>
            </a:pPr>
            <a:r>
              <a:t/>
            </a:r>
            <a:endParaRPr sz="1800"/>
          </a:p>
        </p:txBody>
      </p:sp>
      <p:sp>
        <p:nvSpPr>
          <p:cNvPr id="43" name="Google Shape;43;p2"/>
          <p:cNvSpPr txBox="1"/>
          <p:nvPr>
            <p:ph type="title"/>
          </p:nvPr>
        </p:nvSpPr>
        <p:spPr>
          <a:xfrm>
            <a:off x="144000" y="0"/>
            <a:ext cx="8856000" cy="6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747BA"/>
              </a:buClr>
              <a:buSzPts val="2400"/>
              <a:buFont typeface="Malgun Gothic"/>
              <a:buNone/>
            </a:pPr>
            <a:r>
              <a:rPr lang="en"/>
              <a:t>Objective</a:t>
            </a:r>
            <a:endParaRPr/>
          </a:p>
        </p:txBody>
      </p:sp>
      <p:sp>
        <p:nvSpPr>
          <p:cNvPr id="44" name="Google Shape;44;p2"/>
          <p:cNvSpPr txBox="1"/>
          <p:nvPr>
            <p:ph idx="12" type="sldNum"/>
          </p:nvPr>
        </p:nvSpPr>
        <p:spPr>
          <a:xfrm>
            <a:off x="7884368" y="6356350"/>
            <a:ext cx="9812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888888"/>
                </a:solidFill>
              </a:rPr>
              <a:t>‹#›</a:t>
            </a:fld>
            <a:endParaRPr>
              <a:solidFill>
                <a:srgbClr val="888888"/>
              </a:solidFill>
            </a:endParaRPr>
          </a:p>
        </p:txBody>
      </p:sp>
      <p:sp>
        <p:nvSpPr>
          <p:cNvPr id="45" name="Google Shape;45;p2"/>
          <p:cNvSpPr txBox="1"/>
          <p:nvPr>
            <p:ph idx="2" type="body"/>
          </p:nvPr>
        </p:nvSpPr>
        <p:spPr>
          <a:xfrm>
            <a:off x="2051720" y="6356349"/>
            <a:ext cx="56886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텍스트, 스크린샷, 폰트, 소프트웨어이(가) 표시된 사진&#10;&#10;AI 생성 콘텐츠는 정확하지 않을 수 있습니다." id="46" name="Google Shape;4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768" y="2630208"/>
            <a:ext cx="4362036" cy="27366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텍스트, 스크린샷, 폰트, 소프트웨어이(가) 표시된 사진&#10;&#10;AI 생성 콘텐츠는 정확하지 않을 수 있습니다." id="47" name="Google Shape;4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32039" y="2643616"/>
            <a:ext cx="3799743" cy="2729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"/>
          <p:cNvSpPr txBox="1"/>
          <p:nvPr>
            <p:ph idx="1" type="body"/>
          </p:nvPr>
        </p:nvSpPr>
        <p:spPr>
          <a:xfrm>
            <a:off x="342000" y="980728"/>
            <a:ext cx="8460000" cy="51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13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858C0"/>
              </a:buClr>
              <a:buSzPts val="1600"/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 txBox="1"/>
          <p:nvPr>
            <p:ph type="title"/>
          </p:nvPr>
        </p:nvSpPr>
        <p:spPr>
          <a:xfrm>
            <a:off x="144000" y="0"/>
            <a:ext cx="8856000" cy="6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747BA"/>
              </a:buClr>
              <a:buSzPts val="2400"/>
              <a:buFont typeface="Malgun Gothic"/>
              <a:buNone/>
            </a:pPr>
            <a:r>
              <a:rPr lang="en"/>
              <a:t>Recurrent </a:t>
            </a:r>
            <a:endParaRPr/>
          </a:p>
        </p:txBody>
      </p:sp>
      <p:sp>
        <p:nvSpPr>
          <p:cNvPr id="55" name="Google Shape;55;p3"/>
          <p:cNvSpPr txBox="1"/>
          <p:nvPr>
            <p:ph idx="12" type="sldNum"/>
          </p:nvPr>
        </p:nvSpPr>
        <p:spPr>
          <a:xfrm>
            <a:off x="7884368" y="6356350"/>
            <a:ext cx="9812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888888"/>
                </a:solidFill>
              </a:rPr>
              <a:t>‹#›</a:t>
            </a:fld>
            <a:endParaRPr>
              <a:solidFill>
                <a:srgbClr val="888888"/>
              </a:solidFill>
            </a:endParaRPr>
          </a:p>
        </p:txBody>
      </p:sp>
      <p:sp>
        <p:nvSpPr>
          <p:cNvPr id="56" name="Google Shape;56;p3"/>
          <p:cNvSpPr txBox="1"/>
          <p:nvPr>
            <p:ph idx="2" type="body"/>
          </p:nvPr>
        </p:nvSpPr>
        <p:spPr>
          <a:xfrm>
            <a:off x="2051720" y="6356349"/>
            <a:ext cx="56886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A screenshot of a computer model&#10;&#10;Description automatically generated" id="57" name="Google Shape;5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0" y="0"/>
            <a:ext cx="9135549" cy="6851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"/>
          <p:cNvSpPr txBox="1"/>
          <p:nvPr>
            <p:ph idx="1" type="body"/>
          </p:nvPr>
        </p:nvSpPr>
        <p:spPr>
          <a:xfrm>
            <a:off x="342000" y="980728"/>
            <a:ext cx="8460000" cy="51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13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858C0"/>
              </a:buClr>
              <a:buSzPts val="1600"/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 txBox="1"/>
          <p:nvPr>
            <p:ph type="title"/>
          </p:nvPr>
        </p:nvSpPr>
        <p:spPr>
          <a:xfrm>
            <a:off x="144000" y="0"/>
            <a:ext cx="8856000" cy="6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747BA"/>
              </a:buClr>
              <a:buSzPts val="24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 txBox="1"/>
          <p:nvPr>
            <p:ph idx="12" type="sldNum"/>
          </p:nvPr>
        </p:nvSpPr>
        <p:spPr>
          <a:xfrm>
            <a:off x="7884368" y="6356350"/>
            <a:ext cx="9812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888888"/>
                </a:solidFill>
              </a:rPr>
              <a:t>‹#›</a:t>
            </a:fld>
            <a:endParaRPr>
              <a:solidFill>
                <a:srgbClr val="888888"/>
              </a:solidFill>
            </a:endParaRPr>
          </a:p>
        </p:txBody>
      </p:sp>
      <p:sp>
        <p:nvSpPr>
          <p:cNvPr id="65" name="Google Shape;65;p4"/>
          <p:cNvSpPr txBox="1"/>
          <p:nvPr>
            <p:ph idx="2" type="body"/>
          </p:nvPr>
        </p:nvSpPr>
        <p:spPr>
          <a:xfrm>
            <a:off x="2051720" y="6356349"/>
            <a:ext cx="56886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A screenshot of a computer&#10;&#10;Description automatically generated" id="66" name="Google Shape;6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>
            <p:ph idx="12" type="sldNum"/>
          </p:nvPr>
        </p:nvSpPr>
        <p:spPr>
          <a:xfrm>
            <a:off x="7884368" y="6356350"/>
            <a:ext cx="9812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888888"/>
                </a:solidFill>
              </a:rPr>
              <a:t>‹#›</a:t>
            </a:fld>
            <a:endParaRPr>
              <a:solidFill>
                <a:srgbClr val="888888"/>
              </a:solidFill>
            </a:endParaRPr>
          </a:p>
        </p:txBody>
      </p:sp>
      <p:sp>
        <p:nvSpPr>
          <p:cNvPr id="72" name="Google Shape;72;p5"/>
          <p:cNvSpPr txBox="1"/>
          <p:nvPr>
            <p:ph idx="2" type="body"/>
          </p:nvPr>
        </p:nvSpPr>
        <p:spPr>
          <a:xfrm>
            <a:off x="2051720" y="6356349"/>
            <a:ext cx="56886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A diagram of a diagram&#10;&#10;Description automatically generated" id="73" name="Google Shape;7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 txBox="1"/>
          <p:nvPr>
            <p:ph idx="1" type="body"/>
          </p:nvPr>
        </p:nvSpPr>
        <p:spPr>
          <a:xfrm>
            <a:off x="342000" y="980728"/>
            <a:ext cx="8460000" cy="51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13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858C0"/>
              </a:buClr>
              <a:buSzPts val="1600"/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 txBox="1"/>
          <p:nvPr>
            <p:ph idx="12" type="sldNum"/>
          </p:nvPr>
        </p:nvSpPr>
        <p:spPr>
          <a:xfrm>
            <a:off x="7884368" y="6356350"/>
            <a:ext cx="9812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888888"/>
                </a:solidFill>
              </a:rPr>
              <a:t>‹#›</a:t>
            </a:fld>
            <a:endParaRPr>
              <a:solidFill>
                <a:srgbClr val="888888"/>
              </a:solidFill>
            </a:endParaRPr>
          </a:p>
        </p:txBody>
      </p:sp>
      <p:sp>
        <p:nvSpPr>
          <p:cNvPr id="80" name="Google Shape;80;p6"/>
          <p:cNvSpPr txBox="1"/>
          <p:nvPr>
            <p:ph idx="2" type="body"/>
          </p:nvPr>
        </p:nvSpPr>
        <p:spPr>
          <a:xfrm>
            <a:off x="2051720" y="6356349"/>
            <a:ext cx="56886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 txBox="1"/>
          <p:nvPr>
            <p:ph type="title"/>
          </p:nvPr>
        </p:nvSpPr>
        <p:spPr>
          <a:xfrm>
            <a:off x="144000" y="0"/>
            <a:ext cx="8856000" cy="6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747BA"/>
              </a:buClr>
              <a:buSzPts val="2400"/>
              <a:buFont typeface="Malgun Gothic"/>
              <a:buNone/>
            </a:pPr>
            <a:r>
              <a:t/>
            </a:r>
            <a:endParaRPr/>
          </a:p>
        </p:txBody>
      </p:sp>
      <p:pic>
        <p:nvPicPr>
          <p:cNvPr descr="A diagram of a mathematical algorithm&#10;&#10;Description automatically generated with medium confidence" id="82" name="Google Shape;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 txBox="1"/>
          <p:nvPr>
            <p:ph idx="1" type="body"/>
          </p:nvPr>
        </p:nvSpPr>
        <p:spPr>
          <a:xfrm>
            <a:off x="342000" y="980728"/>
            <a:ext cx="8460000" cy="51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800">
                <a:solidFill>
                  <a:srgbClr val="4747BA"/>
                </a:solidFill>
              </a:rPr>
              <a:t>@ Operator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320"/>
              </a:spcBef>
              <a:spcAft>
                <a:spcPts val="0"/>
              </a:spcAft>
              <a:buClr>
                <a:srgbClr val="5858C0"/>
              </a:buClr>
              <a:buSzPts val="1600"/>
              <a:buChar char="•"/>
            </a:pPr>
            <a:r>
              <a:rPr lang="en"/>
              <a:t>In PyTorch, the </a:t>
            </a:r>
            <a:r>
              <a:rPr b="1" lang="en"/>
              <a:t>@ operator performs matrix multiplication </a:t>
            </a:r>
            <a:r>
              <a:rPr lang="en"/>
              <a:t>(like torch.matmul()).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320"/>
              </a:spcBef>
              <a:spcAft>
                <a:spcPts val="0"/>
              </a:spcAft>
              <a:buClr>
                <a:srgbClr val="5858C0"/>
              </a:buClr>
              <a:buSzPts val="1600"/>
              <a:buChar char="•"/>
            </a:pPr>
            <a:r>
              <a:rPr lang="en"/>
              <a:t>Multiplying 2D matrices</a:t>
            </a:r>
            <a:endParaRPr/>
          </a:p>
          <a:p>
            <a:pPr indent="-285750" lvl="1" marL="742950" rtl="0" algn="l">
              <a:lnSpc>
                <a:spcPct val="120000"/>
              </a:lnSpc>
              <a:spcBef>
                <a:spcPts val="280"/>
              </a:spcBef>
              <a:spcAft>
                <a:spcPts val="0"/>
              </a:spcAft>
              <a:buSzPts val="1400"/>
              <a:buChar char="–"/>
            </a:pPr>
            <a:r>
              <a:rPr lang="en"/>
              <a:t>A @ B is equivalent to torch.matmul(A, B)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320"/>
              </a:spcBef>
              <a:spcAft>
                <a:spcPts val="0"/>
              </a:spcAft>
              <a:buClr>
                <a:srgbClr val="5858C0"/>
              </a:buClr>
              <a:buSzPts val="1600"/>
              <a:buChar char="•"/>
            </a:pPr>
            <a:r>
              <a:rPr lang="en"/>
              <a:t>Also works with batched tensors (e.g. 3D or higher), applying matrix multiplication over </a:t>
            </a:r>
            <a:r>
              <a:rPr b="1" lang="en"/>
              <a:t>the last two dimensions.</a:t>
            </a:r>
            <a:endParaRPr/>
          </a:p>
          <a:p>
            <a:pPr indent="-276225" lvl="0" marL="342900" rtl="0" algn="l">
              <a:lnSpc>
                <a:spcPct val="120000"/>
              </a:lnSpc>
              <a:spcBef>
                <a:spcPts val="210"/>
              </a:spcBef>
              <a:spcAft>
                <a:spcPts val="0"/>
              </a:spcAft>
              <a:buClr>
                <a:srgbClr val="5858C0"/>
              </a:buClr>
              <a:buSzPts val="1050"/>
              <a:buNone/>
            </a:pPr>
            <a:r>
              <a:t/>
            </a:r>
            <a:endParaRPr b="1" sz="1050"/>
          </a:p>
          <a:p>
            <a:pPr indent="0" lvl="0" marL="0" rtl="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1" lang="en" sz="1800">
                <a:solidFill>
                  <a:srgbClr val="4747BA"/>
                </a:solidFill>
              </a:rPr>
              <a:t>tanh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320"/>
              </a:spcBef>
              <a:spcAft>
                <a:spcPts val="0"/>
              </a:spcAft>
              <a:buClr>
                <a:srgbClr val="5858C0"/>
              </a:buClr>
              <a:buSzPts val="1600"/>
              <a:buChar char="•"/>
            </a:pPr>
            <a:r>
              <a:rPr lang="en"/>
              <a:t>Returns a new tensor with the hyperbolic tangent of the elementsof input.</a:t>
            </a:r>
            <a:br>
              <a:rPr lang="en"/>
            </a:br>
            <a:endParaRPr/>
          </a:p>
          <a:p>
            <a:pPr indent="0" lvl="0" marL="0" rtl="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800">
              <a:solidFill>
                <a:srgbClr val="4747BA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1" lang="en" sz="1800">
                <a:solidFill>
                  <a:srgbClr val="4747BA"/>
                </a:solidFill>
              </a:rPr>
              <a:t>zeros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800">
              <a:solidFill>
                <a:srgbClr val="4747BA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800"/>
          </a:p>
        </p:txBody>
      </p:sp>
      <p:sp>
        <p:nvSpPr>
          <p:cNvPr id="88" name="Google Shape;88;p7"/>
          <p:cNvSpPr txBox="1"/>
          <p:nvPr>
            <p:ph type="title"/>
          </p:nvPr>
        </p:nvSpPr>
        <p:spPr>
          <a:xfrm>
            <a:off x="144000" y="0"/>
            <a:ext cx="8856000" cy="6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747BA"/>
              </a:buClr>
              <a:buSzPts val="2400"/>
              <a:buFont typeface="Malgun Gothic"/>
              <a:buNone/>
            </a:pPr>
            <a:r>
              <a:rPr lang="en"/>
              <a:t>Appendix: PyTorch Operations</a:t>
            </a:r>
            <a:endParaRPr/>
          </a:p>
        </p:txBody>
      </p:sp>
      <p:sp>
        <p:nvSpPr>
          <p:cNvPr id="89" name="Google Shape;89;p7"/>
          <p:cNvSpPr txBox="1"/>
          <p:nvPr>
            <p:ph idx="12" type="sldNum"/>
          </p:nvPr>
        </p:nvSpPr>
        <p:spPr>
          <a:xfrm>
            <a:off x="7884368" y="6356350"/>
            <a:ext cx="9812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888888"/>
                </a:solidFill>
              </a:rPr>
              <a:t>‹#›</a:t>
            </a:fld>
            <a:endParaRPr>
              <a:solidFill>
                <a:srgbClr val="888888"/>
              </a:solidFill>
            </a:endParaRPr>
          </a:p>
        </p:txBody>
      </p:sp>
      <p:sp>
        <p:nvSpPr>
          <p:cNvPr id="90" name="Google Shape;90;p7"/>
          <p:cNvSpPr txBox="1"/>
          <p:nvPr>
            <p:ph idx="2" type="body"/>
          </p:nvPr>
        </p:nvSpPr>
        <p:spPr>
          <a:xfrm>
            <a:off x="2051720" y="6356349"/>
            <a:ext cx="56886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텍스트, 폰트, 화이트, 대수학이(가) 표시된 사진&#10;&#10;AI 생성 콘텐츠는 정확하지 않을 수 있습니다." id="91" name="Google Shape;9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668" y="5085184"/>
            <a:ext cx="1915621" cy="9355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텍스트, 폰트, 화이트, 영수증이(가) 표시된 사진&#10;&#10;AI 생성 콘텐츠는 정확하지 않을 수 있습니다." id="92" name="Google Shape;9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576" y="3959715"/>
            <a:ext cx="3456384" cy="687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 txBox="1"/>
          <p:nvPr>
            <p:ph idx="1" type="body"/>
          </p:nvPr>
        </p:nvSpPr>
        <p:spPr>
          <a:xfrm>
            <a:off x="342000" y="980728"/>
            <a:ext cx="8460000" cy="51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858C0"/>
              </a:buClr>
              <a:buSzPts val="1800"/>
              <a:buChar char="•"/>
            </a:pPr>
            <a:r>
              <a:rPr b="1" lang="en" sz="1800"/>
              <a:t>Broadcasting</a:t>
            </a:r>
            <a:r>
              <a:rPr lang="en" sz="1800"/>
              <a:t> allows arrays/tensors with different shapes to be used in arithmetic operations </a:t>
            </a:r>
            <a:r>
              <a:rPr b="1" lang="en" sz="1800"/>
              <a:t>as if</a:t>
            </a:r>
            <a:r>
              <a:rPr lang="en" sz="1800"/>
              <a:t> they had the same shape—</a:t>
            </a:r>
            <a:r>
              <a:rPr b="1" lang="en" sz="1800"/>
              <a:t>without copying data</a:t>
            </a:r>
            <a:r>
              <a:rPr lang="en" sz="1800"/>
              <a:t>.</a:t>
            </a:r>
            <a:endParaRPr/>
          </a:p>
          <a:p>
            <a:pPr indent="-228600" lvl="0" marL="342900" rtl="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rgbClr val="5858C0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1" lang="en" sz="1800">
                <a:solidFill>
                  <a:srgbClr val="4747BA"/>
                </a:solidFill>
              </a:rPr>
              <a:t>Broadcasting Logic: Step-by-Step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320"/>
              </a:spcBef>
              <a:spcAft>
                <a:spcPts val="0"/>
              </a:spcAft>
              <a:buClr>
                <a:srgbClr val="5858C0"/>
              </a:buClr>
              <a:buSzPts val="1600"/>
              <a:buChar char="•"/>
            </a:pPr>
            <a:r>
              <a:rPr b="1" lang="en"/>
              <a:t>Align shapes from the right (trailing dimensions).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320"/>
              </a:spcBef>
              <a:spcAft>
                <a:spcPts val="0"/>
              </a:spcAft>
              <a:buClr>
                <a:srgbClr val="5858C0"/>
              </a:buClr>
              <a:buSzPts val="1600"/>
              <a:buChar char="•"/>
            </a:pPr>
            <a:r>
              <a:rPr b="1" lang="en"/>
              <a:t>Prepend 1s</a:t>
            </a:r>
            <a:r>
              <a:rPr lang="en"/>
              <a:t> to the shorter shape to match the number of dimensions.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320"/>
              </a:spcBef>
              <a:spcAft>
                <a:spcPts val="0"/>
              </a:spcAft>
              <a:buClr>
                <a:srgbClr val="5858C0"/>
              </a:buClr>
              <a:buSzPts val="1600"/>
              <a:buChar char="•"/>
            </a:pPr>
            <a:r>
              <a:rPr b="1" lang="en"/>
              <a:t>Compare each dimension</a:t>
            </a:r>
            <a:r>
              <a:rPr lang="en"/>
              <a:t>:</a:t>
            </a:r>
            <a:endParaRPr/>
          </a:p>
          <a:p>
            <a:pPr indent="-285750" lvl="1" marL="742950" rtl="0" algn="l">
              <a:lnSpc>
                <a:spcPct val="120000"/>
              </a:lnSpc>
              <a:spcBef>
                <a:spcPts val="280"/>
              </a:spcBef>
              <a:spcAft>
                <a:spcPts val="0"/>
              </a:spcAft>
              <a:buSzPts val="1400"/>
              <a:buChar char="–"/>
            </a:pPr>
            <a:r>
              <a:rPr lang="en"/>
              <a:t>If equal → OK</a:t>
            </a:r>
            <a:endParaRPr/>
          </a:p>
          <a:p>
            <a:pPr indent="-285750" lvl="1" marL="742950" rtl="0" algn="l">
              <a:lnSpc>
                <a:spcPct val="120000"/>
              </a:lnSpc>
              <a:spcBef>
                <a:spcPts val="280"/>
              </a:spcBef>
              <a:spcAft>
                <a:spcPts val="0"/>
              </a:spcAft>
              <a:buSzPts val="1400"/>
              <a:buChar char="–"/>
            </a:pPr>
            <a:r>
              <a:rPr lang="en"/>
              <a:t>If one is 1 → OK (will be stretched)</a:t>
            </a:r>
            <a:endParaRPr/>
          </a:p>
          <a:p>
            <a:pPr indent="-285750" lvl="1" marL="742950" rtl="0" algn="l">
              <a:lnSpc>
                <a:spcPct val="120000"/>
              </a:lnSpc>
              <a:spcBef>
                <a:spcPts val="280"/>
              </a:spcBef>
              <a:spcAft>
                <a:spcPts val="0"/>
              </a:spcAft>
              <a:buSzPts val="1400"/>
              <a:buChar char="–"/>
            </a:pPr>
            <a:r>
              <a:rPr lang="en"/>
              <a:t>Else → </a:t>
            </a:r>
            <a:r>
              <a:rPr lang="en">
                <a:solidFill>
                  <a:srgbClr val="FF0000"/>
                </a:solidFill>
              </a:rPr>
              <a:t>Error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320"/>
              </a:spcBef>
              <a:spcAft>
                <a:spcPts val="0"/>
              </a:spcAft>
              <a:buClr>
                <a:srgbClr val="5858C0"/>
              </a:buClr>
              <a:buSzPts val="1600"/>
              <a:buChar char="•"/>
            </a:pPr>
            <a:r>
              <a:rPr b="1" lang="en"/>
              <a:t>Resulting shape</a:t>
            </a:r>
            <a:r>
              <a:rPr lang="en"/>
              <a:t> is the element-wise </a:t>
            </a:r>
            <a:r>
              <a:rPr b="1" lang="en"/>
              <a:t>maximum</a:t>
            </a:r>
            <a:r>
              <a:rPr lang="en"/>
              <a:t> along each dimension.</a:t>
            </a:r>
            <a:endParaRPr/>
          </a:p>
          <a:p>
            <a:pPr indent="-228600" lvl="0" marL="342900" rtl="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rgbClr val="5858C0"/>
              </a:buClr>
              <a:buSzPts val="1800"/>
              <a:buNone/>
            </a:pPr>
            <a:r>
              <a:t/>
            </a:r>
            <a:endParaRPr b="1" sz="1800"/>
          </a:p>
        </p:txBody>
      </p:sp>
      <p:sp>
        <p:nvSpPr>
          <p:cNvPr id="98" name="Google Shape;98;p8"/>
          <p:cNvSpPr txBox="1"/>
          <p:nvPr>
            <p:ph type="title"/>
          </p:nvPr>
        </p:nvSpPr>
        <p:spPr>
          <a:xfrm>
            <a:off x="144000" y="0"/>
            <a:ext cx="8856000" cy="6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747BA"/>
              </a:buClr>
              <a:buSzPts val="2400"/>
              <a:buFont typeface="Malgun Gothic"/>
              <a:buNone/>
            </a:pPr>
            <a:r>
              <a:rPr lang="en"/>
              <a:t>Appendix: Broadcasting</a:t>
            </a:r>
            <a:endParaRPr/>
          </a:p>
        </p:txBody>
      </p:sp>
      <p:sp>
        <p:nvSpPr>
          <p:cNvPr id="99" name="Google Shape;99;p8"/>
          <p:cNvSpPr txBox="1"/>
          <p:nvPr>
            <p:ph idx="12" type="sldNum"/>
          </p:nvPr>
        </p:nvSpPr>
        <p:spPr>
          <a:xfrm>
            <a:off x="7884368" y="6356350"/>
            <a:ext cx="9812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888888"/>
                </a:solidFill>
              </a:rPr>
              <a:t>‹#›</a:t>
            </a:fld>
            <a:endParaRPr>
              <a:solidFill>
                <a:srgbClr val="888888"/>
              </a:solidFill>
            </a:endParaRPr>
          </a:p>
        </p:txBody>
      </p:sp>
      <p:sp>
        <p:nvSpPr>
          <p:cNvPr id="100" name="Google Shape;100;p8"/>
          <p:cNvSpPr txBox="1"/>
          <p:nvPr>
            <p:ph idx="2" type="body"/>
          </p:nvPr>
        </p:nvSpPr>
        <p:spPr>
          <a:xfrm>
            <a:off x="2051720" y="6356349"/>
            <a:ext cx="56886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텍스트, 스크린샷, 폰트이(가) 표시된 사진&#10;&#10;AI 생성 콘텐츠는 정확하지 않을 수 있습니다." id="105" name="Google Shape;105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536" y="980728"/>
            <a:ext cx="4896544" cy="276894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"/>
          <p:cNvSpPr txBox="1"/>
          <p:nvPr>
            <p:ph type="title"/>
          </p:nvPr>
        </p:nvSpPr>
        <p:spPr>
          <a:xfrm>
            <a:off x="144000" y="0"/>
            <a:ext cx="8856000" cy="6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747BA"/>
              </a:buClr>
              <a:buSzPts val="2400"/>
              <a:buFont typeface="Malgun Gothic"/>
              <a:buNone/>
            </a:pPr>
            <a:r>
              <a:rPr lang="en"/>
              <a:t>Appendix: Broadcasting</a:t>
            </a:r>
            <a:endParaRPr/>
          </a:p>
        </p:txBody>
      </p:sp>
      <p:sp>
        <p:nvSpPr>
          <p:cNvPr id="107" name="Google Shape;107;p9"/>
          <p:cNvSpPr txBox="1"/>
          <p:nvPr>
            <p:ph idx="12" type="sldNum"/>
          </p:nvPr>
        </p:nvSpPr>
        <p:spPr>
          <a:xfrm>
            <a:off x="7884368" y="6356350"/>
            <a:ext cx="9812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888888"/>
                </a:solidFill>
              </a:rPr>
              <a:t>‹#›</a:t>
            </a:fld>
            <a:endParaRPr>
              <a:solidFill>
                <a:srgbClr val="888888"/>
              </a:solidFill>
            </a:endParaRPr>
          </a:p>
        </p:txBody>
      </p:sp>
      <p:sp>
        <p:nvSpPr>
          <p:cNvPr id="108" name="Google Shape;108;p9"/>
          <p:cNvSpPr txBox="1"/>
          <p:nvPr>
            <p:ph idx="2" type="body"/>
          </p:nvPr>
        </p:nvSpPr>
        <p:spPr>
          <a:xfrm>
            <a:off x="2051720" y="6356349"/>
            <a:ext cx="56886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텍스트, 폰트, 화이트, 타이포그래피이(가) 표시된 사진&#10;&#10;AI 생성 콘텐츠는 정확하지 않을 수 있습니다." id="109" name="Google Shape;10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5536" y="3932658"/>
            <a:ext cx="1800200" cy="576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폰트, 텍스트, 화이트, 디자인이(가) 표시된 사진&#10;&#10;AI 생성 콘텐츠는 정확하지 않을 수 있습니다." id="110" name="Google Shape;11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5536" y="4700373"/>
            <a:ext cx="1800200" cy="5850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"/>
          <p:cNvSpPr txBox="1"/>
          <p:nvPr>
            <p:ph idx="1" type="body"/>
          </p:nvPr>
        </p:nvSpPr>
        <p:spPr>
          <a:xfrm>
            <a:off x="342000" y="980728"/>
            <a:ext cx="8460000" cy="51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858C0"/>
              </a:buClr>
              <a:buSzPts val="1800"/>
              <a:buChar char="•"/>
            </a:pPr>
            <a:r>
              <a:rPr lang="en" sz="1800"/>
              <a:t>Let's move on to RNN_forward.ipynb</a:t>
            </a:r>
            <a:endParaRPr sz="1800"/>
          </a:p>
        </p:txBody>
      </p:sp>
      <p:sp>
        <p:nvSpPr>
          <p:cNvPr id="116" name="Google Shape;116;p10"/>
          <p:cNvSpPr txBox="1"/>
          <p:nvPr>
            <p:ph type="title"/>
          </p:nvPr>
        </p:nvSpPr>
        <p:spPr>
          <a:xfrm>
            <a:off x="144000" y="0"/>
            <a:ext cx="8856000" cy="6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747BA"/>
              </a:buClr>
              <a:buSzPts val="2400"/>
              <a:buFont typeface="Malgun Gothic"/>
              <a:buNone/>
            </a:pPr>
            <a:r>
              <a:rPr lang="en"/>
              <a:t>Tutorial</a:t>
            </a:r>
            <a:endParaRPr/>
          </a:p>
        </p:txBody>
      </p:sp>
      <p:sp>
        <p:nvSpPr>
          <p:cNvPr id="117" name="Google Shape;117;p10"/>
          <p:cNvSpPr txBox="1"/>
          <p:nvPr>
            <p:ph idx="12" type="sldNum"/>
          </p:nvPr>
        </p:nvSpPr>
        <p:spPr>
          <a:xfrm>
            <a:off x="7884368" y="6356350"/>
            <a:ext cx="9812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888888"/>
                </a:solidFill>
              </a:rPr>
              <a:t>‹#›</a:t>
            </a:fld>
            <a:endParaRPr>
              <a:solidFill>
                <a:srgbClr val="888888"/>
              </a:solidFill>
            </a:endParaRPr>
          </a:p>
        </p:txBody>
      </p:sp>
      <p:sp>
        <p:nvSpPr>
          <p:cNvPr id="118" name="Google Shape;118;p10"/>
          <p:cNvSpPr txBox="1"/>
          <p:nvPr>
            <p:ph idx="2" type="body"/>
          </p:nvPr>
        </p:nvSpPr>
        <p:spPr>
          <a:xfrm>
            <a:off x="2051720" y="6356349"/>
            <a:ext cx="56886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"/>
          <p:cNvSpPr txBox="1"/>
          <p:nvPr>
            <p:ph idx="12" type="sldNum"/>
          </p:nvPr>
        </p:nvSpPr>
        <p:spPr>
          <a:xfrm>
            <a:off x="67320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888888"/>
                </a:solidFill>
              </a:rPr>
              <a:t>‹#›</a:t>
            </a:fld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Taehoon Lee">
      <a:dk1>
        <a:srgbClr val="000000"/>
      </a:dk1>
      <a:lt1>
        <a:srgbClr val="FFFFFF"/>
      </a:lt1>
      <a:dk2>
        <a:srgbClr val="433021"/>
      </a:dk2>
      <a:lt2>
        <a:srgbClr val="E8D8CA"/>
      </a:lt2>
      <a:accent1>
        <a:srgbClr val="9A57CD"/>
      </a:accent1>
      <a:accent2>
        <a:srgbClr val="0070C0"/>
      </a:accent2>
      <a:accent3>
        <a:srgbClr val="00B0F0"/>
      </a:accent3>
      <a:accent4>
        <a:srgbClr val="F1C10F"/>
      </a:accent4>
      <a:accent5>
        <a:srgbClr val="FBA305"/>
      </a:accent5>
      <a:accent6>
        <a:srgbClr val="EA76A8"/>
      </a:accent6>
      <a:hlink>
        <a:srgbClr val="008685"/>
      </a:hlink>
      <a:folHlink>
        <a:srgbClr val="EA5A2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2013-06-12T00:16:49Z</dcterms:created>
  <dc:creator>samsung</dc:creator>
</cp:coreProperties>
</file>